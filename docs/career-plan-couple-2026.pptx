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4000" b="1">
                <a:solidFill>
                  <a:srgbClr val="FFFFFF"/>
                </a:solidFill>
                <a:latin typeface="Meiryo"/>
                <a:ea typeface="Meiryo"/>
              </a:rPr>
              <a:t>中村家 キャリアプラン検討資料</a:t>
            </a:r>
          </a:p>
          <a:p>
            <a:pPr>
              <a:spcBef>
                <a:spcPts val="0"/>
              </a:spcBef>
              <a:spcAft>
                <a:spcPts val="3000"/>
              </a:spcAft>
            </a:pPr>
            <a:r>
              <a:rPr sz="1800" b="0">
                <a:solidFill>
                  <a:srgbClr val="C9D6EA"/>
                </a:solidFill>
                <a:latin typeface="Meiryo"/>
                <a:ea typeface="Meiryo"/>
              </a:rPr>
              <a:t>「妻が収入の柱、夫が育児の柱」への移行を、事実と選択肢で設計する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9FB3D4"/>
                </a:solidFill>
                <a:latin typeface="Meiryo"/>
                <a:ea typeface="Meiryo"/>
              </a:rPr>
              <a:t>2026年7月5日｜夫婦検討用（第3版）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8521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9FB3D4"/>
                </a:solidFill>
                <a:latin typeface="Meiryo"/>
                <a:ea typeface="Meiryo"/>
              </a:rPr>
              <a:t>本資料の使い方：数値は概算・想定年収は仮置き（★は要確認）。決めるのは「順位」と「条件」であり、細部の精緻化は後から行う。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  <a:ea typeface="Meiryo"/>
              </a:rPr>
              <a:t>本日この資料で決めること（3つ）</a:t>
            </a:r>
          </a:p>
          <a:p>
            <a:r>
              <a:rPr sz="1150" b="0">
                <a:solidFill>
                  <a:srgbClr val="C9D6EA"/>
                </a:solidFill>
                <a:latin typeface="Meiryo"/>
                <a:ea typeface="Meiryo"/>
              </a:rPr>
              <a:t>細かい正解探しではなく「順位」と「条件」を合意するのがゴール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"/>
                <a:ea typeface="Meiryo"/>
              </a:rPr>
              <a:t>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1133855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948"/>
                <a:gridCol w="6193331"/>
                <a:gridCol w="3811280"/>
              </a:tblGrid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決めること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内容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決めておく理由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① 妻の順位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応募中5社＋現職残留の優先順位と、内定を受諾する最低条件（年収・リモート・残業）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内定の回答期限は短い。複数内定・想定未満の年収提示で迷う時間はない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② 夫の条件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働き方の必須条件（リモート主体・フレックス）と、応募先リスト（IT系5社／一般企業5社／公務員）の確定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妻の結果が出る10月に「選べる状態」を作るには、7月中の活動開始が必要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③ 家計の枠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義祖父宅買取の上限額と、10月の条件分岐表（誰がどう動くか）の合意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10月に妻内定・夫オファー・公務員選考が同時に来る。判断ルールを先に固定する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3749039"/>
            <a:ext cx="11338560" cy="960120"/>
          </a:xfrm>
          <a:prstGeom prst="roundRect">
            <a:avLst/>
          </a:prstGeom>
          <a:solidFill>
            <a:srgbClr val="F2F5FA"/>
          </a:solidFill>
          <a:ln w="1524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Meiryo"/>
                <a:ea typeface="Meiryo"/>
              </a:rPr>
              <a:t>議論の順番（推奨）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</a:rPr>
              <a:t>①妻の起業ゴールの確認（p.6） → ②妻の選択肢（p.7-10） → ③夫の選択肢（p.11-15） → ④家計・タイムライン（p.16-18）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338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  <a:latin typeface="Meiryo"/>
                <a:ea typeface="Meiryo"/>
              </a:rPr>
              <a:t>この資料の結論（先出し）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</a:rPr>
              <a:t>・妻の起業ゴール（小規模企業・個人事業主の経営支援×税務支援）から逆算すると、</a:t>
            </a:r>
            <a:r>
              <a:rPr sz="1200" b="1">
                <a:solidFill>
                  <a:srgbClr val="C00000"/>
                </a:solidFill>
                <a:latin typeface="Meiryo"/>
                <a:ea typeface="Meiryo"/>
              </a:rPr>
              <a:t>税務支援には税理士資格が法律上必須</a:t>
            </a:r>
            <a:r>
              <a:rPr sz="1200" b="0">
                <a:solidFill>
                  <a:srgbClr val="333333"/>
                </a:solidFill>
                <a:latin typeface="Meiryo"/>
                <a:ea typeface="Meiryo"/>
              </a:rPr>
              <a:t>。資格ルートが選択の軸になる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</a:rPr>
              <a:t>・夫の「育児メイン・年収300〜500万」は</a:t>
            </a:r>
            <a:r>
              <a:rPr sz="1200" b="1">
                <a:solidFill>
                  <a:srgbClr val="333333"/>
                </a:solidFill>
                <a:latin typeface="Meiryo"/>
                <a:ea typeface="Meiryo"/>
              </a:rPr>
              <a:t>妻の転職成功とセットでのみ成立</a:t>
            </a:r>
            <a:r>
              <a:rPr sz="1200" b="0">
                <a:solidFill>
                  <a:srgbClr val="333333"/>
                </a:solidFill>
                <a:latin typeface="Meiryo"/>
                <a:ea typeface="Meiryo"/>
              </a:rPr>
              <a:t>。妻✕なら夫はアバナード復帰（〜700万）が既定路線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</a:rPr>
              <a:t>・家計は講座完済・積立停止・保育料無償化（2027/4）・住民税減（2027/6）で</a:t>
            </a:r>
            <a:r>
              <a:rPr sz="1200" b="1">
                <a:solidFill>
                  <a:srgbClr val="1E7A3C"/>
                </a:solidFill>
                <a:latin typeface="Meiryo"/>
                <a:ea typeface="Meiryo"/>
              </a:rPr>
              <a:t>構造的に改善</a:t>
            </a:r>
            <a:r>
              <a:rPr sz="1200" b="0">
                <a:solidFill>
                  <a:srgbClr val="333333"/>
                </a:solidFill>
                <a:latin typeface="Meiryo"/>
                <a:ea typeface="Meiryo"/>
              </a:rPr>
              <a:t>。赤字は一時的で、貯蓄でしのげる（約18か月）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  <a:ea typeface="Meiryo"/>
              </a:rPr>
              <a:t>現状サマリー（2026年7月時点のファクト）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"/>
                <a:ea typeface="Meiryo"/>
              </a:rPr>
              <a:t>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33855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627"/>
                <a:gridCol w="4988966"/>
                <a:gridCol w="4988966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夫（拓也・35歳）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妻（29歳）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現職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アークウィズコンサルティング（2026/5入社・ITコンサル/PMO）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税務署（国家公務員）・2026/5から時短復帰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勤務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月単価75万の現場。額面30万/月（手取り約23万）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日暮里・11:30〜15:30の4時間勤務。年収約230万（手取り約13万/月）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キャリア資産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M365（SharePoint/Power Platform/Intune）9年＋PM/PMO 1年。顧客MVP2回・重大障害ゼロ4年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国税実務約4年（在籍8年・育休4年）。あと7年で税理士3科目免除（2033年5月・確認済み）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意向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できれば2026年12月末（公務員なら2027年3月末）退職。育児メインで年収300〜500万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転職活動中（5社・9〜10月に内定判断）。現職フルタイム化は除外（メンタルリスク）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251960"/>
          <a:ext cx="113385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3268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家計・資産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内容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子ども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2歳（保育園 7:00-18:00）・4歳（幼稚園 7:30-19:00）。保育料は計約12万/月（★減免確認が急務）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月次収支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世帯手取り 約38.5万（夫23＋妻13＋児童手当2.5）に対し必要額 約49万 → </a:t>
                      </a:r>
                      <a:r>
                        <a:rPr sz="105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月▲10.5万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資産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生活防衛資金 約190万（現金100万＋個別株90万）。</a:t>
                      </a:r>
                      <a:r>
                        <a:rPr sz="10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NISA600万は義祖父宅買取に確保済み（決定事項）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改善済み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SNS・株講座（月5.9万）は完済済み。積立投資（月10万）は停止方針 → 上記の必要額49万に反映済み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  <a:ea typeface="Meiryo"/>
              </a:rPr>
              <a:t>家計は構造的に改善する — 赤字は「一時的な谷」</a:t>
            </a:r>
          </a:p>
          <a:p>
            <a:r>
              <a:rPr sz="1150" b="0">
                <a:solidFill>
                  <a:srgbClr val="C9D6EA"/>
                </a:solidFill>
                <a:latin typeface="Meiryo"/>
                <a:ea typeface="Meiryo"/>
              </a:rPr>
              <a:t>必要額（手取りベース）は現在約49万/月 → 2027年度に43〜45万/月へ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"/>
                <a:ea typeface="Meiryo"/>
              </a:rPr>
              <a:t>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33856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669280"/>
                <a:gridCol w="201168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時期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改善イベント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月次効果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状態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済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SNS・株講座の分割払い完済（月58,689円）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▲5.9万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反映済み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済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積立投資（NISA・現金積立）の停止判断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▲4〜10万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反映済み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即実行★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幼稚園の預かり保育「施設等利用給付」申請（共働きは対象の可能性・最大11,300円/月）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▲1.1万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未確認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即確認★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自治体の多子減免（幼稚園と保育園で施設が別でも対象になる自治体が多い）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▲1〜3万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未確認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2027年4月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下の子が3歳児クラスへ → 保育料無償化（給食費等は残る）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▲4〜5万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確定的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2027年6月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夫の住民税が2026年所得（約500万）ベースに切替 → 手取り増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＋2〜3万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確定的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754880"/>
            <a:ext cx="11338560" cy="1554480"/>
          </a:xfrm>
          <a:prstGeom prst="roundRect">
            <a:avLst/>
          </a:prstGeom>
          <a:solidFill>
            <a:srgbClr val="F2F5FA"/>
          </a:solidFill>
          <a:ln w="1524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/>
          <a:lstStyle/>
          <a:p>
            <a:pPr algn="ctr">
              <a:spcAft>
                <a:spcPts val="500"/>
              </a:spcAft>
            </a:pPr>
            <a:r>
              <a:rPr sz="1250" b="1">
                <a:solidFill>
                  <a:srgbClr val="1F3864"/>
                </a:solidFill>
                <a:latin typeface="Meiryo"/>
                <a:ea typeface="Meiryo"/>
              </a:rPr>
              <a:t>だから言えること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</a:rPr>
              <a:t>・現在の赤字 月▲10.5万は、生活防衛資金190万で </a:t>
            </a:r>
            <a:r>
              <a:rPr sz="1200" b="1">
                <a:solidFill>
                  <a:srgbClr val="333333"/>
                </a:solidFill>
                <a:latin typeface="Meiryo"/>
                <a:ea typeface="Meiryo"/>
              </a:rPr>
              <a:t>約18か月</a:t>
            </a:r>
            <a:r>
              <a:rPr sz="1200" b="0">
                <a:solidFill>
                  <a:srgbClr val="333333"/>
                </a:solidFill>
                <a:latin typeface="Meiryo"/>
                <a:ea typeface="Meiryo"/>
              </a:rPr>
              <a:t> 耐えられる。パニックになる状況ではない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</a:rPr>
              <a:t>・2027年度の必要額は </a:t>
            </a:r>
            <a:r>
              <a:rPr sz="1200" b="1">
                <a:solidFill>
                  <a:srgbClr val="1E7A3C"/>
                </a:solidFill>
                <a:latin typeface="Meiryo"/>
                <a:ea typeface="Meiryo"/>
              </a:rPr>
              <a:t>月43〜45万</a:t>
            </a:r>
            <a:r>
              <a:rPr sz="1200" b="0">
                <a:solidFill>
                  <a:srgbClr val="333333"/>
                </a:solidFill>
                <a:latin typeface="Meiryo"/>
                <a:ea typeface="Meiryo"/>
              </a:rPr>
              <a:t> まで下がる見込み → 「夫300〜500万＋妻450万」のシナリオAは投資再開込みで成立する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</a:rPr>
              <a:t>・保育料★2件の確認は今週やる価値がある（即効性が最も高い家計アクション）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  <a:ea typeface="Meiryo"/>
              </a:rPr>
              <a:t>確定・確認済み事項（この資料の前提）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"/>
                <a:ea typeface="Meiryo"/>
              </a:rPr>
              <a:t>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33856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4754880"/>
                <a:gridCol w="5760720"/>
              </a:tblGrid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事項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キャリア判断への意味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税理士科目免除：育休は不算入、時短は時間数にかかわらずフル算入（確認済み）。2026年5月起点で7年 → 2033年5月に税法3科目免除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現職残留は「2033年に税理士」への最短・最確実ルートとして成立している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妻の現職フルタイム復帰は選択肢から除外（仕事内容が合わず、メンタル不調リスク）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妻が転職しない場合の収入は時短230万で固定 → 夫の収入設計に直結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NISA600万は義祖父宅の買取に使用（生活費には充てない）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生活の資金繰りは190万＋収入で設計。買取の実行時期・上限額のみ要調整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アバナード復帰はほぼ確実（実質700万水準・残業代全額支給。同等か少し下でも可）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夫のワーストケースが「700万で復帰」= 強力なセーフティネット。焦る必要がない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夫は国家公務員 社会人枠（技術職）に応募中。採用なら2027年4月入省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2027年3月末退職プランと整合。国税庁の情報システム系は採用枠が多い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  <a:ea typeface="Meiryo"/>
              </a:rPr>
              <a:t>妻の起業ゴールを分解する</a:t>
            </a:r>
          </a:p>
          <a:p>
            <a:r>
              <a:rPr sz="1150" b="0">
                <a:solidFill>
                  <a:srgbClr val="C9D6EA"/>
                </a:solidFill>
                <a:latin typeface="Meiryo"/>
                <a:ea typeface="Meiryo"/>
              </a:rPr>
              <a:t>「小規模企業・個人事業主の経営支援 × 税務支援」— この2つは資格要件が違う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"/>
                <a:ea typeface="Meiryo"/>
              </a:rPr>
              <a:t>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33856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97680"/>
                <a:gridCol w="429768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事業の柱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経営支援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税務支援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資格要件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7A3C"/>
                          </a:solidFill>
                          <a:latin typeface="Meiryo"/>
                          <a:ea typeface="Meiryo"/>
                        </a:rPr>
                        <a:t>資格は不要</a:t>
                      </a:r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。経験と顧客開拓力がモノを言う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税理士資格が法律上必須</a:t>
                      </a:r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（税務代理・税務書類作成・税務相談は税理士の独占業務）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必要な積み上げ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中小・個人事業主の現場を知る経験、課題解決の型、人脈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①資格取得ルートの確保 ②調査対応など「元国税」の強みの商品化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今の資産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国税で多数の事業者を見てきた経験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国税実務4年＋2033年免除の権利（現職残留の場合のみ）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3977639"/>
            <a:ext cx="11338560" cy="2103120"/>
          </a:xfrm>
          <a:prstGeom prst="roundRect">
            <a:avLst/>
          </a:prstGeom>
          <a:solidFill>
            <a:srgbClr val="F2F5FA"/>
          </a:solidFill>
          <a:ln w="1524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1F3864"/>
                </a:solidFill>
                <a:latin typeface="Meiryo"/>
                <a:ea typeface="Meiryo"/>
              </a:rPr>
              <a:t>したがって、妻のキャリア選択の問いは2つに絞られる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  <a:latin typeface="Meiryo"/>
                <a:ea typeface="Meiryo"/>
              </a:rPr>
              <a:t>問1：税理士資格を「いつ・どのルートで」取るか</a:t>
            </a:r>
            <a:r>
              <a:rPr sz="1200" b="0">
                <a:solidFill>
                  <a:srgbClr val="333333"/>
                </a:solidFill>
                <a:latin typeface="Meiryo"/>
                <a:ea typeface="Meiryo"/>
              </a:rPr>
              <a:t>　— (a)現職残留で2033年免除＋会計2科目　(b)働きながら大学院（税法2科目免除）＋科目合格　(c)5科目自力（最難）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  <a:latin typeface="Meiryo"/>
                <a:ea typeface="Meiryo"/>
              </a:rPr>
              <a:t>問2：資格までの期間に「小規模企業の経営支援」に近い経験をどこで積むか</a:t>
            </a:r>
            <a:r>
              <a:rPr sz="1200" b="0">
                <a:solidFill>
                  <a:srgbClr val="333333"/>
                </a:solidFill>
                <a:latin typeface="Meiryo"/>
                <a:ea typeface="Meiryo"/>
              </a:rPr>
              <a:t>　— 3社はここで大きく差がつく（次頁）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B86E00"/>
                </a:solidFill>
                <a:latin typeface="Meiryo"/>
                <a:ea typeface="Meiryo"/>
              </a:rPr>
              <a:t>※「3〜5年で起業→後から資格」の場合、資格取得までは税務を看板にできない（経営支援・記帳代行等に限定）点に注意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  <a:ea typeface="Meiryo"/>
              </a:rPr>
              <a:t>妻の選択肢比較（現職残留＋転職3社）</a:t>
            </a:r>
          </a:p>
          <a:p>
            <a:r>
              <a:rPr sz="1150" b="0">
                <a:solidFill>
                  <a:srgbClr val="C9D6EA"/>
                </a:solidFill>
                <a:latin typeface="Meiryo"/>
                <a:ea typeface="Meiryo"/>
              </a:rPr>
              <a:t>★想定年収は相場観による仮置き。オファー面談で実額確認を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"/>
                <a:ea typeface="Meiryo"/>
              </a:rPr>
              <a:t>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521437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601"/>
                <a:gridCol w="2396459"/>
                <a:gridCol w="2396459"/>
                <a:gridCol w="2396459"/>
                <a:gridCol w="2396459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観点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① 現職残留（時短）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② PwC税理士法人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③ アクセンチュア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④ リクルート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年収（短期）★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230万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450〜550万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500〜600万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450〜600万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税理士資格への距離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E7A3C"/>
                          </a:solidFill>
                          <a:latin typeface="Meiryo"/>
                          <a:ea typeface="Meiryo"/>
                        </a:rPr>
                        <a:t>最短：2033年免除＋会計2科目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遠回り（大学院＋科目の併用が現実的）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ほぼ両立不可（稼働的に）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ほぼ両立不可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ゴール適合（小規模支援）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△ 事業者を見る立場だが支援経験ではない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○ 税務は◎だが顧客は大企業中心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△ 大企業DXが中心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○ SMB事業（Air/ホットペッパー等）なら個人事業主支援の現場そのもの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国税経験の活き方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―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◎ 直撃（調査対応・審理）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✕ ほぼリセット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✕ ほぼリセット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育児との両立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◎ 時短継続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△ 繁忙期（12〜5月）高負荷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△ 案件次第・キャッチアップ負荷大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○〜△ 職種次第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メンタル面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✕ 合わない仕事が7年続く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○ 仕事内容が変わる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？ 未知数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？ 未知数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起業ブランド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元国税税理士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元国税×Big4（税務系で最強）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元アクセンチュア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元リクルート（起業文化）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  <a:ea typeface="Meiryo"/>
              </a:rPr>
              <a:t>各選択肢の「その先」（1/2）：資格ルート側の2案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"/>
                <a:ea typeface="Meiryo"/>
              </a:rPr>
              <a:t>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5486400" cy="4846320"/>
          </a:xfrm>
          <a:prstGeom prst="roundRect">
            <a:avLst/>
          </a:prstGeom>
          <a:solidFill>
            <a:srgbClr val="F2F5FA"/>
          </a:solidFill>
          <a:ln w="15240">
            <a:solidFill>
              <a:srgbClr val="1E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/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F3864"/>
                </a:solidFill>
                <a:latin typeface="Meiryo"/>
                <a:ea typeface="Meiryo"/>
              </a:rPr>
              <a:t>① 現職残留（時短230万）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333333"/>
                </a:solidFill>
                <a:latin typeface="Meiryo"/>
                <a:ea typeface="Meiryo"/>
              </a:rPr>
              <a:t>〜2033年：時短勤務を継続しつつ簿記論・財務諸表論を取得（時短は学習時間の確保に有利）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333333"/>
                </a:solidFill>
                <a:latin typeface="Meiryo"/>
                <a:ea typeface="Meiryo"/>
              </a:rPr>
              <a:t>2033年5月：税法3科目免除成立 → 税理士登録へ</a:t>
            </a:r>
          </a:p>
          <a:p>
            <a:pPr>
              <a:spcAft>
                <a:spcPts val="800"/>
              </a:spcAft>
            </a:pPr>
            <a:r>
              <a:rPr sz="1150" b="0">
                <a:solidFill>
                  <a:srgbClr val="333333"/>
                </a:solidFill>
                <a:latin typeface="Meiryo"/>
                <a:ea typeface="Meiryo"/>
              </a:rPr>
              <a:t>30代後半：「元国税税理士」として独立。</a:t>
            </a:r>
            <a:r>
              <a:rPr sz="1150" b="1">
                <a:solidFill>
                  <a:srgbClr val="1E7A3C"/>
                </a:solidFill>
                <a:latin typeface="Meiryo"/>
                <a:ea typeface="Meiryo"/>
              </a:rPr>
              <a:t>小規模事業者の税務＋経営支援というゴールに完全一致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C00000"/>
                </a:solidFill>
                <a:latin typeface="Meiryo"/>
                <a:ea typeface="Meiryo"/>
              </a:rPr>
              <a:t>最大の代償：</a:t>
            </a:r>
            <a:r>
              <a:rPr sz="1150" b="0">
                <a:solidFill>
                  <a:srgbClr val="333333"/>
                </a:solidFill>
                <a:latin typeface="Meiryo"/>
                <a:ea typeface="Meiryo"/>
              </a:rPr>
              <a:t>合わない仕事のメンタルコストが7年続く。選ぶ場合は「3年目に再評価する」等の見直し時点をセットで決める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6B6B6B"/>
                </a:solidFill>
                <a:latin typeface="Meiryo"/>
                <a:ea typeface="Meiryo"/>
              </a:rPr>
              <a:t>向く条件：資格の確実性を最優先でき、部署異動等で心理的負荷を下げる余地がある場合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143000"/>
            <a:ext cx="5486400" cy="4846320"/>
          </a:xfrm>
          <a:prstGeom prst="roundRect">
            <a:avLst/>
          </a:prstGeom>
          <a:solidFill>
            <a:srgbClr val="F2F5FA"/>
          </a:solidFill>
          <a:ln w="1524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/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F3864"/>
                </a:solidFill>
                <a:latin typeface="Meiryo"/>
                <a:ea typeface="Meiryo"/>
              </a:rPr>
              <a:t>② PwC税理士法人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333333"/>
                </a:solidFill>
                <a:latin typeface="Meiryo"/>
                <a:ea typeface="Meiryo"/>
              </a:rPr>
              <a:t>想定配属：法人税務コンプライアンス・税務調査対応（国税出身者の典型。税務署の先輩が多数在籍＝カルチャーの推測がつく）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333333"/>
                </a:solidFill>
                <a:latin typeface="Meiryo"/>
                <a:ea typeface="Meiryo"/>
              </a:rPr>
              <a:t>3〜5年：調査対応の専門家として市場価値確立。「元国税×Big4」ブランド完成。科目合格を評価・支援する文化あり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333333"/>
                </a:solidFill>
                <a:latin typeface="Meiryo"/>
                <a:ea typeface="Meiryo"/>
              </a:rPr>
              <a:t>資格：働きながら大学院（税法2科目免除）＋科目合格の併用で30代後半登録が現実ライン（学費200〜300万は投資）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333333"/>
                </a:solidFill>
                <a:latin typeface="Meiryo"/>
                <a:ea typeface="Meiryo"/>
              </a:rPr>
              <a:t>留意：顧客は大企業中心 → 小規模支援のノウハウは独立時に別途獲得が必要。</a:t>
            </a:r>
            <a:r>
              <a:rPr sz="1150" b="0">
                <a:solidFill>
                  <a:srgbClr val="B86E00"/>
                </a:solidFill>
                <a:latin typeface="Meiryo"/>
                <a:ea typeface="Meiryo"/>
              </a:rPr>
              <a:t>マネージャー昇格は資格が事実上要件になりがち★面接で確認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6B6B6B"/>
                </a:solidFill>
                <a:latin typeface="Meiryo"/>
                <a:ea typeface="Meiryo"/>
              </a:rPr>
              <a:t>向く条件：税務の専門性を市場価値に変えつつ、資格は数年かけて併走できる場合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  <a:ea typeface="Meiryo"/>
              </a:rPr>
              <a:t>各選択肢の「その先」（2/2）：資格から離れる2案＋補完提案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"/>
                <a:ea typeface="Meiryo"/>
              </a:rP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5486400" cy="3291840"/>
          </a:xfrm>
          <a:prstGeom prst="roundRect">
            <a:avLst/>
          </a:prstGeom>
          <a:solidFill>
            <a:srgbClr val="F2F5FA"/>
          </a:solidFill>
          <a:ln w="1524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/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F3864"/>
                </a:solidFill>
                <a:latin typeface="Meiryo"/>
                <a:ea typeface="Meiryo"/>
              </a:rPr>
              <a:t>③ アクセンチュア（コンサル職）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333333"/>
                </a:solidFill>
                <a:latin typeface="Meiryo"/>
                <a:ea typeface="Meiryo"/>
              </a:rPr>
              <a:t>得られる：汎用課題解決・DX・大規模PJ推進。年収カーブは4案で最速（30代で800〜1000万圏）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333333"/>
                </a:solidFill>
                <a:latin typeface="Meiryo"/>
                <a:ea typeface="Meiryo"/>
              </a:rPr>
              <a:t>その先：事業会社の経営企画／コンサル系起業／他ファーム。出口は広い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C00000"/>
                </a:solidFill>
                <a:latin typeface="Meiryo"/>
                <a:ea typeface="Meiryo"/>
              </a:rPr>
              <a:t>ゴールとの距離は4案で最大</a:t>
            </a:r>
            <a:r>
              <a:rPr sz="1150" b="0">
                <a:solidFill>
                  <a:srgbClr val="333333"/>
                </a:solidFill>
                <a:latin typeface="Meiryo"/>
                <a:ea typeface="Meiryo"/>
              </a:rPr>
              <a:t>：大企業DX中心で、小規模事業者・税務のどちらからも遠ざかる。未経験30歳のキャッチアップ負荷も最大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143000"/>
            <a:ext cx="5486400" cy="3291840"/>
          </a:xfrm>
          <a:prstGeom prst="roundRect">
            <a:avLst/>
          </a:prstGeom>
          <a:solidFill>
            <a:srgbClr val="F2F5FA"/>
          </a:solidFill>
          <a:ln w="1524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/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F3864"/>
                </a:solidFill>
                <a:latin typeface="Meiryo"/>
                <a:ea typeface="Meiryo"/>
              </a:rPr>
              <a:t>④ リクルート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333333"/>
                </a:solidFill>
                <a:latin typeface="Meiryo"/>
                <a:ea typeface="Meiryo"/>
              </a:rPr>
              <a:t>狙い目：</a:t>
            </a:r>
            <a:r>
              <a:rPr sz="1150" b="0">
                <a:solidFill>
                  <a:srgbClr val="333333"/>
                </a:solidFill>
                <a:latin typeface="Meiryo"/>
                <a:ea typeface="Meiryo"/>
              </a:rPr>
              <a:t>Airビジネスツールズ／ホットペッパー等のSMB向け事業の営業・企画 — </a:t>
            </a:r>
            <a:r>
              <a:rPr sz="1150" b="1">
                <a:solidFill>
                  <a:srgbClr val="1E7A3C"/>
                </a:solidFill>
                <a:latin typeface="Meiryo"/>
                <a:ea typeface="Meiryo"/>
              </a:rPr>
              <a:t>顧客がまさに個人事業主・小規模企業</a:t>
            </a:r>
            <a:r>
              <a:rPr sz="1150" b="0">
                <a:solidFill>
                  <a:srgbClr val="333333"/>
                </a:solidFill>
                <a:latin typeface="Meiryo"/>
                <a:ea typeface="Meiryo"/>
              </a:rPr>
              <a:t>。経営支援の現場経験と顧客理解が直接積める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333333"/>
                </a:solidFill>
                <a:latin typeface="Meiryo"/>
                <a:ea typeface="Meiryo"/>
              </a:rPr>
              <a:t>その先：「卒業」文化・新規事業制度（Ring）があり、起業への踏み切りは4案で最も自然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Meiryo"/>
                <a:ea typeface="Meiryo"/>
              </a:rPr>
              <a:t>留意：税務からは完全に離れる。資格は現職の枠が消え、後年の自力取得頼みになる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617720"/>
            <a:ext cx="11338560" cy="1554480"/>
          </a:xfrm>
          <a:prstGeom prst="roundRect">
            <a:avLst/>
          </a:prstGeom>
          <a:solidFill>
            <a:srgbClr val="F2F5FA"/>
          </a:solidFill>
          <a:ln w="1524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/>
          <a:lstStyle/>
          <a:p>
            <a:pPr algn="ctr">
              <a:spcAft>
                <a:spcPts val="500"/>
              </a:spcAft>
            </a:pPr>
            <a:r>
              <a:rPr sz="1250" b="1">
                <a:solidFill>
                  <a:srgbClr val="1F3864"/>
                </a:solidFill>
                <a:latin typeface="Meiryo"/>
                <a:ea typeface="Meiryo"/>
              </a:rPr>
              <a:t>補完提案：応募リストに「中堅税理士法人・会計事務所」を1〜2社加える価値がある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Meiryo"/>
                <a:ea typeface="Meiryo"/>
              </a:rPr>
              <a:t>辻・本郷税理士法人、山田＆パートナーズ、TOMAコンサルタンツ等の中堅は、</a:t>
            </a:r>
            <a:r>
              <a:rPr sz="1150" b="1">
                <a:solidFill>
                  <a:srgbClr val="333333"/>
                </a:solidFill>
                <a:latin typeface="Meiryo"/>
                <a:ea typeface="Meiryo"/>
              </a:rPr>
              <a:t>顧客が中小企業・個人事業主そのもの</a:t>
            </a:r>
            <a:r>
              <a:rPr sz="1150" b="0">
                <a:solidFill>
                  <a:srgbClr val="333333"/>
                </a:solidFill>
                <a:latin typeface="Meiryo"/>
                <a:ea typeface="Meiryo"/>
              </a:rPr>
              <a:t>で、科目合格の学習支援や時短勤務の事例も多い。「ゴール適合×資格併走×両立」のバランスでは、実はBig4より妻のゴールに近い可能性がある★求人・条件要確認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  <a:ea typeface="Meiryo"/>
              </a:rPr>
              <a:t>妻パート：示唆と、決めるべきこと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"/>
                <a:ea typeface="Meiryo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338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F3864"/>
                </a:solidFill>
                <a:latin typeface="Meiryo"/>
                <a:ea typeface="Meiryo"/>
              </a:rPr>
              <a:t>1. ゴール適合の順位（たたき台）：</a:t>
            </a:r>
            <a:r>
              <a:rPr sz="1300" b="0">
                <a:solidFill>
                  <a:srgbClr val="333333"/>
                </a:solidFill>
                <a:latin typeface="Meiryo"/>
                <a:ea typeface="Meiryo"/>
              </a:rPr>
              <a:t>　② PwC ≧ ① 現職残留 ＞ ④ リクルート（SMB領域指名の場合） ＞ ③ アクセンチュア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Meiryo"/>
                <a:ea typeface="Meiryo"/>
              </a:rPr>
              <a:t>　・「元国税×税務専門性」を捨てない②が、税務支援ゴールとの整合で最有力。先輩が多い点も入社後のギャップを小さくする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Meiryo"/>
                <a:ea typeface="Meiryo"/>
              </a:rPr>
              <a:t>　・①は資格最短だがメンタルコストが唯一かつ最大の論点。「健康はキャリアの前提」であり、無理筋なら②〜④で良い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333333"/>
                </a:solidFill>
                <a:latin typeface="Meiryo"/>
                <a:ea typeface="Meiryo"/>
              </a:rPr>
              <a:t>　・③は「とにかく市場価値と年収」なら合理的だが、税務・小規模支援の両ゴールから遠ざかる自覚を持って選ぶ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F3864"/>
                </a:solidFill>
                <a:latin typeface="Meiryo"/>
                <a:ea typeface="Meiryo"/>
              </a:rPr>
              <a:t>2. 内定受諾の最低条件を今日決める：</a:t>
            </a:r>
            <a:r>
              <a:rPr sz="1200" b="0">
                <a:solidFill>
                  <a:srgbClr val="333333"/>
                </a:solidFill>
                <a:latin typeface="Meiryo"/>
                <a:ea typeface="Meiryo"/>
              </a:rPr>
              <a:t>　年収（例：400万以上）×リモート比率×繁忙期の残業実態の3点セット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F3864"/>
                </a:solidFill>
                <a:latin typeface="Meiryo"/>
                <a:ea typeface="Meiryo"/>
              </a:rPr>
              <a:t>3. 複数内定時の順位を今日決める：</a:t>
            </a:r>
            <a:r>
              <a:rPr sz="1200" b="0">
                <a:solidFill>
                  <a:srgbClr val="333333"/>
                </a:solidFill>
                <a:latin typeface="Meiryo"/>
                <a:ea typeface="Meiryo"/>
              </a:rPr>
              <a:t>　回答期限（通常1〜2週間）内に夫婦会議を再度開く前提を置かない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434840"/>
            <a:ext cx="11338560" cy="1645920"/>
          </a:xfrm>
          <a:prstGeom prst="roundRect">
            <a:avLst/>
          </a:prstGeom>
          <a:solidFill>
            <a:srgbClr val="F2F5FA"/>
          </a:solidFill>
          <a:ln w="1524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/>
          <a:lstStyle/>
          <a:p>
            <a:pPr algn="ctr">
              <a:spcAft>
                <a:spcPts val="500"/>
              </a:spcAft>
            </a:pPr>
            <a:r>
              <a:rPr sz="1250" b="1">
                <a:solidFill>
                  <a:srgbClr val="1F3864"/>
                </a:solidFill>
                <a:latin typeface="Meiryo"/>
                <a:ea typeface="Meiryo"/>
              </a:rPr>
              <a:t>面接で必ず確認すること（全社共通）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Meiryo"/>
                <a:ea typeface="Meiryo"/>
              </a:rPr>
              <a:t>・入社後の担当領域（②なら調査対応チームか／④ならSMB事業に行けるか、配属リスクの有無）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Meiryo"/>
                <a:ea typeface="Meiryo"/>
              </a:rPr>
              <a:t>・繁忙期の実際の残業時間と、時短・中抜け・リモートの「実態」（制度ではなく直近の実例）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Meiryo"/>
                <a:ea typeface="Meiryo"/>
              </a:rPr>
              <a:t>・（②のみ）科目合格・大学院通学への支援制度と、資格なしの場合の昇格上限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  <a:ea typeface="Meiryo"/>
              </a:rPr>
              <a:t>夫パート：構造の確認 — 「夫の育児メイン」は妻の転職成功とセット</a:t>
            </a:r>
          </a:p>
          <a:p>
            <a:r>
              <a:rPr sz="1150" b="0">
                <a:solidFill>
                  <a:srgbClr val="C9D6EA"/>
                </a:solidFill>
                <a:latin typeface="Meiryo"/>
                <a:ea typeface="Meiryo"/>
              </a:rPr>
              <a:t>妻の現職フルタイム化を除外した結果、シナリオが単純化された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"/>
                <a:ea typeface="Meiryo"/>
              </a:rPr>
              <a:t>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3385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480560"/>
                <a:gridCol w="4480560"/>
              </a:tblGrid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妻：転職成功（450万想定）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妻：転職せず（時短230万を継続）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夫：低負荷型
（300〜500万）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7A3C"/>
                          </a:solidFill>
                          <a:latin typeface="Meiryo"/>
                          <a:ea typeface="Meiryo"/>
                        </a:rPr>
                        <a:t>【A】目標シナリオ</a:t>
                      </a:r>
                    </a:p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世帯手取り 約56〜58万 vs 必要44〜49万 → 黒字・投資再開可。夫が送迎・急病対応の主担当に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【B'】成立しにくい</a:t>
                      </a:r>
                    </a:p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世帯額面530〜730万。2033年の妻独立までの資産形成が細く、買取後の再建も遅れる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夫：高収入型
（700〜800万）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B86E00"/>
                          </a:solidFill>
                          <a:latin typeface="Meiryo"/>
                          <a:ea typeface="Meiryo"/>
                        </a:rPr>
                        <a:t>【A+】過剰シナリオ</a:t>
                      </a:r>
                    </a:p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世帯1,150万超だが夫婦とも高稼働＝希望（夫が育児メイン）と矛盾。一時的な形態としてのみ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E74B5"/>
                          </a:solidFill>
                          <a:latin typeface="Meiryo"/>
                          <a:ea typeface="Meiryo"/>
                        </a:rPr>
                        <a:t>【B】役割維持シナリオ</a:t>
                      </a:r>
                    </a:p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アバナード復帰で世帯930〜1,030万。妻は時短＋免除ルートで2033年独立へ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343400"/>
            <a:ext cx="11338560" cy="1737360"/>
          </a:xfrm>
          <a:prstGeom prst="roundRect">
            <a:avLst/>
          </a:prstGeom>
          <a:solidFill>
            <a:srgbClr val="F2F5FA"/>
          </a:solidFill>
          <a:ln w="1524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/>
          <a:lstStyle/>
          <a:p>
            <a:pPr algn="ctr">
              <a:spcAft>
                <a:spcPts val="500"/>
              </a:spcAft>
            </a:pPr>
            <a:r>
              <a:rPr sz="1250" b="1">
                <a:solidFill>
                  <a:srgbClr val="1F3864"/>
                </a:solidFill>
                <a:latin typeface="Meiryo"/>
                <a:ea typeface="Meiryo"/>
              </a:rPr>
              <a:t>含意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  <a:latin typeface="Meiryo"/>
                <a:ea typeface="Meiryo"/>
              </a:rPr>
              <a:t>・夫婦の希望（役割逆転）を叶える必要条件は妻の転職成功。</a:t>
            </a:r>
            <a:r>
              <a:rPr sz="1200" b="0">
                <a:solidFill>
                  <a:srgbClr val="333333"/>
                </a:solidFill>
                <a:latin typeface="Meiryo"/>
                <a:ea typeface="Meiryo"/>
              </a:rPr>
              <a:t>だから妻の面接対策・当面の送迎引き受けに夫のリソースを全投入する価値がある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</a:rPr>
              <a:t>・夫のセーフティネットはアバナード復帰（〜700万・ほぼ確実）。真のワーストは「先に辞めて無収入期間を作ること」だけ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Meiryo"/>
                <a:ea typeface="Meiryo"/>
              </a:rPr>
              <a:t>・したがって鉄則：オファー（または公務員内定）確定前に退職通知はしない。在籍中は月30万＋社保＋保育園の就労要件が維持される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  <a:ea typeface="Meiryo"/>
              </a:rPr>
              <a:t>夫の働き方を「求人条件」に翻訳する</a:t>
            </a:r>
          </a:p>
          <a:p>
            <a:r>
              <a:rPr sz="1150" b="0">
                <a:solidFill>
                  <a:srgbClr val="C9D6EA"/>
                </a:solidFill>
                <a:latin typeface="Meiryo"/>
                <a:ea typeface="Meiryo"/>
              </a:rPr>
              <a:t>自宅：東武動物公園駅（日比谷線・半蔵門線直通）— 送迎シフトから逆算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"/>
                <a:ea typeface="Meiryo"/>
              </a:rPr>
              <a:t>12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3385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206240"/>
                <a:gridCol w="4206240"/>
              </a:tblGrid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パターン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夫の稼働可能時間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成立条件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夫が単独送迎（妻フルタイム時の基本形）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出社日：9:30〜10:00着 〜 16:00退社（実働6h前後）
リモート日：8:00〜17:00フル稼働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フルフレックス（コアタイムなし or 10〜15時）＋リモート主体（週3日以上）が必須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夫婦で分担（妻の勤務が日暮里11:30-15:30の間）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朝送り担当日と夕迎え担当日で「朝早め型/朝遅め型」に分けられる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妻転職後は妻側の勤務条件次第で消滅し得る → 単独送迎前提で職探しするのが安全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840480"/>
            <a:ext cx="11338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F3864"/>
                </a:solidFill>
                <a:latin typeface="Meiryo"/>
                <a:ea typeface="Meiryo"/>
              </a:rPr>
              <a:t>→ 求人の必須条件（この4つを満たさない求人は年収が良くても見送る）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</a:rPr>
              <a:t>① リモート主体（週3日以上・制度でなく実態）　② フルフレックス or 時差勤務　③ </a:t>
            </a:r>
            <a:r>
              <a:rPr sz="1200" b="1">
                <a:solidFill>
                  <a:srgbClr val="333333"/>
                </a:solidFill>
                <a:latin typeface="Meiryo"/>
                <a:ea typeface="Meiryo"/>
              </a:rPr>
              <a:t>日比谷線・半蔵門線直通圏（茅場町・日本橋・大手町等）</a:t>
            </a:r>
            <a:r>
              <a:rPr sz="1200" b="0">
                <a:solidFill>
                  <a:srgbClr val="333333"/>
                </a:solidFill>
                <a:latin typeface="Meiryo"/>
                <a:ea typeface="Meiryo"/>
              </a:rPr>
              <a:t>＝乗換なしで通える　④ 複数名体制の部門（急な休みのバックアップ）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B6B6B"/>
                </a:solidFill>
                <a:latin typeface="Meiryo"/>
                <a:ea typeface="Meiryo"/>
              </a:rPr>
              <a:t>面接での定型3問：「チーム人数と急な休みのバックアップ体制は？」「リモート・中抜けの直近の実例は？」「直近1年の平均残業は？」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333333"/>
                </a:solidFill>
                <a:latin typeface="Meiryo"/>
                <a:ea typeface="Meiryo"/>
              </a:rPr>
              <a:t>伝え方の変換：</a:t>
            </a:r>
            <a:r>
              <a:rPr sz="1150" b="0">
                <a:solidFill>
                  <a:srgbClr val="333333"/>
                </a:solidFill>
                <a:latin typeface="Meiryo"/>
                <a:ea typeface="Meiryo"/>
              </a:rPr>
              <a:t>「負荷を抑えたい」ではなく「妻がフルタイムで働くため自分が育児の主担当。だからこそ長く安定貢献できる運用・改善ポジションで、MVP2回・重大障害ゼロ4年の実績を再現したい」— 運用系採用は定着率を最重視するため、これは強い志望動機になる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  <a:ea typeface="Meiryo"/>
              </a:rPr>
              <a:t>夫の候補①：IT／Microsoft系 5社</a:t>
            </a:r>
          </a:p>
          <a:p>
            <a:r>
              <a:rPr sz="1150" b="0">
                <a:solidFill>
                  <a:srgbClr val="C9D6EA"/>
                </a:solidFill>
                <a:latin typeface="Meiryo"/>
                <a:ea typeface="Meiryo"/>
              </a:rPr>
              <a:t>SPO/M365の9年が「即戦力」として最も直撃するゾーン。★認定・求人状況は応募時に再確認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"/>
                <a:ea typeface="Meiryo"/>
              </a:rPr>
              <a:t>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521436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79"/>
                <a:gridCol w="5852159"/>
                <a:gridCol w="1463039"/>
                <a:gridCol w="2194559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企業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推す理由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想定年収★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確認点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SCSK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プラチナくるみんプラス認定（2025/11）。平均残業20h以下・有給100%を全社目標化。両立実績の客観的裏付けが最も強い大手SIer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500〜650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配属部署の案件負荷。M365運用・社内IT寄りを指名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日本ビジネスシステムズ（JBS）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国内最大級のMicrosoft専業（社員の76%がエンジニア）。くるみん認定・シッター補助あり。M365運用サービスを事業として持ち、SPO9年が最も刺さる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500〜700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部署による繁閑差。運用サービス部門を指名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SBテクノロジー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M365導入262社/96万ユーザー。導入後の運用・利活用支援（clouXion）を持つトップパートナー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500〜650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くるみん認定・リモート実態★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AvePoint Japan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SharePoint/M365ガバナンス製品の外資ISV。SPO特化経歴が世界で最も直撃する会社の一つ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500〜700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求人が少なく「出たら即応募」。英語要件★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パーソルプロセス&amp;テクノロジー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M365運用・ヘルプデスクBPO大手。「安定稼働人材」歓迎の事業構造で負荷は相対的に低い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400〜550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年収上限は控えめ。両立条件は通しやすい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85216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1F3864"/>
                </a:solidFill>
                <a:latin typeface="Meiryo"/>
                <a:ea typeface="Meiryo"/>
              </a:rPr>
              <a:t>シナリオB（高収入型）の場合：</a:t>
            </a:r>
            <a:r>
              <a:rPr sz="1050" b="0">
                <a:solidFill>
                  <a:srgbClr val="333333"/>
                </a:solidFill>
                <a:latin typeface="Meiryo"/>
                <a:ea typeface="Meiryo"/>
              </a:rPr>
              <a:t>アバナード復帰（〜700万）をアンカーに、JBS/SBTの上位職（700〜850万）を比較用に受ける。日本マイクロソフト（CSS等）は「出たら受ける」憧れ枠（時期により高負荷の覚悟は必要）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  <a:ea typeface="Meiryo"/>
              </a:rPr>
              <a:t>夫の候補②：一般企業（事業会社の情報システム部門）5社</a:t>
            </a:r>
          </a:p>
          <a:p>
            <a:r>
              <a:rPr sz="1150" b="0">
                <a:solidFill>
                  <a:srgbClr val="C9D6EA"/>
                </a:solidFill>
                <a:latin typeface="Meiryo"/>
                <a:ea typeface="Meiryo"/>
              </a:rPr>
              <a:t>「安定稼働が正義」の世界。コンサル的な稼働圧がなく、M365専任者は希少で歓迎される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"/>
                <a:ea typeface="Meiryo"/>
              </a:rPr>
              <a:t>14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5214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554480"/>
                <a:gridCol w="5577840"/>
                <a:gridCol w="219456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企業（本社）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通勤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推す理由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確認点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花王（茅場町）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日比谷線直通・乗換なし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くるみん認定を長年継続する両立支援の代表格。情報システム部門の中途採用実績あり。通勤条件は候補中ベスト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情シスのリモート比率★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アステラス製薬（日本橋）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日比谷線直通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3か月前にM365エンジニア募集の実績＝ポジション存在の確証。リモート先進の製薬大手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再募集ウォッチ最優先。部門の繁忙度★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中外製薬（日本橋）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日比谷線直通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製薬DXのトップランナーでIT人材の中途採用が活発。リモート併用の働き方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M365/インフラ枠の有無★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味の素（京橋）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直通圏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所定労働7時間15分など働き方改革の代表企業。DX推進で情シス採用あり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求人頻度は低い。ウォッチ型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アフラック生命保険（新宿）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乗換1回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「Aflac Work SMART」でリモート・シフト勤務が定着。社内IT部門の規模が大きい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配属部門のリモート実態★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440680"/>
            <a:ext cx="11338560" cy="1097280"/>
          </a:xfrm>
          <a:prstGeom prst="roundRect">
            <a:avLst/>
          </a:prstGeom>
          <a:solidFill>
            <a:srgbClr val="F2F5FA"/>
          </a:solidFill>
          <a:ln w="1524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Meiryo"/>
                <a:ea typeface="Meiryo"/>
              </a:rPr>
              <a:t>このゾーンの攻め方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333333"/>
                </a:solidFill>
                <a:latin typeface="Meiryo"/>
                <a:ea typeface="Meiryo"/>
              </a:rPr>
              <a:t>求人は不定期＝計画的に狙えない。</a:t>
            </a:r>
            <a:r>
              <a:rPr sz="1050" b="0">
                <a:solidFill>
                  <a:srgbClr val="333333"/>
                </a:solidFill>
                <a:latin typeface="Meiryo"/>
                <a:ea typeface="Meiryo"/>
              </a:rPr>
              <a:t>ビズリーチ＋社内SE専門エージェントで「Microsoft 365 社内SE」等をキーワード保存し、出たら即応募。IT系5社（前頁）と並走して「待ち」のリスクを消す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  <a:ea typeface="Meiryo"/>
              </a:rPr>
              <a:t>夫の候補③：国家公務員（社会人枠・技術職）</a:t>
            </a:r>
          </a:p>
          <a:p>
            <a:r>
              <a:rPr sz="1150" b="0">
                <a:solidFill>
                  <a:srgbClr val="C9D6EA"/>
                </a:solidFill>
                <a:latin typeface="Meiryo"/>
                <a:ea typeface="Meiryo"/>
              </a:rPr>
              <a:t>採用なら2027年4月入省 — 2027年3月末退職プランと整合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"/>
                <a:ea typeface="Meiryo"/>
              </a:rPr>
              <a:t>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33856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14400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観点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整理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適合ポイント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国税庁の情報システム系は採用枠が多い（e-Tax・次世代システムの構築運用等）。「運用メイン・精神的負荷低め」の希望と方向は一致。両立制度（時短・子の看護休暇・男性育休）は法制度上最強クラスで、雇用の安定性は全候補中最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年収想定★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係長級格付け＋地域手当で概ね500〜650万と推定（格付け次第。内定時に級号俸の提示で確認）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最大の注意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「リモート推奨」と「残業が少ない」は別問題。</a:t>
                      </a:r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本府省（霞が関）は国会対応等の突発・深夜業務が構造的にある部署が存在。配属先次第で理想にも逆にもなる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通勤の可能性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関東信越国税局（さいたま新都心）等の地方局配属なら通勤は現実的。配属の決まり方・希望の通り方は要確認★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確認すること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面接・官庁訪問で数字で聞く：①配属想定部署の平均超過勤務時間 ②国会対応の有無 ③リモートの週あたり実態 ④男性の時短・看護休暇の取得実例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349240"/>
            <a:ext cx="11338560" cy="914400"/>
          </a:xfrm>
          <a:prstGeom prst="roundRect">
            <a:avLst/>
          </a:prstGeom>
          <a:solidFill>
            <a:srgbClr val="F2F5FA"/>
          </a:solidFill>
          <a:ln w="1524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333333"/>
                </a:solidFill>
                <a:latin typeface="Meiryo"/>
                <a:ea typeface="Meiryo"/>
              </a:rPr>
              <a:t>位置づけ：シナリオA（育児メイン）の有力候補として民間と並走。</a:t>
            </a:r>
            <a:r>
              <a:rPr sz="1200" b="0">
                <a:solidFill>
                  <a:srgbClr val="333333"/>
                </a:solidFill>
                <a:latin typeface="Meiryo"/>
                <a:ea typeface="Meiryo"/>
              </a:rPr>
              <a:t>ただし「急な休みが取りやすそう」はまだ仮説 — 内定が出ても実態確認まで他の選択肢は切らない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  <a:ea typeface="Meiryo"/>
              </a:rPr>
              <a:t>資金繰りタイムライン</a:t>
            </a:r>
          </a:p>
          <a:p>
            <a:r>
              <a:rPr sz="1150" b="0">
                <a:solidFill>
                  <a:srgbClr val="C9D6EA"/>
                </a:solidFill>
                <a:latin typeface="Meiryo"/>
                <a:ea typeface="Meiryo"/>
              </a:rPr>
              <a:t>手取りベース。児童手当2.5万/月を含む。買取600万は別枠（生活資金に含まない）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"/>
                <a:ea typeface="Meiryo"/>
              </a:rPr>
              <a:t>16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5214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011680"/>
                <a:gridCol w="1828800"/>
                <a:gridCol w="1828800"/>
                <a:gridCol w="274320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期間・ケース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世帯手取り/月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必要額/月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収支/月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備考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2026年7〜10月（現状）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38.5万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約49万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▲10.5万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貯蓄190万から充当。約18か月耐久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妻転職成功後（例：11月入社〜）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55.5万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約49万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E7A3C"/>
                          </a:solidFill>
                          <a:latin typeface="Meiryo"/>
                          <a:ea typeface="Meiryo"/>
                        </a:rPr>
                        <a:t>＋6.5万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赤字停止。夫は在籍のまま活動継続可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2027年4月〜（保育料無償化後）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55.5万＋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約44万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E7A3C"/>
                          </a:solidFill>
                          <a:latin typeface="Meiryo"/>
                          <a:ea typeface="Meiryo"/>
                        </a:rPr>
                        <a:t>＋11万超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投資再開・買取後の資産再建開始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妻✕・夫アバナード復帰（例：2027年1月〜）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約59.5万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約49→44万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E7A3C"/>
                          </a:solidFill>
                          <a:latin typeface="Meiryo"/>
                          <a:ea typeface="Meiryo"/>
                        </a:rPr>
                        <a:t>＋10〜15万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シナリオB。妻は2033年独立へ積立再開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夫が無職期間を作った場合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45.5万（妻転職済でも）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約49万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▲3.5万〜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妻✕なら▲23.5万/月。保育園退園リスクも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709160"/>
            <a:ext cx="11338560" cy="1508760"/>
          </a:xfrm>
          <a:prstGeom prst="roundRect">
            <a:avLst/>
          </a:prstGeom>
          <a:solidFill>
            <a:srgbClr val="F2F5FA"/>
          </a:solidFill>
          <a:ln w="1524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/>
          <a:lstStyle/>
          <a:p>
            <a:pPr algn="ctr">
              <a:spcAft>
                <a:spcPts val="500"/>
              </a:spcAft>
            </a:pPr>
            <a:r>
              <a:rPr sz="1250" b="1">
                <a:solidFill>
                  <a:srgbClr val="1F3864"/>
                </a:solidFill>
                <a:latin typeface="Meiryo"/>
                <a:ea typeface="Meiryo"/>
              </a:rPr>
              <a:t>義祖父宅買取（NISA600万）の実行条件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Meiryo"/>
                <a:ea typeface="Meiryo"/>
              </a:rPr>
              <a:t>・破産管財人側の「いつまでに・いくら」を最優先で確認（評価額700万なら諸費用込みで600万超の可能性 → 上限額を今日合意）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Meiryo"/>
                <a:ea typeface="Meiryo"/>
              </a:rPr>
              <a:t>・実行タイミングは可能な限り「夫婦両方の次職確定後」へ後ろ倒し交渉。買取後は固定資産税・維持費・保険を家計に新規計上（年10〜20万規模★）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  <a:ea typeface="Meiryo"/>
              </a:rPr>
              <a:t>10月の意思決定：条件分岐表</a:t>
            </a:r>
          </a:p>
          <a:p>
            <a:r>
              <a:rPr sz="1150" b="0">
                <a:solidFill>
                  <a:srgbClr val="C9D6EA"/>
                </a:solidFill>
                <a:latin typeface="Meiryo"/>
                <a:ea typeface="Meiryo"/>
              </a:rPr>
              <a:t>10月に妻内定・夫オファー・公務員選考が同時に来る — 判断ルールを先に固定する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"/>
                <a:ea typeface="Meiryo"/>
              </a:rPr>
              <a:t>17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521437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59"/>
                <a:gridCol w="4571999"/>
                <a:gridCol w="3840479"/>
              </a:tblGrid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10月の状況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アクション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結果の絵姿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① 妻内定○ × 夫に条件充足オファー○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シナリオA確定。夫は10月末までに退職通知（12月末退職）→ 無職期間ゼロで接続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妻=収入の柱、夫=育児メイン（300〜500万）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② 妻内定○ × 夫オファー未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夫は在籍継続で活動続行（赤字は解消済みで焦る理由がない）。公務員合格なら2027年3月末退職→4月入省も選択肢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ブリッジ期間を経てシナリオAへ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③ 妻内定✕ × 公務員○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残業実態を数字で確認の上、夫2027年3月末退職→4月入省。妻は現職＋免除ルート（2033年税理士）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変形シナリオB（安定型）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④ 妻内定✕ × 公務員✕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夫はアバナード復帰を打診（シナリオB・〜700万）。妻は現職＋2033年独立へ。3年目に再評価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役割維持＋2033年に再逆転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440680"/>
            <a:ext cx="11338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C00000"/>
                </a:solidFill>
                <a:latin typeface="Meiryo"/>
                <a:ea typeface="Meiryo"/>
              </a:rPr>
              <a:t>全分岐共通の鉄則：</a:t>
            </a:r>
            <a:r>
              <a:rPr sz="1200" b="0">
                <a:solidFill>
                  <a:srgbClr val="333333"/>
                </a:solidFill>
                <a:latin typeface="Meiryo"/>
                <a:ea typeface="Meiryo"/>
              </a:rPr>
              <a:t>オファー（内定）確定前に退職通知はしない ／ どの箱に落ちても生活は成立する（→この表を「不安を下げる道具」として使う）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B6B6B"/>
                </a:solidFill>
                <a:latin typeface="Meiryo"/>
                <a:ea typeface="Meiryo"/>
              </a:rPr>
              <a:t>※妻の内定が想定未満の年収（例：350万）で出た場合に受けるか否か — 今日決める「受諾最低条件」で機械的に判断する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  <a:ea typeface="Meiryo"/>
              </a:rPr>
              <a:t>アクションプラン</a:t>
            </a:r>
          </a:p>
          <a:p>
            <a:r>
              <a:rPr sz="1150" b="0">
                <a:solidFill>
                  <a:srgbClr val="C9D6EA"/>
                </a:solidFill>
                <a:latin typeface="Meiryo"/>
                <a:ea typeface="Meiryo"/>
              </a:rPr>
              <a:t>直近2週間が勝負。10月に「選べる状態」を作る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"/>
                <a:ea typeface="Meiryo"/>
              </a:rPr>
              <a:t>18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43000"/>
          <a:ext cx="115214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846320"/>
                <a:gridCol w="4846320"/>
              </a:tblGrid>
              <a:tr h="84124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時期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夫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妻・共同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今週〜2週間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・エージェント登録、IT系5社＋一般企業ウォッチ開始
・アバナード元同僚に非公式接触（復帰時のアサイン感触）
・公務員選考の日程確認と対策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・共同：保育料2件の確認（預かり保育給付★・多子減免★）
・共同：管財人弁護士に買取の価格・期限確認→上限額合意
・共同：病児保育・ファミサポ・一時保育の登録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8〜9月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・書類・カジュアル面談を進め、10月に選択肢2〜3個の状態へ
・面接定型3問で「実態」を確認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・妻：面接進行（受諾最低条件は合意済みの状態で）
・共同：条件分岐表（前頁）の最終化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10月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・シナリオ確定に合わせオファー選択
・確定した場合のみ10月末までに退職通知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・妻：内定判断（複数内定は事前順位で即断）
・共同：買取実行時期を管財人と調整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11月〜2027年4月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・転職・入社（無職期間ゼロ・有休で接続）
・公務員なら2027/3末退職→4月入省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Meiryo"/>
                          <a:ea typeface="Meiryo"/>
                        </a:rPr>
                        <a:t>・妻転職なら入社、夫が送迎主担当へ移行
・シナリオBなら会計2科目の学習計画＋3年目再評価を設定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715000"/>
            <a:ext cx="11338560" cy="868680"/>
          </a:xfrm>
          <a:prstGeom prst="roundRect">
            <a:avLst/>
          </a:prstGeom>
          <a:solidFill>
            <a:srgbClr val="F2F5FA"/>
          </a:solidFill>
          <a:ln w="1524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1F3864"/>
                </a:solidFill>
                <a:latin typeface="Meiryo"/>
                <a:ea typeface="Meiryo"/>
              </a:rPr>
              <a:t>本日決める3つ（再掲）：</a:t>
            </a:r>
            <a:r>
              <a:rPr sz="1150" b="1">
                <a:solidFill>
                  <a:srgbClr val="333333"/>
                </a:solidFill>
                <a:latin typeface="Meiryo"/>
                <a:ea typeface="Meiryo"/>
              </a:rPr>
              <a:t>① 妻：5社＋現職残留の優先順位と受諾最低条件　② 夫：働き方必須4条件と応募先リスト　③ 家計：買取上限額と10月条件分岐表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