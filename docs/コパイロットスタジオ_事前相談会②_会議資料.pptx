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439775" cy="7559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4546" y="360000"/>
            <a:ext cx="11810918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全体スケジュール（7月〜10月上旬）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97689" y="809974"/>
            <a:ext cx="11827398" cy="89379"/>
          </a:xfrm>
          <a:prstGeom prst="rect">
            <a:avLst/>
          </a:prstGeom>
          <a:solidFill>
            <a:srgbClr val="1B5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0000" y="7150000"/>
            <a:ext cx="70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EB8BD"/>
                </a:solidFill>
                <a:latin typeface="游ゴシック"/>
                <a:ea typeface="游ゴシック"/>
                <a:cs typeface="游ゴシック"/>
              </a:rPr>
              <a:t>© 2026 Low Code Inc.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50000" y="7057560"/>
            <a:ext cx="543031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BA7AC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4546" y="990000"/>
            <a:ext cx="11810918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B5C80"/>
                </a:solidFill>
                <a:latin typeface="游ゴシック"/>
                <a:ea typeface="游ゴシック"/>
                <a:cs typeface="游ゴシック"/>
              </a:rPr>
              <a:t>全11チーム（各3〜4名）</a:t>
            </a:r>
            <a:r>
              <a:rPr sz="145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でそれぞれ1つの企画書を作成し、</a:t>
            </a:r>
            <a:r>
              <a:rPr sz="1450" b="1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10月上旬の社長・役員報告</a:t>
            </a:r>
            <a:r>
              <a:rPr sz="145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を目指します。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546" y="1660000"/>
            <a:ext cx="2787729" cy="4620000"/>
          </a:xfrm>
          <a:prstGeom prst="roundRect">
            <a:avLst>
              <a:gd name="adj" fmla="val 5000"/>
            </a:avLst>
          </a:prstGeom>
          <a:solidFill>
            <a:srgbClr val="EAF6FB"/>
          </a:solidFill>
          <a:ln w="9525">
            <a:solidFill>
              <a:srgbClr val="9FD8EA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546" y="1860000"/>
            <a:ext cx="2407729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7月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4546" y="2440000"/>
            <a:ext cx="2407729" cy="470000"/>
          </a:xfrm>
          <a:prstGeom prst="roundRect">
            <a:avLst>
              <a:gd name="adj" fmla="val 50000"/>
            </a:avLst>
          </a:prstGeom>
          <a:solidFill>
            <a:srgbClr val="0F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★ 本日：事前相談会②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546" y="3060000"/>
            <a:ext cx="2407729" cy="29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チーム編成・企画案の作成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Copilot Studio／Power Automate 研修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メンター事前相談会 ①・②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275" y="1660000"/>
            <a:ext cx="2787729" cy="4620000"/>
          </a:xfrm>
          <a:prstGeom prst="roundRect">
            <a:avLst>
              <a:gd name="adj" fmla="val 5000"/>
            </a:avLst>
          </a:prstGeom>
          <a:solidFill>
            <a:srgbClr val="EAF6FB"/>
          </a:solidFill>
          <a:ln w="9525">
            <a:solidFill>
              <a:srgbClr val="9FD8EA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2275" y="1860000"/>
            <a:ext cx="2407729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8月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2275" y="2440000"/>
            <a:ext cx="2407729" cy="470000"/>
          </a:xfrm>
          <a:prstGeom prst="roundRect">
            <a:avLst>
              <a:gd name="adj" fmla="val 50000"/>
            </a:avLst>
          </a:prstGeom>
          <a:solidFill>
            <a:srgbClr val="0F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8月初旬：ライセンス付与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2275" y="3060000"/>
            <a:ext cx="2407729" cy="29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チームごとに構築・検証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メンターとの定例会（週次〜隔週）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1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Copilot Studio ライセンス付与見込み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0004" y="1660000"/>
            <a:ext cx="2787729" cy="4620000"/>
          </a:xfrm>
          <a:prstGeom prst="roundRect">
            <a:avLst>
              <a:gd name="adj" fmla="val 5000"/>
            </a:avLst>
          </a:prstGeom>
          <a:solidFill>
            <a:srgbClr val="EAF6FB"/>
          </a:solidFill>
          <a:ln w="9525">
            <a:solidFill>
              <a:srgbClr val="9FD8EA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0004" y="1860000"/>
            <a:ext cx="2407729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9月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0004" y="2440000"/>
            <a:ext cx="2407729" cy="470000"/>
          </a:xfrm>
          <a:prstGeom prst="roundRect">
            <a:avLst>
              <a:gd name="adj" fmla="val 50000"/>
            </a:avLst>
          </a:prstGeom>
          <a:solidFill>
            <a:srgbClr val="0F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社長報告に向けた準備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004" y="3060000"/>
            <a:ext cx="2407729" cy="29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構築した仕組みのデモ検証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報告資料の作成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0FA4CC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今後の展開に関する検討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37733" y="1660000"/>
            <a:ext cx="2787729" cy="462000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 w="9525">
            <a:solidFill>
              <a:srgbClr val="F0B7A8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7733" y="1860000"/>
            <a:ext cx="2407729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10月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7733" y="2440000"/>
            <a:ext cx="2407729" cy="470000"/>
          </a:xfrm>
          <a:prstGeom prst="roundRect">
            <a:avLst>
              <a:gd name="adj" fmla="val 50000"/>
            </a:avLst>
          </a:prstGeom>
          <a:solidFill>
            <a:srgbClr val="EC8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【1週目】社長・役員へ報告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7733" y="3060000"/>
            <a:ext cx="2407729" cy="299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全11チームが順に報告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持ち時間 各10分（質疑含む）</a:t>
            </a:r>
          </a:p>
          <a:p>
            <a:pPr algn="l">
              <a:lnSpc>
                <a:spcPct val="116000"/>
              </a:lnSpc>
              <a:spcAft>
                <a:spcPts val="1700"/>
              </a:spcAft>
            </a:pPr>
            <a:r>
              <a:rPr sz="950" b="0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● </a:t>
            </a:r>
            <a:r>
              <a:rPr sz="1300" b="1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発表は5〜7分程度</a:t>
            </a:r>
          </a:p>
        </p:txBody>
      </p:sp>
      <p:sp>
        <p:nvSpPr>
          <p:cNvPr id="23" name="Chevron 22"/>
          <p:cNvSpPr/>
          <p:nvPr/>
        </p:nvSpPr>
        <p:spPr>
          <a:xfrm>
            <a:off x="3637275" y="3880000"/>
            <a:ext cx="150000" cy="180000"/>
          </a:xfrm>
          <a:prstGeom prst="chevron">
            <a:avLst/>
          </a:prstGeom>
          <a:solidFill>
            <a:srgbClr val="BB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6645004" y="3880000"/>
            <a:ext cx="150000" cy="180000"/>
          </a:xfrm>
          <a:prstGeom prst="chevron">
            <a:avLst/>
          </a:prstGeom>
          <a:solidFill>
            <a:srgbClr val="BB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9652733" y="3880000"/>
            <a:ext cx="150000" cy="180000"/>
          </a:xfrm>
          <a:prstGeom prst="chevron">
            <a:avLst/>
          </a:prstGeom>
          <a:solidFill>
            <a:srgbClr val="BB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4546" y="360000"/>
            <a:ext cx="11810918" cy="4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本日のポイント ｜ 事前相談会②</a:t>
            </a:r>
          </a:p>
        </p:txBody>
      </p:sp>
      <p:sp>
        <p:nvSpPr>
          <p:cNvPr id="3" name="Rectangle 2"/>
          <p:cNvSpPr/>
          <p:nvPr/>
        </p:nvSpPr>
        <p:spPr>
          <a:xfrm>
            <a:off x="797689" y="809974"/>
            <a:ext cx="11827398" cy="89379"/>
          </a:xfrm>
          <a:prstGeom prst="rect">
            <a:avLst/>
          </a:prstGeom>
          <a:solidFill>
            <a:srgbClr val="1B5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0000" y="7150000"/>
            <a:ext cx="70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EB8BD"/>
                </a:solidFill>
                <a:latin typeface="游ゴシック"/>
                <a:ea typeface="游ゴシック"/>
                <a:cs typeface="游ゴシック"/>
              </a:rPr>
              <a:t>© 2026 Low Code Inc.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50000" y="7057560"/>
            <a:ext cx="543031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BA7AC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546" y="1010000"/>
            <a:ext cx="300000" cy="300000"/>
          </a:xfrm>
          <a:prstGeom prst="roundRect">
            <a:avLst>
              <a:gd name="adj" fmla="val 28000"/>
            </a:avLst>
          </a:prstGeom>
          <a:solidFill>
            <a:srgbClr val="EC8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4546" y="970000"/>
            <a:ext cx="11360918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本日ご相談いただきたいこと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546" y="1520000"/>
            <a:ext cx="5755459" cy="136000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 w="9525">
            <a:solidFill>
              <a:srgbClr val="9FD8EA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546" y="1720000"/>
            <a:ext cx="430000" cy="430000"/>
          </a:xfrm>
          <a:prstGeom prst="ellipse">
            <a:avLst/>
          </a:prstGeom>
          <a:solidFill>
            <a:srgbClr val="0F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4546" y="1740000"/>
            <a:ext cx="4815459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5C80"/>
                </a:solidFill>
                <a:latin typeface="游ゴシック"/>
                <a:ea typeface="游ゴシック"/>
                <a:cs typeface="游ゴシック"/>
              </a:rPr>
              <a:t>企画の実現性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546" y="2240000"/>
            <a:ext cx="53154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企画が実現可能かどうかを一緒に確認し、アドバイスします。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0005" y="1520000"/>
            <a:ext cx="5755459" cy="1360000"/>
          </a:xfrm>
          <a:prstGeom prst="roundRect">
            <a:avLst>
              <a:gd name="adj" fmla="val 7000"/>
            </a:avLst>
          </a:prstGeom>
          <a:solidFill>
            <a:srgbClr val="EAF6FB"/>
          </a:solidFill>
          <a:ln w="9525">
            <a:solidFill>
              <a:srgbClr val="9FD8EA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70005" y="1720000"/>
            <a:ext cx="430000" cy="430000"/>
          </a:xfrm>
          <a:prstGeom prst="ellipse">
            <a:avLst/>
          </a:prstGeom>
          <a:solidFill>
            <a:srgbClr val="0F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0005" y="1740000"/>
            <a:ext cx="4815459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5C80"/>
                </a:solidFill>
                <a:latin typeface="游ゴシック"/>
                <a:ea typeface="游ゴシック"/>
                <a:cs typeface="游ゴシック"/>
              </a:rPr>
              <a:t>技術的なお困りごと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0005" y="2240000"/>
            <a:ext cx="53154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技術面で詰まっている点があれば、この場で助言します。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546" y="3030000"/>
            <a:ext cx="11810918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💬 </a:t>
            </a:r>
            <a:r>
              <a:rPr sz="1300" b="1">
                <a:solidFill>
                  <a:srgbClr val="5A6E77"/>
                </a:solidFill>
                <a:latin typeface="游ゴシック"/>
                <a:ea typeface="游ゴシック"/>
                <a:cs typeface="游ゴシック"/>
              </a:rPr>
              <a:t>すでにお持ちの質問があれば、ぜひこの場でご発言ください。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546" y="3510000"/>
            <a:ext cx="300000" cy="300000"/>
          </a:xfrm>
          <a:prstGeom prst="roundRect">
            <a:avLst>
              <a:gd name="adj" fmla="val 28000"/>
            </a:avLst>
          </a:prstGeom>
          <a:solidFill>
            <a:srgbClr val="0F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4546" y="3470000"/>
            <a:ext cx="11360918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ガイドライン準拠の確認（M365内での構成が前提です）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546" y="4030000"/>
            <a:ext cx="3776972" cy="2360000"/>
          </a:xfrm>
          <a:prstGeom prst="roundRect">
            <a:avLst>
              <a:gd name="adj" fmla="val 6000"/>
            </a:avLst>
          </a:prstGeom>
          <a:solidFill>
            <a:srgbClr val="FCEEE9"/>
          </a:solidFill>
          <a:ln w="9525">
            <a:solidFill>
              <a:srgbClr val="F0B7A8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4546" y="4270000"/>
            <a:ext cx="440000" cy="440000"/>
          </a:xfrm>
          <a:prstGeom prst="ellipse">
            <a:avLst/>
          </a:prstGeom>
          <a:solidFill>
            <a:srgbClr val="EC8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546" y="4830000"/>
            <a:ext cx="3316972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M365内で構成する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546" y="5360000"/>
            <a:ext cx="3316972" cy="9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外部システム（Salesforce など）への接続はNGとさせてください。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31518" y="4030000"/>
            <a:ext cx="3776972" cy="2360000"/>
          </a:xfrm>
          <a:prstGeom prst="roundRect">
            <a:avLst>
              <a:gd name="adj" fmla="val 6000"/>
            </a:avLst>
          </a:prstGeom>
          <a:solidFill>
            <a:srgbClr val="FCEEE9"/>
          </a:solidFill>
          <a:ln w="9525">
            <a:solidFill>
              <a:srgbClr val="F0B7A8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61518" y="4270000"/>
            <a:ext cx="440000" cy="440000"/>
          </a:xfrm>
          <a:prstGeom prst="ellipse">
            <a:avLst/>
          </a:prstGeom>
          <a:solidFill>
            <a:srgbClr val="EC8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1518" y="4830000"/>
            <a:ext cx="3316972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個人情報・極秘情報を含めない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1518" y="5360000"/>
            <a:ext cx="3316972" cy="9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アプリで読み込む対象に、個人情報や極秘情報が含まれないようにしてください。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48490" y="4030000"/>
            <a:ext cx="3776972" cy="2360000"/>
          </a:xfrm>
          <a:prstGeom prst="roundRect">
            <a:avLst>
              <a:gd name="adj" fmla="val 6000"/>
            </a:avLst>
          </a:prstGeom>
          <a:solidFill>
            <a:srgbClr val="FCEEE9"/>
          </a:solidFill>
          <a:ln w="9525">
            <a:solidFill>
              <a:srgbClr val="F0B7A8"/>
            </a:solidFill>
          </a:ln>
          <a:effectLst/>
          <a:effectLst>
            <a:outerShdw blurRad="50800" dist="25400" dir="5400000" rotWithShape="0">
              <a:srgbClr val="8AA6B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78490" y="4270000"/>
            <a:ext cx="440000" cy="440000"/>
          </a:xfrm>
          <a:prstGeom prst="ellipse">
            <a:avLst/>
          </a:prstGeom>
          <a:solidFill>
            <a:srgbClr val="EC8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8490" y="4830000"/>
            <a:ext cx="3316972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EC856F"/>
                </a:solidFill>
                <a:latin typeface="游ゴシック"/>
                <a:ea typeface="游ゴシック"/>
                <a:cs typeface="游ゴシック"/>
              </a:rPr>
              <a:t>外部サイトへの情報収集はNG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8490" y="5360000"/>
            <a:ext cx="3316972" cy="9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232323"/>
                </a:solidFill>
                <a:latin typeface="游ゴシック"/>
                <a:ea typeface="游ゴシック"/>
                <a:cs typeface="游ゴシック"/>
              </a:rPr>
              <a:t>スクレイピングに当たるため原則禁止です。（例：特定企業のIR情報などを収集し資料化）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