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3439775" cy="75596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5000" y="2280000"/>
            <a:ext cx="105000" cy="2760000"/>
          </a:xfrm>
          <a:prstGeom prst="rect">
            <a:avLst/>
          </a:prstGeom>
          <a:solidFill>
            <a:srgbClr val="1B5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235000" y="1760000"/>
            <a:ext cx="3050000" cy="470000"/>
          </a:xfrm>
          <a:prstGeom prst="roundRect">
            <a:avLst>
              <a:gd name="adj" fmla="val 50000"/>
            </a:avLst>
          </a:prstGeom>
          <a:solidFill>
            <a:srgbClr val="EC8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AI活用 × Power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5000" y="2380000"/>
            <a:ext cx="10800000" cy="2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200" b="1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Copilot Studio ハッカソン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200" b="1">
                <a:solidFill>
                  <a:srgbClr val="1B5C80"/>
                </a:solidFill>
                <a:latin typeface="游ゴシック"/>
                <a:ea typeface="游ゴシック"/>
                <a:cs typeface="游ゴシック"/>
              </a:rPr>
              <a:t>事前相談会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0000" y="4640000"/>
            <a:ext cx="105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2026年7月22日</a:t>
            </a:r>
            <a:r>
              <a:rPr sz="160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　｜　全11チーム（各3〜4名）　｜　7月〜10月上旬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000" y="7150000"/>
            <a:ext cx="70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EB8BD"/>
                </a:solidFill>
                <a:latin typeface="游ゴシック"/>
                <a:ea typeface="游ゴシック"/>
                <a:cs typeface="游ゴシック"/>
              </a:rPr>
              <a:t>© 2026 Low Code Inc.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4546" y="350000"/>
            <a:ext cx="11810918" cy="4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事前相談会②　本日のポイント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797689" y="820000"/>
            <a:ext cx="11827398" cy="82000"/>
          </a:xfrm>
          <a:prstGeom prst="rect">
            <a:avLst/>
          </a:prstGeom>
          <a:solidFill>
            <a:srgbClr val="1B5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0000" y="7150000"/>
            <a:ext cx="70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EB8BD"/>
                </a:solidFill>
                <a:latin typeface="游ゴシック"/>
                <a:ea typeface="游ゴシック"/>
                <a:cs typeface="游ゴシック"/>
              </a:rPr>
              <a:t>© 2026 Low Code Inc. All rights 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50000" y="7060000"/>
            <a:ext cx="543031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BA7AC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4546" y="1120000"/>
            <a:ext cx="5715459" cy="4650000"/>
          </a:xfrm>
          <a:prstGeom prst="roundRect">
            <a:avLst>
              <a:gd name="adj" fmla="val 4500"/>
            </a:avLst>
          </a:prstGeom>
          <a:solidFill>
            <a:srgbClr val="EAF6FB"/>
          </a:solidFill>
          <a:ln w="9525">
            <a:solidFill>
              <a:srgbClr val="9FD8EA"/>
            </a:solidFill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4546" y="1460000"/>
            <a:ext cx="560000" cy="560000"/>
          </a:xfrm>
          <a:prstGeom prst="ellipse">
            <a:avLst/>
          </a:prstGeom>
          <a:solidFill>
            <a:srgbClr val="0F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4546" y="1480000"/>
            <a:ext cx="4495459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本日の目的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4546" y="2300000"/>
            <a:ext cx="5075459" cy="3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●  </a:t>
            </a:r>
            <a:r>
              <a:rPr sz="1500" b="1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企画内容の実現可能性を確認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10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　　</a:t>
            </a:r>
            <a:r>
              <a:rPr sz="115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「M365内で実現できるか」を一緒に確認します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●  </a:t>
            </a:r>
            <a:r>
              <a:rPr sz="1500" b="1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技術課題に対するアドバイス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10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　　</a:t>
            </a:r>
            <a:r>
              <a:rPr sz="115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つまずいている技術的な点の解消をお手伝いします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●  </a:t>
            </a:r>
            <a:r>
              <a:rPr sz="1500" b="1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質疑応答・懸念事項の相談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10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　　</a:t>
            </a:r>
            <a:r>
              <a:rPr sz="115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気になる点・不安な点は何でもご相談ください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10005" y="1120000"/>
            <a:ext cx="5715459" cy="4650000"/>
          </a:xfrm>
          <a:prstGeom prst="roundRect">
            <a:avLst>
              <a:gd name="adj" fmla="val 4500"/>
            </a:avLst>
          </a:prstGeom>
          <a:solidFill>
            <a:srgbClr val="FCEEE9"/>
          </a:solidFill>
          <a:ln w="9525">
            <a:solidFill>
              <a:srgbClr val="F0B7A8"/>
            </a:solidFill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30005" y="1460000"/>
            <a:ext cx="560000" cy="560000"/>
          </a:xfrm>
          <a:prstGeom prst="ellipse">
            <a:avLst/>
          </a:prstGeom>
          <a:solidFill>
            <a:srgbClr val="EC8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0005" y="1480000"/>
            <a:ext cx="4495459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EC856F"/>
                </a:solidFill>
                <a:latin typeface="游ゴシック"/>
                <a:ea typeface="游ゴシック"/>
                <a:cs typeface="游ゴシック"/>
              </a:rPr>
              <a:t>ガイドライン準拠の確認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005" y="2300000"/>
            <a:ext cx="5075459" cy="3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EC856F"/>
                </a:solidFill>
                <a:latin typeface="游ゴシック"/>
                <a:ea typeface="游ゴシック"/>
                <a:cs typeface="游ゴシック"/>
              </a:rPr>
              <a:t>●  </a:t>
            </a:r>
            <a:r>
              <a:rPr sz="1500" b="1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M365外のシステム連携は不可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10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　　</a:t>
            </a:r>
            <a:r>
              <a:rPr sz="115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Salesforce など外部システムへの接続はNG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EC856F"/>
                </a:solidFill>
                <a:latin typeface="游ゴシック"/>
                <a:ea typeface="游ゴシック"/>
                <a:cs typeface="游ゴシック"/>
              </a:rPr>
              <a:t>●  </a:t>
            </a:r>
            <a:r>
              <a:rPr sz="1500" b="1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個人情報・極秘情報を含めない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10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　　</a:t>
            </a:r>
            <a:r>
              <a:rPr sz="115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読み込み先に機微な情報が入らないようにする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EC856F"/>
                </a:solidFill>
                <a:latin typeface="游ゴシック"/>
                <a:ea typeface="游ゴシック"/>
                <a:cs typeface="游ゴシック"/>
              </a:rPr>
              <a:t>●  </a:t>
            </a:r>
            <a:r>
              <a:rPr sz="1500" b="1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外部サイトの情報取得はしない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10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　　</a:t>
            </a:r>
            <a:r>
              <a:rPr sz="1150" b="0">
                <a:solidFill>
                  <a:srgbClr val="5A6E77"/>
                </a:solidFill>
                <a:latin typeface="游ゴシック"/>
                <a:ea typeface="游ゴシック"/>
                <a:cs typeface="游ゴシック"/>
              </a:rPr>
              <a:t>例：特定企業HPからのIR情報取得など（スクレイピング）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4546" y="350000"/>
            <a:ext cx="11810918" cy="4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全体スケジュール（7月〜10月上旬）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97689" y="820000"/>
            <a:ext cx="11827398" cy="82000"/>
          </a:xfrm>
          <a:prstGeom prst="rect">
            <a:avLst/>
          </a:prstGeom>
          <a:solidFill>
            <a:srgbClr val="1B5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0000" y="7150000"/>
            <a:ext cx="70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EB8BD"/>
                </a:solidFill>
                <a:latin typeface="游ゴシック"/>
                <a:ea typeface="游ゴシック"/>
                <a:cs typeface="游ゴシック"/>
              </a:rPr>
              <a:t>© 2026 Low Code Inc. All rights 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50000" y="7060000"/>
            <a:ext cx="543031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BA7AC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814546" y="1780000"/>
            <a:ext cx="11810918" cy="34000"/>
          </a:xfrm>
          <a:prstGeom prst="rect">
            <a:avLst/>
          </a:prstGeom>
          <a:solidFill>
            <a:srgbClr val="DC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5910" y="1700000"/>
            <a:ext cx="190000" cy="190000"/>
          </a:xfrm>
          <a:prstGeom prst="ellipse">
            <a:avLst/>
          </a:prstGeom>
          <a:solidFill>
            <a:srgbClr val="0F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5118639" y="1700000"/>
            <a:ext cx="190000" cy="190000"/>
          </a:xfrm>
          <a:prstGeom prst="ellipse">
            <a:avLst/>
          </a:prstGeom>
          <a:solidFill>
            <a:srgbClr val="0F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8131368" y="1700000"/>
            <a:ext cx="190000" cy="190000"/>
          </a:xfrm>
          <a:prstGeom prst="ellipse">
            <a:avLst/>
          </a:prstGeom>
          <a:solidFill>
            <a:srgbClr val="0F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11144097" y="1700000"/>
            <a:ext cx="190000" cy="190000"/>
          </a:xfrm>
          <a:prstGeom prst="ellipse">
            <a:avLst/>
          </a:prstGeom>
          <a:solidFill>
            <a:srgbClr val="EC8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0910" y="1120000"/>
            <a:ext cx="2680000" cy="470000"/>
          </a:xfrm>
          <a:prstGeom prst="roundRect">
            <a:avLst>
              <a:gd name="adj" fmla="val 50000"/>
            </a:avLst>
          </a:prstGeom>
          <a:solidFill>
            <a:srgbClr val="EC856F"/>
          </a:solidFill>
          <a:ln>
            <a:noFill/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★ 本日：事前相談会②</a:t>
            </a:r>
          </a:p>
        </p:txBody>
      </p:sp>
      <p:sp>
        <p:nvSpPr>
          <p:cNvPr id="12" name="Isosceles Triangle 11"/>
          <p:cNvSpPr/>
          <p:nvPr/>
        </p:nvSpPr>
        <p:spPr>
          <a:xfrm rot="10800000">
            <a:off x="2130910" y="1590000"/>
            <a:ext cx="140000" cy="150000"/>
          </a:xfrm>
          <a:prstGeom prst="triangle">
            <a:avLst/>
          </a:prstGeom>
          <a:solidFill>
            <a:srgbClr val="EC8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73639" y="1120000"/>
            <a:ext cx="2680000" cy="470000"/>
          </a:xfrm>
          <a:prstGeom prst="roundRect">
            <a:avLst>
              <a:gd name="adj" fmla="val 50000"/>
            </a:avLst>
          </a:prstGeom>
          <a:solidFill>
            <a:srgbClr val="0FA4CC"/>
          </a:solidFill>
          <a:ln>
            <a:noFill/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8月初旬：ライセンス付与</a:t>
            </a:r>
          </a:p>
        </p:txBody>
      </p:sp>
      <p:sp>
        <p:nvSpPr>
          <p:cNvPr id="14" name="Isosceles Triangle 13"/>
          <p:cNvSpPr/>
          <p:nvPr/>
        </p:nvSpPr>
        <p:spPr>
          <a:xfrm rot="10800000">
            <a:off x="5143639" y="1590000"/>
            <a:ext cx="140000" cy="150000"/>
          </a:xfrm>
          <a:prstGeom prst="triangle">
            <a:avLst/>
          </a:prstGeom>
          <a:solidFill>
            <a:srgbClr val="0F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99097" y="1120000"/>
            <a:ext cx="2680000" cy="470000"/>
          </a:xfrm>
          <a:prstGeom prst="roundRect">
            <a:avLst>
              <a:gd name="adj" fmla="val 50000"/>
            </a:avLst>
          </a:prstGeom>
          <a:solidFill>
            <a:srgbClr val="EC856F"/>
          </a:solidFill>
          <a:ln>
            <a:noFill/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10月1週目：社長・役員報告</a:t>
            </a:r>
          </a:p>
        </p:txBody>
      </p:sp>
      <p:sp>
        <p:nvSpPr>
          <p:cNvPr id="16" name="Isosceles Triangle 15"/>
          <p:cNvSpPr/>
          <p:nvPr/>
        </p:nvSpPr>
        <p:spPr>
          <a:xfrm rot="10800000">
            <a:off x="11169097" y="1590000"/>
            <a:ext cx="140000" cy="150000"/>
          </a:xfrm>
          <a:prstGeom prst="triangle">
            <a:avLst/>
          </a:prstGeom>
          <a:solidFill>
            <a:srgbClr val="EC8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4546" y="2440000"/>
            <a:ext cx="2772729" cy="3760000"/>
          </a:xfrm>
          <a:prstGeom prst="roundRect">
            <a:avLst>
              <a:gd name="adj" fmla="val 5000"/>
            </a:avLst>
          </a:prstGeom>
          <a:solidFill>
            <a:srgbClr val="EAF6FB"/>
          </a:solidFill>
          <a:ln w="9525">
            <a:solidFill>
              <a:srgbClr val="9FD8EA"/>
            </a:solidFill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4546" y="2670000"/>
            <a:ext cx="470000" cy="470000"/>
          </a:xfrm>
          <a:prstGeom prst="ellipse">
            <a:avLst/>
          </a:prstGeom>
          <a:solidFill>
            <a:srgbClr val="0F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4546" y="2670000"/>
            <a:ext cx="1922729" cy="5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7月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46" y="3260000"/>
            <a:ext cx="2312729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企画・準備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4546" y="3760000"/>
            <a:ext cx="2312729" cy="2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チーム編成</a:t>
            </a:r>
          </a:p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企画案の作成</a:t>
            </a:r>
          </a:p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Copilot Studio／Power Automate 研修</a:t>
            </a:r>
          </a:p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事前相談会 ①・②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275" y="2440000"/>
            <a:ext cx="2772729" cy="3760000"/>
          </a:xfrm>
          <a:prstGeom prst="roundRect">
            <a:avLst>
              <a:gd name="adj" fmla="val 5000"/>
            </a:avLst>
          </a:prstGeom>
          <a:solidFill>
            <a:srgbClr val="EAF6FB"/>
          </a:solidFill>
          <a:ln w="9525">
            <a:solidFill>
              <a:srgbClr val="9FD8EA"/>
            </a:solidFill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57275" y="2670000"/>
            <a:ext cx="470000" cy="470000"/>
          </a:xfrm>
          <a:prstGeom prst="ellipse">
            <a:avLst/>
          </a:prstGeom>
          <a:solidFill>
            <a:srgbClr val="0F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275" y="2670000"/>
            <a:ext cx="1922729" cy="5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8月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57275" y="3260000"/>
            <a:ext cx="2312729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構築・検証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7275" y="3760000"/>
            <a:ext cx="2312729" cy="2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ソリューションの構築</a:t>
            </a:r>
          </a:p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業務適用性の検証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40004" y="2440000"/>
            <a:ext cx="2772729" cy="3760000"/>
          </a:xfrm>
          <a:prstGeom prst="roundRect">
            <a:avLst>
              <a:gd name="adj" fmla="val 5000"/>
            </a:avLst>
          </a:prstGeom>
          <a:solidFill>
            <a:srgbClr val="EAF6FB"/>
          </a:solidFill>
          <a:ln w="9525">
            <a:solidFill>
              <a:srgbClr val="9FD8EA"/>
            </a:solidFill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070004" y="2670000"/>
            <a:ext cx="470000" cy="470000"/>
          </a:xfrm>
          <a:prstGeom prst="ellipse">
            <a:avLst/>
          </a:prstGeom>
          <a:solidFill>
            <a:srgbClr val="0F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0004" y="2670000"/>
            <a:ext cx="1922729" cy="5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0004" y="3260000"/>
            <a:ext cx="2312729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報告準備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70004" y="3760000"/>
            <a:ext cx="2312729" cy="2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デモ検証</a:t>
            </a:r>
          </a:p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報告資料の作成</a:t>
            </a:r>
          </a:p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展開計画の整理</a:t>
            </a:r>
          </a:p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0FA4CC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発表リハーサル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52733" y="2440000"/>
            <a:ext cx="2772729" cy="3760000"/>
          </a:xfrm>
          <a:prstGeom prst="roundRect">
            <a:avLst>
              <a:gd name="adj" fmla="val 5000"/>
            </a:avLst>
          </a:prstGeom>
          <a:solidFill>
            <a:srgbClr val="FCEEE9"/>
          </a:solidFill>
          <a:ln w="9525">
            <a:solidFill>
              <a:srgbClr val="F0B7A8"/>
            </a:solidFill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2733" y="2670000"/>
            <a:ext cx="470000" cy="470000"/>
          </a:xfrm>
          <a:prstGeom prst="ellipse">
            <a:avLst/>
          </a:prstGeom>
          <a:solidFill>
            <a:srgbClr val="EC8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42733" y="2670000"/>
            <a:ext cx="1922729" cy="5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EC856F"/>
                </a:solidFill>
                <a:latin typeface="游ゴシック"/>
                <a:ea typeface="游ゴシック"/>
                <a:cs typeface="游ゴシック"/>
              </a:rPr>
              <a:t>10月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82733" y="3260000"/>
            <a:ext cx="2312729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C856F"/>
                </a:solidFill>
                <a:latin typeface="游ゴシック"/>
                <a:ea typeface="游ゴシック"/>
                <a:cs typeface="游ゴシック"/>
              </a:rPr>
              <a:t>成果報告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82733" y="3760000"/>
            <a:ext cx="2312729" cy="2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EC856F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社長・役員向け成果報告</a:t>
            </a:r>
          </a:p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EC856F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全11チームが発表</a:t>
            </a:r>
          </a:p>
          <a:p>
            <a:pPr algn="l">
              <a:lnSpc>
                <a:spcPct val="114000"/>
              </a:lnSpc>
              <a:spcAft>
                <a:spcPts val="1200"/>
              </a:spcAft>
            </a:pPr>
            <a:r>
              <a:rPr sz="1200" b="0">
                <a:solidFill>
                  <a:srgbClr val="EC856F"/>
                </a:solidFill>
                <a:latin typeface="游ゴシック"/>
                <a:ea typeface="游ゴシック"/>
                <a:cs typeface="游ゴシック"/>
              </a:rPr>
              <a:t>・</a:t>
            </a:r>
            <a:r>
              <a:rPr sz="1250" b="0">
                <a:solidFill>
                  <a:srgbClr val="232323"/>
                </a:solidFill>
                <a:latin typeface="游ゴシック"/>
                <a:ea typeface="游ゴシック"/>
                <a:cs typeface="游ゴシック"/>
              </a:rPr>
              <a:t>1チーム 10分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27275" y="6330000"/>
            <a:ext cx="5785458" cy="460000"/>
          </a:xfrm>
          <a:prstGeom prst="roundRect">
            <a:avLst>
              <a:gd name="adj" fmla="val 50000"/>
            </a:avLst>
          </a:prstGeom>
          <a:solidFill>
            <a:srgbClr val="EC856F"/>
          </a:solidFill>
          <a:ln>
            <a:noFill/>
          </a:ln>
          <a:effectLst/>
          <a:effectLst>
            <a:outerShdw blurRad="50800" dist="25400" dir="5400000" rotWithShape="0">
              <a:srgbClr val="8AA6B0">
                <a:alpha val="3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メンター支援：週次・隔週の定例会（8〜9月）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