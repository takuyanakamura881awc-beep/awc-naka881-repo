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0" y="4892040"/>
            <a:ext cx="12191695" cy="54864"/>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058400" cy="457200"/>
          </a:xfrm>
          <a:prstGeom prst="rect">
            <a:avLst/>
          </a:prstGeom>
          <a:noFill/>
        </p:spPr>
        <p:txBody>
          <a:bodyPr wrap="square" anchor="t" lIns="0" rIns="0" tIns="0" bIns="0">
            <a:spAutoFit/>
          </a:bodyPr>
          <a:lstStyle/>
          <a:p>
            <a:pPr algn="l">
              <a:lnSpc>
                <a:spcPct val="100000"/>
              </a:lnSpc>
            </a:pPr>
            <a:r>
              <a:rPr sz="1600" b="1" i="0">
                <a:solidFill>
                  <a:srgbClr val="B9C7E6"/>
                </a:solidFill>
                <a:latin typeface="Yu Gothic"/>
              </a:rPr>
              <a:t>調査報告書</a:t>
            </a:r>
          </a:p>
        </p:txBody>
      </p:sp>
      <p:sp>
        <p:nvSpPr>
          <p:cNvPr id="4" name="TextBox 3"/>
          <p:cNvSpPr txBox="1"/>
          <p:nvPr/>
        </p:nvSpPr>
        <p:spPr>
          <a:xfrm>
            <a:off x="822960" y="1828800"/>
            <a:ext cx="10515600" cy="1737360"/>
          </a:xfrm>
          <a:prstGeom prst="rect">
            <a:avLst/>
          </a:prstGeom>
          <a:noFill/>
        </p:spPr>
        <p:txBody>
          <a:bodyPr wrap="square" anchor="t" lIns="0" rIns="0" tIns="0" bIns="0">
            <a:spAutoFit/>
          </a:bodyPr>
          <a:lstStyle/>
          <a:p>
            <a:pPr algn="l">
              <a:lnSpc>
                <a:spcPct val="115000"/>
              </a:lnSpc>
            </a:pPr>
            <a:r>
              <a:rPr sz="3200" b="1" i="0">
                <a:solidFill>
                  <a:srgbClr val="FFFFFF"/>
                </a:solidFill>
                <a:latin typeface="Yu Gothic"/>
              </a:rPr>
              <a:t>Power Platform「Default環境」における</a:t>
            </a:r>
          </a:p>
          <a:p>
            <a:pPr algn="l">
              <a:lnSpc>
                <a:spcPct val="115000"/>
              </a:lnSpc>
            </a:pPr>
            <a:r>
              <a:rPr sz="3200" b="1" i="0">
                <a:solidFill>
                  <a:srgbClr val="FFFFFF"/>
                </a:solidFill>
                <a:latin typeface="Yu Gothic"/>
              </a:rPr>
              <a:t>マネージド環境設定・DLPポリシー適用の可否調査</a:t>
            </a:r>
          </a:p>
        </p:txBody>
      </p:sp>
      <p:sp>
        <p:nvSpPr>
          <p:cNvPr id="5" name="TextBox 4"/>
          <p:cNvSpPr txBox="1"/>
          <p:nvPr/>
        </p:nvSpPr>
        <p:spPr>
          <a:xfrm>
            <a:off x="822960" y="3520440"/>
            <a:ext cx="10515600" cy="548640"/>
          </a:xfrm>
          <a:prstGeom prst="rect">
            <a:avLst/>
          </a:prstGeom>
          <a:noFill/>
        </p:spPr>
        <p:txBody>
          <a:bodyPr wrap="square" anchor="t" lIns="0" rIns="0" tIns="0" bIns="0">
            <a:spAutoFit/>
          </a:bodyPr>
          <a:lstStyle/>
          <a:p>
            <a:pPr algn="l">
              <a:lnSpc>
                <a:spcPct val="100000"/>
              </a:lnSpc>
            </a:pPr>
            <a:r>
              <a:rPr sz="1700" b="0" i="0">
                <a:solidFill>
                  <a:srgbClr val="CED8EE"/>
                </a:solidFill>
                <a:latin typeface="Yu Gothic"/>
              </a:rPr>
              <a:t>― Power Automate／Copilot Studio 等 利用制御方針の判断材料整理 ―</a:t>
            </a:r>
          </a:p>
        </p:txBody>
      </p:sp>
      <p:sp>
        <p:nvSpPr>
          <p:cNvPr id="6" name="TextBox 5"/>
          <p:cNvSpPr txBox="1"/>
          <p:nvPr/>
        </p:nvSpPr>
        <p:spPr>
          <a:xfrm>
            <a:off x="822960" y="5989320"/>
            <a:ext cx="7315200" cy="365760"/>
          </a:xfrm>
          <a:prstGeom prst="rect">
            <a:avLst/>
          </a:prstGeom>
          <a:noFill/>
        </p:spPr>
        <p:txBody>
          <a:bodyPr wrap="square" anchor="t" lIns="0" rIns="0" tIns="0" bIns="0">
            <a:spAutoFit/>
          </a:bodyPr>
          <a:lstStyle/>
          <a:p>
            <a:pPr algn="l">
              <a:lnSpc>
                <a:spcPct val="100000"/>
              </a:lnSpc>
            </a:pPr>
            <a:r>
              <a:rPr sz="1300" b="0" i="0">
                <a:solidFill>
                  <a:srgbClr val="B9C7E6"/>
                </a:solidFill>
                <a:latin typeface="Yu Gothic"/>
              </a:rPr>
              <a:t>2026年7月2日</a:t>
            </a:r>
          </a:p>
        </p:txBody>
      </p:sp>
      <p:sp>
        <p:nvSpPr>
          <p:cNvPr id="7" name="TextBox 6"/>
          <p:cNvSpPr txBox="1"/>
          <p:nvPr/>
        </p:nvSpPr>
        <p:spPr>
          <a:xfrm>
            <a:off x="822960" y="6309360"/>
            <a:ext cx="7315200" cy="365760"/>
          </a:xfrm>
          <a:prstGeom prst="rect">
            <a:avLst/>
          </a:prstGeom>
          <a:noFill/>
        </p:spPr>
        <p:txBody>
          <a:bodyPr wrap="square" anchor="t" lIns="0" rIns="0" tIns="0" bIns="0">
            <a:spAutoFit/>
          </a:bodyPr>
          <a:lstStyle/>
          <a:p>
            <a:pPr algn="l">
              <a:lnSpc>
                <a:spcPct val="100000"/>
              </a:lnSpc>
            </a:pPr>
            <a:r>
              <a:rPr sz="1300" b="0" i="0">
                <a:solidFill>
                  <a:srgbClr val="B9C7E6"/>
                </a:solidFill>
                <a:latin typeface="Yu Gothic"/>
              </a:rPr>
              <a:t>IT ガバナンス調査チーム</a:t>
            </a:r>
          </a:p>
        </p:txBody>
      </p:sp>
      <p:sp>
        <p:nvSpPr>
          <p:cNvPr id="8" name="TextBox 7"/>
          <p:cNvSpPr txBox="1"/>
          <p:nvPr/>
        </p:nvSpPr>
        <p:spPr>
          <a:xfrm>
            <a:off x="9692640" y="5989320"/>
            <a:ext cx="2011680" cy="640080"/>
          </a:xfrm>
          <a:prstGeom prst="rect">
            <a:avLst/>
          </a:prstGeom>
          <a:noFill/>
        </p:spPr>
        <p:txBody>
          <a:bodyPr wrap="square" anchor="t" lIns="0" rIns="0" tIns="0" bIns="0">
            <a:spAutoFit/>
          </a:bodyPr>
          <a:lstStyle/>
          <a:p>
            <a:pPr algn="r">
              <a:lnSpc>
                <a:spcPct val="100000"/>
              </a:lnSpc>
            </a:pPr>
            <a:r>
              <a:rPr sz="1100" b="0" i="0">
                <a:solidFill>
                  <a:srgbClr val="8C9CC4"/>
                </a:solidFill>
                <a:latin typeface="Yu 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BACKGROUND &amp; OBJECTIVE</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調査の背景・目的</a:t>
            </a:r>
          </a:p>
        </p:txBody>
      </p:sp>
      <p:sp>
        <p:nvSpPr>
          <p:cNvPr id="6" name="TextBox 5"/>
          <p:cNvSpPr txBox="1"/>
          <p:nvPr/>
        </p:nvSpPr>
        <p:spPr>
          <a:xfrm>
            <a:off x="502920" y="1115568"/>
            <a:ext cx="11155680" cy="256032"/>
          </a:xfrm>
          <a:prstGeom prst="rect">
            <a:avLst/>
          </a:prstGeom>
          <a:noFill/>
        </p:spPr>
        <p:txBody>
          <a:bodyPr wrap="square" anchor="t" lIns="0" rIns="0" tIns="0" bIns="0">
            <a:spAutoFit/>
          </a:bodyPr>
          <a:lstStyle/>
          <a:p>
            <a:pPr algn="l">
              <a:lnSpc>
                <a:spcPct val="100000"/>
              </a:lnSpc>
            </a:pPr>
            <a:r>
              <a:rPr sz="1200" b="0" i="1">
                <a:solidFill>
                  <a:srgbClr val="6E6E6E"/>
                </a:solidFill>
                <a:latin typeface="Yu Gothic"/>
              </a:rPr>
              <a:t>対象：Power Platform の「Default環境」</a:t>
            </a:r>
          </a:p>
        </p:txBody>
      </p:sp>
      <p:sp>
        <p:nvSpPr>
          <p:cNvPr id="7" name="Rectangle 6"/>
          <p:cNvSpPr/>
          <p:nvPr/>
        </p:nvSpPr>
        <p:spPr>
          <a:xfrm>
            <a:off x="502920" y="1417320"/>
            <a:ext cx="5394960" cy="365760"/>
          </a:xfrm>
          <a:prstGeom prst="rect">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463040"/>
            <a:ext cx="5029200" cy="292608"/>
          </a:xfrm>
          <a:prstGeom prst="rect">
            <a:avLst/>
          </a:prstGeom>
          <a:noFill/>
        </p:spPr>
        <p:txBody>
          <a:bodyPr wrap="square" anchor="t" lIns="0" rIns="0" tIns="0" bIns="0">
            <a:spAutoFit/>
          </a:bodyPr>
          <a:lstStyle/>
          <a:p>
            <a:pPr algn="l">
              <a:lnSpc>
                <a:spcPct val="100000"/>
              </a:lnSpc>
            </a:pPr>
            <a:r>
              <a:rPr sz="1350" b="1" i="0">
                <a:solidFill>
                  <a:srgbClr val="2E5AAC"/>
                </a:solidFill>
                <a:latin typeface="Yu Gothic"/>
              </a:rPr>
              <a:t>背景</a:t>
            </a:r>
          </a:p>
        </p:txBody>
      </p:sp>
      <p:sp>
        <p:nvSpPr>
          <p:cNvPr id="9" name="TextBox 8"/>
          <p:cNvSpPr txBox="1"/>
          <p:nvPr/>
        </p:nvSpPr>
        <p:spPr>
          <a:xfrm>
            <a:off x="548640" y="1847088"/>
            <a:ext cx="5349240" cy="1280160"/>
          </a:xfrm>
          <a:prstGeom prst="rect">
            <a:avLst/>
          </a:prstGeom>
          <a:noFill/>
        </p:spPr>
        <p:txBody>
          <a:bodyPr wrap="square">
            <a:spAutoFit/>
          </a:bodyPr>
          <a:lstStyle/>
          <a:p>
            <a:pPr>
              <a:lnSpc>
                <a:spcPct val="115000"/>
              </a:lnSpc>
              <a:spcAft>
                <a:spcPts val="700"/>
              </a:spcAft>
            </a:pPr>
            <a:r>
              <a:rPr sz="1150" b="0">
                <a:solidFill>
                  <a:srgbClr val="262626"/>
                </a:solidFill>
                <a:latin typeface="Yu Gothic"/>
              </a:rPr>
              <a:t>● Power PlatformのDefault環境は、Power Apps／Power Automate等に</a:t>
            </a:r>
            <a:br/>
            <a:r>
              <a:rPr sz="1150" b="0">
                <a:solidFill>
                  <a:srgbClr val="262626"/>
                </a:solidFill>
                <a:latin typeface="Yu Gothic"/>
              </a:rPr>
              <a:t>サインアップした全ライセンスユーザーに自動的に「環境作成者」</a:t>
            </a:r>
            <a:br/>
            <a:r>
              <a:rPr sz="1150" b="0">
                <a:solidFill>
                  <a:srgbClr val="262626"/>
                </a:solidFill>
                <a:latin typeface="Yu Gothic"/>
              </a:rPr>
              <a:t>ロールが付与される共有環境である</a:t>
            </a:r>
          </a:p>
          <a:p>
            <a:pPr>
              <a:lnSpc>
                <a:spcPct val="115000"/>
              </a:lnSpc>
              <a:spcAft>
                <a:spcPts val="700"/>
              </a:spcAft>
            </a:pPr>
            <a:r>
              <a:rPr sz="1150" b="0">
                <a:solidFill>
                  <a:srgbClr val="262626"/>
                </a:solidFill>
                <a:latin typeface="Yu Gothic"/>
              </a:rPr>
              <a:t>● そのため、Power PlatformのDefault環境において、ユーザーが意図せず</a:t>
            </a:r>
            <a:br/>
            <a:r>
              <a:rPr sz="1150" b="0">
                <a:solidFill>
                  <a:srgbClr val="262626"/>
                </a:solidFill>
                <a:latin typeface="Yu Gothic"/>
              </a:rPr>
              <a:t>アプリ・フロー・Copilot Studioエージェント等を作成・利用してしまう</a:t>
            </a:r>
            <a:br/>
            <a:r>
              <a:rPr sz="1150" b="0">
                <a:solidFill>
                  <a:srgbClr val="262626"/>
                </a:solidFill>
                <a:latin typeface="Yu Gothic"/>
              </a:rPr>
              <a:t>可能性がある（依頼内容に記載の課題認識）</a:t>
            </a:r>
          </a:p>
        </p:txBody>
      </p:sp>
      <p:sp>
        <p:nvSpPr>
          <p:cNvPr id="10" name="Rectangle 9"/>
          <p:cNvSpPr/>
          <p:nvPr/>
        </p:nvSpPr>
        <p:spPr>
          <a:xfrm>
            <a:off x="6263640" y="1417320"/>
            <a:ext cx="5394960" cy="365760"/>
          </a:xfrm>
          <a:prstGeom prst="rect">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1463040"/>
            <a:ext cx="5029200" cy="292608"/>
          </a:xfrm>
          <a:prstGeom prst="rect">
            <a:avLst/>
          </a:prstGeom>
          <a:noFill/>
        </p:spPr>
        <p:txBody>
          <a:bodyPr wrap="square" anchor="t" lIns="0" rIns="0" tIns="0" bIns="0">
            <a:spAutoFit/>
          </a:bodyPr>
          <a:lstStyle/>
          <a:p>
            <a:pPr algn="l">
              <a:lnSpc>
                <a:spcPct val="100000"/>
              </a:lnSpc>
            </a:pPr>
            <a:r>
              <a:rPr sz="1350" b="1" i="0">
                <a:solidFill>
                  <a:srgbClr val="1E8A4A"/>
                </a:solidFill>
                <a:latin typeface="Yu Gothic"/>
              </a:rPr>
              <a:t>目的</a:t>
            </a:r>
          </a:p>
        </p:txBody>
      </p:sp>
      <p:sp>
        <p:nvSpPr>
          <p:cNvPr id="12" name="TextBox 11"/>
          <p:cNvSpPr txBox="1"/>
          <p:nvPr/>
        </p:nvSpPr>
        <p:spPr>
          <a:xfrm>
            <a:off x="6309360" y="1847088"/>
            <a:ext cx="5349240" cy="1280160"/>
          </a:xfrm>
          <a:prstGeom prst="rect">
            <a:avLst/>
          </a:prstGeom>
          <a:noFill/>
        </p:spPr>
        <p:txBody>
          <a:bodyPr wrap="square">
            <a:spAutoFit/>
          </a:bodyPr>
          <a:lstStyle/>
          <a:p>
            <a:pPr>
              <a:lnSpc>
                <a:spcPct val="115000"/>
              </a:lnSpc>
              <a:spcAft>
                <a:spcPts val="700"/>
              </a:spcAft>
            </a:pPr>
            <a:r>
              <a:rPr sz="1150" b="0">
                <a:solidFill>
                  <a:srgbClr val="262626"/>
                </a:solidFill>
                <a:latin typeface="Yu Gothic"/>
              </a:rPr>
              <a:t>● Default環境を管理可能な状態にするため、マネージド環境化により</a:t>
            </a:r>
            <a:br/>
            <a:r>
              <a:rPr sz="1150" b="0">
                <a:solidFill>
                  <a:srgbClr val="262626"/>
                </a:solidFill>
                <a:latin typeface="Yu Gothic"/>
              </a:rPr>
              <a:t>共有制限・利用状況の可視化・アクセス制限などを行えるかを確認する</a:t>
            </a:r>
          </a:p>
          <a:p>
            <a:pPr>
              <a:lnSpc>
                <a:spcPct val="115000"/>
              </a:lnSpc>
              <a:spcAft>
                <a:spcPts val="700"/>
              </a:spcAft>
            </a:pPr>
            <a:r>
              <a:rPr sz="1150" b="0">
                <a:solidFill>
                  <a:srgbClr val="262626"/>
                </a:solidFill>
                <a:latin typeface="Yu Gothic"/>
              </a:rPr>
              <a:t>● DLPポリシーによるコネクタ利用・データ接続制限の適用可否を確認する</a:t>
            </a:r>
          </a:p>
          <a:p>
            <a:pPr>
              <a:lnSpc>
                <a:spcPct val="115000"/>
              </a:lnSpc>
              <a:spcAft>
                <a:spcPts val="700"/>
              </a:spcAft>
            </a:pPr>
            <a:r>
              <a:rPr sz="1150" b="0">
                <a:solidFill>
                  <a:srgbClr val="262626"/>
                </a:solidFill>
                <a:latin typeface="Yu Gothic"/>
              </a:rPr>
              <a:t>● マネージド環境化に伴うPremiumライセンスの要否・対象範囲を明確化し、</a:t>
            </a:r>
            <a:br/>
            <a:r>
              <a:rPr sz="1150" b="0">
                <a:solidFill>
                  <a:srgbClr val="262626"/>
                </a:solidFill>
                <a:latin typeface="Yu Gothic"/>
              </a:rPr>
              <a:t>利用制御方針の意思決定に必要な材料を整理する</a:t>
            </a:r>
          </a:p>
        </p:txBody>
      </p:sp>
      <p:sp>
        <p:nvSpPr>
          <p:cNvPr id="13" name="TextBox 12"/>
          <p:cNvSpPr txBox="1"/>
          <p:nvPr/>
        </p:nvSpPr>
        <p:spPr>
          <a:xfrm>
            <a:off x="502920" y="3310128"/>
            <a:ext cx="10058400" cy="274320"/>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【補足】環境作成者ロールにより想定される主なリスク</a:t>
            </a:r>
          </a:p>
        </p:txBody>
      </p:sp>
      <p:sp>
        <p:nvSpPr>
          <p:cNvPr id="14" name="Rectangle 13"/>
          <p:cNvSpPr/>
          <p:nvPr/>
        </p:nvSpPr>
        <p:spPr>
          <a:xfrm>
            <a:off x="502920" y="3639312"/>
            <a:ext cx="5532120" cy="1024128"/>
          </a:xfrm>
          <a:prstGeom prst="rect">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639312"/>
            <a:ext cx="64008" cy="1024128"/>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088" y="3730752"/>
            <a:ext cx="5166360" cy="256032"/>
          </a:xfrm>
          <a:prstGeom prst="rect">
            <a:avLst/>
          </a:prstGeom>
          <a:noFill/>
        </p:spPr>
        <p:txBody>
          <a:bodyPr wrap="square" anchor="t" lIns="0" rIns="0" tIns="0" bIns="0">
            <a:spAutoFit/>
          </a:bodyPr>
          <a:lstStyle/>
          <a:p>
            <a:pPr algn="l">
              <a:lnSpc>
                <a:spcPct val="100000"/>
              </a:lnSpc>
            </a:pPr>
            <a:r>
              <a:rPr sz="1250" b="1" i="0">
                <a:solidFill>
                  <a:srgbClr val="2E5AAC"/>
                </a:solidFill>
                <a:latin typeface="Yu Gothic"/>
              </a:rPr>
              <a:t>できてしまうこと</a:t>
            </a:r>
          </a:p>
        </p:txBody>
      </p:sp>
      <p:sp>
        <p:nvSpPr>
          <p:cNvPr id="17" name="TextBox 16"/>
          <p:cNvSpPr txBox="1"/>
          <p:nvPr/>
        </p:nvSpPr>
        <p:spPr>
          <a:xfrm>
            <a:off x="704088" y="4023360"/>
            <a:ext cx="5166360" cy="566928"/>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アプリ・接続・カスタムコネクタ・フローの作成と共有が可能。Copilot Studio専用ライセンス保有時はフル機能のエージェントを、M365 Copilot Chat（多くの組織で既定利用可）が有効な場合は簡易エージェントを、それぞれ作成できる</a:t>
            </a:r>
          </a:p>
        </p:txBody>
      </p:sp>
      <p:sp>
        <p:nvSpPr>
          <p:cNvPr id="18" name="Rectangle 17"/>
          <p:cNvSpPr/>
          <p:nvPr/>
        </p:nvSpPr>
        <p:spPr>
          <a:xfrm>
            <a:off x="6144768" y="3639312"/>
            <a:ext cx="5532120" cy="1024128"/>
          </a:xfrm>
          <a:prstGeom prst="rect">
            <a:avLst/>
          </a:prstGeom>
          <a:solidFill>
            <a:srgbClr val="F8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3639312"/>
            <a:ext cx="64008" cy="1024128"/>
          </a:xfrm>
          <a:prstGeom prst="rect">
            <a:avLst/>
          </a:prstGeom>
          <a:solidFill>
            <a:srgbClr val="B0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3730752"/>
            <a:ext cx="5166360" cy="256032"/>
          </a:xfrm>
          <a:prstGeom prst="rect">
            <a:avLst/>
          </a:prstGeom>
          <a:noFill/>
        </p:spPr>
        <p:txBody>
          <a:bodyPr wrap="square" anchor="t" lIns="0" rIns="0" tIns="0" bIns="0">
            <a:spAutoFit/>
          </a:bodyPr>
          <a:lstStyle/>
          <a:p>
            <a:pPr algn="l">
              <a:lnSpc>
                <a:spcPct val="100000"/>
              </a:lnSpc>
            </a:pPr>
            <a:r>
              <a:rPr sz="1250" b="1" i="0">
                <a:solidFill>
                  <a:srgbClr val="B02A2A"/>
                </a:solidFill>
                <a:latin typeface="Yu Gothic"/>
              </a:rPr>
              <a:t>セキュリティ面のリスク</a:t>
            </a:r>
          </a:p>
        </p:txBody>
      </p:sp>
      <p:sp>
        <p:nvSpPr>
          <p:cNvPr id="21" name="TextBox 20"/>
          <p:cNvSpPr txBox="1"/>
          <p:nvPr/>
        </p:nvSpPr>
        <p:spPr>
          <a:xfrm>
            <a:off x="6345936" y="4023360"/>
            <a:ext cx="5166360" cy="566928"/>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承認前のコネクタを介した外部サービスへの未承認データ接続や、意図しない情報漏えいにつながる可能性がある</a:t>
            </a:r>
          </a:p>
        </p:txBody>
      </p:sp>
      <p:sp>
        <p:nvSpPr>
          <p:cNvPr id="22" name="Rectangle 21"/>
          <p:cNvSpPr/>
          <p:nvPr/>
        </p:nvSpPr>
        <p:spPr>
          <a:xfrm>
            <a:off x="502920" y="4773168"/>
            <a:ext cx="5532120" cy="1024128"/>
          </a:xfrm>
          <a:prstGeom prst="rect">
            <a:avLst/>
          </a:prstGeom>
          <a:solidFill>
            <a:srgbClr val="FC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773168"/>
            <a:ext cx="64008" cy="102412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864608"/>
            <a:ext cx="5166360" cy="256032"/>
          </a:xfrm>
          <a:prstGeom prst="rect">
            <a:avLst/>
          </a:prstGeom>
          <a:noFill/>
        </p:spPr>
        <p:txBody>
          <a:bodyPr wrap="square" anchor="t" lIns="0" rIns="0" tIns="0" bIns="0">
            <a:spAutoFit/>
          </a:bodyPr>
          <a:lstStyle/>
          <a:p>
            <a:pPr algn="l">
              <a:lnSpc>
                <a:spcPct val="100000"/>
              </a:lnSpc>
            </a:pPr>
            <a:r>
              <a:rPr sz="1250" b="1" i="0">
                <a:solidFill>
                  <a:srgbClr val="B86E00"/>
                </a:solidFill>
                <a:latin typeface="Yu Gothic"/>
              </a:rPr>
              <a:t>ガバナンス面のリスク</a:t>
            </a:r>
          </a:p>
        </p:txBody>
      </p:sp>
      <p:sp>
        <p:nvSpPr>
          <p:cNvPr id="25" name="TextBox 24"/>
          <p:cNvSpPr txBox="1"/>
          <p:nvPr/>
        </p:nvSpPr>
        <p:spPr>
          <a:xfrm>
            <a:off x="704088" y="5157216"/>
            <a:ext cx="5166360" cy="566928"/>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IT部門が把握しないアプリ・フロー・エージェントが乱立し、利用実態が不透明化する（シャドーIT化）</a:t>
            </a:r>
          </a:p>
        </p:txBody>
      </p:sp>
      <p:sp>
        <p:nvSpPr>
          <p:cNvPr id="26" name="Rectangle 25"/>
          <p:cNvSpPr/>
          <p:nvPr/>
        </p:nvSpPr>
        <p:spPr>
          <a:xfrm>
            <a:off x="6144768" y="4773168"/>
            <a:ext cx="5532120" cy="1024128"/>
          </a:xfrm>
          <a:prstGeom prst="rect">
            <a:avLst/>
          </a:prstGeom>
          <a:solidFill>
            <a:srgbClr val="FC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4773168"/>
            <a:ext cx="64008" cy="102412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5936" y="4864608"/>
            <a:ext cx="5166360" cy="256032"/>
          </a:xfrm>
          <a:prstGeom prst="rect">
            <a:avLst/>
          </a:prstGeom>
          <a:noFill/>
        </p:spPr>
        <p:txBody>
          <a:bodyPr wrap="square" anchor="t" lIns="0" rIns="0" tIns="0" bIns="0">
            <a:spAutoFit/>
          </a:bodyPr>
          <a:lstStyle/>
          <a:p>
            <a:pPr algn="l">
              <a:lnSpc>
                <a:spcPct val="100000"/>
              </a:lnSpc>
            </a:pPr>
            <a:r>
              <a:rPr sz="1250" b="1" i="0">
                <a:solidFill>
                  <a:srgbClr val="B86E00"/>
                </a:solidFill>
                <a:latin typeface="Yu Gothic"/>
              </a:rPr>
              <a:t>コスト面のリスク</a:t>
            </a:r>
          </a:p>
        </p:txBody>
      </p:sp>
      <p:sp>
        <p:nvSpPr>
          <p:cNvPr id="29" name="TextBox 28"/>
          <p:cNvSpPr txBox="1"/>
          <p:nvPr/>
        </p:nvSpPr>
        <p:spPr>
          <a:xfrm>
            <a:off x="6345936" y="5157216"/>
            <a:ext cx="5166360" cy="566928"/>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Copilot StudioやAI Builder等の生成AI機能が利用でき、意図しない従量課金が発生し得る</a:t>
            </a:r>
          </a:p>
        </p:txBody>
      </p:sp>
      <p:sp>
        <p:nvSpPr>
          <p:cNvPr id="30" name="TextBox 29"/>
          <p:cNvSpPr txBox="1"/>
          <p:nvPr/>
        </p:nvSpPr>
        <p:spPr>
          <a:xfrm>
            <a:off x="502920" y="5925312"/>
            <a:ext cx="11155680" cy="27432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 各項目の根拠（公式ドキュメントの該当箇所・原文抜粋）は巻末Appendixに記載</a:t>
            </a:r>
          </a:p>
        </p:txBody>
      </p:sp>
      <p:sp>
        <p:nvSpPr>
          <p:cNvPr id="31" name="TextBox 30"/>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32" name="TextBox 31"/>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EXECUTIVE SUMMARY</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結論サマリー①：依頼内容 確認項目1〜4</a:t>
            </a:r>
          </a:p>
        </p:txBody>
      </p:sp>
      <p:graphicFrame>
        <p:nvGraphicFramePr>
          <p:cNvPr id="6" name="Table 5"/>
          <p:cNvGraphicFramePr>
            <a:graphicFrameLocks noGrp="1"/>
          </p:cNvGraphicFramePr>
          <p:nvPr/>
        </p:nvGraphicFramePr>
        <p:xfrm>
          <a:off x="365760" y="1325880"/>
          <a:ext cx="11430000" cy="5074920"/>
        </p:xfrm>
        <a:graphic>
          <a:graphicData uri="http://schemas.openxmlformats.org/drawingml/2006/table">
            <a:tbl>
              <a:tblPr firstRow="1" bandRow="1">
                <a:tableStyleId>{5C22544A-7EE6-4342-B048-85BDC9FD1C3A}</a:tableStyleId>
              </a:tblPr>
              <a:tblGrid>
                <a:gridCol w="457200"/>
                <a:gridCol w="2377440"/>
                <a:gridCol w="1645920"/>
                <a:gridCol w="6949440"/>
              </a:tblGrid>
              <a:tr h="1014984">
                <a:tc>
                  <a:txBody>
                    <a:bodyPr wrap="square"/>
                    <a:lstStyle/>
                    <a:p>
                      <a:pPr algn="ctr"/>
                      <a:r>
                        <a:rPr sz="1250" b="1">
                          <a:solidFill>
                            <a:srgbClr val="FFFFFF"/>
                          </a:solidFill>
                          <a:latin typeface="Yu Gothic"/>
                        </a:rPr>
                        <a:t>No.</a:t>
                      </a:r>
                    </a:p>
                  </a:txBody>
                  <a:tcPr anchor="ctr" marL="101600" marR="101600" marT="50800" marB="50800">
                    <a:solidFill>
                      <a:srgbClr val="1B2A4A"/>
                    </a:solidFill>
                  </a:tcPr>
                </a:tc>
                <a:tc>
                  <a:txBody>
                    <a:bodyPr wrap="square"/>
                    <a:lstStyle/>
                    <a:p>
                      <a:pPr algn="ctr"/>
                      <a:r>
                        <a:rPr sz="1250" b="1">
                          <a:solidFill>
                            <a:srgbClr val="FFFFFF"/>
                          </a:solidFill>
                          <a:latin typeface="Yu Gothic"/>
                        </a:rPr>
                        <a:t>確認項目（依頼内容）</a:t>
                      </a:r>
                    </a:p>
                  </a:txBody>
                  <a:tcPr anchor="ctr" marL="101600" marR="101600" marT="50800" marB="50800">
                    <a:solidFill>
                      <a:srgbClr val="1B2A4A"/>
                    </a:solidFill>
                  </a:tcPr>
                </a:tc>
                <a:tc>
                  <a:txBody>
                    <a:bodyPr wrap="square"/>
                    <a:lstStyle/>
                    <a:p>
                      <a:pPr algn="ctr"/>
                      <a:r>
                        <a:rPr sz="1250" b="1">
                          <a:solidFill>
                            <a:srgbClr val="FFFFFF"/>
                          </a:solidFill>
                          <a:latin typeface="Yu Gothic"/>
                        </a:rPr>
                        <a:t>判定</a:t>
                      </a:r>
                    </a:p>
                  </a:txBody>
                  <a:tcPr anchor="ctr" marL="101600" marR="101600" marT="50800" marB="50800">
                    <a:solidFill>
                      <a:srgbClr val="1B2A4A"/>
                    </a:solidFill>
                  </a:tcPr>
                </a:tc>
                <a:tc>
                  <a:txBody>
                    <a:bodyPr wrap="square"/>
                    <a:lstStyle/>
                    <a:p>
                      <a:pPr algn="ctr"/>
                      <a:r>
                        <a:rPr sz="1250" b="1">
                          <a:solidFill>
                            <a:srgbClr val="FFFFFF"/>
                          </a:solidFill>
                          <a:latin typeface="Yu Gothic"/>
                        </a:rPr>
                        <a:t>理由</a:t>
                      </a:r>
                    </a:p>
                  </a:txBody>
                  <a:tcPr anchor="ctr" marL="101600" marR="101600" marT="50800" marB="50800">
                    <a:solidFill>
                      <a:srgbClr val="1B2A4A"/>
                    </a:solidFill>
                  </a:tcPr>
                </a:tc>
              </a:tr>
              <a:tr h="1014984">
                <a:tc>
                  <a:txBody>
                    <a:bodyPr wrap="square"/>
                    <a:lstStyle/>
                    <a:p>
                      <a:pPr algn="ctr"/>
                      <a:r>
                        <a:rPr sz="1200" b="1">
                          <a:solidFill>
                            <a:srgbClr val="1B2A4A"/>
                          </a:solidFill>
                          <a:latin typeface="Yu Gothic"/>
                        </a:rPr>
                        <a:t>1</a:t>
                      </a:r>
                    </a:p>
                  </a:txBody>
                  <a:tcPr anchor="ctr" marL="101600" marR="101600" marT="50800" marB="50800">
                    <a:solidFill>
                      <a:srgbClr val="F5F6F8"/>
                    </a:solidFill>
                  </a:tcPr>
                </a:tc>
                <a:tc>
                  <a:txBody>
                    <a:bodyPr wrap="square"/>
                    <a:lstStyle/>
                    <a:p>
                      <a:pPr algn="l"/>
                      <a:r>
                        <a:rPr sz="1100" b="1">
                          <a:solidFill>
                            <a:srgbClr val="1B2A4A"/>
                          </a:solidFill>
                          <a:latin typeface="Yu Gothic"/>
                        </a:rPr>
                        <a:t>Default環境をマネージド</a:t>
                      </a:r>
                    </a:p>
                    <a:p>
                      <a:pPr algn="l"/>
                      <a:r>
                        <a:rPr sz="1100" b="1">
                          <a:solidFill>
                            <a:srgbClr val="1B2A4A"/>
                          </a:solidFill>
                          <a:latin typeface="Yu Gothic"/>
                        </a:rPr>
                        <a:t>環境に設定できるか</a:t>
                      </a:r>
                    </a:p>
                  </a:txBody>
                  <a:tcPr anchor="ctr" marL="101600" marR="101600" marT="50800" marB="50800">
                    <a:solidFill>
                      <a:srgbClr val="F5F6F8"/>
                    </a:solidFill>
                  </a:tcPr>
                </a:tc>
                <a:tc>
                  <a:txBody>
                    <a:bodyPr wrap="square"/>
                    <a:lstStyle/>
                    <a:p>
                      <a:pPr algn="ctr"/>
                      <a:r>
                        <a:rPr sz="1150" b="1">
                          <a:solidFill>
                            <a:srgbClr val="B86E00"/>
                          </a:solidFill>
                          <a:latin typeface="Yu Gothic"/>
                        </a:rPr>
                        <a:t>YES（条件付き）</a:t>
                      </a:r>
                    </a:p>
                  </a:txBody>
                  <a:tcPr anchor="ctr" marL="101600" marR="101600" marT="50800" marB="50800">
                    <a:solidFill>
                      <a:srgbClr val="FCEED9"/>
                    </a:solidFill>
                  </a:tcPr>
                </a:tc>
                <a:tc>
                  <a:txBody>
                    <a:bodyPr wrap="square"/>
                    <a:lstStyle/>
                    <a:p>
                      <a:pPr algn="l"/>
                      <a:r>
                        <a:rPr sz="1030" b="0">
                          <a:solidFill>
                            <a:srgbClr val="262626"/>
                          </a:solidFill>
                          <a:latin typeface="Yu Gothic"/>
                        </a:rPr>
                        <a:t>環境の種類を問わず有効化は可能。ただし有効化すると全利用者（≒全社員）にPremiumライセンスが必要となり、多大な追加コストが発生するため、Default環境では事実上「全社Premium化」が前提となる</a:t>
                      </a:r>
                    </a:p>
                  </a:txBody>
                  <a:tcPr anchor="ctr" marL="101600" marR="101600" marT="50800" marB="50800">
                    <a:solidFill>
                      <a:srgbClr val="F5F6F8"/>
                    </a:solidFill>
                  </a:tcPr>
                </a:tc>
              </a:tr>
              <a:tr h="1014984">
                <a:tc>
                  <a:txBody>
                    <a:bodyPr wrap="square"/>
                    <a:lstStyle/>
                    <a:p>
                      <a:pPr algn="ctr"/>
                      <a:r>
                        <a:rPr sz="1200" b="1">
                          <a:solidFill>
                            <a:srgbClr val="1B2A4A"/>
                          </a:solidFill>
                          <a:latin typeface="Yu Gothic"/>
                        </a:rPr>
                        <a:t>2</a:t>
                      </a:r>
                    </a:p>
                  </a:txBody>
                  <a:tcPr anchor="ctr" marL="101600" marR="101600" marT="50800" marB="50800">
                    <a:solidFill>
                      <a:srgbClr val="FFFFFF"/>
                    </a:solidFill>
                  </a:tcPr>
                </a:tc>
                <a:tc>
                  <a:txBody>
                    <a:bodyPr wrap="square"/>
                    <a:lstStyle/>
                    <a:p>
                      <a:pPr algn="l"/>
                      <a:r>
                        <a:rPr sz="1100" b="1">
                          <a:solidFill>
                            <a:srgbClr val="1B2A4A"/>
                          </a:solidFill>
                          <a:latin typeface="Yu Gothic"/>
                        </a:rPr>
                        <a:t>Default環境にDLPポリシー</a:t>
                      </a:r>
                    </a:p>
                    <a:p>
                      <a:pPr algn="l"/>
                      <a:r>
                        <a:rPr sz="1100" b="1">
                          <a:solidFill>
                            <a:srgbClr val="1B2A4A"/>
                          </a:solidFill>
                          <a:latin typeface="Yu Gothic"/>
                        </a:rPr>
                        <a:t>を適用できるか</a:t>
                      </a:r>
                    </a:p>
                  </a:txBody>
                  <a:tcPr anchor="ctr" marL="101600" marR="101600" marT="50800" marB="50800">
                    <a:solidFill>
                      <a:srgbClr val="FFFFFF"/>
                    </a:solidFill>
                  </a:tcPr>
                </a:tc>
                <a:tc>
                  <a:txBody>
                    <a:bodyPr wrap="square"/>
                    <a:lstStyle/>
                    <a:p>
                      <a:pPr algn="ctr"/>
                      <a:r>
                        <a:rPr sz="1150" b="1">
                          <a:solidFill>
                            <a:srgbClr val="1E8A4A"/>
                          </a:solidFill>
                          <a:latin typeface="Yu Gothic"/>
                        </a:rPr>
                        <a:t>YES</a:t>
                      </a:r>
                    </a:p>
                  </a:txBody>
                  <a:tcPr anchor="ctr" marL="101600" marR="101600" marT="50800" marB="50800">
                    <a:solidFill>
                      <a:srgbClr val="E1F4E6"/>
                    </a:solidFill>
                  </a:tcPr>
                </a:tc>
                <a:tc>
                  <a:txBody>
                    <a:bodyPr wrap="square"/>
                    <a:lstStyle/>
                    <a:p>
                      <a:pPr algn="l"/>
                      <a:r>
                        <a:rPr sz="1030" b="0">
                          <a:solidFill>
                            <a:srgbClr val="262626"/>
                          </a:solidFill>
                          <a:latin typeface="Yu Gothic"/>
                        </a:rPr>
                        <a:t>マネージド環境化とは独立した機能であり、追加ライセンスなしで適用可能。Microsoft公式もDefault環境への適用を強く推奨している。※DLPポリシー＝コネクタを「連携可」「連携不可」のグループに分類し、意図しないデータ連携を制限する仕組み</a:t>
                      </a:r>
                    </a:p>
                  </a:txBody>
                  <a:tcPr anchor="ctr" marL="101600" marR="101600" marT="50800" marB="50800">
                    <a:solidFill>
                      <a:srgbClr val="FFFFFF"/>
                    </a:solidFill>
                  </a:tcPr>
                </a:tc>
              </a:tr>
              <a:tr h="1014984">
                <a:tc>
                  <a:txBody>
                    <a:bodyPr wrap="square"/>
                    <a:lstStyle/>
                    <a:p>
                      <a:pPr algn="ctr"/>
                      <a:r>
                        <a:rPr sz="1200" b="1">
                          <a:solidFill>
                            <a:srgbClr val="1B2A4A"/>
                          </a:solidFill>
                          <a:latin typeface="Yu Gothic"/>
                        </a:rPr>
                        <a:t>3</a:t>
                      </a:r>
                    </a:p>
                  </a:txBody>
                  <a:tcPr anchor="ctr" marL="101600" marR="101600" marT="50800" marB="50800">
                    <a:solidFill>
                      <a:srgbClr val="F5F6F8"/>
                    </a:solidFill>
                  </a:tcPr>
                </a:tc>
                <a:tc>
                  <a:txBody>
                    <a:bodyPr wrap="square"/>
                    <a:lstStyle/>
                    <a:p>
                      <a:pPr algn="l"/>
                      <a:r>
                        <a:rPr sz="1100" b="1">
                          <a:solidFill>
                            <a:srgbClr val="1B2A4A"/>
                          </a:solidFill>
                          <a:latin typeface="Yu Gothic"/>
                        </a:rPr>
                        <a:t>マネージド環境有効化時に</a:t>
                      </a:r>
                    </a:p>
                    <a:p>
                      <a:pPr algn="l"/>
                      <a:r>
                        <a:rPr sz="1100" b="1">
                          <a:solidFill>
                            <a:srgbClr val="1B2A4A"/>
                          </a:solidFill>
                          <a:latin typeface="Yu Gothic"/>
                        </a:rPr>
                        <a:t>Power Automate Premium</a:t>
                      </a:r>
                    </a:p>
                    <a:p>
                      <a:pPr algn="l"/>
                      <a:r>
                        <a:rPr sz="1100" b="1">
                          <a:solidFill>
                            <a:srgbClr val="1B2A4A"/>
                          </a:solidFill>
                          <a:latin typeface="Yu Gothic"/>
                        </a:rPr>
                        <a:t>ライセンスは必要か</a:t>
                      </a:r>
                    </a:p>
                  </a:txBody>
                  <a:tcPr anchor="ctr" marL="101600" marR="101600" marT="50800" marB="50800">
                    <a:solidFill>
                      <a:srgbClr val="F5F6F8"/>
                    </a:solidFill>
                  </a:tcPr>
                </a:tc>
                <a:tc>
                  <a:txBody>
                    <a:bodyPr wrap="square"/>
                    <a:lstStyle/>
                    <a:p>
                      <a:pPr algn="ctr"/>
                      <a:r>
                        <a:rPr sz="1150" b="1">
                          <a:solidFill>
                            <a:srgbClr val="1E8A4A"/>
                          </a:solidFill>
                          <a:latin typeface="Yu Gothic"/>
                        </a:rPr>
                        <a:t>YES</a:t>
                      </a:r>
                    </a:p>
                  </a:txBody>
                  <a:tcPr anchor="ctr" marL="101600" marR="101600" marT="50800" marB="50800">
                    <a:solidFill>
                      <a:srgbClr val="E1F4E6"/>
                    </a:solidFill>
                  </a:tcPr>
                </a:tc>
                <a:tc>
                  <a:txBody>
                    <a:bodyPr wrap="square"/>
                    <a:lstStyle/>
                    <a:p>
                      <a:pPr algn="l"/>
                      <a:r>
                        <a:rPr sz="1030" b="0">
                          <a:solidFill>
                            <a:srgbClr val="262626"/>
                          </a:solidFill>
                          <a:latin typeface="Yu Gothic"/>
                        </a:rPr>
                        <a:t>マネージド環境下でアプリ／クラウドフローを実行する場合、</a:t>
                      </a:r>
                    </a:p>
                    <a:p>
                      <a:pPr algn="l"/>
                      <a:r>
                        <a:rPr sz="1030" b="0">
                          <a:solidFill>
                            <a:srgbClr val="262626"/>
                          </a:solidFill>
                          <a:latin typeface="Yu Gothic"/>
                        </a:rPr>
                        <a:t>Power Apps Premium・Power Automate Premium・Dynamics 365</a:t>
                      </a:r>
                    </a:p>
                    <a:p>
                      <a:pPr algn="l"/>
                      <a:r>
                        <a:rPr sz="1030" b="0">
                          <a:solidFill>
                            <a:srgbClr val="262626"/>
                          </a:solidFill>
                          <a:latin typeface="Yu Gothic"/>
                        </a:rPr>
                        <a:t>Enterpriseのいずれかのライセンスが必須</a:t>
                      </a:r>
                    </a:p>
                  </a:txBody>
                  <a:tcPr anchor="ctr" marL="101600" marR="101600" marT="50800" marB="50800">
                    <a:solidFill>
                      <a:srgbClr val="F5F6F8"/>
                    </a:solidFill>
                  </a:tcPr>
                </a:tc>
              </a:tr>
              <a:tr h="1014984">
                <a:tc>
                  <a:txBody>
                    <a:bodyPr wrap="square"/>
                    <a:lstStyle/>
                    <a:p>
                      <a:pPr algn="ctr"/>
                      <a:r>
                        <a:rPr sz="1200" b="1">
                          <a:solidFill>
                            <a:srgbClr val="1B2A4A"/>
                          </a:solidFill>
                          <a:latin typeface="Yu Gothic"/>
                        </a:rPr>
                        <a:t>4</a:t>
                      </a:r>
                    </a:p>
                  </a:txBody>
                  <a:tcPr anchor="ctr" marL="101600" marR="101600" marT="50800" marB="50800">
                    <a:solidFill>
                      <a:srgbClr val="FFFFFF"/>
                    </a:solidFill>
                  </a:tcPr>
                </a:tc>
                <a:tc>
                  <a:txBody>
                    <a:bodyPr wrap="square"/>
                    <a:lstStyle/>
                    <a:p>
                      <a:pPr algn="l"/>
                      <a:r>
                        <a:rPr sz="1100" b="1">
                          <a:solidFill>
                            <a:srgbClr val="1B2A4A"/>
                          </a:solidFill>
                          <a:latin typeface="Yu Gothic"/>
                        </a:rPr>
                        <a:t>必要対象は管理者のみか、</a:t>
                      </a:r>
                    </a:p>
                    <a:p>
                      <a:pPr algn="l"/>
                      <a:r>
                        <a:rPr sz="1100" b="1">
                          <a:solidFill>
                            <a:srgbClr val="1B2A4A"/>
                          </a:solidFill>
                          <a:latin typeface="Yu Gothic"/>
                        </a:rPr>
                        <a:t>Power Automateを利用する</a:t>
                      </a:r>
                    </a:p>
                    <a:p>
                      <a:pPr algn="l"/>
                      <a:r>
                        <a:rPr sz="1100" b="1">
                          <a:solidFill>
                            <a:srgbClr val="1B2A4A"/>
                          </a:solidFill>
                          <a:latin typeface="Yu Gothic"/>
                        </a:rPr>
                        <a:t>全ユーザーか</a:t>
                      </a:r>
                    </a:p>
                  </a:txBody>
                  <a:tcPr anchor="ctr" marL="101600" marR="101600" marT="50800" marB="50800">
                    <a:solidFill>
                      <a:srgbClr val="FFFFFF"/>
                    </a:solidFill>
                  </a:tcPr>
                </a:tc>
                <a:tc>
                  <a:txBody>
                    <a:bodyPr wrap="square"/>
                    <a:lstStyle/>
                    <a:p>
                      <a:pPr algn="ctr"/>
                      <a:r>
                        <a:rPr sz="1150" b="1">
                          <a:solidFill>
                            <a:srgbClr val="2E5AAC"/>
                          </a:solidFill>
                          <a:latin typeface="Yu Gothic"/>
                        </a:rPr>
                        <a:t>全ユーザー</a:t>
                      </a:r>
                    </a:p>
                  </a:txBody>
                  <a:tcPr anchor="ctr" marL="101600" marR="101600" marT="50800" marB="50800">
                    <a:solidFill>
                      <a:srgbClr val="E9EFF9"/>
                    </a:solidFill>
                  </a:tcPr>
                </a:tc>
                <a:tc>
                  <a:txBody>
                    <a:bodyPr wrap="square"/>
                    <a:lstStyle/>
                    <a:p>
                      <a:pPr algn="l"/>
                      <a:r>
                        <a:rPr sz="1030" b="0">
                          <a:solidFill>
                            <a:srgbClr val="262626"/>
                          </a:solidFill>
                          <a:latin typeface="Yu Gothic"/>
                        </a:rPr>
                        <a:t>管理者専用のライセンス区分は存在しない。開発者・利用するだけの人を問わず、環境内でアプリ/フローを実行する人は全員が対象となる</a:t>
                      </a:r>
                    </a:p>
                  </a:txBody>
                  <a:tcPr anchor="ctr" marL="101600" marR="101600" marT="50800" marB="50800">
                    <a:solidFill>
                      <a:srgbClr val="FFFFFF"/>
                    </a:solidFill>
                  </a:tcPr>
                </a:tc>
              </a:tr>
            </a:tbl>
          </a:graphicData>
        </a:graphic>
      </p:graphicFrame>
      <p:sp>
        <p:nvSpPr>
          <p:cNvPr id="7" name="TextBox 6"/>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8" name="TextBox 7"/>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EXECUTIVE SUMMARY</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結論サマリー②：依頼内容 確認項目5〜7</a:t>
            </a:r>
          </a:p>
        </p:txBody>
      </p:sp>
      <p:graphicFrame>
        <p:nvGraphicFramePr>
          <p:cNvPr id="6" name="Table 5"/>
          <p:cNvGraphicFramePr>
            <a:graphicFrameLocks noGrp="1"/>
          </p:cNvGraphicFramePr>
          <p:nvPr/>
        </p:nvGraphicFramePr>
        <p:xfrm>
          <a:off x="365760" y="1325880"/>
          <a:ext cx="11430000" cy="3931920"/>
        </p:xfrm>
        <a:graphic>
          <a:graphicData uri="http://schemas.openxmlformats.org/drawingml/2006/table">
            <a:tbl>
              <a:tblPr firstRow="1" bandRow="1">
                <a:tableStyleId>{5C22544A-7EE6-4342-B048-85BDC9FD1C3A}</a:tableStyleId>
              </a:tblPr>
              <a:tblGrid>
                <a:gridCol w="457200"/>
                <a:gridCol w="2377440"/>
                <a:gridCol w="1645920"/>
                <a:gridCol w="6949440"/>
              </a:tblGrid>
              <a:tr h="982980">
                <a:tc>
                  <a:txBody>
                    <a:bodyPr wrap="square"/>
                    <a:lstStyle/>
                    <a:p>
                      <a:pPr algn="ctr"/>
                      <a:r>
                        <a:rPr sz="1250" b="1">
                          <a:solidFill>
                            <a:srgbClr val="FFFFFF"/>
                          </a:solidFill>
                          <a:latin typeface="Yu Gothic"/>
                        </a:rPr>
                        <a:t>No.</a:t>
                      </a:r>
                    </a:p>
                  </a:txBody>
                  <a:tcPr anchor="ctr" marL="101600" marR="101600" marT="50800" marB="50800">
                    <a:solidFill>
                      <a:srgbClr val="1B2A4A"/>
                    </a:solidFill>
                  </a:tcPr>
                </a:tc>
                <a:tc>
                  <a:txBody>
                    <a:bodyPr wrap="square"/>
                    <a:lstStyle/>
                    <a:p>
                      <a:pPr algn="ctr"/>
                      <a:r>
                        <a:rPr sz="1250" b="1">
                          <a:solidFill>
                            <a:srgbClr val="FFFFFF"/>
                          </a:solidFill>
                          <a:latin typeface="Yu Gothic"/>
                        </a:rPr>
                        <a:t>確認項目（依頼内容）</a:t>
                      </a:r>
                    </a:p>
                  </a:txBody>
                  <a:tcPr anchor="ctr" marL="101600" marR="101600" marT="50800" marB="50800">
                    <a:solidFill>
                      <a:srgbClr val="1B2A4A"/>
                    </a:solidFill>
                  </a:tcPr>
                </a:tc>
                <a:tc>
                  <a:txBody>
                    <a:bodyPr wrap="square"/>
                    <a:lstStyle/>
                    <a:p>
                      <a:pPr algn="ctr"/>
                      <a:r>
                        <a:rPr sz="1250" b="1">
                          <a:solidFill>
                            <a:srgbClr val="FFFFFF"/>
                          </a:solidFill>
                          <a:latin typeface="Yu Gothic"/>
                        </a:rPr>
                        <a:t>判定</a:t>
                      </a:r>
                    </a:p>
                  </a:txBody>
                  <a:tcPr anchor="ctr" marL="101600" marR="101600" marT="50800" marB="50800">
                    <a:solidFill>
                      <a:srgbClr val="1B2A4A"/>
                    </a:solidFill>
                  </a:tcPr>
                </a:tc>
                <a:tc>
                  <a:txBody>
                    <a:bodyPr wrap="square"/>
                    <a:lstStyle/>
                    <a:p>
                      <a:pPr algn="ctr"/>
                      <a:r>
                        <a:rPr sz="1250" b="1">
                          <a:solidFill>
                            <a:srgbClr val="FFFFFF"/>
                          </a:solidFill>
                          <a:latin typeface="Yu Gothic"/>
                        </a:rPr>
                        <a:t>理由</a:t>
                      </a:r>
                    </a:p>
                  </a:txBody>
                  <a:tcPr anchor="ctr" marL="101600" marR="101600" marT="50800" marB="50800">
                    <a:solidFill>
                      <a:srgbClr val="1B2A4A"/>
                    </a:solidFill>
                  </a:tcPr>
                </a:tc>
              </a:tr>
              <a:tr h="982980">
                <a:tc>
                  <a:txBody>
                    <a:bodyPr wrap="square"/>
                    <a:lstStyle/>
                    <a:p>
                      <a:pPr algn="ctr"/>
                      <a:r>
                        <a:rPr sz="1200" b="1">
                          <a:solidFill>
                            <a:srgbClr val="1B2A4A"/>
                          </a:solidFill>
                          <a:latin typeface="Yu Gothic"/>
                        </a:rPr>
                        <a:t>5</a:t>
                      </a:r>
                    </a:p>
                  </a:txBody>
                  <a:tcPr anchor="ctr" marL="101600" marR="101600" marT="50800" marB="50800">
                    <a:solidFill>
                      <a:srgbClr val="F5F6F8"/>
                    </a:solidFill>
                  </a:tcPr>
                </a:tc>
                <a:tc>
                  <a:txBody>
                    <a:bodyPr wrap="square"/>
                    <a:lstStyle/>
                    <a:p>
                      <a:pPr algn="l"/>
                      <a:r>
                        <a:rPr sz="1100" b="1">
                          <a:solidFill>
                            <a:srgbClr val="1B2A4A"/>
                          </a:solidFill>
                          <a:latin typeface="Yu Gothic"/>
                        </a:rPr>
                        <a:t>DLPポリシーの適用自体に、</a:t>
                      </a:r>
                    </a:p>
                    <a:p>
                      <a:pPr algn="l"/>
                      <a:r>
                        <a:rPr sz="1100" b="1">
                          <a:solidFill>
                            <a:srgbClr val="1B2A4A"/>
                          </a:solidFill>
                          <a:latin typeface="Yu Gothic"/>
                        </a:rPr>
                        <a:t>Power Automate利用者側の</a:t>
                      </a:r>
                    </a:p>
                    <a:p>
                      <a:pPr algn="l"/>
                      <a:r>
                        <a:rPr sz="1100" b="1">
                          <a:solidFill>
                            <a:srgbClr val="1B2A4A"/>
                          </a:solidFill>
                          <a:latin typeface="Yu Gothic"/>
                        </a:rPr>
                        <a:t>Premiumライセンスが必要か</a:t>
                      </a:r>
                    </a:p>
                  </a:txBody>
                  <a:tcPr anchor="ctr" marL="101600" marR="101600" marT="50800" marB="50800">
                    <a:solidFill>
                      <a:srgbClr val="F5F6F8"/>
                    </a:solidFill>
                  </a:tcPr>
                </a:tc>
                <a:tc>
                  <a:txBody>
                    <a:bodyPr wrap="square"/>
                    <a:lstStyle/>
                    <a:p>
                      <a:pPr algn="ctr"/>
                      <a:r>
                        <a:rPr sz="1150" b="1">
                          <a:solidFill>
                            <a:srgbClr val="B02A2A"/>
                          </a:solidFill>
                          <a:latin typeface="Yu Gothic"/>
                        </a:rPr>
                        <a:t>NO</a:t>
                      </a:r>
                    </a:p>
                  </a:txBody>
                  <a:tcPr anchor="ctr" marL="101600" marR="101600" marT="50800" marB="50800">
                    <a:solidFill>
                      <a:srgbClr val="F8E3E3"/>
                    </a:solidFill>
                  </a:tcPr>
                </a:tc>
                <a:tc>
                  <a:txBody>
                    <a:bodyPr wrap="square"/>
                    <a:lstStyle/>
                    <a:p>
                      <a:pPr algn="l"/>
                      <a:r>
                        <a:rPr sz="1030" b="0">
                          <a:solidFill>
                            <a:srgbClr val="262626"/>
                          </a:solidFill>
                          <a:latin typeface="Yu Gothic"/>
                        </a:rPr>
                        <a:t>DLPは管理者側の統制機能であり、無償・標準ライセンスの一般</a:t>
                      </a:r>
                    </a:p>
                    <a:p>
                      <a:pPr algn="l"/>
                      <a:r>
                        <a:rPr sz="1030" b="0">
                          <a:solidFill>
                            <a:srgbClr val="262626"/>
                          </a:solidFill>
                          <a:latin typeface="Yu Gothic"/>
                        </a:rPr>
                        <a:t>利用者にも強制適用される。ポリシー作成・編集には管理者</a:t>
                      </a:r>
                    </a:p>
                    <a:p>
                      <a:pPr algn="l"/>
                      <a:r>
                        <a:rPr sz="1030" b="0">
                          <a:solidFill>
                            <a:srgbClr val="262626"/>
                          </a:solidFill>
                          <a:latin typeface="Yu Gothic"/>
                        </a:rPr>
                        <a:t>「権限（ロール）」が必要なだけで、ライセンスは不要</a:t>
                      </a:r>
                    </a:p>
                  </a:txBody>
                  <a:tcPr anchor="ctr" marL="101600" marR="101600" marT="50800" marB="50800">
                    <a:solidFill>
                      <a:srgbClr val="F5F6F8"/>
                    </a:solidFill>
                  </a:tcPr>
                </a:tc>
              </a:tr>
              <a:tr h="982980">
                <a:tc>
                  <a:txBody>
                    <a:bodyPr wrap="square"/>
                    <a:lstStyle/>
                    <a:p>
                      <a:pPr algn="ctr"/>
                      <a:r>
                        <a:rPr sz="1200" b="1">
                          <a:solidFill>
                            <a:srgbClr val="1B2A4A"/>
                          </a:solidFill>
                          <a:latin typeface="Yu Gothic"/>
                        </a:rPr>
                        <a:t>6</a:t>
                      </a:r>
                    </a:p>
                  </a:txBody>
                  <a:tcPr anchor="ctr" marL="101600" marR="101600" marT="50800" marB="50800">
                    <a:solidFill>
                      <a:srgbClr val="FFFFFF"/>
                    </a:solidFill>
                  </a:tcPr>
                </a:tc>
                <a:tc>
                  <a:txBody>
                    <a:bodyPr wrap="square"/>
                    <a:lstStyle/>
                    <a:p>
                      <a:pPr algn="l"/>
                      <a:r>
                        <a:rPr sz="1100" b="1">
                          <a:solidFill>
                            <a:srgbClr val="1B2A4A"/>
                          </a:solidFill>
                          <a:latin typeface="Yu Gothic"/>
                        </a:rPr>
                        <a:t>設定可能な場合の</a:t>
                      </a:r>
                    </a:p>
                    <a:p>
                      <a:pPr algn="l"/>
                      <a:r>
                        <a:rPr sz="1100" b="1">
                          <a:solidFill>
                            <a:srgbClr val="1B2A4A"/>
                          </a:solidFill>
                          <a:latin typeface="Yu Gothic"/>
                        </a:rPr>
                        <a:t>実施手順の概要</a:t>
                      </a:r>
                    </a:p>
                  </a:txBody>
                  <a:tcPr anchor="ctr" marL="101600" marR="101600" marT="50800" marB="50800">
                    <a:solidFill>
                      <a:srgbClr val="FFFFFF"/>
                    </a:solidFill>
                  </a:tcPr>
                </a:tc>
                <a:tc>
                  <a:txBody>
                    <a:bodyPr wrap="square"/>
                    <a:lstStyle/>
                    <a:p>
                      <a:pPr algn="ctr"/>
                      <a:r>
                        <a:rPr sz="1150" b="1">
                          <a:solidFill>
                            <a:srgbClr val="2E5AAC"/>
                          </a:solidFill>
                          <a:latin typeface="Yu Gothic"/>
                        </a:rPr>
                        <a:t>手順あり</a:t>
                      </a:r>
                    </a:p>
                  </a:txBody>
                  <a:tcPr anchor="ctr" marL="101600" marR="101600" marT="50800" marB="50800">
                    <a:solidFill>
                      <a:srgbClr val="E9EFF9"/>
                    </a:solidFill>
                  </a:tcPr>
                </a:tc>
                <a:tc>
                  <a:txBody>
                    <a:bodyPr wrap="square"/>
                    <a:lstStyle/>
                    <a:p>
                      <a:pPr algn="l"/>
                      <a:r>
                        <a:rPr sz="1030" b="0">
                          <a:solidFill>
                            <a:srgbClr val="262626"/>
                          </a:solidFill>
                          <a:latin typeface="Yu Gothic"/>
                        </a:rPr>
                        <a:t>Power Platform 管理センターでポリシーを新規作成し、スコープを</a:t>
                      </a:r>
                    </a:p>
                    <a:p>
                      <a:pPr algn="l"/>
                      <a:r>
                        <a:rPr sz="1030" b="0">
                          <a:solidFill>
                            <a:srgbClr val="262626"/>
                          </a:solidFill>
                          <a:latin typeface="Yu Gothic"/>
                        </a:rPr>
                        <a:t>Default環境に設定、コネクタを分類（既定＝ブロック済み）した</a:t>
                      </a:r>
                    </a:p>
                    <a:p>
                      <a:pPr algn="l"/>
                      <a:r>
                        <a:rPr sz="1030" b="0">
                          <a:solidFill>
                            <a:srgbClr val="262626"/>
                          </a:solidFill>
                          <a:latin typeface="Yu Gothic"/>
                        </a:rPr>
                        <a:t>うえで公開する（詳細はP.9）</a:t>
                      </a:r>
                    </a:p>
                  </a:txBody>
                  <a:tcPr anchor="ctr" marL="101600" marR="101600" marT="50800" marB="50800">
                    <a:solidFill>
                      <a:srgbClr val="FFFFFF"/>
                    </a:solidFill>
                  </a:tcPr>
                </a:tc>
              </a:tr>
              <a:tr h="982980">
                <a:tc>
                  <a:txBody>
                    <a:bodyPr wrap="square"/>
                    <a:lstStyle/>
                    <a:p>
                      <a:pPr algn="ctr"/>
                      <a:r>
                        <a:rPr sz="1200" b="1">
                          <a:solidFill>
                            <a:srgbClr val="1B2A4A"/>
                          </a:solidFill>
                          <a:latin typeface="Yu Gothic"/>
                        </a:rPr>
                        <a:t>7</a:t>
                      </a:r>
                    </a:p>
                  </a:txBody>
                  <a:tcPr anchor="ctr" marL="101600" marR="101600" marT="50800" marB="50800">
                    <a:solidFill>
                      <a:srgbClr val="F5F6F8"/>
                    </a:solidFill>
                  </a:tcPr>
                </a:tc>
                <a:tc>
                  <a:txBody>
                    <a:bodyPr wrap="square"/>
                    <a:lstStyle/>
                    <a:p>
                      <a:pPr algn="l"/>
                      <a:r>
                        <a:rPr sz="1100" b="1">
                          <a:solidFill>
                            <a:srgbClr val="1B2A4A"/>
                          </a:solidFill>
                          <a:latin typeface="Yu Gothic"/>
                        </a:rPr>
                        <a:t>設定できない／制約がある</a:t>
                      </a:r>
                    </a:p>
                    <a:p>
                      <a:pPr algn="l"/>
                      <a:r>
                        <a:rPr sz="1100" b="1">
                          <a:solidFill>
                            <a:srgbClr val="1B2A4A"/>
                          </a:solidFill>
                          <a:latin typeface="Yu Gothic"/>
                        </a:rPr>
                        <a:t>場合の理由と代替案</a:t>
                      </a:r>
                    </a:p>
                  </a:txBody>
                  <a:tcPr anchor="ctr" marL="101600" marR="101600" marT="50800" marB="50800">
                    <a:solidFill>
                      <a:srgbClr val="F5F6F8"/>
                    </a:solidFill>
                  </a:tcPr>
                </a:tc>
                <a:tc>
                  <a:txBody>
                    <a:bodyPr wrap="square"/>
                    <a:lstStyle/>
                    <a:p>
                      <a:pPr algn="ctr"/>
                      <a:r>
                        <a:rPr sz="1150" b="1">
                          <a:solidFill>
                            <a:srgbClr val="B86E00"/>
                          </a:solidFill>
                          <a:latin typeface="Yu Gothic"/>
                        </a:rPr>
                        <a:t>制約あり</a:t>
                      </a:r>
                    </a:p>
                  </a:txBody>
                  <a:tcPr anchor="ctr" marL="101600" marR="101600" marT="50800" marB="50800">
                    <a:solidFill>
                      <a:srgbClr val="FCEED9"/>
                    </a:solidFill>
                  </a:tcPr>
                </a:tc>
                <a:tc>
                  <a:txBody>
                    <a:bodyPr wrap="square"/>
                    <a:lstStyle/>
                    <a:p>
                      <a:pPr algn="l"/>
                      <a:r>
                        <a:rPr sz="1030" b="0">
                          <a:solidFill>
                            <a:srgbClr val="262626"/>
                          </a:solidFill>
                          <a:latin typeface="Yu Gothic"/>
                        </a:rPr>
                        <a:t>全社員分のPremiumライセンス費用（既存ライセンス比でE3は約1.6倍、E5は約1.3倍の負担目安。詳細は契約内容により要確認）に加え、予算承認や既存無償利用者への影響も伴うため実務上ハードルが高い（詳細はP.10）。DLP先行適用等の代替統制で早期にリスク低減可能</a:t>
                      </a:r>
                    </a:p>
                  </a:txBody>
                  <a:tcPr anchor="ctr" marL="101600" marR="101600" marT="50800" marB="50800">
                    <a:solidFill>
                      <a:srgbClr val="F5F6F8"/>
                    </a:solidFill>
                  </a:tcPr>
                </a:tc>
              </a:tr>
            </a:tbl>
          </a:graphicData>
        </a:graphic>
      </p:graphicFrame>
      <p:sp>
        <p:nvSpPr>
          <p:cNvPr id="7" name="Rectangle 6"/>
          <p:cNvSpPr/>
          <p:nvPr/>
        </p:nvSpPr>
        <p:spPr>
          <a:xfrm>
            <a:off x="365760" y="5486400"/>
            <a:ext cx="11430000" cy="9144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5577840"/>
            <a:ext cx="10972800" cy="731520"/>
          </a:xfrm>
          <a:prstGeom prst="rect">
            <a:avLst/>
          </a:prstGeom>
          <a:noFill/>
        </p:spPr>
        <p:txBody>
          <a:bodyPr wrap="square" anchor="t" lIns="0" rIns="0" tIns="0" bIns="0">
            <a:spAutoFit/>
          </a:bodyPr>
          <a:lstStyle/>
          <a:p>
            <a:pPr algn="l">
              <a:lnSpc>
                <a:spcPct val="120000"/>
              </a:lnSpc>
            </a:pPr>
            <a:r>
              <a:rPr sz="1100" b="0" i="0">
                <a:solidFill>
                  <a:srgbClr val="1B2A4A"/>
                </a:solidFill>
                <a:latin typeface="Yu Gothic"/>
              </a:rPr>
              <a:t>補足論点（Default環境は通常環境同様にManaged化可能か／DLPは無償ユーザーにも適用されるか／Premiumライセンスは管理者・作成者・実行者の</a:t>
            </a:r>
          </a:p>
          <a:p>
            <a:pPr algn="l">
              <a:lnSpc>
                <a:spcPct val="120000"/>
              </a:lnSpc>
            </a:pPr>
            <a:r>
              <a:rPr sz="1100" b="0" i="0">
                <a:solidFill>
                  <a:srgbClr val="1B2A4A"/>
                </a:solidFill>
                <a:latin typeface="Yu Gothic"/>
              </a:rPr>
              <a:t>どこまで必要か／Copilot Studio等の現実的な利用制御方法）は、P.5〜P.10の詳細説明の中で対応する確認項目とあわせて回答する。</a:t>
            </a:r>
          </a:p>
        </p:txBody>
      </p:sp>
      <p:sp>
        <p:nvSpPr>
          <p:cNvPr id="9" name="TextBox 8"/>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0" name="TextBox 9"/>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1</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① Default環境をマネージド環境に設定できるか</a:t>
            </a:r>
          </a:p>
        </p:txBody>
      </p:sp>
      <p:sp>
        <p:nvSpPr>
          <p:cNvPr id="6" name="Rounded Rectangle 5"/>
          <p:cNvSpPr/>
          <p:nvPr/>
        </p:nvSpPr>
        <p:spPr>
          <a:xfrm>
            <a:off x="502920" y="1325880"/>
            <a:ext cx="2377440" cy="457200"/>
          </a:xfrm>
          <a:prstGeom prst="roundRect">
            <a:avLst>
              <a:gd name="adj" fmla="val 50000"/>
            </a:avLst>
          </a:prstGeom>
          <a:solidFill>
            <a:srgbClr val="FCEED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86E00"/>
                </a:solidFill>
                <a:latin typeface="Yu Gothic"/>
              </a:rPr>
              <a:t>判定：YES（条件付き）</a:t>
            </a:r>
          </a:p>
        </p:txBody>
      </p:sp>
      <p:sp>
        <p:nvSpPr>
          <p:cNvPr id="7" name="TextBox 6"/>
          <p:cNvSpPr txBox="1"/>
          <p:nvPr/>
        </p:nvSpPr>
        <p:spPr>
          <a:xfrm>
            <a:off x="502920" y="1965960"/>
            <a:ext cx="6949440" cy="3657600"/>
          </a:xfrm>
          <a:prstGeom prst="rect">
            <a:avLst/>
          </a:prstGeom>
          <a:noFill/>
        </p:spPr>
        <p:txBody>
          <a:bodyPr wrap="square">
            <a:spAutoFit/>
          </a:bodyPr>
          <a:lstStyle/>
          <a:p>
            <a:pPr>
              <a:lnSpc>
                <a:spcPct val="110000"/>
              </a:lnSpc>
              <a:spcAft>
                <a:spcPts val="700"/>
              </a:spcAft>
            </a:pPr>
            <a:r>
              <a:rPr sz="1200" b="1">
                <a:solidFill>
                  <a:srgbClr val="262626"/>
                </a:solidFill>
                <a:latin typeface="Yu Gothic"/>
              </a:rPr>
              <a:t>● 技術的な制約は存在しない</a:t>
            </a:r>
          </a:p>
          <a:p>
            <a:pPr marL="228600">
              <a:lnSpc>
                <a:spcPct val="110000"/>
              </a:lnSpc>
              <a:spcAft>
                <a:spcPts val="700"/>
              </a:spcAft>
            </a:pPr>
            <a:r>
              <a:rPr sz="1100" b="0">
                <a:solidFill>
                  <a:srgbClr val="262626"/>
                </a:solidFill>
                <a:latin typeface="Yu Gothic"/>
              </a:rPr>
              <a:t>- Microsoft公式：「Admins can use managed environments with any</a:t>
            </a:r>
            <a:br/>
            <a:r>
              <a:rPr sz="1100" b="0">
                <a:solidFill>
                  <a:srgbClr val="262626"/>
                </a:solidFill>
                <a:latin typeface="Yu Gothic"/>
              </a:rPr>
              <a:t>type of environment」— 環境の種類を問わず有効化可能と明記</a:t>
            </a:r>
          </a:p>
          <a:p>
            <a:pPr marL="228600">
              <a:lnSpc>
                <a:spcPct val="110000"/>
              </a:lnSpc>
              <a:spcAft>
                <a:spcPts val="700"/>
              </a:spcAft>
            </a:pPr>
            <a:r>
              <a:rPr sz="1100" b="0">
                <a:solidFill>
                  <a:srgbClr val="262626"/>
                </a:solidFill>
                <a:latin typeface="Yu Gothic"/>
              </a:rPr>
              <a:t>- Default環境も例外ではなく、管理センターの操作（環境選択 →</a:t>
            </a:r>
            <a:br/>
            <a:r>
              <a:rPr sz="1100" b="0">
                <a:solidFill>
                  <a:srgbClr val="262626"/>
                </a:solidFill>
                <a:latin typeface="Yu Gothic"/>
              </a:rPr>
              <a:t>［Enable Managed Environments］）で有効化できる</a:t>
            </a:r>
          </a:p>
          <a:p>
            <a:pPr>
              <a:lnSpc>
                <a:spcPct val="110000"/>
              </a:lnSpc>
              <a:spcAft>
                <a:spcPts val="700"/>
              </a:spcAft>
            </a:pPr>
            <a:r>
              <a:rPr sz="1200" b="1">
                <a:solidFill>
                  <a:srgbClr val="262626"/>
                </a:solidFill>
                <a:latin typeface="Yu Gothic"/>
              </a:rPr>
              <a:t>● Microsoft自身もDefault環境への適用を推奨</a:t>
            </a:r>
          </a:p>
          <a:p>
            <a:pPr marL="228600">
              <a:lnSpc>
                <a:spcPct val="110000"/>
              </a:lnSpc>
              <a:spcAft>
                <a:spcPts val="700"/>
              </a:spcAft>
            </a:pPr>
            <a:r>
              <a:rPr sz="1100" b="0">
                <a:solidFill>
                  <a:srgbClr val="262626"/>
                </a:solidFill>
                <a:latin typeface="Yu Gothic"/>
              </a:rPr>
              <a:t>- 公式ガイダンスでは、共有制限・使用状況の分析情報・IP ファイア</a:t>
            </a:r>
            <a:br/>
            <a:r>
              <a:rPr sz="1100" b="0">
                <a:solidFill>
                  <a:srgbClr val="262626"/>
                </a:solidFill>
                <a:latin typeface="Yu Gothic"/>
              </a:rPr>
              <a:t>ウォール等の統治強化のため、Default環境でのマネージド環境機能</a:t>
            </a:r>
            <a:br/>
            <a:r>
              <a:rPr sz="1100" b="0">
                <a:solidFill>
                  <a:srgbClr val="262626"/>
                </a:solidFill>
                <a:latin typeface="Yu Gothic"/>
              </a:rPr>
              <a:t>の活用を推奨している</a:t>
            </a:r>
          </a:p>
          <a:p>
            <a:pPr>
              <a:lnSpc>
                <a:spcPct val="110000"/>
              </a:lnSpc>
              <a:spcAft>
                <a:spcPts val="700"/>
              </a:spcAft>
            </a:pPr>
            <a:r>
              <a:rPr sz="1200" b="1">
                <a:solidFill>
                  <a:srgbClr val="262626"/>
                </a:solidFill>
                <a:latin typeface="Yu Gothic"/>
              </a:rPr>
              <a:t>● ただし実務上は「全社Premiumライセンス化」という制約が伴う</a:t>
            </a:r>
          </a:p>
          <a:p>
            <a:pPr marL="228600">
              <a:lnSpc>
                <a:spcPct val="110000"/>
              </a:lnSpc>
              <a:spcAft>
                <a:spcPts val="700"/>
              </a:spcAft>
            </a:pPr>
            <a:r>
              <a:rPr sz="1100" b="0">
                <a:solidFill>
                  <a:srgbClr val="262626"/>
                </a:solidFill>
                <a:latin typeface="Yu Gothic"/>
              </a:rPr>
              <a:t>- Default環境は全ライセンスユーザーが標準でアクセス可能なため、</a:t>
            </a:r>
            <a:br/>
            <a:r>
              <a:rPr sz="1100" b="0">
                <a:solidFill>
                  <a:srgbClr val="262626"/>
                </a:solidFill>
                <a:latin typeface="Yu Gothic"/>
              </a:rPr>
              <a:t>有効化するとその全員がPremium対象になり得る（詳細はP.7・P.10）</a:t>
            </a:r>
          </a:p>
        </p:txBody>
      </p:sp>
      <p:sp>
        <p:nvSpPr>
          <p:cNvPr id="8" name="Rectangle 7"/>
          <p:cNvSpPr/>
          <p:nvPr/>
        </p:nvSpPr>
        <p:spPr>
          <a:xfrm>
            <a:off x="7818120" y="1325880"/>
            <a:ext cx="3886200" cy="429768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508760"/>
            <a:ext cx="3474720" cy="365760"/>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有効化で得られる主な機能と価値</a:t>
            </a:r>
          </a:p>
        </p:txBody>
      </p:sp>
      <p:sp>
        <p:nvSpPr>
          <p:cNvPr id="10" name="TextBox 9"/>
          <p:cNvSpPr txBox="1"/>
          <p:nvPr/>
        </p:nvSpPr>
        <p:spPr>
          <a:xfrm>
            <a:off x="8046720" y="1938528"/>
            <a:ext cx="3474720" cy="3703320"/>
          </a:xfrm>
          <a:prstGeom prst="rect">
            <a:avLst/>
          </a:prstGeom>
          <a:noFill/>
        </p:spPr>
        <p:txBody>
          <a:bodyPr wrap="square">
            <a:spAutoFit/>
          </a:bodyPr>
          <a:lstStyle/>
          <a:p>
            <a:pPr>
              <a:lnSpc>
                <a:spcPct val="115000"/>
              </a:lnSpc>
              <a:spcAft>
                <a:spcPts val="800"/>
              </a:spcAft>
            </a:pPr>
            <a:r>
              <a:rPr sz="1100" b="0">
                <a:solidFill>
                  <a:srgbClr val="262626"/>
                </a:solidFill>
                <a:latin typeface="Yu Gothic"/>
              </a:rPr>
              <a:t>● 共有制限：無制限共有を禁止し、想定外の大量アクセスや</a:t>
            </a:r>
            <a:br/>
            <a:r>
              <a:rPr sz="1100" b="0">
                <a:solidFill>
                  <a:srgbClr val="262626"/>
                </a:solidFill>
                <a:latin typeface="Yu Gothic"/>
              </a:rPr>
              <a:t>情報漏えいを防止</a:t>
            </a:r>
          </a:p>
          <a:p>
            <a:pPr>
              <a:lnSpc>
                <a:spcPct val="115000"/>
              </a:lnSpc>
              <a:spcAft>
                <a:spcPts val="800"/>
              </a:spcAft>
            </a:pPr>
            <a:r>
              <a:rPr sz="1100" b="0">
                <a:solidFill>
                  <a:srgbClr val="262626"/>
                </a:solidFill>
                <a:latin typeface="Yu Gothic"/>
              </a:rPr>
              <a:t>● 使用状況の分析情報：利用実態を週次レポートで把握し、</a:t>
            </a:r>
            <a:br/>
            <a:r>
              <a:rPr sz="1100" b="0">
                <a:solidFill>
                  <a:srgbClr val="262626"/>
                </a:solidFill>
                <a:latin typeface="Yu Gothic"/>
              </a:rPr>
              <a:t>放置された野良アプリを発見</a:t>
            </a:r>
          </a:p>
          <a:p>
            <a:pPr>
              <a:lnSpc>
                <a:spcPct val="115000"/>
              </a:lnSpc>
              <a:spcAft>
                <a:spcPts val="800"/>
              </a:spcAft>
            </a:pPr>
            <a:r>
              <a:rPr sz="1100" b="0">
                <a:solidFill>
                  <a:srgbClr val="262626"/>
                </a:solidFill>
                <a:latin typeface="Yu Gothic"/>
              </a:rPr>
              <a:t>● IP ファイアウォール：許可した社内IPからのみDataverse</a:t>
            </a:r>
            <a:br/>
            <a:r>
              <a:rPr sz="1100" b="0">
                <a:solidFill>
                  <a:srgbClr val="262626"/>
                </a:solidFill>
                <a:latin typeface="Yu Gothic"/>
              </a:rPr>
              <a:t>へのアクセスを許可</a:t>
            </a:r>
          </a:p>
          <a:p>
            <a:pPr>
              <a:lnSpc>
                <a:spcPct val="115000"/>
              </a:lnSpc>
              <a:spcAft>
                <a:spcPts val="800"/>
              </a:spcAft>
            </a:pPr>
            <a:r>
              <a:rPr sz="1100" b="0">
                <a:solidFill>
                  <a:srgbClr val="262626"/>
                </a:solidFill>
                <a:latin typeface="Yu Gothic"/>
              </a:rPr>
              <a:t>● ソリューション チェッカー：公開前に品質・セキュリティ</a:t>
            </a:r>
            <a:br/>
            <a:r>
              <a:rPr sz="1100" b="0">
                <a:solidFill>
                  <a:srgbClr val="262626"/>
                </a:solidFill>
                <a:latin typeface="Yu Gothic"/>
              </a:rPr>
              <a:t>上の問題を自動検出</a:t>
            </a:r>
          </a:p>
          <a:p>
            <a:pPr>
              <a:lnSpc>
                <a:spcPct val="115000"/>
              </a:lnSpc>
              <a:spcAft>
                <a:spcPts val="800"/>
              </a:spcAft>
            </a:pPr>
            <a:r>
              <a:rPr sz="1100" b="0">
                <a:solidFill>
                  <a:srgbClr val="262626"/>
                </a:solidFill>
                <a:latin typeface="Yu Gothic"/>
              </a:rPr>
              <a:t>● アクション ページの推奨事項：環境ごとの最適化提案を</a:t>
            </a:r>
            <a:br/>
            <a:r>
              <a:rPr sz="1100" b="0">
                <a:solidFill>
                  <a:srgbClr val="262626"/>
                </a:solidFill>
                <a:latin typeface="Yu Gothic"/>
              </a:rPr>
              <a:t>自動取得し運用工数を削減</a:t>
            </a:r>
          </a:p>
        </p:txBody>
      </p:sp>
      <p:sp>
        <p:nvSpPr>
          <p:cNvPr id="11" name="TextBox 10"/>
          <p:cNvSpPr txBox="1"/>
          <p:nvPr/>
        </p:nvSpPr>
        <p:spPr>
          <a:xfrm>
            <a:off x="502920" y="6035040"/>
            <a:ext cx="11155680" cy="45720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 本資料は実施の要否を判断するための材料提示に徹し、特定の結論へ誘導するものではない。コストと得られる価値は次頁以降もあわせて確認のこと。</a:t>
            </a:r>
          </a:p>
        </p:txBody>
      </p:sp>
      <p:sp>
        <p:nvSpPr>
          <p:cNvPr id="12" name="TextBox 11"/>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3" name="TextBox 12"/>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2</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② Default環境にDLPポリシーを適用できるか</a:t>
            </a:r>
          </a:p>
        </p:txBody>
      </p:sp>
      <p:sp>
        <p:nvSpPr>
          <p:cNvPr id="6" name="Rounded Rectangle 5"/>
          <p:cNvSpPr/>
          <p:nvPr/>
        </p:nvSpPr>
        <p:spPr>
          <a:xfrm>
            <a:off x="502920" y="1325880"/>
            <a:ext cx="1371600" cy="457200"/>
          </a:xfrm>
          <a:prstGeom prst="roundRect">
            <a:avLst>
              <a:gd name="adj" fmla="val 50000"/>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1E8A4A"/>
                </a:solidFill>
                <a:latin typeface="Yu Gothic"/>
              </a:rPr>
              <a:t>判定：YES</a:t>
            </a:r>
          </a:p>
        </p:txBody>
      </p:sp>
      <p:sp>
        <p:nvSpPr>
          <p:cNvPr id="7" name="TextBox 6"/>
          <p:cNvSpPr txBox="1"/>
          <p:nvPr/>
        </p:nvSpPr>
        <p:spPr>
          <a:xfrm>
            <a:off x="502920" y="1965960"/>
            <a:ext cx="6949440" cy="3657600"/>
          </a:xfrm>
          <a:prstGeom prst="rect">
            <a:avLst/>
          </a:prstGeom>
          <a:noFill/>
        </p:spPr>
        <p:txBody>
          <a:bodyPr wrap="square">
            <a:spAutoFit/>
          </a:bodyPr>
          <a:lstStyle/>
          <a:p>
            <a:pPr>
              <a:lnSpc>
                <a:spcPct val="113000"/>
              </a:lnSpc>
              <a:spcAft>
                <a:spcPts val="800"/>
              </a:spcAft>
            </a:pPr>
            <a:r>
              <a:rPr sz="1250" b="1">
                <a:solidFill>
                  <a:srgbClr val="262626"/>
                </a:solidFill>
                <a:latin typeface="Yu Gothic"/>
              </a:rPr>
              <a:t>● DLPポリシーはマネージド環境化と独立した機能</a:t>
            </a:r>
          </a:p>
          <a:p>
            <a:pPr marL="228600">
              <a:lnSpc>
                <a:spcPct val="113000"/>
              </a:lnSpc>
              <a:spcAft>
                <a:spcPts val="800"/>
              </a:spcAft>
            </a:pPr>
            <a:r>
              <a:rPr sz="1150" b="0">
                <a:solidFill>
                  <a:srgbClr val="262626"/>
                </a:solidFill>
                <a:latin typeface="Yu Gothic"/>
              </a:rPr>
              <a:t>- テナント管理者／環境管理者権限があれば、マネージド環境化の</a:t>
            </a:r>
            <a:br/>
            <a:r>
              <a:rPr sz="1150" b="0">
                <a:solidFill>
                  <a:srgbClr val="262626"/>
                </a:solidFill>
                <a:latin typeface="Yu Gothic"/>
              </a:rPr>
              <a:t>有無に関わらずどの環境にもDLPポリシーを設定できる</a:t>
            </a:r>
          </a:p>
          <a:p>
            <a:pPr>
              <a:lnSpc>
                <a:spcPct val="113000"/>
              </a:lnSpc>
              <a:spcAft>
                <a:spcPts val="800"/>
              </a:spcAft>
            </a:pPr>
            <a:r>
              <a:rPr sz="1250" b="1">
                <a:solidFill>
                  <a:srgbClr val="262626"/>
                </a:solidFill>
                <a:latin typeface="Yu Gothic"/>
              </a:rPr>
              <a:t>● 適用スコープの選択肢</a:t>
            </a:r>
          </a:p>
          <a:p>
            <a:pPr marL="228600">
              <a:lnSpc>
                <a:spcPct val="113000"/>
              </a:lnSpc>
              <a:spcAft>
                <a:spcPts val="800"/>
              </a:spcAft>
            </a:pPr>
            <a:r>
              <a:rPr sz="1150" b="0">
                <a:solidFill>
                  <a:srgbClr val="262626"/>
                </a:solidFill>
                <a:latin typeface="Yu Gothic"/>
              </a:rPr>
              <a:t>- 環境レベルポリシー：Default環境単体を指定して適用</a:t>
            </a:r>
          </a:p>
          <a:p>
            <a:pPr marL="228600">
              <a:lnSpc>
                <a:spcPct val="113000"/>
              </a:lnSpc>
              <a:spcAft>
                <a:spcPts val="800"/>
              </a:spcAft>
            </a:pPr>
            <a:r>
              <a:rPr sz="1150" b="0">
                <a:solidFill>
                  <a:srgbClr val="262626"/>
                </a:solidFill>
                <a:latin typeface="Yu Gothic"/>
              </a:rPr>
              <a:t>- テナントレベルポリシー：全環境／複数環境／除外環境を指定して</a:t>
            </a:r>
            <a:br/>
            <a:r>
              <a:rPr sz="1150" b="0">
                <a:solidFill>
                  <a:srgbClr val="262626"/>
                </a:solidFill>
                <a:latin typeface="Yu Gothic"/>
              </a:rPr>
              <a:t>適用（Default環境を含めることも可能）</a:t>
            </a:r>
          </a:p>
          <a:p>
            <a:pPr>
              <a:lnSpc>
                <a:spcPct val="113000"/>
              </a:lnSpc>
              <a:spcAft>
                <a:spcPts val="800"/>
              </a:spcAft>
            </a:pPr>
            <a:r>
              <a:rPr sz="1250" b="1">
                <a:solidFill>
                  <a:srgbClr val="262626"/>
                </a:solidFill>
                <a:latin typeface="Yu Gothic"/>
              </a:rPr>
              <a:t>● Microsoft公式のベストプラクティス</a:t>
            </a:r>
          </a:p>
          <a:p>
            <a:pPr marL="228600">
              <a:lnSpc>
                <a:spcPct val="113000"/>
              </a:lnSpc>
              <a:spcAft>
                <a:spcPts val="800"/>
              </a:spcAft>
            </a:pPr>
            <a:r>
              <a:rPr sz="1150" b="0">
                <a:solidFill>
                  <a:srgbClr val="262626"/>
                </a:solidFill>
                <a:latin typeface="Yu Gothic"/>
              </a:rPr>
              <a:t>- コネクタ分類の既定グループを「ブロック済み」に設定し、新規</a:t>
            </a:r>
            <a:br/>
            <a:r>
              <a:rPr sz="1150" b="0">
                <a:solidFill>
                  <a:srgbClr val="262626"/>
                </a:solidFill>
                <a:latin typeface="Yu Gothic"/>
              </a:rPr>
              <a:t>コネクタは承認するまで自動的に利用不可とする方式を推奨</a:t>
            </a:r>
          </a:p>
        </p:txBody>
      </p:sp>
      <p:sp>
        <p:nvSpPr>
          <p:cNvPr id="8" name="Rectangle 7"/>
          <p:cNvSpPr/>
          <p:nvPr/>
        </p:nvSpPr>
        <p:spPr>
          <a:xfrm>
            <a:off x="7818120" y="1325880"/>
            <a:ext cx="3886200" cy="429768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508760"/>
            <a:ext cx="3474720" cy="36576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推奨コネクタ分類設計</a:t>
            </a:r>
          </a:p>
        </p:txBody>
      </p:sp>
      <p:sp>
        <p:nvSpPr>
          <p:cNvPr id="10" name="TextBox 9"/>
          <p:cNvSpPr txBox="1"/>
          <p:nvPr/>
        </p:nvSpPr>
        <p:spPr>
          <a:xfrm>
            <a:off x="8046720" y="1965960"/>
            <a:ext cx="3474720" cy="3657600"/>
          </a:xfrm>
          <a:prstGeom prst="rect">
            <a:avLst/>
          </a:prstGeom>
          <a:noFill/>
        </p:spPr>
        <p:txBody>
          <a:bodyPr wrap="square">
            <a:spAutoFit/>
          </a:bodyPr>
          <a:lstStyle/>
          <a:p>
            <a:pPr>
              <a:lnSpc>
                <a:spcPct val="120000"/>
              </a:lnSpc>
              <a:spcAft>
                <a:spcPts val="1000"/>
              </a:spcAft>
            </a:pPr>
            <a:r>
              <a:rPr sz="1150" b="0">
                <a:solidFill>
                  <a:srgbClr val="262626"/>
                </a:solidFill>
                <a:latin typeface="Yu Gothic"/>
              </a:rPr>
              <a:t>● ① ブロック不可コネクタ →</a:t>
            </a:r>
            <a:br/>
            <a:r>
              <a:rPr sz="1150" b="0">
                <a:solidFill>
                  <a:srgbClr val="262626"/>
                </a:solidFill>
                <a:latin typeface="Yu Gothic"/>
              </a:rPr>
              <a:t>「ビジネス」グループへ（接続可）</a:t>
            </a:r>
          </a:p>
          <a:p>
            <a:pPr>
              <a:lnSpc>
                <a:spcPct val="120000"/>
              </a:lnSpc>
              <a:spcAft>
                <a:spcPts val="1000"/>
              </a:spcAft>
            </a:pPr>
            <a:r>
              <a:rPr sz="1150" b="0">
                <a:solidFill>
                  <a:srgbClr val="262626"/>
                </a:solidFill>
                <a:latin typeface="Yu Gothic"/>
              </a:rPr>
              <a:t>● ② ブロック可能なコネクタ →</a:t>
            </a:r>
            <a:br/>
            <a:r>
              <a:rPr sz="1150" b="0">
                <a:solidFill>
                  <a:srgbClr val="262626"/>
                </a:solidFill>
                <a:latin typeface="Yu Gothic"/>
              </a:rPr>
              <a:t>「ブロック済み」グループへ（接続不可）</a:t>
            </a:r>
          </a:p>
          <a:p>
            <a:pPr>
              <a:lnSpc>
                <a:spcPct val="120000"/>
              </a:lnSpc>
              <a:spcAft>
                <a:spcPts val="1000"/>
              </a:spcAft>
            </a:pPr>
            <a:r>
              <a:rPr sz="1150" b="0">
                <a:solidFill>
                  <a:srgbClr val="262626"/>
                </a:solidFill>
                <a:latin typeface="Yu Gothic"/>
              </a:rPr>
              <a:t>● ③ 既定グループを「ブロック済み」に設定</a:t>
            </a:r>
            <a:br/>
            <a:r>
              <a:rPr sz="1150" b="0">
                <a:solidFill>
                  <a:srgbClr val="262626"/>
                </a:solidFill>
                <a:latin typeface="Yu Gothic"/>
              </a:rPr>
              <a:t>（新規コネクタは原則接続不可）</a:t>
            </a:r>
          </a:p>
          <a:p>
            <a:pPr>
              <a:lnSpc>
                <a:spcPct val="120000"/>
              </a:lnSpc>
              <a:spcAft>
                <a:spcPts val="1000"/>
              </a:spcAft>
            </a:pPr>
            <a:r>
              <a:rPr sz="1150" b="0">
                <a:solidFill>
                  <a:srgbClr val="262626"/>
                </a:solidFill>
                <a:latin typeface="Yu Gothic"/>
              </a:rPr>
              <a:t>● ④ 必要なコネクタのみ承認して</a:t>
            </a:r>
            <a:br/>
            <a:r>
              <a:rPr sz="1150" b="0">
                <a:solidFill>
                  <a:srgbClr val="262626"/>
                </a:solidFill>
                <a:latin typeface="Yu Gothic"/>
              </a:rPr>
              <a:t>「ビジネス」等へ昇格（接続可に変更）</a:t>
            </a:r>
          </a:p>
        </p:txBody>
      </p:sp>
      <p:sp>
        <p:nvSpPr>
          <p:cNvPr id="11" name="TextBox 10"/>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2" name="TextBox 11"/>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3・4</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③④ Premiumライセンスの要否と対象範囲</a:t>
            </a:r>
          </a:p>
        </p:txBody>
      </p:sp>
      <p:sp>
        <p:nvSpPr>
          <p:cNvPr id="6" name="Rounded Rectangle 5"/>
          <p:cNvSpPr/>
          <p:nvPr/>
        </p:nvSpPr>
        <p:spPr>
          <a:xfrm>
            <a:off x="502920" y="1298448"/>
            <a:ext cx="1188720" cy="457200"/>
          </a:xfrm>
          <a:prstGeom prst="roundRect">
            <a:avLst>
              <a:gd name="adj" fmla="val 50000"/>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1E8A4A"/>
                </a:solidFill>
                <a:latin typeface="Yu Gothic"/>
              </a:rPr>
              <a:t>判定：YES</a:t>
            </a:r>
          </a:p>
        </p:txBody>
      </p:sp>
      <p:sp>
        <p:nvSpPr>
          <p:cNvPr id="7" name="Rounded Rectangle 6"/>
          <p:cNvSpPr/>
          <p:nvPr/>
        </p:nvSpPr>
        <p:spPr>
          <a:xfrm>
            <a:off x="1828800" y="1298448"/>
            <a:ext cx="2011680" cy="457200"/>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2E5AAC"/>
                </a:solidFill>
                <a:latin typeface="Yu Gothic"/>
              </a:rPr>
              <a:t>対象：全ユーザー</a:t>
            </a:r>
          </a:p>
        </p:txBody>
      </p:sp>
      <p:graphicFrame>
        <p:nvGraphicFramePr>
          <p:cNvPr id="8" name="Table 7"/>
          <p:cNvGraphicFramePr>
            <a:graphicFrameLocks noGrp="1"/>
          </p:cNvGraphicFramePr>
          <p:nvPr/>
        </p:nvGraphicFramePr>
        <p:xfrm>
          <a:off x="502920" y="1920240"/>
          <a:ext cx="11201400" cy="2606040"/>
        </p:xfrm>
        <a:graphic>
          <a:graphicData uri="http://schemas.openxmlformats.org/drawingml/2006/table">
            <a:tbl>
              <a:tblPr firstRow="1" bandRow="1">
                <a:tableStyleId>{5C22544A-7EE6-4342-B048-85BDC9FD1C3A}</a:tableStyleId>
              </a:tblPr>
              <a:tblGrid>
                <a:gridCol w="2423160"/>
                <a:gridCol w="3200400"/>
                <a:gridCol w="2834640"/>
                <a:gridCol w="2743200"/>
              </a:tblGrid>
              <a:tr h="651510">
                <a:tc>
                  <a:txBody>
                    <a:bodyPr wrap="square"/>
                    <a:lstStyle/>
                    <a:p>
                      <a:pPr algn="ctr"/>
                      <a:r>
                        <a:rPr sz="1250" b="1">
                          <a:solidFill>
                            <a:srgbClr val="FFFFFF"/>
                          </a:solidFill>
                          <a:latin typeface="Yu Gothic"/>
                        </a:rPr>
                        <a:t>利用者区分</a:t>
                      </a:r>
                    </a:p>
                  </a:txBody>
                  <a:tcPr anchor="ctr" marL="101600" marR="101600" marT="50800" marB="50800">
                    <a:solidFill>
                      <a:srgbClr val="1B2A4A"/>
                    </a:solidFill>
                  </a:tcPr>
                </a:tc>
                <a:tc>
                  <a:txBody>
                    <a:bodyPr wrap="square"/>
                    <a:lstStyle/>
                    <a:p>
                      <a:pPr algn="ctr"/>
                      <a:r>
                        <a:rPr sz="1250" b="1">
                          <a:solidFill>
                            <a:srgbClr val="FFFFFF"/>
                          </a:solidFill>
                          <a:latin typeface="Yu Gothic"/>
                        </a:rPr>
                        <a:t>マネージド環境の</a:t>
                      </a:r>
                    </a:p>
                    <a:p>
                      <a:pPr algn="ctr"/>
                      <a:r>
                        <a:rPr sz="1250" b="1">
                          <a:solidFill>
                            <a:srgbClr val="FFFFFF"/>
                          </a:solidFill>
                          <a:latin typeface="Yu Gothic"/>
                        </a:rPr>
                        <a:t>設定・DLP設定</a:t>
                      </a:r>
                    </a:p>
                  </a:txBody>
                  <a:tcPr anchor="ctr" marL="101600" marR="101600" marT="50800" marB="50800">
                    <a:solidFill>
                      <a:srgbClr val="1B2A4A"/>
                    </a:solidFill>
                  </a:tcPr>
                </a:tc>
                <a:tc>
                  <a:txBody>
                    <a:bodyPr wrap="square"/>
                    <a:lstStyle/>
                    <a:p>
                      <a:pPr algn="ctr"/>
                      <a:r>
                        <a:rPr sz="1250" b="1">
                          <a:solidFill>
                            <a:srgbClr val="FFFFFF"/>
                          </a:solidFill>
                          <a:latin typeface="Yu Gothic"/>
                        </a:rPr>
                        <a:t>アプリ/フローの実行</a:t>
                      </a:r>
                    </a:p>
                    <a:p>
                      <a:pPr algn="ctr"/>
                      <a:r>
                        <a:rPr sz="1250" b="1">
                          <a:solidFill>
                            <a:srgbClr val="FFFFFF"/>
                          </a:solidFill>
                          <a:latin typeface="Yu Gothic"/>
                        </a:rPr>
                        <a:t>（マネージド環境内）</a:t>
                      </a:r>
                    </a:p>
                  </a:txBody>
                  <a:tcPr anchor="ctr" marL="101600" marR="101600" marT="50800" marB="50800">
                    <a:solidFill>
                      <a:srgbClr val="1B2A4A"/>
                    </a:solidFill>
                  </a:tcPr>
                </a:tc>
                <a:tc>
                  <a:txBody>
                    <a:bodyPr wrap="square"/>
                    <a:lstStyle/>
                    <a:p>
                      <a:pPr algn="ctr"/>
                      <a:r>
                        <a:rPr sz="1250" b="1">
                          <a:solidFill>
                            <a:srgbClr val="FFFFFF"/>
                          </a:solidFill>
                          <a:latin typeface="Yu Gothic"/>
                        </a:rPr>
                        <a:t>Premiumコネクタの</a:t>
                      </a:r>
                    </a:p>
                    <a:p>
                      <a:pPr algn="ctr"/>
                      <a:r>
                        <a:rPr sz="1250" b="1">
                          <a:solidFill>
                            <a:srgbClr val="FFFFFF"/>
                          </a:solidFill>
                          <a:latin typeface="Yu Gothic"/>
                        </a:rPr>
                        <a:t>利用（環境問わず）</a:t>
                      </a:r>
                    </a:p>
                  </a:txBody>
                  <a:tcPr anchor="ctr" marL="101600" marR="101600" marT="50800" marB="50800">
                    <a:solidFill>
                      <a:srgbClr val="1B2A4A"/>
                    </a:solidFill>
                  </a:tcPr>
                </a:tc>
              </a:tr>
              <a:tr h="651510">
                <a:tc>
                  <a:txBody>
                    <a:bodyPr wrap="square"/>
                    <a:lstStyle/>
                    <a:p>
                      <a:pPr algn="l"/>
                      <a:r>
                        <a:rPr sz="1200" b="1">
                          <a:solidFill>
                            <a:srgbClr val="1B2A4A"/>
                          </a:solidFill>
                          <a:latin typeface="Yu Gothic"/>
                        </a:rPr>
                        <a:t>管理者</a:t>
                      </a:r>
                    </a:p>
                    <a:p>
                      <a:pPr algn="l"/>
                      <a:r>
                        <a:rPr sz="1200" b="1">
                          <a:solidFill>
                            <a:srgbClr val="1B2A4A"/>
                          </a:solidFill>
                          <a:latin typeface="Yu Gothic"/>
                        </a:rPr>
                        <a:t>(Power Platform 管理者／</a:t>
                      </a:r>
                    </a:p>
                    <a:p>
                      <a:pPr algn="l"/>
                      <a:r>
                        <a:rPr sz="1200" b="1">
                          <a:solidFill>
                            <a:srgbClr val="1B2A4A"/>
                          </a:solidFill>
                          <a:latin typeface="Yu Gothic"/>
                        </a:rPr>
                        <a:t>環境管理者)</a:t>
                      </a:r>
                    </a:p>
                  </a:txBody>
                  <a:tcPr anchor="ctr" marL="101600" marR="101600" marT="50800" marB="50800">
                    <a:solidFill>
                      <a:srgbClr val="FFFFFF"/>
                    </a:solidFill>
                  </a:tcPr>
                </a:tc>
                <a:tc>
                  <a:txBody>
                    <a:bodyPr wrap="square"/>
                    <a:lstStyle/>
                    <a:p>
                      <a:pPr algn="ctr"/>
                      <a:r>
                        <a:rPr sz="1200" b="0">
                          <a:solidFill>
                            <a:srgbClr val="262626"/>
                          </a:solidFill>
                          <a:latin typeface="Yu Gothic"/>
                        </a:rPr>
                        <a:t>管理者ロールのみで可</a:t>
                      </a:r>
                    </a:p>
                    <a:p>
                      <a:pPr algn="ctr"/>
                      <a:r>
                        <a:rPr sz="1200" b="0">
                          <a:solidFill>
                            <a:srgbClr val="262626"/>
                          </a:solidFill>
                          <a:latin typeface="Yu Gothic"/>
                        </a:rPr>
                        <a:t>（追加ライセンス不要）</a:t>
                      </a:r>
                    </a:p>
                  </a:txBody>
                  <a:tcPr anchor="ctr" marL="101600" marR="101600" marT="50800" marB="50800">
                    <a:solidFill>
                      <a:srgbClr val="FFFFFF"/>
                    </a:solidFill>
                  </a:tcPr>
                </a:tc>
                <a:tc>
                  <a:txBody>
                    <a:bodyPr wrap="square"/>
                    <a:lstStyle/>
                    <a:p>
                      <a:pPr algn="ctr"/>
                      <a:r>
                        <a:rPr sz="1200" b="0">
                          <a:solidFill>
                            <a:srgbClr val="262626"/>
                          </a:solidFill>
                          <a:latin typeface="Yu Gothic"/>
                        </a:rPr>
                        <a:t>一般利用者と同じ</a:t>
                      </a:r>
                    </a:p>
                    <a:p>
                      <a:pPr algn="ctr"/>
                      <a:r>
                        <a:rPr sz="1200" b="0">
                          <a:solidFill>
                            <a:srgbClr val="262626"/>
                          </a:solidFill>
                          <a:latin typeface="Yu Gothic"/>
                        </a:rPr>
                        <a:t>（必須）</a:t>
                      </a:r>
                    </a:p>
                  </a:txBody>
                  <a:tcPr anchor="ctr" marL="101600" marR="101600" marT="50800" marB="50800">
                    <a:solidFill>
                      <a:srgbClr val="FFFFFF"/>
                    </a:solidFill>
                  </a:tcPr>
                </a:tc>
                <a:tc>
                  <a:txBody>
                    <a:bodyPr wrap="square"/>
                    <a:lstStyle/>
                    <a:p>
                      <a:pPr algn="ctr"/>
                      <a:r>
                        <a:rPr sz="1200" b="0">
                          <a:solidFill>
                            <a:srgbClr val="262626"/>
                          </a:solidFill>
                          <a:latin typeface="Yu Gothic"/>
                        </a:rPr>
                        <a:t>利用する場合は必要</a:t>
                      </a:r>
                    </a:p>
                  </a:txBody>
                  <a:tcPr anchor="ctr" marL="101600" marR="101600" marT="50800" marB="50800">
                    <a:solidFill>
                      <a:srgbClr val="FFFFFF"/>
                    </a:solidFill>
                  </a:tcPr>
                </a:tc>
              </a:tr>
              <a:tr h="651510">
                <a:tc>
                  <a:txBody>
                    <a:bodyPr wrap="square"/>
                    <a:lstStyle/>
                    <a:p>
                      <a:pPr algn="l"/>
                      <a:r>
                        <a:rPr sz="1200" b="1">
                          <a:solidFill>
                            <a:srgbClr val="1B2A4A"/>
                          </a:solidFill>
                          <a:latin typeface="Yu Gothic"/>
                        </a:rPr>
                        <a:t>メーカー</a:t>
                      </a:r>
                    </a:p>
                    <a:p>
                      <a:pPr algn="l"/>
                      <a:r>
                        <a:rPr sz="1200" b="1">
                          <a:solidFill>
                            <a:srgbClr val="1B2A4A"/>
                          </a:solidFill>
                          <a:latin typeface="Yu Gothic"/>
                        </a:rPr>
                        <a:t>(アプリ/フローの開発者)</a:t>
                      </a:r>
                    </a:p>
                  </a:txBody>
                  <a:tcPr anchor="ctr" marL="101600" marR="101600" marT="50800" marB="50800">
                    <a:solidFill>
                      <a:srgbClr val="F5F6F8"/>
                    </a:solidFill>
                  </a:tcPr>
                </a:tc>
                <a:tc>
                  <a:txBody>
                    <a:bodyPr wrap="square"/>
                    <a:lstStyle/>
                    <a:p>
                      <a:pPr algn="ctr"/>
                      <a:r>
                        <a:rPr sz="1200" b="0">
                          <a:solidFill>
                            <a:srgbClr val="262626"/>
                          </a:solidFill>
                          <a:latin typeface="Yu Gothic"/>
                        </a:rPr>
                        <a:t>対象外</a:t>
                      </a:r>
                    </a:p>
                  </a:txBody>
                  <a:tcPr anchor="ctr" marL="101600" marR="101600" marT="50800" marB="50800">
                    <a:solidFill>
                      <a:srgbClr val="F5F6F8"/>
                    </a:solidFill>
                  </a:tcPr>
                </a:tc>
                <a:tc>
                  <a:txBody>
                    <a:bodyPr wrap="square"/>
                    <a:lstStyle/>
                    <a:p>
                      <a:pPr algn="ctr"/>
                      <a:r>
                        <a:rPr sz="1200" b="0">
                          <a:solidFill>
                            <a:srgbClr val="262626"/>
                          </a:solidFill>
                          <a:latin typeface="Yu Gothic"/>
                        </a:rPr>
                        <a:t>一般利用者と同じ</a:t>
                      </a:r>
                    </a:p>
                    <a:p>
                      <a:pPr algn="ctr"/>
                      <a:r>
                        <a:rPr sz="1200" b="0">
                          <a:solidFill>
                            <a:srgbClr val="262626"/>
                          </a:solidFill>
                          <a:latin typeface="Yu Gothic"/>
                        </a:rPr>
                        <a:t>（必須）</a:t>
                      </a:r>
                    </a:p>
                  </a:txBody>
                  <a:tcPr anchor="ctr" marL="101600" marR="101600" marT="50800" marB="50800">
                    <a:solidFill>
                      <a:srgbClr val="F5F6F8"/>
                    </a:solidFill>
                  </a:tcPr>
                </a:tc>
                <a:tc>
                  <a:txBody>
                    <a:bodyPr wrap="square"/>
                    <a:lstStyle/>
                    <a:p>
                      <a:pPr algn="ctr"/>
                      <a:r>
                        <a:rPr sz="1200" b="0">
                          <a:solidFill>
                            <a:srgbClr val="262626"/>
                          </a:solidFill>
                          <a:latin typeface="Yu Gothic"/>
                        </a:rPr>
                        <a:t>組み込む場合は必要</a:t>
                      </a:r>
                    </a:p>
                  </a:txBody>
                  <a:tcPr anchor="ctr" marL="101600" marR="101600" marT="50800" marB="50800">
                    <a:solidFill>
                      <a:srgbClr val="F5F6F8"/>
                    </a:solidFill>
                  </a:tcPr>
                </a:tc>
              </a:tr>
              <a:tr h="651510">
                <a:tc>
                  <a:txBody>
                    <a:bodyPr wrap="square"/>
                    <a:lstStyle/>
                    <a:p>
                      <a:pPr algn="l"/>
                      <a:r>
                        <a:rPr sz="1200" b="1">
                          <a:solidFill>
                            <a:srgbClr val="1B2A4A"/>
                          </a:solidFill>
                          <a:latin typeface="Yu Gothic"/>
                        </a:rPr>
                        <a:t>一般利用者</a:t>
                      </a:r>
                    </a:p>
                    <a:p>
                      <a:pPr algn="l"/>
                      <a:r>
                        <a:rPr sz="1200" b="1">
                          <a:solidFill>
                            <a:srgbClr val="1B2A4A"/>
                          </a:solidFill>
                          <a:latin typeface="Yu Gothic"/>
                        </a:rPr>
                        <a:t>(アプリ/フローの実行者)</a:t>
                      </a:r>
                    </a:p>
                  </a:txBody>
                  <a:tcPr anchor="ctr" marL="101600" marR="101600" marT="50800" marB="50800">
                    <a:solidFill>
                      <a:srgbClr val="FFFFFF"/>
                    </a:solidFill>
                  </a:tcPr>
                </a:tc>
                <a:tc>
                  <a:txBody>
                    <a:bodyPr wrap="square"/>
                    <a:lstStyle/>
                    <a:p>
                      <a:pPr algn="ctr"/>
                      <a:r>
                        <a:rPr sz="1200" b="0">
                          <a:solidFill>
                            <a:srgbClr val="262626"/>
                          </a:solidFill>
                          <a:latin typeface="Yu Gothic"/>
                        </a:rPr>
                        <a:t>対象外</a:t>
                      </a:r>
                    </a:p>
                  </a:txBody>
                  <a:tcPr anchor="ctr" marL="101600" marR="101600" marT="50800" marB="50800">
                    <a:solidFill>
                      <a:srgbClr val="FFFFFF"/>
                    </a:solidFill>
                  </a:tcPr>
                </a:tc>
                <a:tc>
                  <a:txBody>
                    <a:bodyPr wrap="square"/>
                    <a:lstStyle/>
                    <a:p>
                      <a:pPr algn="ctr"/>
                      <a:r>
                        <a:rPr sz="1200" b="0">
                          <a:solidFill>
                            <a:srgbClr val="262626"/>
                          </a:solidFill>
                          <a:latin typeface="Yu Gothic"/>
                        </a:rPr>
                        <a:t>必須</a:t>
                      </a:r>
                    </a:p>
                    <a:p>
                      <a:pPr algn="ctr"/>
                      <a:r>
                        <a:rPr sz="1200" b="0">
                          <a:solidFill>
                            <a:srgbClr val="262626"/>
                          </a:solidFill>
                          <a:latin typeface="Yu Gothic"/>
                        </a:rPr>
                        <a:t>(Premiumライセンス)</a:t>
                      </a:r>
                    </a:p>
                  </a:txBody>
                  <a:tcPr anchor="ctr" marL="101600" marR="101600" marT="50800" marB="50800">
                    <a:solidFill>
                      <a:srgbClr val="FFFFFF"/>
                    </a:solidFill>
                  </a:tcPr>
                </a:tc>
                <a:tc>
                  <a:txBody>
                    <a:bodyPr wrap="square"/>
                    <a:lstStyle/>
                    <a:p>
                      <a:pPr algn="ctr"/>
                      <a:r>
                        <a:rPr sz="1200" b="0">
                          <a:solidFill>
                            <a:srgbClr val="262626"/>
                          </a:solidFill>
                          <a:latin typeface="Yu Gothic"/>
                        </a:rPr>
                        <a:t>利用する場合は必要</a:t>
                      </a:r>
                    </a:p>
                  </a:txBody>
                  <a:tcPr anchor="ctr" marL="101600" marR="101600" marT="50800" marB="50800">
                    <a:solidFill>
                      <a:srgbClr val="FFFFFF"/>
                    </a:solidFill>
                  </a:tcPr>
                </a:tc>
              </a:tr>
            </a:tbl>
          </a:graphicData>
        </a:graphic>
      </p:graphicFrame>
      <p:sp>
        <p:nvSpPr>
          <p:cNvPr id="9" name="Rectangle 8"/>
          <p:cNvSpPr/>
          <p:nvPr/>
        </p:nvSpPr>
        <p:spPr>
          <a:xfrm>
            <a:off x="502920" y="4709160"/>
            <a:ext cx="11201400" cy="150876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828032"/>
            <a:ext cx="10881360" cy="1280160"/>
          </a:xfrm>
          <a:prstGeom prst="rect">
            <a:avLst/>
          </a:prstGeom>
          <a:noFill/>
        </p:spPr>
        <p:txBody>
          <a:bodyPr wrap="square">
            <a:spAutoFit/>
          </a:bodyPr>
          <a:lstStyle/>
          <a:p>
            <a:pPr>
              <a:lnSpc>
                <a:spcPct val="115000"/>
              </a:lnSpc>
              <a:spcAft>
                <a:spcPts val="500"/>
              </a:spcAft>
            </a:pPr>
            <a:r>
              <a:rPr sz="1030" b="0">
                <a:solidFill>
                  <a:srgbClr val="262626"/>
                </a:solidFill>
                <a:latin typeface="Yu Gothic"/>
              </a:rPr>
              <a:t>● Power Platform管理者ロールは、マネージド環境やDLPポリシーを設定するための「権限」であり、追加の</a:t>
            </a:r>
            <a:br/>
            <a:r>
              <a:rPr sz="1030" b="0">
                <a:solidFill>
                  <a:srgbClr val="262626"/>
                </a:solidFill>
                <a:latin typeface="Yu Gothic"/>
              </a:rPr>
              <a:t>「ライセンス」ではない。管理者自身がマネージド環境内でアプリ/フローを実行する場合は、一般利用者と</a:t>
            </a:r>
            <a:br/>
            <a:r>
              <a:rPr sz="1030" b="0">
                <a:solidFill>
                  <a:srgbClr val="262626"/>
                </a:solidFill>
                <a:latin typeface="Yu Gothic"/>
              </a:rPr>
              <a:t>同じPremiumライセンスが必要になる</a:t>
            </a:r>
          </a:p>
          <a:p>
            <a:pPr>
              <a:lnSpc>
                <a:spcPct val="115000"/>
              </a:lnSpc>
              <a:spcAft>
                <a:spcPts val="500"/>
              </a:spcAft>
            </a:pPr>
            <a:r>
              <a:rPr sz="1030" b="0">
                <a:solidFill>
                  <a:srgbClr val="262626"/>
                </a:solidFill>
                <a:latin typeface="Yu Gothic"/>
              </a:rPr>
              <a:t>● 「メーカー」はMicrosoft公式のペルソナ名称。この「管理者／メーカー／一般利用者」という区分は、ライセ</a:t>
            </a:r>
            <a:br/>
            <a:r>
              <a:rPr sz="1030" b="0">
                <a:solidFill>
                  <a:srgbClr val="262626"/>
                </a:solidFill>
                <a:latin typeface="Yu Gothic"/>
              </a:rPr>
              <a:t>ンス要件が肩書きではなく実際に行う操作（設定／開発／実行）で決まることを示すための説明用分類である</a:t>
            </a:r>
          </a:p>
        </p:txBody>
      </p:sp>
      <p:sp>
        <p:nvSpPr>
          <p:cNvPr id="11" name="TextBox 10"/>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2" name="TextBox 11"/>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5</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⑤ DLPポリシー適用自体にPremiumライセンスは必要か</a:t>
            </a:r>
          </a:p>
        </p:txBody>
      </p:sp>
      <p:sp>
        <p:nvSpPr>
          <p:cNvPr id="6" name="Rounded Rectangle 5"/>
          <p:cNvSpPr/>
          <p:nvPr/>
        </p:nvSpPr>
        <p:spPr>
          <a:xfrm>
            <a:off x="502920" y="1298448"/>
            <a:ext cx="1371600" cy="457200"/>
          </a:xfrm>
          <a:prstGeom prst="roundRect">
            <a:avLst>
              <a:gd name="adj" fmla="val 50000"/>
            </a:avLst>
          </a:prstGeom>
          <a:solidFill>
            <a:srgbClr val="F8E3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02A2A"/>
                </a:solidFill>
                <a:latin typeface="Yu Gothic"/>
              </a:rPr>
              <a:t>判定：NO</a:t>
            </a:r>
          </a:p>
        </p:txBody>
      </p:sp>
      <p:sp>
        <p:nvSpPr>
          <p:cNvPr id="7" name="TextBox 6"/>
          <p:cNvSpPr txBox="1"/>
          <p:nvPr/>
        </p:nvSpPr>
        <p:spPr>
          <a:xfrm>
            <a:off x="1965960" y="1298448"/>
            <a:ext cx="5486400" cy="457200"/>
          </a:xfrm>
          <a:prstGeom prst="rect">
            <a:avLst/>
          </a:prstGeom>
          <a:noFill/>
        </p:spPr>
        <p:txBody>
          <a:bodyPr wrap="square" anchor="ctr" lIns="0" rIns="0" tIns="0" bIns="0">
            <a:spAutoFit/>
          </a:bodyPr>
          <a:lstStyle/>
          <a:p>
            <a:pPr algn="l">
              <a:lnSpc>
                <a:spcPct val="100000"/>
              </a:lnSpc>
            </a:pPr>
            <a:r>
              <a:rPr sz="1500" b="1" i="0">
                <a:solidFill>
                  <a:srgbClr val="1B2A4A"/>
                </a:solidFill>
                <a:latin typeface="Yu Gothic"/>
              </a:rPr>
              <a:t>Premiumライセンスは不要です。</a:t>
            </a:r>
          </a:p>
        </p:txBody>
      </p:sp>
      <p:sp>
        <p:nvSpPr>
          <p:cNvPr id="8" name="TextBox 7"/>
          <p:cNvSpPr txBox="1"/>
          <p:nvPr/>
        </p:nvSpPr>
        <p:spPr>
          <a:xfrm>
            <a:off x="502920" y="1965960"/>
            <a:ext cx="6949440" cy="3657600"/>
          </a:xfrm>
          <a:prstGeom prst="rect">
            <a:avLst/>
          </a:prstGeom>
          <a:noFill/>
        </p:spPr>
        <p:txBody>
          <a:bodyPr wrap="square">
            <a:spAutoFit/>
          </a:bodyPr>
          <a:lstStyle/>
          <a:p>
            <a:pPr>
              <a:lnSpc>
                <a:spcPct val="108000"/>
              </a:lnSpc>
              <a:spcAft>
                <a:spcPts val="600"/>
              </a:spcAft>
            </a:pPr>
            <a:r>
              <a:rPr sz="1150" b="1">
                <a:solidFill>
                  <a:srgbClr val="262626"/>
                </a:solidFill>
                <a:latin typeface="Yu Gothic"/>
              </a:rPr>
              <a:t>● DLPポリシー適用自体にPremiumライセンスは不要。適用には</a:t>
            </a:r>
            <a:br/>
            <a:r>
              <a:rPr sz="1150" b="1">
                <a:solidFill>
                  <a:srgbClr val="262626"/>
                </a:solidFill>
                <a:latin typeface="Yu Gothic"/>
              </a:rPr>
              <a:t>Power Platform 管理者ロール（権限）が必要</a:t>
            </a:r>
          </a:p>
          <a:p>
            <a:pPr>
              <a:lnSpc>
                <a:spcPct val="108000"/>
              </a:lnSpc>
              <a:spcAft>
                <a:spcPts val="600"/>
              </a:spcAft>
            </a:pPr>
            <a:r>
              <a:rPr sz="1150" b="1">
                <a:solidFill>
                  <a:srgbClr val="262626"/>
                </a:solidFill>
                <a:latin typeface="Yu Gothic"/>
              </a:rPr>
              <a:t>● DLPポリシーは「管理者による統制機能」であり、利用者側にライセンスを</a:t>
            </a:r>
            <a:br/>
            <a:r>
              <a:rPr sz="1150" b="1">
                <a:solidFill>
                  <a:srgbClr val="262626"/>
                </a:solidFill>
                <a:latin typeface="Yu Gothic"/>
              </a:rPr>
              <a:t>要求するものではない</a:t>
            </a:r>
          </a:p>
          <a:p>
            <a:pPr marL="228600">
              <a:lnSpc>
                <a:spcPct val="108000"/>
              </a:lnSpc>
              <a:spcAft>
                <a:spcPts val="600"/>
              </a:spcAft>
            </a:pPr>
            <a:r>
              <a:rPr sz="1050" b="0">
                <a:solidFill>
                  <a:srgbClr val="262626"/>
                </a:solidFill>
                <a:latin typeface="Yu Gothic"/>
              </a:rPr>
              <a:t>- 標準（無償枠を含む）ライセンスの一般ユーザーにも強制適用される</a:t>
            </a:r>
          </a:p>
          <a:p>
            <a:pPr marL="228600">
              <a:lnSpc>
                <a:spcPct val="108000"/>
              </a:lnSpc>
              <a:spcAft>
                <a:spcPts val="600"/>
              </a:spcAft>
            </a:pPr>
            <a:r>
              <a:rPr sz="1050" b="0">
                <a:solidFill>
                  <a:srgbClr val="262626"/>
                </a:solidFill>
                <a:latin typeface="Yu Gothic"/>
              </a:rPr>
              <a:t>- ポリシーに反する接続の組み合わせを含むアプリ/フローは、実行時・</a:t>
            </a:r>
            <a:br/>
            <a:r>
              <a:rPr sz="1050" b="0">
                <a:solidFill>
                  <a:srgbClr val="262626"/>
                </a:solidFill>
                <a:latin typeface="Yu Gothic"/>
              </a:rPr>
              <a:t>設計時ともにブロックされ、エラーメッセージが表示される</a:t>
            </a:r>
          </a:p>
          <a:p>
            <a:pPr>
              <a:lnSpc>
                <a:spcPct val="108000"/>
              </a:lnSpc>
              <a:spcAft>
                <a:spcPts val="600"/>
              </a:spcAft>
            </a:pPr>
            <a:r>
              <a:rPr sz="1150" b="1">
                <a:solidFill>
                  <a:srgbClr val="262626"/>
                </a:solidFill>
                <a:latin typeface="Yu Gothic"/>
              </a:rPr>
              <a:t>● 管理者側の要件は「権限（ロール）」であり「ライセンス」ではない</a:t>
            </a:r>
          </a:p>
          <a:p>
            <a:pPr marL="228600">
              <a:lnSpc>
                <a:spcPct val="108000"/>
              </a:lnSpc>
              <a:spcAft>
                <a:spcPts val="600"/>
              </a:spcAft>
            </a:pPr>
            <a:r>
              <a:rPr sz="1050" b="0">
                <a:solidFill>
                  <a:srgbClr val="262626"/>
                </a:solidFill>
                <a:latin typeface="Yu Gothic"/>
              </a:rPr>
              <a:t>- ポリシーの作成・編集・削除には、環境管理者 または</a:t>
            </a:r>
            <a:br/>
            <a:r>
              <a:rPr sz="1050" b="0">
                <a:solidFill>
                  <a:srgbClr val="262626"/>
                </a:solidFill>
                <a:latin typeface="Yu Gothic"/>
              </a:rPr>
              <a:t>Power Platform 管理者ロールが必要（Premiumライセンスの保有は前提条件ではない）</a:t>
            </a:r>
          </a:p>
          <a:p>
            <a:pPr>
              <a:lnSpc>
                <a:spcPct val="108000"/>
              </a:lnSpc>
              <a:spcAft>
                <a:spcPts val="600"/>
              </a:spcAft>
            </a:pPr>
            <a:r>
              <a:rPr sz="1150" b="1">
                <a:solidFill>
                  <a:srgbClr val="262626"/>
                </a:solidFill>
                <a:latin typeface="Yu Gothic"/>
              </a:rPr>
              <a:t>● 唯一の例外：デスクトップ フローのデータ ポリシー</a:t>
            </a:r>
            <a:br/>
            <a:r>
              <a:rPr sz="1150" b="1">
                <a:solidFill>
                  <a:srgbClr val="262626"/>
                </a:solidFill>
                <a:latin typeface="Yu Gothic"/>
              </a:rPr>
              <a:t>（マネージド環境下の場合のみ）</a:t>
            </a:r>
          </a:p>
          <a:p>
            <a:pPr marL="228600">
              <a:lnSpc>
                <a:spcPct val="108000"/>
              </a:lnSpc>
              <a:spcAft>
                <a:spcPts val="600"/>
              </a:spcAft>
            </a:pPr>
            <a:r>
              <a:rPr sz="1050" b="0">
                <a:solidFill>
                  <a:srgbClr val="262626"/>
                </a:solidFill>
                <a:latin typeface="Yu Gothic"/>
              </a:rPr>
              <a:t>- マネージド環境下でのみ機能する制限があり、その場合は確認項目3の</a:t>
            </a:r>
            <a:br/>
            <a:r>
              <a:rPr sz="1050" b="0">
                <a:solidFill>
                  <a:srgbClr val="262626"/>
                </a:solidFill>
                <a:latin typeface="Yu Gothic"/>
              </a:rPr>
              <a:t>Premium要件が間接的に関わる</a:t>
            </a:r>
          </a:p>
        </p:txBody>
      </p:sp>
      <p:sp>
        <p:nvSpPr>
          <p:cNvPr id="9" name="Rectangle 8"/>
          <p:cNvSpPr/>
          <p:nvPr/>
        </p:nvSpPr>
        <p:spPr>
          <a:xfrm>
            <a:off x="7726679" y="1325880"/>
            <a:ext cx="3977639" cy="4297680"/>
          </a:xfrm>
          <a:prstGeom prst="rect">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79" y="1508760"/>
            <a:ext cx="3566160" cy="640080"/>
          </a:xfrm>
          <a:prstGeom prst="rect">
            <a:avLst/>
          </a:prstGeom>
          <a:noFill/>
        </p:spPr>
        <p:txBody>
          <a:bodyPr wrap="square" anchor="t" lIns="0" rIns="0" tIns="0" bIns="0">
            <a:spAutoFit/>
          </a:bodyPr>
          <a:lstStyle/>
          <a:p>
            <a:pPr algn="l">
              <a:lnSpc>
                <a:spcPct val="100000"/>
              </a:lnSpc>
            </a:pPr>
            <a:r>
              <a:rPr sz="1400" b="1" i="0">
                <a:solidFill>
                  <a:srgbClr val="1E8A4A"/>
                </a:solidFill>
                <a:latin typeface="Yu Gothic"/>
              </a:rPr>
              <a:t>実務上の意味合い</a:t>
            </a:r>
          </a:p>
        </p:txBody>
      </p:sp>
      <p:sp>
        <p:nvSpPr>
          <p:cNvPr id="11" name="TextBox 10"/>
          <p:cNvSpPr txBox="1"/>
          <p:nvPr/>
        </p:nvSpPr>
        <p:spPr>
          <a:xfrm>
            <a:off x="7955279" y="2103120"/>
            <a:ext cx="3566160" cy="3291840"/>
          </a:xfrm>
          <a:prstGeom prst="rect">
            <a:avLst/>
          </a:prstGeom>
          <a:noFill/>
        </p:spPr>
        <p:txBody>
          <a:bodyPr wrap="square">
            <a:spAutoFit/>
          </a:bodyPr>
          <a:lstStyle/>
          <a:p>
            <a:pPr>
              <a:lnSpc>
                <a:spcPct val="125000"/>
              </a:lnSpc>
              <a:spcAft>
                <a:spcPts val="1000"/>
              </a:spcAft>
            </a:pPr>
            <a:r>
              <a:rPr sz="1250" b="0">
                <a:solidFill>
                  <a:srgbClr val="262626"/>
                </a:solidFill>
                <a:latin typeface="Yu Gothic"/>
              </a:rPr>
              <a:t>● DLPポリシーはコスト負担なしで</a:t>
            </a:r>
            <a:br/>
            <a:r>
              <a:rPr sz="1250" b="0">
                <a:solidFill>
                  <a:srgbClr val="262626"/>
                </a:solidFill>
                <a:latin typeface="Yu Gothic"/>
              </a:rPr>
              <a:t>即座に導入できる統制手段</a:t>
            </a:r>
          </a:p>
          <a:p>
            <a:pPr>
              <a:lnSpc>
                <a:spcPct val="125000"/>
              </a:lnSpc>
              <a:spcAft>
                <a:spcPts val="1000"/>
              </a:spcAft>
            </a:pPr>
            <a:r>
              <a:rPr sz="1250" b="0">
                <a:solidFill>
                  <a:srgbClr val="262626"/>
                </a:solidFill>
                <a:latin typeface="Yu Gothic"/>
              </a:rPr>
              <a:t>● ライセンス予算の議論を待たずに</a:t>
            </a:r>
            <a:br/>
            <a:r>
              <a:rPr sz="1250" b="0">
                <a:solidFill>
                  <a:srgbClr val="262626"/>
                </a:solidFill>
                <a:latin typeface="Yu Gothic"/>
              </a:rPr>
              <a:t>Default環境のガードレールを</a:t>
            </a:r>
            <a:br/>
            <a:r>
              <a:rPr sz="1250" b="0">
                <a:solidFill>
                  <a:srgbClr val="262626"/>
                </a:solidFill>
                <a:latin typeface="Yu Gothic"/>
              </a:rPr>
              <a:t>構築できる</a:t>
            </a:r>
          </a:p>
          <a:p>
            <a:pPr>
              <a:lnSpc>
                <a:spcPct val="125000"/>
              </a:lnSpc>
              <a:spcAft>
                <a:spcPts val="1000"/>
              </a:spcAft>
            </a:pPr>
            <a:r>
              <a:rPr sz="1250" b="0">
                <a:solidFill>
                  <a:srgbClr val="262626"/>
                </a:solidFill>
                <a:latin typeface="Yu Gothic"/>
              </a:rPr>
              <a:t>● マネージド環境化の是非（確認項目</a:t>
            </a:r>
            <a:br/>
            <a:r>
              <a:rPr sz="1250" b="0">
                <a:solidFill>
                  <a:srgbClr val="262626"/>
                </a:solidFill>
                <a:latin typeface="Yu Gothic"/>
              </a:rPr>
              <a:t>1・3）とは切り離して意思決定可能</a:t>
            </a:r>
          </a:p>
        </p:txBody>
      </p:sp>
      <p:sp>
        <p:nvSpPr>
          <p:cNvPr id="12" name="TextBox 11"/>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3" name="TextBox 12"/>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6</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⑥ 設定可能な場合の実施手順の概要</a:t>
            </a:r>
          </a:p>
        </p:txBody>
      </p:sp>
      <p:sp>
        <p:nvSpPr>
          <p:cNvPr id="6" name="Rounded Rectangle 5"/>
          <p:cNvSpPr/>
          <p:nvPr/>
        </p:nvSpPr>
        <p:spPr>
          <a:xfrm>
            <a:off x="502920" y="1298448"/>
            <a:ext cx="1737360" cy="457200"/>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2E5AAC"/>
                </a:solidFill>
                <a:latin typeface="Yu Gothic"/>
              </a:rPr>
              <a:t>判定：手順あり</a:t>
            </a:r>
          </a:p>
        </p:txBody>
      </p:sp>
      <p:sp>
        <p:nvSpPr>
          <p:cNvPr id="7" name="Oval 6"/>
          <p:cNvSpPr/>
          <p:nvPr/>
        </p:nvSpPr>
        <p:spPr>
          <a:xfrm>
            <a:off x="502920" y="2011680"/>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057400"/>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1</a:t>
            </a:r>
          </a:p>
        </p:txBody>
      </p:sp>
      <p:sp>
        <p:nvSpPr>
          <p:cNvPr id="9" name="TextBox 8"/>
          <p:cNvSpPr txBox="1"/>
          <p:nvPr/>
        </p:nvSpPr>
        <p:spPr>
          <a:xfrm>
            <a:off x="1051560" y="1993392"/>
            <a:ext cx="4480560" cy="457200"/>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Power Platform 管理センターにアクセス</a:t>
            </a:r>
          </a:p>
        </p:txBody>
      </p:sp>
      <p:sp>
        <p:nvSpPr>
          <p:cNvPr id="10" name="TextBox 9"/>
          <p:cNvSpPr txBox="1"/>
          <p:nvPr/>
        </p:nvSpPr>
        <p:spPr>
          <a:xfrm>
            <a:off x="5669280" y="1993392"/>
            <a:ext cx="6035040" cy="566928"/>
          </a:xfrm>
          <a:prstGeom prst="rect">
            <a:avLst/>
          </a:prstGeom>
          <a:noFill/>
        </p:spPr>
        <p:txBody>
          <a:bodyPr wrap="square" anchor="t" lIns="0" rIns="0" tIns="0" bIns="0">
            <a:spAutoFit/>
          </a:bodyPr>
          <a:lstStyle/>
          <a:p>
            <a:pPr algn="l">
              <a:lnSpc>
                <a:spcPct val="105000"/>
              </a:lnSpc>
            </a:pPr>
            <a:r>
              <a:rPr sz="1080" b="0" i="0">
                <a:solidFill>
                  <a:srgbClr val="262626"/>
                </a:solidFill>
                <a:latin typeface="Yu Gothic"/>
              </a:rPr>
              <a:t>Power Platform 管理者 または テナント管理者としてサインイン</a:t>
            </a:r>
          </a:p>
          <a:p>
            <a:pPr algn="l">
              <a:lnSpc>
                <a:spcPct val="105000"/>
              </a:lnSpc>
            </a:pPr>
            <a:r>
              <a:rPr sz="1080" b="0" i="0">
                <a:solidFill>
                  <a:srgbClr val="262626"/>
                </a:solidFill>
                <a:latin typeface="Yu Gothic"/>
              </a:rPr>
              <a:t>（admin.powerplatform.microsoft.com）</a:t>
            </a:r>
          </a:p>
        </p:txBody>
      </p:sp>
      <p:sp>
        <p:nvSpPr>
          <p:cNvPr id="11" name="Rectangle 10"/>
          <p:cNvSpPr/>
          <p:nvPr/>
        </p:nvSpPr>
        <p:spPr>
          <a:xfrm>
            <a:off x="685800" y="2395728"/>
            <a:ext cx="19050" cy="31089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02920" y="2724912"/>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770632"/>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2</a:t>
            </a:r>
          </a:p>
        </p:txBody>
      </p:sp>
      <p:sp>
        <p:nvSpPr>
          <p:cNvPr id="14" name="TextBox 13"/>
          <p:cNvSpPr txBox="1"/>
          <p:nvPr/>
        </p:nvSpPr>
        <p:spPr>
          <a:xfrm>
            <a:off x="1051560" y="2706624"/>
            <a:ext cx="4480560" cy="457200"/>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［セキュリティ］→［データとプライバシー］を開く</a:t>
            </a:r>
          </a:p>
        </p:txBody>
      </p:sp>
      <p:sp>
        <p:nvSpPr>
          <p:cNvPr id="15" name="TextBox 14"/>
          <p:cNvSpPr txBox="1"/>
          <p:nvPr/>
        </p:nvSpPr>
        <p:spPr>
          <a:xfrm>
            <a:off x="5669280" y="2706624"/>
            <a:ext cx="6035040" cy="566928"/>
          </a:xfrm>
          <a:prstGeom prst="rect">
            <a:avLst/>
          </a:prstGeom>
          <a:noFill/>
        </p:spPr>
        <p:txBody>
          <a:bodyPr wrap="square" anchor="t" lIns="0" rIns="0" tIns="0" bIns="0">
            <a:spAutoFit/>
          </a:bodyPr>
          <a:lstStyle/>
          <a:p>
            <a:pPr algn="l">
              <a:lnSpc>
                <a:spcPct val="105000"/>
              </a:lnSpc>
            </a:pPr>
            <a:r>
              <a:rPr sz="1080" b="0" i="0">
                <a:solidFill>
                  <a:srgbClr val="262626"/>
                </a:solidFill>
                <a:latin typeface="Yu Gothic"/>
              </a:rPr>
              <a:t>左メニュー［セキュリティ］→ 設定内の［データとプライバシー］→</a:t>
            </a:r>
          </a:p>
          <a:p>
            <a:pPr algn="l">
              <a:lnSpc>
                <a:spcPct val="105000"/>
              </a:lnSpc>
            </a:pPr>
            <a:r>
              <a:rPr sz="1080" b="0" i="0">
                <a:solidFill>
                  <a:srgbClr val="262626"/>
                </a:solidFill>
                <a:latin typeface="Yu Gothic"/>
              </a:rPr>
              <a:t>［データ ポリシー］を選択</a:t>
            </a:r>
          </a:p>
        </p:txBody>
      </p:sp>
      <p:sp>
        <p:nvSpPr>
          <p:cNvPr id="16" name="Rectangle 15"/>
          <p:cNvSpPr/>
          <p:nvPr/>
        </p:nvSpPr>
        <p:spPr>
          <a:xfrm>
            <a:off x="685800" y="3108960"/>
            <a:ext cx="19050" cy="31089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02920" y="3438144"/>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483864"/>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3</a:t>
            </a:r>
          </a:p>
        </p:txBody>
      </p:sp>
      <p:sp>
        <p:nvSpPr>
          <p:cNvPr id="19" name="TextBox 18"/>
          <p:cNvSpPr txBox="1"/>
          <p:nvPr/>
        </p:nvSpPr>
        <p:spPr>
          <a:xfrm>
            <a:off x="1051560" y="3419856"/>
            <a:ext cx="4480560" cy="457200"/>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新しいポリシーを作成しスコープを設定</a:t>
            </a:r>
          </a:p>
        </p:txBody>
      </p:sp>
      <p:sp>
        <p:nvSpPr>
          <p:cNvPr id="20" name="TextBox 19"/>
          <p:cNvSpPr txBox="1"/>
          <p:nvPr/>
        </p:nvSpPr>
        <p:spPr>
          <a:xfrm>
            <a:off x="5669280" y="3419856"/>
            <a:ext cx="6035040" cy="566928"/>
          </a:xfrm>
          <a:prstGeom prst="rect">
            <a:avLst/>
          </a:prstGeom>
          <a:noFill/>
        </p:spPr>
        <p:txBody>
          <a:bodyPr wrap="square" anchor="t" lIns="0" rIns="0" tIns="0" bIns="0">
            <a:spAutoFit/>
          </a:bodyPr>
          <a:lstStyle/>
          <a:p>
            <a:pPr algn="l">
              <a:lnSpc>
                <a:spcPct val="105000"/>
              </a:lnSpc>
            </a:pPr>
            <a:r>
              <a:rPr sz="1080" b="0" i="0">
                <a:solidFill>
                  <a:srgbClr val="262626"/>
                </a:solidFill>
                <a:latin typeface="Yu Gothic"/>
              </a:rPr>
              <a:t>ポリシー名を入力後、「特定の環境」としてDefault環境を選択</a:t>
            </a:r>
          </a:p>
          <a:p>
            <a:pPr algn="l">
              <a:lnSpc>
                <a:spcPct val="105000"/>
              </a:lnSpc>
            </a:pPr>
            <a:r>
              <a:rPr sz="1080" b="0" i="0">
                <a:solidFill>
                  <a:srgbClr val="262626"/>
                </a:solidFill>
                <a:latin typeface="Yu Gothic"/>
              </a:rPr>
              <a:t>（またはテナントレベルで全環境対象＋Default含める）</a:t>
            </a:r>
          </a:p>
        </p:txBody>
      </p:sp>
      <p:sp>
        <p:nvSpPr>
          <p:cNvPr id="21" name="Rectangle 20"/>
          <p:cNvSpPr/>
          <p:nvPr/>
        </p:nvSpPr>
        <p:spPr>
          <a:xfrm>
            <a:off x="685800" y="3822192"/>
            <a:ext cx="19050" cy="31089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02920" y="4151376"/>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4197096"/>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4</a:t>
            </a:r>
          </a:p>
        </p:txBody>
      </p:sp>
      <p:sp>
        <p:nvSpPr>
          <p:cNvPr id="24" name="TextBox 23"/>
          <p:cNvSpPr txBox="1"/>
          <p:nvPr/>
        </p:nvSpPr>
        <p:spPr>
          <a:xfrm>
            <a:off x="1051560" y="4133088"/>
            <a:ext cx="4480560" cy="457200"/>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コネクタを分類（ビジネス／非ビジネス／ブロック済み）</a:t>
            </a:r>
          </a:p>
        </p:txBody>
      </p:sp>
      <p:sp>
        <p:nvSpPr>
          <p:cNvPr id="25" name="TextBox 24"/>
          <p:cNvSpPr txBox="1"/>
          <p:nvPr/>
        </p:nvSpPr>
        <p:spPr>
          <a:xfrm>
            <a:off x="5669280" y="4133088"/>
            <a:ext cx="6035040" cy="566928"/>
          </a:xfrm>
          <a:prstGeom prst="rect">
            <a:avLst/>
          </a:prstGeom>
          <a:noFill/>
        </p:spPr>
        <p:txBody>
          <a:bodyPr wrap="square" anchor="t" lIns="0" rIns="0" tIns="0" bIns="0">
            <a:spAutoFit/>
          </a:bodyPr>
          <a:lstStyle/>
          <a:p>
            <a:pPr algn="l">
              <a:lnSpc>
                <a:spcPct val="105000"/>
              </a:lnSpc>
            </a:pPr>
            <a:r>
              <a:rPr sz="1080" b="0" i="0">
                <a:solidFill>
                  <a:srgbClr val="262626"/>
                </a:solidFill>
                <a:latin typeface="Yu Gothic"/>
              </a:rPr>
              <a:t>承認済み主要コネクタを「ビジネス」グループへ、</a:t>
            </a:r>
          </a:p>
          <a:p>
            <a:pPr algn="l">
              <a:lnSpc>
                <a:spcPct val="105000"/>
              </a:lnSpc>
            </a:pPr>
            <a:r>
              <a:rPr sz="1080" b="0" i="0">
                <a:solidFill>
                  <a:srgbClr val="262626"/>
                </a:solidFill>
                <a:latin typeface="Yu Gothic"/>
              </a:rPr>
              <a:t>その他ブロック可能なコネクタを「ブロック済み」グループへ振分け</a:t>
            </a:r>
          </a:p>
        </p:txBody>
      </p:sp>
      <p:sp>
        <p:nvSpPr>
          <p:cNvPr id="26" name="Rectangle 25"/>
          <p:cNvSpPr/>
          <p:nvPr/>
        </p:nvSpPr>
        <p:spPr>
          <a:xfrm>
            <a:off x="685800" y="4535424"/>
            <a:ext cx="19050" cy="31089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02920" y="4864608"/>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4910328"/>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5</a:t>
            </a:r>
          </a:p>
        </p:txBody>
      </p:sp>
      <p:sp>
        <p:nvSpPr>
          <p:cNvPr id="29" name="TextBox 28"/>
          <p:cNvSpPr txBox="1"/>
          <p:nvPr/>
        </p:nvSpPr>
        <p:spPr>
          <a:xfrm>
            <a:off x="1051560" y="4846320"/>
            <a:ext cx="4480560" cy="457200"/>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既定グループを「ブロック済み」に設定</a:t>
            </a:r>
          </a:p>
        </p:txBody>
      </p:sp>
      <p:sp>
        <p:nvSpPr>
          <p:cNvPr id="30" name="TextBox 29"/>
          <p:cNvSpPr txBox="1"/>
          <p:nvPr/>
        </p:nvSpPr>
        <p:spPr>
          <a:xfrm>
            <a:off x="5669280" y="4846320"/>
            <a:ext cx="6035040" cy="566928"/>
          </a:xfrm>
          <a:prstGeom prst="rect">
            <a:avLst/>
          </a:prstGeom>
          <a:noFill/>
        </p:spPr>
        <p:txBody>
          <a:bodyPr wrap="square" anchor="t" lIns="0" rIns="0" tIns="0" bIns="0">
            <a:spAutoFit/>
          </a:bodyPr>
          <a:lstStyle/>
          <a:p>
            <a:pPr algn="l">
              <a:lnSpc>
                <a:spcPct val="105000"/>
              </a:lnSpc>
            </a:pPr>
            <a:r>
              <a:rPr sz="1080" b="0" i="0">
                <a:solidFill>
                  <a:srgbClr val="262626"/>
                </a:solidFill>
                <a:latin typeface="Yu Gothic"/>
              </a:rPr>
              <a:t>新規追加されるコネクタは自動的に未承認状態＝利用不可とする</a:t>
            </a:r>
          </a:p>
        </p:txBody>
      </p:sp>
      <p:sp>
        <p:nvSpPr>
          <p:cNvPr id="31" name="Rectangle 30"/>
          <p:cNvSpPr/>
          <p:nvPr/>
        </p:nvSpPr>
        <p:spPr>
          <a:xfrm>
            <a:off x="685800" y="5248656"/>
            <a:ext cx="19050" cy="31089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02920" y="5577840"/>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5623560"/>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6</a:t>
            </a:r>
          </a:p>
        </p:txBody>
      </p:sp>
      <p:sp>
        <p:nvSpPr>
          <p:cNvPr id="34" name="TextBox 33"/>
          <p:cNvSpPr txBox="1"/>
          <p:nvPr/>
        </p:nvSpPr>
        <p:spPr>
          <a:xfrm>
            <a:off x="1051560" y="5559552"/>
            <a:ext cx="4480560" cy="457200"/>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レビュー・保存し、ポリシーを公開</a:t>
            </a:r>
          </a:p>
        </p:txBody>
      </p:sp>
      <p:sp>
        <p:nvSpPr>
          <p:cNvPr id="35" name="TextBox 34"/>
          <p:cNvSpPr txBox="1"/>
          <p:nvPr/>
        </p:nvSpPr>
        <p:spPr>
          <a:xfrm>
            <a:off x="5669280" y="5559552"/>
            <a:ext cx="6035040" cy="566928"/>
          </a:xfrm>
          <a:prstGeom prst="rect">
            <a:avLst/>
          </a:prstGeom>
          <a:noFill/>
        </p:spPr>
        <p:txBody>
          <a:bodyPr wrap="square" anchor="t" lIns="0" rIns="0" tIns="0" bIns="0">
            <a:spAutoFit/>
          </a:bodyPr>
          <a:lstStyle/>
          <a:p>
            <a:pPr algn="l">
              <a:lnSpc>
                <a:spcPct val="105000"/>
              </a:lnSpc>
            </a:pPr>
            <a:r>
              <a:rPr sz="1080" b="0" i="0">
                <a:solidFill>
                  <a:srgbClr val="262626"/>
                </a:solidFill>
                <a:latin typeface="Yu Gothic"/>
              </a:rPr>
              <a:t>影響を受けるアプリ/フローの一覧を確認のうえ公開</a:t>
            </a:r>
          </a:p>
        </p:txBody>
      </p:sp>
      <p:sp>
        <p:nvSpPr>
          <p:cNvPr id="36" name="TextBox 35"/>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37" name="TextBox 36"/>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7</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⑦ 制約がある場合の理由と代替案／現実的な利用制御方法</a:t>
            </a:r>
          </a:p>
        </p:txBody>
      </p:sp>
      <p:sp>
        <p:nvSpPr>
          <p:cNvPr id="6" name="Rounded Rectangle 5"/>
          <p:cNvSpPr/>
          <p:nvPr/>
        </p:nvSpPr>
        <p:spPr>
          <a:xfrm>
            <a:off x="502920" y="1188720"/>
            <a:ext cx="2011680" cy="365760"/>
          </a:xfrm>
          <a:prstGeom prst="roundRect">
            <a:avLst>
              <a:gd name="adj" fmla="val 50000"/>
            </a:avLst>
          </a:prstGeom>
          <a:solidFill>
            <a:srgbClr val="FCEED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86E00"/>
                </a:solidFill>
                <a:latin typeface="Yu Gothic"/>
              </a:rPr>
              <a:t>判定：制約あり</a:t>
            </a:r>
          </a:p>
        </p:txBody>
      </p:sp>
      <p:sp>
        <p:nvSpPr>
          <p:cNvPr id="7" name="Rectangle 6"/>
          <p:cNvSpPr/>
          <p:nvPr/>
        </p:nvSpPr>
        <p:spPr>
          <a:xfrm>
            <a:off x="502920" y="1645920"/>
            <a:ext cx="11201400" cy="141732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19072"/>
            <a:ext cx="10789920" cy="27432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なぜ実務上ハードルが高いか</a:t>
            </a:r>
          </a:p>
        </p:txBody>
      </p:sp>
      <p:sp>
        <p:nvSpPr>
          <p:cNvPr id="9" name="TextBox 8"/>
          <p:cNvSpPr txBox="1"/>
          <p:nvPr/>
        </p:nvSpPr>
        <p:spPr>
          <a:xfrm>
            <a:off x="685800" y="2011680"/>
            <a:ext cx="10789920" cy="1005840"/>
          </a:xfrm>
          <a:prstGeom prst="rect">
            <a:avLst/>
          </a:prstGeom>
          <a:noFill/>
        </p:spPr>
        <p:txBody>
          <a:bodyPr wrap="square">
            <a:spAutoFit/>
          </a:bodyPr>
          <a:lstStyle/>
          <a:p>
            <a:pPr>
              <a:lnSpc>
                <a:spcPct val="110000"/>
              </a:lnSpc>
              <a:spcAft>
                <a:spcPts val="400"/>
              </a:spcAft>
            </a:pPr>
            <a:r>
              <a:rPr sz="1030" b="0">
                <a:solidFill>
                  <a:srgbClr val="262626"/>
                </a:solidFill>
                <a:latin typeface="Yu Gothic"/>
              </a:rPr>
              <a:t>● コスト：全社員分のPremiumライセンス費用（既存ライセンス比でE3は約1.6倍、E5は約1.3倍の負担目安。</a:t>
            </a:r>
            <a:br/>
            <a:r>
              <a:rPr sz="1030" b="0">
                <a:solidFill>
                  <a:srgbClr val="262626"/>
                </a:solidFill>
                <a:latin typeface="Yu Gothic"/>
              </a:rPr>
              <a:t>詳細は契約内容により要確認）</a:t>
            </a:r>
          </a:p>
          <a:p>
            <a:pPr>
              <a:lnSpc>
                <a:spcPct val="110000"/>
              </a:lnSpc>
              <a:spcAft>
                <a:spcPts val="400"/>
              </a:spcAft>
            </a:pPr>
            <a:r>
              <a:rPr sz="1030" b="0">
                <a:solidFill>
                  <a:srgbClr val="262626"/>
                </a:solidFill>
                <a:latin typeface="Yu Gothic"/>
              </a:rPr>
              <a:t>● 予算承認：全社規模のライセンス契約見直し・予算承認プロセスが必要</a:t>
            </a:r>
          </a:p>
          <a:p>
            <a:pPr>
              <a:lnSpc>
                <a:spcPct val="110000"/>
              </a:lnSpc>
              <a:spcAft>
                <a:spcPts val="400"/>
              </a:spcAft>
            </a:pPr>
            <a:r>
              <a:rPr sz="1030" b="0">
                <a:solidFill>
                  <a:srgbClr val="262626"/>
                </a:solidFill>
                <a:latin typeface="Yu Gothic"/>
              </a:rPr>
              <a:t>● 既存利用者への影響：Premium未取得のまま残る無償ユーザーがアクセス制限を受ける可能性</a:t>
            </a:r>
          </a:p>
        </p:txBody>
      </p:sp>
      <p:sp>
        <p:nvSpPr>
          <p:cNvPr id="10" name="Rectangle 9"/>
          <p:cNvSpPr/>
          <p:nvPr/>
        </p:nvSpPr>
        <p:spPr>
          <a:xfrm>
            <a:off x="502920" y="3200400"/>
            <a:ext cx="5532120" cy="15087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532120" cy="64008"/>
          </a:xfrm>
          <a:prstGeom prst="rect">
            <a:avLst/>
          </a:prstGeom>
          <a:solidFill>
            <a:srgbClr val="1E8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3319272"/>
            <a:ext cx="5202936" cy="38404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環境ルーティング</a:t>
            </a:r>
          </a:p>
          <a:p>
            <a:pPr algn="l">
              <a:lnSpc>
                <a:spcPct val="100000"/>
              </a:lnSpc>
            </a:pPr>
            <a:r>
              <a:rPr sz="1200" b="1" i="0">
                <a:solidFill>
                  <a:srgbClr val="1B2A4A"/>
                </a:solidFill>
                <a:latin typeface="Yu Gothic"/>
              </a:rPr>
              <a:t>(Environment Routing)</a:t>
            </a:r>
          </a:p>
        </p:txBody>
      </p:sp>
      <p:sp>
        <p:nvSpPr>
          <p:cNvPr id="13" name="TextBox 12"/>
          <p:cNvSpPr txBox="1"/>
          <p:nvPr/>
        </p:nvSpPr>
        <p:spPr>
          <a:xfrm>
            <a:off x="667512" y="3703320"/>
            <a:ext cx="5202936" cy="914400"/>
          </a:xfrm>
          <a:prstGeom prst="rect">
            <a:avLst/>
          </a:prstGeom>
          <a:noFill/>
        </p:spPr>
        <p:txBody>
          <a:bodyPr wrap="square" anchor="t" lIns="0" rIns="0" tIns="0" bIns="0">
            <a:spAutoFit/>
          </a:bodyPr>
          <a:lstStyle/>
          <a:p>
            <a:pPr algn="l">
              <a:lnSpc>
                <a:spcPct val="110000"/>
              </a:lnSpc>
            </a:pPr>
            <a:r>
              <a:rPr sz="980" b="0" i="0">
                <a:solidFill>
                  <a:srgbClr val="262626"/>
                </a:solidFill>
                <a:latin typeface="Yu Gothic"/>
              </a:rPr>
              <a:t>Copilot Studio／Power Apps／Power Automateへの新規アクセス時、メーカーをDefault環境ではなく個人用開発環境（本人専用に分離され、他ユーザーに影響しない環境）へ自動的に誘導し、意図しない作成を抑制する。</a:t>
            </a:r>
          </a:p>
        </p:txBody>
      </p:sp>
      <p:sp>
        <p:nvSpPr>
          <p:cNvPr id="14" name="Rectangle 13"/>
          <p:cNvSpPr/>
          <p:nvPr/>
        </p:nvSpPr>
        <p:spPr>
          <a:xfrm>
            <a:off x="6153912" y="3200400"/>
            <a:ext cx="5532120" cy="15087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53912" y="3200400"/>
            <a:ext cx="5532120" cy="64008"/>
          </a:xfrm>
          <a:prstGeom prst="rect">
            <a:avLst/>
          </a:prstGeom>
          <a:solidFill>
            <a:srgbClr val="1E8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18504" y="3319272"/>
            <a:ext cx="5202936" cy="38404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Default環境専用DLPポリシー</a:t>
            </a:r>
          </a:p>
        </p:txBody>
      </p:sp>
      <p:sp>
        <p:nvSpPr>
          <p:cNvPr id="17" name="TextBox 16"/>
          <p:cNvSpPr txBox="1"/>
          <p:nvPr/>
        </p:nvSpPr>
        <p:spPr>
          <a:xfrm>
            <a:off x="6318504" y="3703320"/>
            <a:ext cx="5202936" cy="914400"/>
          </a:xfrm>
          <a:prstGeom prst="rect">
            <a:avLst/>
          </a:prstGeom>
          <a:noFill/>
        </p:spPr>
        <p:txBody>
          <a:bodyPr wrap="square" anchor="t" lIns="0" rIns="0" tIns="0" bIns="0">
            <a:spAutoFit/>
          </a:bodyPr>
          <a:lstStyle/>
          <a:p>
            <a:pPr algn="l">
              <a:lnSpc>
                <a:spcPct val="110000"/>
              </a:lnSpc>
            </a:pPr>
            <a:r>
              <a:rPr sz="980" b="0" i="0">
                <a:solidFill>
                  <a:srgbClr val="262626"/>
                </a:solidFill>
                <a:latin typeface="Yu Gothic"/>
              </a:rPr>
              <a:t>確認項目2・5のとおり追加ライセンス不要で即時導入可能。コネクタ既定を「ブロック済み」にする方式がMS推奨のベストプラクティス。</a:t>
            </a:r>
          </a:p>
        </p:txBody>
      </p:sp>
      <p:sp>
        <p:nvSpPr>
          <p:cNvPr id="18" name="Rectangle 17"/>
          <p:cNvSpPr/>
          <p:nvPr/>
        </p:nvSpPr>
        <p:spPr>
          <a:xfrm>
            <a:off x="502920" y="4828032"/>
            <a:ext cx="5532120" cy="15087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28032"/>
            <a:ext cx="5532120" cy="64008"/>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4946904"/>
            <a:ext cx="5202936" cy="38404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環境グループ＋ルール</a:t>
            </a:r>
          </a:p>
          <a:p>
            <a:pPr algn="l">
              <a:lnSpc>
                <a:spcPct val="100000"/>
              </a:lnSpc>
            </a:pPr>
            <a:r>
              <a:rPr sz="1200" b="1" i="0">
                <a:solidFill>
                  <a:srgbClr val="1B2A4A"/>
                </a:solidFill>
                <a:latin typeface="Yu Gothic"/>
              </a:rPr>
              <a:t>(Environment Groups)</a:t>
            </a:r>
          </a:p>
        </p:txBody>
      </p:sp>
      <p:sp>
        <p:nvSpPr>
          <p:cNvPr id="21" name="TextBox 20"/>
          <p:cNvSpPr txBox="1"/>
          <p:nvPr/>
        </p:nvSpPr>
        <p:spPr>
          <a:xfrm>
            <a:off x="667512" y="5330952"/>
            <a:ext cx="5202936" cy="914400"/>
          </a:xfrm>
          <a:prstGeom prst="rect">
            <a:avLst/>
          </a:prstGeom>
          <a:noFill/>
        </p:spPr>
        <p:txBody>
          <a:bodyPr wrap="square" anchor="t" lIns="0" rIns="0" tIns="0" bIns="0">
            <a:spAutoFit/>
          </a:bodyPr>
          <a:lstStyle/>
          <a:p>
            <a:pPr algn="l">
              <a:lnSpc>
                <a:spcPct val="110000"/>
              </a:lnSpc>
            </a:pPr>
            <a:r>
              <a:rPr sz="980" b="0" i="0">
                <a:solidFill>
                  <a:srgbClr val="262626"/>
                </a:solidFill>
                <a:latin typeface="Yu Gothic"/>
              </a:rPr>
              <a:t>複数の環境をグループ化し、共有制限・データ保持期間・AI機能有効化等の設定ルールを一括適用・強制する仕組み（DLPポリシーとは別の統治手段）。例：本番環境群をまとめて同一の共有制限で管理。</a:t>
            </a:r>
          </a:p>
        </p:txBody>
      </p:sp>
      <p:sp>
        <p:nvSpPr>
          <p:cNvPr id="22" name="Rectangle 21"/>
          <p:cNvSpPr/>
          <p:nvPr/>
        </p:nvSpPr>
        <p:spPr>
          <a:xfrm>
            <a:off x="6153912" y="4828032"/>
            <a:ext cx="5532120" cy="15087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53912" y="4828032"/>
            <a:ext cx="5532120" cy="64008"/>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8504" y="4946904"/>
            <a:ext cx="5202936" cy="38404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高利用度アプリの専用環境への移行</a:t>
            </a:r>
          </a:p>
        </p:txBody>
      </p:sp>
      <p:sp>
        <p:nvSpPr>
          <p:cNvPr id="25" name="TextBox 24"/>
          <p:cNvSpPr txBox="1"/>
          <p:nvPr/>
        </p:nvSpPr>
        <p:spPr>
          <a:xfrm>
            <a:off x="6318504" y="5330952"/>
            <a:ext cx="5202936" cy="914400"/>
          </a:xfrm>
          <a:prstGeom prst="rect">
            <a:avLst/>
          </a:prstGeom>
          <a:noFill/>
        </p:spPr>
        <p:txBody>
          <a:bodyPr wrap="square" anchor="t" lIns="0" rIns="0" tIns="0" bIns="0">
            <a:spAutoFit/>
          </a:bodyPr>
          <a:lstStyle/>
          <a:p>
            <a:pPr algn="l">
              <a:lnSpc>
                <a:spcPct val="110000"/>
              </a:lnSpc>
            </a:pPr>
            <a:r>
              <a:rPr sz="980" b="0" i="0">
                <a:solidFill>
                  <a:srgbClr val="262626"/>
                </a:solidFill>
                <a:latin typeface="Yu Gothic"/>
              </a:rPr>
              <a:t>複数テナントの話ではない。同一テナント内にDefault環境とは別の環境を新設し、そこだけをマネージド環境化して重要アプリ／フローを移行し、Premium対象を必要な範囲に限定する。</a:t>
            </a:r>
          </a:p>
        </p:txBody>
      </p:sp>
      <p:sp>
        <p:nvSpPr>
          <p:cNvPr id="26" name="TextBox 25"/>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7" name="TextBox 26"/>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RISKS &amp; CAVEATS</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リスク・留意事項</a:t>
            </a:r>
          </a:p>
        </p:txBody>
      </p:sp>
      <p:sp>
        <p:nvSpPr>
          <p:cNvPr id="6" name="Rectangle 5"/>
          <p:cNvSpPr/>
          <p:nvPr/>
        </p:nvSpPr>
        <p:spPr>
          <a:xfrm>
            <a:off x="502920" y="1207008"/>
            <a:ext cx="11201400" cy="93268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07008"/>
            <a:ext cx="91440" cy="93268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80160"/>
            <a:ext cx="10698480" cy="256032"/>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ライセンスコンプライアンス強化の流れ</a:t>
            </a:r>
          </a:p>
        </p:txBody>
      </p:sp>
      <p:sp>
        <p:nvSpPr>
          <p:cNvPr id="9" name="TextBox 8"/>
          <p:cNvSpPr txBox="1"/>
          <p:nvPr/>
        </p:nvSpPr>
        <p:spPr>
          <a:xfrm>
            <a:off x="777240" y="1554480"/>
            <a:ext cx="10698480" cy="530352"/>
          </a:xfrm>
          <a:prstGeom prst="rect">
            <a:avLst/>
          </a:prstGeom>
          <a:noFill/>
        </p:spPr>
        <p:txBody>
          <a:bodyPr wrap="square" anchor="t" lIns="0" rIns="0" tIns="0" bIns="0">
            <a:spAutoFit/>
          </a:bodyPr>
          <a:lstStyle/>
          <a:p>
            <a:pPr algn="l">
              <a:lnSpc>
                <a:spcPct val="110000"/>
              </a:lnSpc>
            </a:pPr>
            <a:r>
              <a:rPr sz="1000" b="0" i="0">
                <a:solidFill>
                  <a:srgbClr val="262626"/>
                </a:solidFill>
                <a:latin typeface="Yu Gothic"/>
              </a:rPr>
              <a:t>2026年3月から管理者に、6月からエンドユーザーに、対象ライセンスなしでマネージド環境を利用している旨の通知が画面に表示されるようになる。現時点は警告のみだが、将来的に利用制限へ発展する可能性がある。</a:t>
            </a:r>
          </a:p>
        </p:txBody>
      </p:sp>
      <p:sp>
        <p:nvSpPr>
          <p:cNvPr id="10" name="Rectangle 9"/>
          <p:cNvSpPr/>
          <p:nvPr/>
        </p:nvSpPr>
        <p:spPr>
          <a:xfrm>
            <a:off x="502920" y="2185416"/>
            <a:ext cx="11201400" cy="93268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85416"/>
            <a:ext cx="91440" cy="93268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258568"/>
            <a:ext cx="10698480" cy="256032"/>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ブロック不可コネクタの存在</a:t>
            </a:r>
          </a:p>
        </p:txBody>
      </p:sp>
      <p:sp>
        <p:nvSpPr>
          <p:cNvPr id="13" name="TextBox 12"/>
          <p:cNvSpPr txBox="1"/>
          <p:nvPr/>
        </p:nvSpPr>
        <p:spPr>
          <a:xfrm>
            <a:off x="777240" y="2532888"/>
            <a:ext cx="10698480" cy="530352"/>
          </a:xfrm>
          <a:prstGeom prst="rect">
            <a:avLst/>
          </a:prstGeom>
          <a:noFill/>
        </p:spPr>
        <p:txBody>
          <a:bodyPr wrap="square" anchor="t" lIns="0" rIns="0" tIns="0" bIns="0">
            <a:spAutoFit/>
          </a:bodyPr>
          <a:lstStyle/>
          <a:p>
            <a:pPr algn="l">
              <a:lnSpc>
                <a:spcPct val="110000"/>
              </a:lnSpc>
            </a:pPr>
            <a:r>
              <a:rPr sz="1000" b="0" i="0">
                <a:solidFill>
                  <a:srgbClr val="262626"/>
                </a:solidFill>
                <a:latin typeface="Yu Gothic"/>
              </a:rPr>
              <a:t>Office 365 Outlook、SharePoint、Microsoft Teams等はブロック不可コネクタに指定されている。外部への情報持ち出しを防ぎたい場合でも、これらを使った標準的なメール送信やファイル共有自体をDLPポリシーだけで完全に止めることはできない（Exchange管理者側の転送ルール等、別の統制で補完する必要がある）。</a:t>
            </a:r>
          </a:p>
        </p:txBody>
      </p:sp>
      <p:sp>
        <p:nvSpPr>
          <p:cNvPr id="14" name="Rectangle 13"/>
          <p:cNvSpPr/>
          <p:nvPr/>
        </p:nvSpPr>
        <p:spPr>
          <a:xfrm>
            <a:off x="502920" y="3163824"/>
            <a:ext cx="11201400" cy="93268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163824"/>
            <a:ext cx="91440" cy="93268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236976"/>
            <a:ext cx="10698480" cy="256032"/>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DLPポリシー導入自体の留意点</a:t>
            </a:r>
          </a:p>
        </p:txBody>
      </p:sp>
      <p:sp>
        <p:nvSpPr>
          <p:cNvPr id="17" name="TextBox 16"/>
          <p:cNvSpPr txBox="1"/>
          <p:nvPr/>
        </p:nvSpPr>
        <p:spPr>
          <a:xfrm>
            <a:off x="777240" y="3511296"/>
            <a:ext cx="10698480" cy="530352"/>
          </a:xfrm>
          <a:prstGeom prst="rect">
            <a:avLst/>
          </a:prstGeom>
          <a:noFill/>
        </p:spPr>
        <p:txBody>
          <a:bodyPr wrap="square" anchor="t" lIns="0" rIns="0" tIns="0" bIns="0">
            <a:spAutoFit/>
          </a:bodyPr>
          <a:lstStyle/>
          <a:p>
            <a:pPr algn="l">
              <a:lnSpc>
                <a:spcPct val="110000"/>
              </a:lnSpc>
            </a:pPr>
            <a:r>
              <a:rPr sz="1000" b="0" i="0">
                <a:solidFill>
                  <a:srgbClr val="262626"/>
                </a:solidFill>
                <a:latin typeface="Yu Gothic"/>
              </a:rPr>
              <a:t>①ポリシー変更後に新たにブロックされる接続を含む既存アプリ/フローは、事前の影響分析なしに適用すると動作しなくなる恐れがある　②新規コネクタが継続的にリリースされるため分類の継続的なメンテナンスが必要　③エラーに直面した利用者からの問い合わせ対応コストが発生する</a:t>
            </a:r>
          </a:p>
        </p:txBody>
      </p:sp>
      <p:sp>
        <p:nvSpPr>
          <p:cNvPr id="18" name="Rectangle 17"/>
          <p:cNvSpPr/>
          <p:nvPr/>
        </p:nvSpPr>
        <p:spPr>
          <a:xfrm>
            <a:off x="502920" y="4142232"/>
            <a:ext cx="11201400" cy="93268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142232"/>
            <a:ext cx="91440" cy="93268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15384"/>
            <a:ext cx="10698480" cy="256032"/>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ユーザー影響への配慮</a:t>
            </a:r>
          </a:p>
        </p:txBody>
      </p:sp>
      <p:sp>
        <p:nvSpPr>
          <p:cNvPr id="21" name="TextBox 20"/>
          <p:cNvSpPr txBox="1"/>
          <p:nvPr/>
        </p:nvSpPr>
        <p:spPr>
          <a:xfrm>
            <a:off x="777240" y="4489704"/>
            <a:ext cx="10698480" cy="530352"/>
          </a:xfrm>
          <a:prstGeom prst="rect">
            <a:avLst/>
          </a:prstGeom>
          <a:noFill/>
        </p:spPr>
        <p:txBody>
          <a:bodyPr wrap="square" anchor="t" lIns="0" rIns="0" tIns="0" bIns="0">
            <a:spAutoFit/>
          </a:bodyPr>
          <a:lstStyle/>
          <a:p>
            <a:pPr algn="l">
              <a:lnSpc>
                <a:spcPct val="110000"/>
              </a:lnSpc>
            </a:pPr>
            <a:r>
              <a:rPr sz="1000" b="0" i="0">
                <a:solidFill>
                  <a:srgbClr val="262626"/>
                </a:solidFill>
                <a:latin typeface="Yu Gothic"/>
              </a:rPr>
              <a:t>DLPポリシーの厳格化・環境ルーティングの導入は既存の正当な業務利用者の体験に影響し得るため、事前告知とエラーメッセージのカスタマイズで移行摩擦を軽減する。</a:t>
            </a:r>
          </a:p>
        </p:txBody>
      </p:sp>
      <p:sp>
        <p:nvSpPr>
          <p:cNvPr id="22" name="Rectangle 21"/>
          <p:cNvSpPr/>
          <p:nvPr/>
        </p:nvSpPr>
        <p:spPr>
          <a:xfrm>
            <a:off x="502920" y="5120640"/>
            <a:ext cx="11201400" cy="93268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5120640"/>
            <a:ext cx="91440" cy="93268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193792"/>
            <a:ext cx="10698480" cy="256032"/>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情報の鮮度</a:t>
            </a:r>
          </a:p>
        </p:txBody>
      </p:sp>
      <p:sp>
        <p:nvSpPr>
          <p:cNvPr id="25" name="TextBox 24"/>
          <p:cNvSpPr txBox="1"/>
          <p:nvPr/>
        </p:nvSpPr>
        <p:spPr>
          <a:xfrm>
            <a:off x="777240" y="5468112"/>
            <a:ext cx="10698480" cy="530352"/>
          </a:xfrm>
          <a:prstGeom prst="rect">
            <a:avLst/>
          </a:prstGeom>
          <a:noFill/>
        </p:spPr>
        <p:txBody>
          <a:bodyPr wrap="square" anchor="t" lIns="0" rIns="0" tIns="0" bIns="0">
            <a:spAutoFit/>
          </a:bodyPr>
          <a:lstStyle/>
          <a:p>
            <a:pPr algn="l">
              <a:lnSpc>
                <a:spcPct val="110000"/>
              </a:lnSpc>
            </a:pPr>
            <a:r>
              <a:rPr sz="1000" b="0" i="0">
                <a:solidFill>
                  <a:srgbClr val="262626"/>
                </a:solidFill>
                <a:latin typeface="Yu Gothic"/>
              </a:rPr>
              <a:t>Power PlatformのライセンスポリシーおよびManaged Environment機能は継続的に更新されており、実施前に最新のMicrosoft Learn情報の再確認を推奨する。</a:t>
            </a:r>
          </a:p>
        </p:txBody>
      </p:sp>
      <p:sp>
        <p:nvSpPr>
          <p:cNvPr id="26" name="TextBox 25"/>
          <p:cNvSpPr txBox="1"/>
          <p:nvPr/>
        </p:nvSpPr>
        <p:spPr>
          <a:xfrm>
            <a:off x="502920" y="6400800"/>
            <a:ext cx="11155680" cy="182880"/>
          </a:xfrm>
          <a:prstGeom prst="rect">
            <a:avLst/>
          </a:prstGeom>
          <a:noFill/>
        </p:spPr>
        <p:txBody>
          <a:bodyPr wrap="square" anchor="t" lIns="0" rIns="0" tIns="0" bIns="0">
            <a:spAutoFit/>
          </a:bodyPr>
          <a:lstStyle/>
          <a:p>
            <a:pPr algn="l">
              <a:lnSpc>
                <a:spcPct val="100000"/>
              </a:lnSpc>
            </a:pPr>
            <a:r>
              <a:rPr sz="900" b="0" i="1">
                <a:solidFill>
                  <a:srgbClr val="6E6E6E"/>
                </a:solidFill>
                <a:latin typeface="Yu Gothic"/>
              </a:rPr>
              <a:t>※ 各項目の根拠（公式ドキュメントの該当箇所・原文抜粋）は巻末Appendixに記載</a:t>
            </a:r>
          </a:p>
        </p:txBody>
      </p:sp>
      <p:sp>
        <p:nvSpPr>
          <p:cNvPr id="27" name="TextBox 26"/>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8" name="TextBox 27"/>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0" y="3246120"/>
            <a:ext cx="12191695" cy="54864"/>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0"/>
            <a:ext cx="10058400" cy="457200"/>
          </a:xfrm>
          <a:prstGeom prst="rect">
            <a:avLst/>
          </a:prstGeom>
          <a:noFill/>
        </p:spPr>
        <p:txBody>
          <a:bodyPr wrap="square" anchor="t" lIns="0" rIns="0" tIns="0" bIns="0">
            <a:spAutoFit/>
          </a:bodyPr>
          <a:lstStyle/>
          <a:p>
            <a:pPr algn="l">
              <a:lnSpc>
                <a:spcPct val="100000"/>
              </a:lnSpc>
            </a:pPr>
            <a:r>
              <a:rPr sz="1600" b="1" i="0">
                <a:solidFill>
                  <a:srgbClr val="B9C7E6"/>
                </a:solidFill>
                <a:latin typeface="Yu Gothic"/>
              </a:rPr>
              <a:t>APPENDIX</a:t>
            </a:r>
          </a:p>
        </p:txBody>
      </p:sp>
      <p:sp>
        <p:nvSpPr>
          <p:cNvPr id="4" name="TextBox 3"/>
          <p:cNvSpPr txBox="1"/>
          <p:nvPr/>
        </p:nvSpPr>
        <p:spPr>
          <a:xfrm>
            <a:off x="822960" y="3337560"/>
            <a:ext cx="1051560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Yu Gothic"/>
              </a:rPr>
              <a:t>根拠資料一覧</a:t>
            </a:r>
          </a:p>
        </p:txBody>
      </p:sp>
      <p:sp>
        <p:nvSpPr>
          <p:cNvPr id="5" name="TextBox 4"/>
          <p:cNvSpPr txBox="1"/>
          <p:nvPr/>
        </p:nvSpPr>
        <p:spPr>
          <a:xfrm>
            <a:off x="822960" y="4160520"/>
            <a:ext cx="10515600" cy="457200"/>
          </a:xfrm>
          <a:prstGeom prst="rect">
            <a:avLst/>
          </a:prstGeom>
          <a:noFill/>
        </p:spPr>
        <p:txBody>
          <a:bodyPr wrap="square" anchor="t" lIns="0" rIns="0" tIns="0" bIns="0">
            <a:spAutoFit/>
          </a:bodyPr>
          <a:lstStyle/>
          <a:p>
            <a:pPr algn="l">
              <a:lnSpc>
                <a:spcPct val="100000"/>
              </a:lnSpc>
            </a:pPr>
            <a:r>
              <a:rPr sz="1400" b="0" i="0">
                <a:solidFill>
                  <a:srgbClr val="CED8EE"/>
                </a:solidFill>
                <a:latin typeface="Yu Gothic"/>
              </a:rPr>
              <a:t>本文中の各判定・記述の根拠となったMicrosoft公式ドキュメント等のURL・該当箇所・原文抜粋</a:t>
            </a:r>
          </a:p>
        </p:txBody>
      </p:sp>
      <p:sp>
        <p:nvSpPr>
          <p:cNvPr id="6" name="TextBox 5"/>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7" name="TextBox 6"/>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APPENDIX</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Appendix A：確認項目①の根拠（マネージド環境化）</a:t>
            </a:r>
          </a:p>
        </p:txBody>
      </p:sp>
      <p:sp>
        <p:nvSpPr>
          <p:cNvPr id="6" name="Rectangle 5"/>
          <p:cNvSpPr/>
          <p:nvPr/>
        </p:nvSpPr>
        <p:spPr>
          <a:xfrm>
            <a:off x="502920" y="1325880"/>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17320"/>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Managed environments overview</a:t>
            </a:r>
          </a:p>
        </p:txBody>
      </p:sp>
      <p:sp>
        <p:nvSpPr>
          <p:cNvPr id="9" name="Rounded Rectangle 8"/>
          <p:cNvSpPr/>
          <p:nvPr/>
        </p:nvSpPr>
        <p:spPr>
          <a:xfrm>
            <a:off x="9875520" y="1417320"/>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P.5 対応</a:t>
            </a:r>
          </a:p>
        </p:txBody>
      </p:sp>
      <p:sp>
        <p:nvSpPr>
          <p:cNvPr id="10" name="TextBox 9"/>
          <p:cNvSpPr txBox="1"/>
          <p:nvPr/>
        </p:nvSpPr>
        <p:spPr>
          <a:xfrm>
            <a:off x="713232" y="1728216"/>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learn.microsoft.com/ja-jp/power-platform/admin/managed-environment-overview</a:t>
            </a:r>
          </a:p>
        </p:txBody>
      </p:sp>
      <p:sp>
        <p:nvSpPr>
          <p:cNvPr id="11" name="TextBox 10"/>
          <p:cNvSpPr txBox="1"/>
          <p:nvPr/>
        </p:nvSpPr>
        <p:spPr>
          <a:xfrm>
            <a:off x="713232" y="2002536"/>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原文：「Admins can use managed environments with any type of environment.」（管理者は環境の種類を問わずマネージド環境を利用できる）— Default環境も対象に含まれることの根拠。</a:t>
            </a:r>
          </a:p>
        </p:txBody>
      </p:sp>
      <p:sp>
        <p:nvSpPr>
          <p:cNvPr id="12" name="Rectangle 11"/>
          <p:cNvSpPr/>
          <p:nvPr/>
        </p:nvSpPr>
        <p:spPr>
          <a:xfrm>
            <a:off x="502920" y="3044952"/>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044952"/>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136392"/>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Enable managed environments</a:t>
            </a:r>
          </a:p>
        </p:txBody>
      </p:sp>
      <p:sp>
        <p:nvSpPr>
          <p:cNvPr id="15" name="Rounded Rectangle 14"/>
          <p:cNvSpPr/>
          <p:nvPr/>
        </p:nvSpPr>
        <p:spPr>
          <a:xfrm>
            <a:off x="9875520" y="3136392"/>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P.5 対応</a:t>
            </a:r>
          </a:p>
        </p:txBody>
      </p:sp>
      <p:sp>
        <p:nvSpPr>
          <p:cNvPr id="16" name="TextBox 15"/>
          <p:cNvSpPr txBox="1"/>
          <p:nvPr/>
        </p:nvSpPr>
        <p:spPr>
          <a:xfrm>
            <a:off x="713232" y="3447288"/>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learn.microsoft.com/ja-jp/power-platform/admin/managed-environment-enable</a:t>
            </a:r>
          </a:p>
        </p:txBody>
      </p:sp>
      <p:sp>
        <p:nvSpPr>
          <p:cNvPr id="17" name="TextBox 16"/>
          <p:cNvSpPr txBox="1"/>
          <p:nvPr/>
        </p:nvSpPr>
        <p:spPr>
          <a:xfrm>
            <a:off x="713232" y="3721608"/>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要旨：マネージド環境の有効化・編集には、Microsoft Entra IDでPower Platform Administrator または Dynamics 365 Administrator ロールが必要。環境一覧の操作メニューから［Enable Managed Environments］を選択して有効化する。</a:t>
            </a:r>
          </a:p>
        </p:txBody>
      </p:sp>
      <p:sp>
        <p:nvSpPr>
          <p:cNvPr id="18" name="Rectangle 17"/>
          <p:cNvSpPr/>
          <p:nvPr/>
        </p:nvSpPr>
        <p:spPr>
          <a:xfrm>
            <a:off x="502920" y="4764024"/>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764024"/>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855464"/>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Manage and govern the default environment</a:t>
            </a:r>
          </a:p>
        </p:txBody>
      </p:sp>
      <p:sp>
        <p:nvSpPr>
          <p:cNvPr id="21" name="Rounded Rectangle 20"/>
          <p:cNvSpPr/>
          <p:nvPr/>
        </p:nvSpPr>
        <p:spPr>
          <a:xfrm>
            <a:off x="9875520" y="4855464"/>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P.5・P.11 対応</a:t>
            </a:r>
          </a:p>
        </p:txBody>
      </p:sp>
      <p:sp>
        <p:nvSpPr>
          <p:cNvPr id="22" name="TextBox 21"/>
          <p:cNvSpPr txBox="1"/>
          <p:nvPr/>
        </p:nvSpPr>
        <p:spPr>
          <a:xfrm>
            <a:off x="713232" y="5166360"/>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learn.microsoft.com/ja-jp/power-platform/guidance/adoption/manage-default-environment</a:t>
            </a:r>
          </a:p>
        </p:txBody>
      </p:sp>
      <p:sp>
        <p:nvSpPr>
          <p:cNvPr id="23" name="TextBox 22"/>
          <p:cNvSpPr txBox="1"/>
          <p:nvPr/>
        </p:nvSpPr>
        <p:spPr>
          <a:xfrm>
            <a:off x="713232" y="5440680"/>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要旨：Default環境でもマネージド環境機能（共有制限・使用状況の分析情報・IP ファイアウォール等）を活用し、堅牢なセキュリティとガバナンスを維持することを推奨。一部コネクタは「ブロック不可」である旨も記載。</a:t>
            </a:r>
          </a:p>
        </p:txBody>
      </p:sp>
      <p:sp>
        <p:nvSpPr>
          <p:cNvPr id="24" name="TextBox 2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5" name="TextBox 2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APPENDIX</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Appendix B：確認項目②の根拠（DLPポリシー適用）</a:t>
            </a:r>
          </a:p>
        </p:txBody>
      </p:sp>
      <p:sp>
        <p:nvSpPr>
          <p:cNvPr id="6" name="Rectangle 5"/>
          <p:cNvSpPr/>
          <p:nvPr/>
        </p:nvSpPr>
        <p:spPr>
          <a:xfrm>
            <a:off x="502920" y="1325880"/>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17320"/>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Secure the default environment</a:t>
            </a:r>
          </a:p>
        </p:txBody>
      </p:sp>
      <p:sp>
        <p:nvSpPr>
          <p:cNvPr id="9" name="Rounded Rectangle 8"/>
          <p:cNvSpPr/>
          <p:nvPr/>
        </p:nvSpPr>
        <p:spPr>
          <a:xfrm>
            <a:off x="9875520" y="1417320"/>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P.6・P.11 対応</a:t>
            </a:r>
          </a:p>
        </p:txBody>
      </p:sp>
      <p:sp>
        <p:nvSpPr>
          <p:cNvPr id="10" name="TextBox 9"/>
          <p:cNvSpPr txBox="1"/>
          <p:nvPr/>
        </p:nvSpPr>
        <p:spPr>
          <a:xfrm>
            <a:off x="713232" y="1728216"/>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learn.microsoft.com/ja-jp/power-platform/guidance/adoption/secure-default-environment</a:t>
            </a:r>
          </a:p>
        </p:txBody>
      </p:sp>
      <p:sp>
        <p:nvSpPr>
          <p:cNvPr id="11" name="TextBox 10"/>
          <p:cNvSpPr txBox="1"/>
          <p:nvPr/>
        </p:nvSpPr>
        <p:spPr>
          <a:xfrm>
            <a:off x="713232" y="2002536"/>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原文：「Having a data policy in place is especially critical for the default environment.」（Default環境へのデータ ポリシー整備は特に重要）。新規コネクタの既定グループを「ブロック済み」に設定することを推奨。Set-PowerAppDlpErrorSettingsによるエラーメッセージのカスタマイズも案内。</a:t>
            </a:r>
          </a:p>
        </p:txBody>
      </p:sp>
      <p:sp>
        <p:nvSpPr>
          <p:cNvPr id="12" name="Rectangle 11"/>
          <p:cNvSpPr/>
          <p:nvPr/>
        </p:nvSpPr>
        <p:spPr>
          <a:xfrm>
            <a:off x="502920" y="3044952"/>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044952"/>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136392"/>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View policies and scope</a:t>
            </a:r>
          </a:p>
        </p:txBody>
      </p:sp>
      <p:sp>
        <p:nvSpPr>
          <p:cNvPr id="15" name="Rounded Rectangle 14"/>
          <p:cNvSpPr/>
          <p:nvPr/>
        </p:nvSpPr>
        <p:spPr>
          <a:xfrm>
            <a:off x="9875520" y="3136392"/>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P.6・P.9 対応</a:t>
            </a:r>
          </a:p>
        </p:txBody>
      </p:sp>
      <p:sp>
        <p:nvSpPr>
          <p:cNvPr id="16" name="TextBox 15"/>
          <p:cNvSpPr txBox="1"/>
          <p:nvPr/>
        </p:nvSpPr>
        <p:spPr>
          <a:xfrm>
            <a:off x="713232" y="3447288"/>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learn.microsoft.com/ja-jp/power-platform/admin/dlp-policy-scope</a:t>
            </a:r>
          </a:p>
        </p:txBody>
      </p:sp>
      <p:sp>
        <p:nvSpPr>
          <p:cNvPr id="17" name="TextBox 16"/>
          <p:cNvSpPr txBox="1"/>
          <p:nvPr/>
        </p:nvSpPr>
        <p:spPr>
          <a:xfrm>
            <a:off x="713232" y="3721608"/>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要旨：テナントレベルのデータポリシーは「全環境」「複数環境（一部を除く）」「特定環境を除く全環境」の3種類のスコープから選択して適用できる。</a:t>
            </a:r>
          </a:p>
        </p:txBody>
      </p:sp>
      <p:sp>
        <p:nvSpPr>
          <p:cNvPr id="18" name="Rectangle 17"/>
          <p:cNvSpPr/>
          <p:nvPr/>
        </p:nvSpPr>
        <p:spPr>
          <a:xfrm>
            <a:off x="502920" y="4764024"/>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764024"/>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855464"/>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Impact of data policies on apps and flows</a:t>
            </a:r>
          </a:p>
        </p:txBody>
      </p:sp>
      <p:sp>
        <p:nvSpPr>
          <p:cNvPr id="21" name="Rounded Rectangle 20"/>
          <p:cNvSpPr/>
          <p:nvPr/>
        </p:nvSpPr>
        <p:spPr>
          <a:xfrm>
            <a:off x="9875520" y="4855464"/>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P.8・P.11 対応</a:t>
            </a:r>
          </a:p>
        </p:txBody>
      </p:sp>
      <p:sp>
        <p:nvSpPr>
          <p:cNvPr id="22" name="TextBox 21"/>
          <p:cNvSpPr txBox="1"/>
          <p:nvPr/>
        </p:nvSpPr>
        <p:spPr>
          <a:xfrm>
            <a:off x="713232" y="5166360"/>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learn.microsoft.com/ja-jp/power-platform/admin/dlp-impact-policies-apps-flows</a:t>
            </a:r>
          </a:p>
        </p:txBody>
      </p:sp>
      <p:sp>
        <p:nvSpPr>
          <p:cNvPr id="23" name="TextBox 22"/>
          <p:cNvSpPr txBox="1"/>
          <p:nvPr/>
        </p:nvSpPr>
        <p:spPr>
          <a:xfrm>
            <a:off x="713232" y="5440680"/>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データポリシーに違反する接続の組み合わせを含むアプリ／フローは、設計時・実行時の両方でエラーとしてブロックされ、利用者のライセンス種別は問われない。ポリシー変更後に新たにブロック対象となった接続を含む既存資産は、事前の影響分析なしに適用すると動作しなくなり得る。</a:t>
            </a:r>
          </a:p>
        </p:txBody>
      </p:sp>
      <p:sp>
        <p:nvSpPr>
          <p:cNvPr id="24" name="TextBox 2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5" name="TextBox 2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APPENDIX</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Appendix C：確認項目③④⑤の根拠（ライセンス）</a:t>
            </a:r>
          </a:p>
        </p:txBody>
      </p:sp>
      <p:sp>
        <p:nvSpPr>
          <p:cNvPr id="6" name="Rectangle 5"/>
          <p:cNvSpPr/>
          <p:nvPr/>
        </p:nvSpPr>
        <p:spPr>
          <a:xfrm>
            <a:off x="502920" y="1325880"/>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17320"/>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Licensing（Managed Environments）</a:t>
            </a:r>
          </a:p>
        </p:txBody>
      </p:sp>
      <p:sp>
        <p:nvSpPr>
          <p:cNvPr id="9" name="Rounded Rectangle 8"/>
          <p:cNvSpPr/>
          <p:nvPr/>
        </p:nvSpPr>
        <p:spPr>
          <a:xfrm>
            <a:off x="9875520" y="1417320"/>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P.7・P.11 対応</a:t>
            </a:r>
          </a:p>
        </p:txBody>
      </p:sp>
      <p:sp>
        <p:nvSpPr>
          <p:cNvPr id="10" name="TextBox 9"/>
          <p:cNvSpPr txBox="1"/>
          <p:nvPr/>
        </p:nvSpPr>
        <p:spPr>
          <a:xfrm>
            <a:off x="713232" y="1728216"/>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learn.microsoft.com/ja-jp/power-platform/admin/managed-environment-licensing</a:t>
            </a:r>
          </a:p>
        </p:txBody>
      </p:sp>
      <p:sp>
        <p:nvSpPr>
          <p:cNvPr id="11" name="TextBox 10"/>
          <p:cNvSpPr txBox="1"/>
          <p:nvPr/>
        </p:nvSpPr>
        <p:spPr>
          <a:xfrm>
            <a:off x="713232" y="2002536"/>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原文：「When you activate managed environments in an environment, all active usage requires one of these standalone licenses or pay-as-you-go meters.」マネージド環境下でアプリ/フローを実行する全ユーザーが対象。2026年3月（管理者向け）・6月（エンドユーザー向け）に順次通知開始。</a:t>
            </a:r>
          </a:p>
        </p:txBody>
      </p:sp>
      <p:sp>
        <p:nvSpPr>
          <p:cNvPr id="12" name="Rectangle 11"/>
          <p:cNvSpPr/>
          <p:nvPr/>
        </p:nvSpPr>
        <p:spPr>
          <a:xfrm>
            <a:off x="502920" y="3044952"/>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044952"/>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136392"/>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Power Automate licensing FAQ</a:t>
            </a:r>
          </a:p>
        </p:txBody>
      </p:sp>
      <p:sp>
        <p:nvSpPr>
          <p:cNvPr id="15" name="Rounded Rectangle 14"/>
          <p:cNvSpPr/>
          <p:nvPr/>
        </p:nvSpPr>
        <p:spPr>
          <a:xfrm>
            <a:off x="9875520" y="3136392"/>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P.7 対応</a:t>
            </a:r>
          </a:p>
        </p:txBody>
      </p:sp>
      <p:sp>
        <p:nvSpPr>
          <p:cNvPr id="16" name="TextBox 15"/>
          <p:cNvSpPr txBox="1"/>
          <p:nvPr/>
        </p:nvSpPr>
        <p:spPr>
          <a:xfrm>
            <a:off x="713232" y="3447288"/>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learn.microsoft.com/ja-jp/power-platform/admin/power-automate-licensing/faqs</a:t>
            </a:r>
          </a:p>
        </p:txBody>
      </p:sp>
      <p:sp>
        <p:nvSpPr>
          <p:cNvPr id="17" name="TextBox 16"/>
          <p:cNvSpPr txBox="1"/>
          <p:nvPr/>
        </p:nvSpPr>
        <p:spPr>
          <a:xfrm>
            <a:off x="713232" y="3721608"/>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原文：「If an instant flow has premium connectors, every user who runs the flow needs a Power Automate Premium license.」— プレミアムコネクタを含むフローは実行者にもライセンスが必要。</a:t>
            </a:r>
          </a:p>
        </p:txBody>
      </p:sp>
      <p:sp>
        <p:nvSpPr>
          <p:cNvPr id="18" name="Rectangle 17"/>
          <p:cNvSpPr/>
          <p:nvPr/>
        </p:nvSpPr>
        <p:spPr>
          <a:xfrm>
            <a:off x="502920" y="4764024"/>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764024"/>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855464"/>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Manage data policies</a:t>
            </a:r>
          </a:p>
        </p:txBody>
      </p:sp>
      <p:sp>
        <p:nvSpPr>
          <p:cNvPr id="21" name="Rounded Rectangle 20"/>
          <p:cNvSpPr/>
          <p:nvPr/>
        </p:nvSpPr>
        <p:spPr>
          <a:xfrm>
            <a:off x="9875520" y="4855464"/>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P.8・P.9 対応</a:t>
            </a:r>
          </a:p>
        </p:txBody>
      </p:sp>
      <p:sp>
        <p:nvSpPr>
          <p:cNvPr id="22" name="TextBox 21"/>
          <p:cNvSpPr txBox="1"/>
          <p:nvPr/>
        </p:nvSpPr>
        <p:spPr>
          <a:xfrm>
            <a:off x="713232" y="5166360"/>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learn.microsoft.com/ja-jp/power-platform/admin/prevent-data-loss</a:t>
            </a:r>
          </a:p>
        </p:txBody>
      </p:sp>
      <p:sp>
        <p:nvSpPr>
          <p:cNvPr id="23" name="TextBox 22"/>
          <p:cNvSpPr txBox="1"/>
          <p:nvPr/>
        </p:nvSpPr>
        <p:spPr>
          <a:xfrm>
            <a:off x="713232" y="5440680"/>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要旨：データポリシーの作成・編集・削除には環境管理者またはPower Platform管理者の「権限」が必要（ライセンスではない）。コネクタは「ビジネス」「非ビジネス」「ブロック済み」に分類される。</a:t>
            </a:r>
          </a:p>
        </p:txBody>
      </p:sp>
      <p:sp>
        <p:nvSpPr>
          <p:cNvPr id="24" name="TextBox 2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5" name="TextBox 2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APPENDIX</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Appendix D：確認項目⑦の根拠（代替案・現実的な統制手段）</a:t>
            </a:r>
          </a:p>
        </p:txBody>
      </p:sp>
      <p:sp>
        <p:nvSpPr>
          <p:cNvPr id="6" name="Rectangle 5"/>
          <p:cNvSpPr/>
          <p:nvPr/>
        </p:nvSpPr>
        <p:spPr>
          <a:xfrm>
            <a:off x="502920" y="1325880"/>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17320"/>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Environment routing</a:t>
            </a:r>
          </a:p>
        </p:txBody>
      </p:sp>
      <p:sp>
        <p:nvSpPr>
          <p:cNvPr id="9" name="Rounded Rectangle 8"/>
          <p:cNvSpPr/>
          <p:nvPr/>
        </p:nvSpPr>
        <p:spPr>
          <a:xfrm>
            <a:off x="9875520" y="1417320"/>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P.10 対応</a:t>
            </a:r>
          </a:p>
        </p:txBody>
      </p:sp>
      <p:sp>
        <p:nvSpPr>
          <p:cNvPr id="10" name="TextBox 9"/>
          <p:cNvSpPr txBox="1"/>
          <p:nvPr/>
        </p:nvSpPr>
        <p:spPr>
          <a:xfrm>
            <a:off x="713232" y="1728216"/>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learn.microsoft.com/ja-jp/power-platform/admin/default-environment-routing</a:t>
            </a:r>
          </a:p>
        </p:txBody>
      </p:sp>
      <p:sp>
        <p:nvSpPr>
          <p:cNvPr id="11" name="TextBox 10"/>
          <p:cNvSpPr txBox="1"/>
          <p:nvPr/>
        </p:nvSpPr>
        <p:spPr>
          <a:xfrm>
            <a:off x="713232" y="2002536"/>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要旨：新規・既存のメーカーがCopilot Studio／Power Apps／Power Automateにアクセスした際、共有のDefault環境ではなく個人用開発環境へ自動的に誘導する、テナント管理者が有効化する機能。</a:t>
            </a:r>
          </a:p>
        </p:txBody>
      </p:sp>
      <p:sp>
        <p:nvSpPr>
          <p:cNvPr id="12" name="Rectangle 11"/>
          <p:cNvSpPr/>
          <p:nvPr/>
        </p:nvSpPr>
        <p:spPr>
          <a:xfrm>
            <a:off x="502920" y="3044952"/>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044952"/>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136392"/>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Environment groups</a:t>
            </a:r>
          </a:p>
        </p:txBody>
      </p:sp>
      <p:sp>
        <p:nvSpPr>
          <p:cNvPr id="15" name="Rounded Rectangle 14"/>
          <p:cNvSpPr/>
          <p:nvPr/>
        </p:nvSpPr>
        <p:spPr>
          <a:xfrm>
            <a:off x="9875520" y="3136392"/>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P.10 対応</a:t>
            </a:r>
          </a:p>
        </p:txBody>
      </p:sp>
      <p:sp>
        <p:nvSpPr>
          <p:cNvPr id="16" name="TextBox 15"/>
          <p:cNvSpPr txBox="1"/>
          <p:nvPr/>
        </p:nvSpPr>
        <p:spPr>
          <a:xfrm>
            <a:off x="713232" y="3447288"/>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learn.microsoft.com/ja-jp/power-platform/admin/environment-groups</a:t>
            </a:r>
          </a:p>
        </p:txBody>
      </p:sp>
      <p:sp>
        <p:nvSpPr>
          <p:cNvPr id="17" name="TextBox 16"/>
          <p:cNvSpPr txBox="1"/>
          <p:nvPr/>
        </p:nvSpPr>
        <p:spPr>
          <a:xfrm>
            <a:off x="713232" y="3721608"/>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原文：「When a rule is published at the environment group level, it's enforced across every environment within that group.」— 共有制限やAI機能有効化等のルールを複数環境へ一括適用できる。</a:t>
            </a:r>
          </a:p>
        </p:txBody>
      </p:sp>
      <p:sp>
        <p:nvSpPr>
          <p:cNvPr id="18" name="Rectangle 17"/>
          <p:cNvSpPr/>
          <p:nvPr/>
        </p:nvSpPr>
        <p:spPr>
          <a:xfrm>
            <a:off x="502920" y="4764024"/>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764024"/>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855464"/>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Power Platform environments overview</a:t>
            </a:r>
          </a:p>
        </p:txBody>
      </p:sp>
      <p:sp>
        <p:nvSpPr>
          <p:cNvPr id="21" name="Rounded Rectangle 20"/>
          <p:cNvSpPr/>
          <p:nvPr/>
        </p:nvSpPr>
        <p:spPr>
          <a:xfrm>
            <a:off x="9875520" y="4855464"/>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P.2 対応</a:t>
            </a:r>
          </a:p>
        </p:txBody>
      </p:sp>
      <p:sp>
        <p:nvSpPr>
          <p:cNvPr id="22" name="TextBox 21"/>
          <p:cNvSpPr txBox="1"/>
          <p:nvPr/>
        </p:nvSpPr>
        <p:spPr>
          <a:xfrm>
            <a:off x="713232" y="5166360"/>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learn.microsoft.com/ja-jp/power-platform/admin/environments-overview</a:t>
            </a:r>
          </a:p>
        </p:txBody>
      </p:sp>
      <p:sp>
        <p:nvSpPr>
          <p:cNvPr id="23" name="TextBox 22"/>
          <p:cNvSpPr txBox="1"/>
          <p:nvPr/>
        </p:nvSpPr>
        <p:spPr>
          <a:xfrm>
            <a:off x="713232" y="5440680"/>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原文：「A single default environment is automatically created by Power Apps for each tenant and shared by all users in that tenant.」「Whenever a new user signs up for Power Apps, they're automatically added to the Maker role of the default environment.」</a:t>
            </a:r>
          </a:p>
        </p:txBody>
      </p:sp>
      <p:sp>
        <p:nvSpPr>
          <p:cNvPr id="24" name="TextBox 2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5" name="TextBox 2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APPENDIX</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Appendix E：背景（環境作成者ロールのリスク）の根拠</a:t>
            </a:r>
          </a:p>
        </p:txBody>
      </p:sp>
      <p:sp>
        <p:nvSpPr>
          <p:cNvPr id="6" name="Rectangle 5"/>
          <p:cNvSpPr/>
          <p:nvPr/>
        </p:nvSpPr>
        <p:spPr>
          <a:xfrm>
            <a:off x="502920" y="1325880"/>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17320"/>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Role-based security roles for Dataverse</a:t>
            </a:r>
          </a:p>
        </p:txBody>
      </p:sp>
      <p:sp>
        <p:nvSpPr>
          <p:cNvPr id="9" name="Rounded Rectangle 8"/>
          <p:cNvSpPr/>
          <p:nvPr/>
        </p:nvSpPr>
        <p:spPr>
          <a:xfrm>
            <a:off x="9875520" y="1417320"/>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P.2 対応</a:t>
            </a:r>
          </a:p>
        </p:txBody>
      </p:sp>
      <p:sp>
        <p:nvSpPr>
          <p:cNvPr id="10" name="TextBox 9"/>
          <p:cNvSpPr txBox="1"/>
          <p:nvPr/>
        </p:nvSpPr>
        <p:spPr>
          <a:xfrm>
            <a:off x="713232" y="1728216"/>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learn.microsoft.com/ja-jp/power-platform/admin/database-security</a:t>
            </a:r>
          </a:p>
        </p:txBody>
      </p:sp>
      <p:sp>
        <p:nvSpPr>
          <p:cNvPr id="11" name="TextBox 10"/>
          <p:cNvSpPr txBox="1"/>
          <p:nvPr/>
        </p:nvSpPr>
        <p:spPr>
          <a:xfrm>
            <a:off x="713232" y="2002536"/>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原文：「Can create new resources associated with an environment, including apps, connections, custom APIs, and flows using Microsoft Power Automate. However, this role doesn't have privileges to access data in an environment.」— 環境作成者ロールの権限範囲。</a:t>
            </a:r>
          </a:p>
        </p:txBody>
      </p:sp>
      <p:sp>
        <p:nvSpPr>
          <p:cNvPr id="12" name="Rectangle 11"/>
          <p:cNvSpPr/>
          <p:nvPr/>
        </p:nvSpPr>
        <p:spPr>
          <a:xfrm>
            <a:off x="502920" y="3044952"/>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044952"/>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136392"/>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Copilot Studio：Assign user licenses and manage access</a:t>
            </a:r>
          </a:p>
        </p:txBody>
      </p:sp>
      <p:sp>
        <p:nvSpPr>
          <p:cNvPr id="15" name="Rounded Rectangle 14"/>
          <p:cNvSpPr/>
          <p:nvPr/>
        </p:nvSpPr>
        <p:spPr>
          <a:xfrm>
            <a:off x="9875520" y="3136392"/>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P.2 対応</a:t>
            </a:r>
          </a:p>
        </p:txBody>
      </p:sp>
      <p:sp>
        <p:nvSpPr>
          <p:cNvPr id="16" name="TextBox 15"/>
          <p:cNvSpPr txBox="1"/>
          <p:nvPr/>
        </p:nvSpPr>
        <p:spPr>
          <a:xfrm>
            <a:off x="713232" y="3447288"/>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learn.microsoft.com/ja-jp/microsoft-copilot-studio/requirements-licensing</a:t>
            </a:r>
          </a:p>
        </p:txBody>
      </p:sp>
      <p:sp>
        <p:nvSpPr>
          <p:cNvPr id="17" name="TextBox 16"/>
          <p:cNvSpPr txBox="1"/>
          <p:nvPr/>
        </p:nvSpPr>
        <p:spPr>
          <a:xfrm>
            <a:off x="713232" y="3721608"/>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要旨：フル機能のCopilot Studioでエージェントを作成・管理するにはユーザー単位のライセンス（per userライセンス）とテナントライセンスが別途必要。作成されたエージェントの利用者側には特別なライセンスは不要。</a:t>
            </a:r>
          </a:p>
        </p:txBody>
      </p:sp>
      <p:sp>
        <p:nvSpPr>
          <p:cNvPr id="18" name="Rectangle 17"/>
          <p:cNvSpPr/>
          <p:nvPr/>
        </p:nvSpPr>
        <p:spPr>
          <a:xfrm>
            <a:off x="502920" y="4764024"/>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764024"/>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855464"/>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Copilot Studio：Billing rates and management</a:t>
            </a:r>
          </a:p>
        </p:txBody>
      </p:sp>
      <p:sp>
        <p:nvSpPr>
          <p:cNvPr id="21" name="Rounded Rectangle 20"/>
          <p:cNvSpPr/>
          <p:nvPr/>
        </p:nvSpPr>
        <p:spPr>
          <a:xfrm>
            <a:off x="9875520" y="4855464"/>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P.2 対応</a:t>
            </a:r>
          </a:p>
        </p:txBody>
      </p:sp>
      <p:sp>
        <p:nvSpPr>
          <p:cNvPr id="22" name="TextBox 21"/>
          <p:cNvSpPr txBox="1"/>
          <p:nvPr/>
        </p:nvSpPr>
        <p:spPr>
          <a:xfrm>
            <a:off x="713232" y="5166360"/>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learn.microsoft.com/ja-jp/microsoft-copilot-studio/requirements-messages-management</a:t>
            </a:r>
          </a:p>
        </p:txBody>
      </p:sp>
      <p:sp>
        <p:nvSpPr>
          <p:cNvPr id="23" name="TextBox 22"/>
          <p:cNvSpPr txBox="1"/>
          <p:nvPr/>
        </p:nvSpPr>
        <p:spPr>
          <a:xfrm>
            <a:off x="713232" y="5440680"/>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要旨：エージェントのメッセージ消費に基づく課金の仕組みが存在し、環境にPay-as-you-go請求ポリシーが紐づいている場合、想定を超えたメッセージ消費により従量課金が発生し得る。</a:t>
            </a:r>
          </a:p>
        </p:txBody>
      </p:sp>
      <p:sp>
        <p:nvSpPr>
          <p:cNvPr id="24" name="TextBox 2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5" name="TextBox 2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APPENDIX</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Appendix F：補足事実の根拠（コネクタ例・価格試算・個人用開発環境）</a:t>
            </a:r>
          </a:p>
        </p:txBody>
      </p:sp>
      <p:sp>
        <p:nvSpPr>
          <p:cNvPr id="6" name="Rectangle 5"/>
          <p:cNvSpPr/>
          <p:nvPr/>
        </p:nvSpPr>
        <p:spPr>
          <a:xfrm>
            <a:off x="502920" y="1325880"/>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17320"/>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Connector classification</a:t>
            </a:r>
          </a:p>
        </p:txBody>
      </p:sp>
      <p:sp>
        <p:nvSpPr>
          <p:cNvPr id="9" name="Rounded Rectangle 8"/>
          <p:cNvSpPr/>
          <p:nvPr/>
        </p:nvSpPr>
        <p:spPr>
          <a:xfrm>
            <a:off x="9875520" y="1417320"/>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P.11 対応</a:t>
            </a:r>
          </a:p>
        </p:txBody>
      </p:sp>
      <p:sp>
        <p:nvSpPr>
          <p:cNvPr id="10" name="TextBox 9"/>
          <p:cNvSpPr txBox="1"/>
          <p:nvPr/>
        </p:nvSpPr>
        <p:spPr>
          <a:xfrm>
            <a:off x="713232" y="1728216"/>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learn.microsoft.com/ja-jp/power-platform/admin/dlp-connector-classification</a:t>
            </a:r>
          </a:p>
        </p:txBody>
      </p:sp>
      <p:sp>
        <p:nvSpPr>
          <p:cNvPr id="11" name="TextBox 10"/>
          <p:cNvSpPr txBox="1"/>
          <p:nvPr/>
        </p:nvSpPr>
        <p:spPr>
          <a:xfrm>
            <a:off x="713232" y="2002536"/>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要旨：Office 365 Outlook、SharePoint、Microsoft Teams、Microsoft Dataverse等が、DLPポリシーで「ブロック不可」に指定されるコネクタの例として公式に列挙されている。</a:t>
            </a:r>
          </a:p>
        </p:txBody>
      </p:sp>
      <p:sp>
        <p:nvSpPr>
          <p:cNvPr id="12" name="Rectangle 11"/>
          <p:cNvSpPr/>
          <p:nvPr/>
        </p:nvSpPr>
        <p:spPr>
          <a:xfrm>
            <a:off x="502920" y="3044952"/>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044952"/>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136392"/>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Power Platform pricing／Microsoft 365 Enterprise pricing（参考価格）</a:t>
            </a:r>
          </a:p>
        </p:txBody>
      </p:sp>
      <p:sp>
        <p:nvSpPr>
          <p:cNvPr id="15" name="Rounded Rectangle 14"/>
          <p:cNvSpPr/>
          <p:nvPr/>
        </p:nvSpPr>
        <p:spPr>
          <a:xfrm>
            <a:off x="9875520" y="3136392"/>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P.4・P.10 対応</a:t>
            </a:r>
          </a:p>
        </p:txBody>
      </p:sp>
      <p:sp>
        <p:nvSpPr>
          <p:cNvPr id="16" name="TextBox 15"/>
          <p:cNvSpPr txBox="1"/>
          <p:nvPr/>
        </p:nvSpPr>
        <p:spPr>
          <a:xfrm>
            <a:off x="713232" y="3447288"/>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microsoft.com/power-platform/pricing ／ microsoft.com/microsoft-365/enterprise</a:t>
            </a:r>
          </a:p>
        </p:txBody>
      </p:sp>
      <p:sp>
        <p:nvSpPr>
          <p:cNvPr id="17" name="TextBox 16"/>
          <p:cNvSpPr txBox="1"/>
          <p:nvPr/>
        </p:nvSpPr>
        <p:spPr>
          <a:xfrm>
            <a:off x="713232" y="3721608"/>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要旨：Power Apps Premium・Power Automate Premiumの参考価格（1ユーザー月額）と、Microsoft 365 E3/E5の参考価格をもとに追加コスト倍率を試算（一般的な目安であり、実際の契約条件により変動）。本資料の価格試算はMicrosoft公式ドキュメントではなく公式価格ページに基づく参考値である。</a:t>
            </a:r>
          </a:p>
        </p:txBody>
      </p:sp>
      <p:sp>
        <p:nvSpPr>
          <p:cNvPr id="18" name="Rectangle 17"/>
          <p:cNvSpPr/>
          <p:nvPr/>
        </p:nvSpPr>
        <p:spPr>
          <a:xfrm>
            <a:off x="502920" y="4764024"/>
            <a:ext cx="11201400" cy="1627632"/>
          </a:xfrm>
          <a:prstGeom prst="rect">
            <a:avLst/>
          </a:prstGeom>
          <a:solidFill>
            <a:srgbClr val="F5F6F8"/>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764024"/>
            <a:ext cx="73152" cy="162763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855464"/>
            <a:ext cx="7863840" cy="292608"/>
          </a:xfrm>
          <a:prstGeom prst="rect">
            <a:avLst/>
          </a:prstGeom>
          <a:noFill/>
        </p:spPr>
        <p:txBody>
          <a:bodyPr wrap="square" anchor="t" lIns="0" rIns="0" tIns="0" bIns="0">
            <a:spAutoFit/>
          </a:bodyPr>
          <a:lstStyle/>
          <a:p>
            <a:pPr algn="l">
              <a:lnSpc>
                <a:spcPct val="100000"/>
              </a:lnSpc>
            </a:pPr>
            <a:r>
              <a:rPr sz="1300" b="1" i="0">
                <a:solidFill>
                  <a:srgbClr val="1B2A4A"/>
                </a:solidFill>
                <a:latin typeface="Yu Gothic"/>
              </a:rPr>
              <a:t>Personal Developer Environments（個人用開発環境）</a:t>
            </a:r>
          </a:p>
        </p:txBody>
      </p:sp>
      <p:sp>
        <p:nvSpPr>
          <p:cNvPr id="21" name="Rounded Rectangle 20"/>
          <p:cNvSpPr/>
          <p:nvPr/>
        </p:nvSpPr>
        <p:spPr>
          <a:xfrm>
            <a:off x="9875520" y="4855464"/>
            <a:ext cx="1737360" cy="292608"/>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050" b="1">
                <a:solidFill>
                  <a:srgbClr val="2E5AAC"/>
                </a:solidFill>
                <a:latin typeface="Yu Gothic"/>
              </a:rPr>
              <a:t>P.10 対応</a:t>
            </a:r>
          </a:p>
        </p:txBody>
      </p:sp>
      <p:sp>
        <p:nvSpPr>
          <p:cNvPr id="22" name="TextBox 21"/>
          <p:cNvSpPr txBox="1"/>
          <p:nvPr/>
        </p:nvSpPr>
        <p:spPr>
          <a:xfrm>
            <a:off x="713232" y="5166360"/>
            <a:ext cx="10881360" cy="237744"/>
          </a:xfrm>
          <a:prstGeom prst="rect">
            <a:avLst/>
          </a:prstGeom>
          <a:noFill/>
        </p:spPr>
        <p:txBody>
          <a:bodyPr wrap="square" anchor="t" lIns="0" rIns="0" tIns="0" bIns="0">
            <a:spAutoFit/>
          </a:bodyPr>
          <a:lstStyle/>
          <a:p>
            <a:pPr algn="l">
              <a:lnSpc>
                <a:spcPct val="100000"/>
              </a:lnSpc>
            </a:pPr>
            <a:r>
              <a:rPr sz="1000" b="0" i="0">
                <a:solidFill>
                  <a:srgbClr val="6E6E6E"/>
                </a:solidFill>
                <a:latin typeface="Yu Gothic"/>
              </a:rPr>
              <a:t>microsoft.com/power-platform/blog（Personal Developer Environments）／</a:t>
            </a:r>
          </a:p>
          <a:p>
            <a:pPr algn="l">
              <a:lnSpc>
                <a:spcPct val="100000"/>
              </a:lnSpc>
            </a:pPr>
            <a:r>
              <a:rPr sz="1000" b="0" i="0">
                <a:solidFill>
                  <a:srgbClr val="6E6E6E"/>
                </a:solidFill>
                <a:latin typeface="Yu Gothic"/>
              </a:rPr>
              <a:t>learn.microsoft.com/ja-jp/power-platform/developer/create-developer-environment</a:t>
            </a:r>
          </a:p>
        </p:txBody>
      </p:sp>
      <p:sp>
        <p:nvSpPr>
          <p:cNvPr id="23" name="TextBox 22"/>
          <p:cNvSpPr txBox="1"/>
          <p:nvPr/>
        </p:nvSpPr>
        <p:spPr>
          <a:xfrm>
            <a:off x="713232" y="5440680"/>
            <a:ext cx="10881360" cy="859536"/>
          </a:xfrm>
          <a:prstGeom prst="rect">
            <a:avLst/>
          </a:prstGeom>
          <a:noFill/>
        </p:spPr>
        <p:txBody>
          <a:bodyPr wrap="square" anchor="t" lIns="0" rIns="0" tIns="0" bIns="0">
            <a:spAutoFit/>
          </a:bodyPr>
          <a:lstStyle/>
          <a:p>
            <a:pPr algn="l">
              <a:lnSpc>
                <a:spcPct val="118000"/>
              </a:lnSpc>
            </a:pPr>
            <a:r>
              <a:rPr sz="1100" b="0" i="0">
                <a:solidFill>
                  <a:srgbClr val="262626"/>
                </a:solidFill>
                <a:latin typeface="Yu Gothic"/>
              </a:rPr>
              <a:t>要旨：個人用開発環境は、メーカー本人専用に分離されたDataverse対応の開発環境であり、他の利用者に影響を与えず安全に試作・テストができる。環境ルーティング機能により自動的に払い出される。</a:t>
            </a:r>
          </a:p>
        </p:txBody>
      </p:sp>
      <p:sp>
        <p:nvSpPr>
          <p:cNvPr id="24" name="TextBox 2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5" name="TextBox 2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