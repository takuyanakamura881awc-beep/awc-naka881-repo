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892040"/>
            <a:ext cx="12191695" cy="54864"/>
          </a:xfrm>
          <a:prstGeom prst="rect">
            <a:avLst/>
          </a:prstGeom>
          <a:solidFill>
            <a:srgbClr val="2E5A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B9C7E6"/>
                </a:solidFill>
                <a:latin typeface="Yu Gothic"/>
              </a:rPr>
              <a:t>調査報告書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FFFFFF"/>
                </a:solidFill>
                <a:latin typeface="Yu Gothic"/>
              </a:rPr>
              <a:t>Power Platform「Default環境」における</a:t>
            </a:r>
          </a:p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FFFFFF"/>
                </a:solidFill>
                <a:latin typeface="Yu Gothic"/>
              </a:rPr>
              <a:t>マネージド環境設定・DLPポリシー適用の可否調査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204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CED8EE"/>
                </a:solidFill>
                <a:latin typeface="Yu Gothic"/>
              </a:rPr>
              <a:t>― Power Automate / Copilot Studio 等 利用制御方針の判断材料整理 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893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B9C7E6"/>
                </a:solidFill>
                <a:latin typeface="Yu Gothic"/>
              </a:rPr>
              <a:t>2026年7月2日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093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B9C7E6"/>
                </a:solidFill>
                <a:latin typeface="Yu Gothic"/>
              </a:rPr>
              <a:t>IT ガバナンス調査チーム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5989320"/>
            <a:ext cx="2011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C9CC4"/>
                </a:solidFill>
                <a:latin typeface="Yu Gothic"/>
              </a:rP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5A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B9C7E6"/>
                </a:solidFill>
                <a:latin typeface="Yu Gothic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1480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Yu Gothic"/>
              </a:rPr>
              <a:t>本日のアジェンダ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548640" cy="685800"/>
          </a:xfrm>
          <a:prstGeom prst="rect">
            <a:avLst/>
          </a:prstGeom>
          <a:solidFill>
            <a:srgbClr val="E9E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90472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2E5AAC"/>
                </a:solidFill>
                <a:latin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527048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62626"/>
                </a:solidFill>
                <a:latin typeface="Yu Gothic"/>
              </a:rPr>
              <a:t>調査の背景・目的・スコープ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377440"/>
            <a:ext cx="548640" cy="685800"/>
          </a:xfrm>
          <a:prstGeom prst="rect">
            <a:avLst/>
          </a:prstGeom>
          <a:solidFill>
            <a:srgbClr val="E9E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450592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2E5AAC"/>
                </a:solidFill>
                <a:latin typeface="Yu Gothic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87168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62626"/>
                </a:solidFill>
                <a:latin typeface="Yu Gothic"/>
              </a:rPr>
              <a:t>結論サマリー（Executive Summary）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337560"/>
            <a:ext cx="548640" cy="685800"/>
          </a:xfrm>
          <a:prstGeom prst="rect">
            <a:avLst/>
          </a:prstGeom>
          <a:solidFill>
            <a:srgbClr val="E9E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410712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2E5AAC"/>
                </a:solidFill>
                <a:latin typeface="Yu Gothic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447288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62626"/>
                </a:solidFill>
                <a:latin typeface="Yu Gothic"/>
              </a:rPr>
              <a:t>論点1：Default環境はマネージド環境化できるか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297680"/>
            <a:ext cx="548640" cy="685800"/>
          </a:xfrm>
          <a:prstGeom prst="rect">
            <a:avLst/>
          </a:prstGeom>
          <a:solidFill>
            <a:srgbClr val="E9E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4370832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2E5AAC"/>
                </a:solidFill>
                <a:latin typeface="Yu Gothic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407408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62626"/>
                </a:solidFill>
                <a:latin typeface="Yu Gothic"/>
              </a:rPr>
              <a:t>論点2：Default環境にDLPポリシーを適用できるか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257800"/>
            <a:ext cx="548640" cy="685800"/>
          </a:xfrm>
          <a:prstGeom prst="rect">
            <a:avLst/>
          </a:prstGeom>
          <a:solidFill>
            <a:srgbClr val="E9E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5330952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2E5AAC"/>
                </a:solidFill>
                <a:latin typeface="Yu Gothic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367528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62626"/>
                </a:solidFill>
                <a:latin typeface="Yu Gothic"/>
              </a:rPr>
              <a:t>論点3〜4：Premiumライセンスの要否と対象範囲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417320"/>
            <a:ext cx="548640" cy="685800"/>
          </a:xfrm>
          <a:prstGeom prst="rect">
            <a:avLst/>
          </a:prstGeom>
          <a:solidFill>
            <a:srgbClr val="E9E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1490472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2E5AAC"/>
                </a:solidFill>
                <a:latin typeface="Yu Gothic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1527048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62626"/>
                </a:solidFill>
                <a:latin typeface="Yu Gothic"/>
              </a:rPr>
              <a:t>論点5：DLP適用自体のライセンス要否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2377440"/>
            <a:ext cx="548640" cy="685800"/>
          </a:xfrm>
          <a:prstGeom prst="rect">
            <a:avLst/>
          </a:prstGeom>
          <a:solidFill>
            <a:srgbClr val="E9E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450592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2E5AAC"/>
                </a:solidFill>
                <a:latin typeface="Yu Gothic"/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2487168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62626"/>
                </a:solidFill>
                <a:latin typeface="Yu Gothic"/>
              </a:rPr>
              <a:t>実施手順の概要（設定ステップ）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3337560"/>
            <a:ext cx="548640" cy="685800"/>
          </a:xfrm>
          <a:prstGeom prst="rect">
            <a:avLst/>
          </a:prstGeom>
          <a:solidFill>
            <a:srgbClr val="E9E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410712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2E5AAC"/>
                </a:solidFill>
                <a:latin typeface="Yu Gothic"/>
              </a:rPr>
              <a:t>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3447288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62626"/>
                </a:solidFill>
                <a:latin typeface="Yu Gothic"/>
              </a:rPr>
              <a:t>制約時の代替案／現実的な利用制御方法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4297680"/>
            <a:ext cx="548640" cy="685800"/>
          </a:xfrm>
          <a:prstGeom prst="rect">
            <a:avLst/>
          </a:prstGeom>
          <a:solidFill>
            <a:srgbClr val="E9E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4370832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2E5AAC"/>
                </a:solidFill>
                <a:latin typeface="Yu Gothic"/>
              </a:rPr>
              <a:t>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4407408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62626"/>
                </a:solidFill>
                <a:latin typeface="Yu Gothic"/>
              </a:rPr>
              <a:t>推奨ロードマップ・リスクと留意事項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5257800"/>
            <a:ext cx="548640" cy="685800"/>
          </a:xfrm>
          <a:prstGeom prst="rect">
            <a:avLst/>
          </a:prstGeom>
          <a:solidFill>
            <a:srgbClr val="E9E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5330952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2E5AAC"/>
                </a:solidFill>
                <a:latin typeface="Yu Gothic"/>
              </a:rPr>
              <a:t>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5367528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62626"/>
                </a:solidFill>
                <a:latin typeface="Yu Gothic"/>
              </a:rPr>
              <a:t>参考文献・出典一覧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56539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6E6E"/>
                </a:solidFill>
                <a:latin typeface="Yu Gothic"/>
              </a:rPr>
              <a:t>Power Platform Default環境 統治 調査報告 ｜ Confidential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38560" y="656539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6E6E"/>
                </a:solidFill>
                <a:latin typeface="Yu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5A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B9C7E6"/>
                </a:solidFill>
                <a:latin typeface="Yu Gothic"/>
              </a:rPr>
              <a:t>BACKGROUND &amp; OBJECTIVE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1480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Yu Gothic"/>
              </a:rPr>
              <a:t>調査の背景・目的・スコープ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5394960" cy="457200"/>
          </a:xfrm>
          <a:prstGeom prst="rect">
            <a:avLst/>
          </a:prstGeom>
          <a:solidFill>
            <a:srgbClr val="E9E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444752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E5AAC"/>
                </a:solidFill>
                <a:latin typeface="Yu Gothic"/>
              </a:rPr>
              <a:t>背景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65960"/>
            <a:ext cx="5349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50" b="0">
                <a:solidFill>
                  <a:srgbClr val="262626"/>
                </a:solidFill>
                <a:latin typeface="Yu Gothic"/>
              </a:rPr>
              <a:t>● Default環境は全ライセンスユーザーが自動的に「環境メーカー」権限で
アクセス可能な共有環境である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50" b="0">
                <a:solidFill>
                  <a:srgbClr val="262626"/>
                </a:solidFill>
                <a:latin typeface="Yu Gothic"/>
              </a:rPr>
              <a:t>● ユーザーが意図せずアプリ・フロー・Copilot Studio エージェント等を
作成・利用してしまうリスクが存在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50" b="0">
                <a:solidFill>
                  <a:srgbClr val="262626"/>
                </a:solidFill>
                <a:latin typeface="Yu Gothic"/>
              </a:rPr>
              <a:t>● 無秩序な利用（シャドーIT化）は情報漏えい・コンプライアンス・
コスト管理上のリスクとなる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371600"/>
            <a:ext cx="5394960" cy="457200"/>
          </a:xfrm>
          <a:prstGeom prst="rect">
            <a:avLst/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444752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D8A70"/>
                </a:solidFill>
                <a:latin typeface="Yu Gothic"/>
              </a:rPr>
              <a:t>目的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965960"/>
            <a:ext cx="5349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50" b="0">
                <a:solidFill>
                  <a:srgbClr val="262626"/>
                </a:solidFill>
                <a:latin typeface="Yu Gothic"/>
              </a:rPr>
              <a:t>● Default環境を統制対象として管理できるか（マネージド環境化）を
技術・ライセンス両面から確認する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50" b="0">
                <a:solidFill>
                  <a:srgbClr val="262626"/>
                </a:solidFill>
                <a:latin typeface="Yu Gothic"/>
              </a:rPr>
              <a:t>● DLPポリシーによるコネクタ利用・データ接続制限の適用可否を確認する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50" b="0">
                <a:solidFill>
                  <a:srgbClr val="262626"/>
                </a:solidFill>
                <a:latin typeface="Yu Gothic"/>
              </a:rPr>
              <a:t>● 統制導入に伴うPremiumライセンスの要否・対象範囲を明確化し、
意思決定に必要な材料を整理する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4892040"/>
            <a:ext cx="11155680" cy="141732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5029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2A4A"/>
                </a:solidFill>
                <a:latin typeface="Yu Gothic"/>
              </a:rPr>
              <a:t>調査方法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3949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262626"/>
                </a:solidFill>
                <a:latin typeface="Yu Gothic"/>
              </a:rPr>
              <a:t>● ① AIによる一次調査（論点整理・仮説形成） → ② Microsoft公式ドキュメント（Microsoft Learn／製品チーム公式リポジトリ）による裏付け確認 → ③ 必要に応じ管理センターでの設定画面ベースの確認、という3段階で正確性を担保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56539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6E6E"/>
                </a:solidFill>
                <a:latin typeface="Yu Gothic"/>
              </a:rPr>
              <a:t>Power Platform Default環境 統治 調査報告 ｜ Confidential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6539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6E6E"/>
                </a:solidFill>
                <a:latin typeface="Yu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5A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B9C7E6"/>
                </a:solidFill>
                <a:latin typeface="Yu Gothic"/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1480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Yu Gothic"/>
              </a:rPr>
              <a:t>結論サマリー（Executive Summary）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1120140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91440" cy="1170432"/>
          </a:xfrm>
          <a:prstGeom prst="rect">
            <a:avLst/>
          </a:prstGeom>
          <a:solidFill>
            <a:srgbClr val="C459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499616"/>
            <a:ext cx="5486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A4A"/>
                </a:solidFill>
                <a:latin typeface="Yu Gothic"/>
              </a:rPr>
              <a:t>Default環境のマネージド環境化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1499616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FBEA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12700" bIns="12700"/>
          <a:lstStyle/>
          <a:p>
            <a:pPr algn="ctr"/>
            <a:r>
              <a:rPr sz="1200" b="1">
                <a:solidFill>
                  <a:srgbClr val="C45911"/>
                </a:solidFill>
                <a:latin typeface="Yu Gothic"/>
              </a:rPr>
              <a:t>条件付きで可能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463040"/>
            <a:ext cx="35204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62626"/>
                </a:solidFill>
                <a:latin typeface="Yu Gothic"/>
              </a:rPr>
              <a:t>技術的制約はなく設定自体は可能。ただし有効化すると当該環境で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62626"/>
                </a:solidFill>
                <a:latin typeface="Yu Gothic"/>
              </a:rPr>
              <a:t>アプリ/フローを実行する全ユーザーにPremiumライセンスが必要となり、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62626"/>
                </a:solidFill>
                <a:latin typeface="Yu Gothic"/>
              </a:rPr>
              <a:t>全社規模では実務上ハードルが高い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596896"/>
            <a:ext cx="1120140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596896"/>
            <a:ext cx="91440" cy="1170432"/>
          </a:xfrm>
          <a:prstGeom prst="rect">
            <a:avLst/>
          </a:prstGeom>
          <a:solidFill>
            <a:srgbClr val="1D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724912"/>
            <a:ext cx="5486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A4A"/>
                </a:solidFill>
                <a:latin typeface="Yu Gothic"/>
              </a:rPr>
              <a:t>Default環境へのDLPポリシー適用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2724912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12700" bIns="12700"/>
          <a:lstStyle/>
          <a:p>
            <a:pPr algn="ctr"/>
            <a:r>
              <a:rPr sz="1200" b="1">
                <a:solidFill>
                  <a:srgbClr val="1D8A70"/>
                </a:solidFill>
                <a:latin typeface="Yu Gothic"/>
              </a:rPr>
              <a:t>可能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2688336"/>
            <a:ext cx="35204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62626"/>
                </a:solidFill>
                <a:latin typeface="Yu Gothic"/>
              </a:rPr>
              <a:t>マネージド環境化とは独立した機能。追加ライセンス無しで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62626"/>
                </a:solidFill>
                <a:latin typeface="Yu Gothic"/>
              </a:rPr>
              <a:t>Default環境専用ポリシーを即時適用できる。MS公式も強く推奨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822192"/>
            <a:ext cx="1120140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822192"/>
            <a:ext cx="91440" cy="1170432"/>
          </a:xfrm>
          <a:prstGeom prst="rect">
            <a:avLst/>
          </a:prstGeom>
          <a:solidFill>
            <a:srgbClr val="B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950208"/>
            <a:ext cx="5486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A4A"/>
                </a:solidFill>
                <a:latin typeface="Yu Gothic"/>
              </a:rPr>
              <a:t>マネージド環境化に伴うPremiumライセンス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3950208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F8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12700" bIns="12700"/>
          <a:lstStyle/>
          <a:p>
            <a:pPr algn="ctr"/>
            <a:r>
              <a:rPr sz="1200" b="1">
                <a:solidFill>
                  <a:srgbClr val="B02A2A"/>
                </a:solidFill>
                <a:latin typeface="Yu Gothic"/>
              </a:rPr>
              <a:t>必要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3913632"/>
            <a:ext cx="35204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62626"/>
                </a:solidFill>
                <a:latin typeface="Yu Gothic"/>
              </a:rPr>
              <a:t>有効化した環境でアプリ/フローを「実行」する全ユーザーが対象。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62626"/>
                </a:solidFill>
                <a:latin typeface="Yu Gothic"/>
              </a:rPr>
              <a:t>管理者専用ライセンスという概念は無い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047488"/>
            <a:ext cx="1120140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5047488"/>
            <a:ext cx="91440" cy="1170432"/>
          </a:xfrm>
          <a:prstGeom prst="rect">
            <a:avLst/>
          </a:prstGeom>
          <a:solidFill>
            <a:srgbClr val="1D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175504"/>
            <a:ext cx="5486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A4A"/>
                </a:solidFill>
                <a:latin typeface="Yu Gothic"/>
              </a:rPr>
              <a:t>DLPポリシー適用自体のライセンス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55080" y="5175504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12700" bIns="12700"/>
          <a:lstStyle/>
          <a:p>
            <a:pPr algn="ctr"/>
            <a:r>
              <a:rPr sz="1200" b="1">
                <a:solidFill>
                  <a:srgbClr val="1D8A70"/>
                </a:solidFill>
                <a:latin typeface="Yu Gothic"/>
              </a:rPr>
              <a:t>不要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2440" y="5138928"/>
            <a:ext cx="35204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62626"/>
                </a:solidFill>
                <a:latin typeface="Yu Gothic"/>
              </a:rPr>
              <a:t>ポリシーの作成・編集には管理者権限が必要だが、適用対象となる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62626"/>
                </a:solidFill>
                <a:latin typeface="Yu Gothic"/>
              </a:rPr>
              <a:t>一般利用者側に追加ライセンスは不要（無償ユーザーにも強制適用）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56539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6E6E"/>
                </a:solidFill>
                <a:latin typeface="Yu Gothic"/>
              </a:rPr>
              <a:t>Power Platform Default環境 統治 調査報告 ｜ Confidential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56539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6E6E"/>
                </a:solidFill>
                <a:latin typeface="Yu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5A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B9C7E6"/>
                </a:solidFill>
                <a:latin typeface="Yu Gothic"/>
              </a:rPr>
              <a:t>ISSUE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1480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Yu Gothic"/>
              </a:rPr>
              <a:t>論点1：Default環境はマネージド環境化できるか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BEA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12700" bIns="12700"/>
          <a:lstStyle/>
          <a:p>
            <a:pPr algn="ctr"/>
            <a:r>
              <a:rPr sz="1200" b="1">
                <a:solidFill>
                  <a:srgbClr val="C45911"/>
                </a:solidFill>
                <a:latin typeface="Yu Gothic"/>
              </a:rPr>
              <a:t>結論：条件付きで可能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65960"/>
            <a:ext cx="7040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300" b="1">
                <a:solidFill>
                  <a:srgbClr val="262626"/>
                </a:solidFill>
                <a:latin typeface="Yu Gothic"/>
              </a:rPr>
              <a:t>● 技術的な制約は存在しない</a:t>
            </a:r>
          </a:p>
          <a:p>
            <a:pPr marL="228600">
              <a:lnSpc>
                <a:spcPct val="115000"/>
              </a:lnSpc>
              <a:spcAft>
                <a:spcPts val="900"/>
              </a:spcAft>
            </a:pPr>
            <a:r>
              <a:rPr sz="1200" b="0">
                <a:solidFill>
                  <a:srgbClr val="262626"/>
                </a:solidFill>
                <a:latin typeface="Yu Gothic"/>
              </a:rPr>
              <a:t>- Microsoft公式：「Admins can use managed environments with any type of
environment」— 環境の種類を問わず有効化可能と明記</a:t>
            </a:r>
          </a:p>
          <a:p>
            <a:pPr marL="228600">
              <a:lnSpc>
                <a:spcPct val="115000"/>
              </a:lnSpc>
              <a:spcAft>
                <a:spcPts val="900"/>
              </a:spcAft>
            </a:pPr>
            <a:r>
              <a:rPr sz="1200" b="0">
                <a:solidFill>
                  <a:srgbClr val="262626"/>
                </a:solidFill>
                <a:latin typeface="Yu Gothic"/>
              </a:rPr>
              <a:t>- Default環境も例外ではなく、管理センターの操作（環境選択 →
［Enable Managed Environments］）で有効化できる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300" b="1">
                <a:solidFill>
                  <a:srgbClr val="262626"/>
                </a:solidFill>
                <a:latin typeface="Yu Gothic"/>
              </a:rPr>
              <a:t>● Microsoft自身もDefault環境への適用を推奨</a:t>
            </a:r>
          </a:p>
          <a:p>
            <a:pPr marL="228600">
              <a:lnSpc>
                <a:spcPct val="115000"/>
              </a:lnSpc>
              <a:spcAft>
                <a:spcPts val="900"/>
              </a:spcAft>
            </a:pPr>
            <a:r>
              <a:rPr sz="1200" b="0">
                <a:solidFill>
                  <a:srgbClr val="262626"/>
                </a:solidFill>
                <a:latin typeface="Yu Gothic"/>
              </a:rPr>
              <a:t>- 公式ガイダンス「Secure the default environment」では、共有制限・
使用状況インサイト・Dataverse IPファイアウォール等の統治強化のため
「maintain robust security and governance by making use of managed
environment features in the default environment」と明言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300" b="1">
                <a:solidFill>
                  <a:srgbClr val="262626"/>
                </a:solidFill>
                <a:latin typeface="Yu Gothic"/>
              </a:rPr>
              <a:t>● しかし実務上は「全社Premiumライセンス化」という高いハードルが伴う</a:t>
            </a:r>
          </a:p>
          <a:p>
            <a:pPr marL="228600">
              <a:lnSpc>
                <a:spcPct val="115000"/>
              </a:lnSpc>
              <a:spcAft>
                <a:spcPts val="900"/>
              </a:spcAft>
            </a:pPr>
            <a:r>
              <a:rPr sz="1200" b="0">
                <a:solidFill>
                  <a:srgbClr val="262626"/>
                </a:solidFill>
                <a:latin typeface="Yu Gothic"/>
              </a:rPr>
              <a:t>- Default環境は全ライセンスユーザーが標準でアクセス可能なため、
有効化するとその全員がPremium対象になり得る（詳細は論点3）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818120" y="1325880"/>
            <a:ext cx="3886200" cy="470916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50876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B2A4A"/>
                </a:solidFill>
                <a:latin typeface="Yu Gothic"/>
              </a:rPr>
              <a:t>有効化で得られる主な機能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1965960"/>
            <a:ext cx="34747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200" b="0">
                <a:solidFill>
                  <a:srgbClr val="262626"/>
                </a:solidFill>
                <a:latin typeface="Yu Gothic"/>
              </a:rPr>
              <a:t>● 共有制限（アプリ/フローの共有範囲制御）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200" b="0">
                <a:solidFill>
                  <a:srgbClr val="262626"/>
                </a:solidFill>
                <a:latin typeface="Yu Gothic"/>
              </a:rPr>
              <a:t>● 使用状況インサイト（ダッシュボード）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200" b="0">
                <a:solidFill>
                  <a:srgbClr val="262626"/>
                </a:solidFill>
                <a:latin typeface="Yu Gothic"/>
              </a:rPr>
              <a:t>● Dataverse アクセス制限（IPファイアウォール）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200" b="0">
                <a:solidFill>
                  <a:srgbClr val="262626"/>
                </a:solidFill>
                <a:latin typeface="Yu Gothic"/>
              </a:rPr>
              <a:t>● ソリューションチェッカーの自動実行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200" b="0">
                <a:solidFill>
                  <a:srgbClr val="262626"/>
                </a:solidFill>
                <a:latin typeface="Yu Gothic"/>
              </a:rPr>
              <a:t>● 最適化推奨事項の自動提示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200" b="0">
                <a:solidFill>
                  <a:srgbClr val="262626"/>
                </a:solidFill>
                <a:latin typeface="Yu Gothic"/>
              </a:rPr>
              <a:t>● Copilotの解答品質フィードバック等の管理機能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6E6E"/>
                </a:solidFill>
                <a:latin typeface="Yu Gothic"/>
              </a:rPr>
              <a:t>Power Platform Default環境 統治 調査報告 ｜ Confidential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56539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6E6E"/>
                </a:solidFill>
                <a:latin typeface="Yu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5A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B9C7E6"/>
                </a:solidFill>
                <a:latin typeface="Yu Gothic"/>
              </a:rPr>
              <a:t>ISSUE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1480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Yu Gothic"/>
              </a:rPr>
              <a:t>論点2：Default環境にDLPポリシーを適用できるか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1371600" cy="457200"/>
          </a:xfrm>
          <a:prstGeom prst="roundRect">
            <a:avLst>
              <a:gd name="adj" fmla="val 50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12700" bIns="12700"/>
          <a:lstStyle/>
          <a:p>
            <a:pPr algn="ctr"/>
            <a:r>
              <a:rPr sz="1200" b="1">
                <a:solidFill>
                  <a:srgbClr val="1D8A70"/>
                </a:solidFill>
                <a:latin typeface="Yu Gothic"/>
              </a:rPr>
              <a:t>結論：可能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65960"/>
            <a:ext cx="7040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300" b="1">
                <a:solidFill>
                  <a:srgbClr val="262626"/>
                </a:solidFill>
                <a:latin typeface="Yu Gothic"/>
              </a:rPr>
              <a:t>● DLPポリシーはマネージド環境化と独立した機能</a:t>
            </a:r>
          </a:p>
          <a:p>
            <a:pPr marL="228600">
              <a:lnSpc>
                <a:spcPct val="115000"/>
              </a:lnSpc>
              <a:spcAft>
                <a:spcPts val="900"/>
              </a:spcAft>
            </a:pPr>
            <a:r>
              <a:rPr sz="1200" b="0">
                <a:solidFill>
                  <a:srgbClr val="262626"/>
                </a:solidFill>
                <a:latin typeface="Yu Gothic"/>
              </a:rPr>
              <a:t>- DLP（データ損失防止）はテナント管理者／環境管理者権限があれば
どの環境にも設定可能。Managed Environmentの有効化は前提条件ではない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300" b="1">
                <a:solidFill>
                  <a:srgbClr val="262626"/>
                </a:solidFill>
                <a:latin typeface="Yu Gothic"/>
              </a:rPr>
              <a:t>● 適用スコープの選択肢</a:t>
            </a:r>
          </a:p>
          <a:p>
            <a:pPr marL="228600">
              <a:lnSpc>
                <a:spcPct val="115000"/>
              </a:lnSpc>
              <a:spcAft>
                <a:spcPts val="900"/>
              </a:spcAft>
            </a:pPr>
            <a:r>
              <a:rPr sz="1200" b="0">
                <a:solidFill>
                  <a:srgbClr val="262626"/>
                </a:solidFill>
                <a:latin typeface="Yu Gothic"/>
              </a:rPr>
              <a:t>- 環境レベルポリシー：Default環境単体を指定して適用</a:t>
            </a:r>
          </a:p>
          <a:p>
            <a:pPr marL="228600">
              <a:lnSpc>
                <a:spcPct val="115000"/>
              </a:lnSpc>
              <a:spcAft>
                <a:spcPts val="900"/>
              </a:spcAft>
            </a:pPr>
            <a:r>
              <a:rPr sz="1200" b="0">
                <a:solidFill>
                  <a:srgbClr val="262626"/>
                </a:solidFill>
                <a:latin typeface="Yu Gothic"/>
              </a:rPr>
              <a:t>- テナントレベルポリシー：全環境／複数環境／除外環境を指定して適用
（Default環境を含めることも可能）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300" b="1">
                <a:solidFill>
                  <a:srgbClr val="262626"/>
                </a:solidFill>
                <a:latin typeface="Yu Gothic"/>
              </a:rPr>
              <a:t>● Microsoft公式のベストプラクティス</a:t>
            </a:r>
          </a:p>
          <a:p>
            <a:pPr marL="228600">
              <a:lnSpc>
                <a:spcPct val="115000"/>
              </a:lnSpc>
              <a:spcAft>
                <a:spcPts val="900"/>
              </a:spcAft>
            </a:pPr>
            <a:r>
              <a:rPr sz="1200" b="0">
                <a:solidFill>
                  <a:srgbClr val="262626"/>
                </a:solidFill>
                <a:latin typeface="Yu Gothic"/>
              </a:rPr>
              <a:t>- 「Having a data policy in place is especially critical for the default
environment」— Default環境への適用を明確に推奨</a:t>
            </a:r>
          </a:p>
          <a:p>
            <a:pPr marL="228600">
              <a:lnSpc>
                <a:spcPct val="115000"/>
              </a:lnSpc>
              <a:spcAft>
                <a:spcPts val="900"/>
              </a:spcAft>
            </a:pPr>
            <a:r>
              <a:rPr sz="1200" b="0">
                <a:solidFill>
                  <a:srgbClr val="262626"/>
                </a:solidFill>
                <a:latin typeface="Yu Gothic"/>
              </a:rPr>
              <a:t>- コネクタ分類の既定グループを「ブロック済み」に設定し、新規コネクタは
承認するまで自動的に利用不可とする方式を推奨</a:t>
            </a:r>
          </a:p>
        </p:txBody>
      </p:sp>
      <p:sp>
        <p:nvSpPr>
          <p:cNvPr id="8" name="Rectangle 7"/>
          <p:cNvSpPr/>
          <p:nvPr/>
        </p:nvSpPr>
        <p:spPr>
          <a:xfrm>
            <a:off x="7818120" y="1325880"/>
            <a:ext cx="3886200" cy="470916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50876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B2A4A"/>
                </a:solidFill>
                <a:latin typeface="Yu Gothic"/>
              </a:rPr>
              <a:t>推奨コネクタ分類設計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1965960"/>
            <a:ext cx="34747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0">
                <a:solidFill>
                  <a:srgbClr val="262626"/>
                </a:solidFill>
                <a:latin typeface="Yu Gothic"/>
              </a:rPr>
              <a:t>● ① ブロック不可コネクタ → 「業務データ」グループへ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0">
                <a:solidFill>
                  <a:srgbClr val="262626"/>
                </a:solidFill>
                <a:latin typeface="Yu Gothic"/>
              </a:rPr>
              <a:t>● ② ブロック可能な標準/プレミアム
コネクタ → 「ブロック済み」グループへ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0">
                <a:solidFill>
                  <a:srgbClr val="262626"/>
                </a:solidFill>
                <a:latin typeface="Yu Gothic"/>
              </a:rPr>
              <a:t>● ③ 既定グループを「ブロック済み」に設定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0">
                <a:solidFill>
                  <a:srgbClr val="262626"/>
                </a:solidFill>
                <a:latin typeface="Yu Gothic"/>
              </a:rPr>
              <a:t>● ④ 業務上必要なコネクタのみ都度
承認して昇格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6E6E"/>
                </a:solidFill>
                <a:latin typeface="Yu Gothic"/>
              </a:rPr>
              <a:t>Power Platform Default環境 統治 調査報告 ｜ Confidential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56539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6E6E"/>
                </a:solidFill>
                <a:latin typeface="Yu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5A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B9C7E6"/>
                </a:solidFill>
                <a:latin typeface="Yu Gothic"/>
              </a:rPr>
              <a:t>ISSUE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1480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Yu Gothic"/>
              </a:rPr>
              <a:t>論点3：マネージド環境化に伴うPremiumライセンス要否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1371600" cy="457200"/>
          </a:xfrm>
          <a:prstGeom prst="roundRect">
            <a:avLst>
              <a:gd name="adj" fmla="val 50000"/>
            </a:avLst>
          </a:prstGeom>
          <a:solidFill>
            <a:srgbClr val="F8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12700" bIns="12700"/>
          <a:lstStyle/>
          <a:p>
            <a:pPr algn="ctr"/>
            <a:r>
              <a:rPr sz="1200" b="1">
                <a:solidFill>
                  <a:srgbClr val="B02A2A"/>
                </a:solidFill>
                <a:latin typeface="Yu Gothic"/>
              </a:rPr>
              <a:t>結論：必要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65960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262626"/>
                </a:solidFill>
                <a:latin typeface="Yu Gothic"/>
              </a:rPr>
              <a:t>● マネージド環境が有効化された環境で、アプリまたはクラウドフローを「実行」する全ユーザーは、以下のいずれかのライセンス／権利が必要</a:t>
            </a:r>
          </a:p>
          <a:p>
            <a:pPr marL="228600">
              <a:lnSpc>
                <a:spcPct val="120000"/>
              </a:lnSpc>
              <a:spcAft>
                <a:spcPts val="1000"/>
              </a:spcAft>
            </a:pPr>
            <a:r>
              <a:rPr sz="1200" b="0">
                <a:solidFill>
                  <a:srgbClr val="262626"/>
                </a:solidFill>
                <a:latin typeface="Yu Gothic"/>
              </a:rPr>
              <a:t>- Power Apps Premium ライセンス　／　Power Automate Premium（Per User）ライセンス　／
Dynamics 365 Enterprise ライセンス（プレミアム利用権付き）　／　Pay-as-you-go・容量アドオン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262626"/>
                </a:solidFill>
                <a:latin typeface="Yu Gothic"/>
              </a:rPr>
              <a:t>● この要件はコネクタの種類（プレミアム/標準）に関わらず、「マネージド環境である」という事実だけで発生する追加要件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794760"/>
            <a:ext cx="11201400" cy="233172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95020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2A4A"/>
                </a:solidFill>
                <a:latin typeface="Yu Gothic"/>
              </a:rPr>
              <a:t>Default環境固有の論点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43400"/>
            <a:ext cx="106984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50" b="0">
                <a:solidFill>
                  <a:srgbClr val="262626"/>
                </a:solidFill>
                <a:latin typeface="Yu Gothic"/>
              </a:rPr>
              <a:t>● Default環境は「全ライセンスユーザーが標準アクセス権を持つ環境」であるため、ここでManaged Environmentを
有効化すると、実質的にテナント内の「Power Platformを利用しうる全社員」がPremium対象になり得る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50" b="0">
                <a:solidFill>
                  <a:srgbClr val="262626"/>
                </a:solidFill>
                <a:latin typeface="Yu Gothic"/>
              </a:rPr>
              <a:t>● これが「全社Premiumライセンス契約（例：E5等の上位プラン）がない限り、Default環境そのものの
マネージド環境化は推奨されない」という実務上の判断につながる最大の要因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50" b="0">
                <a:solidFill>
                  <a:srgbClr val="262626"/>
                </a:solidFill>
                <a:latin typeface="Yu Gothic"/>
              </a:rPr>
              <a:t>● 2026年3月より管理者向け、2026年6月よりエンドユーザー向けにライセンス未充足の通知が
順次開始されており、コンプライアンス強化の流れにある（要件自体は新設ではなく既存ルールの徹底）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6E6E"/>
                </a:solidFill>
                <a:latin typeface="Yu Gothic"/>
              </a:rPr>
              <a:t>Power Platform Default環境 統治 調査報告 ｜ Confidential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56539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6E6E"/>
                </a:solidFill>
                <a:latin typeface="Yu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5A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B9C7E6"/>
                </a:solidFill>
                <a:latin typeface="Yu Gothic"/>
              </a:rPr>
              <a:t>ISSUE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1480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Yu Gothic"/>
              </a:rPr>
              <a:t>論点4：ライセンス対象範囲（管理者／作成者／実行者）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98448"/>
            <a:ext cx="2743200" cy="457200"/>
          </a:xfrm>
          <a:prstGeom prst="roundRect">
            <a:avLst>
              <a:gd name="adj" fmla="val 50000"/>
            </a:avLst>
          </a:prstGeom>
          <a:solidFill>
            <a:srgbClr val="F8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12700" bIns="12700"/>
          <a:lstStyle/>
          <a:p>
            <a:pPr algn="ctr"/>
            <a:r>
              <a:rPr sz="1200" b="1">
                <a:solidFill>
                  <a:srgbClr val="B02A2A"/>
                </a:solidFill>
                <a:latin typeface="Yu Gothic"/>
              </a:rPr>
              <a:t>結論：全ユーザーが対象（管理者限定ではない）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920240"/>
          <a:ext cx="1120140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160"/>
                <a:gridCol w="3200400"/>
                <a:gridCol w="2834640"/>
                <a:gridCol w="2743200"/>
              </a:tblGrid>
              <a:tr h="845820"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Yu Gothic"/>
                        </a:rPr>
                        <a:t>役割</a:t>
                      </a:r>
                    </a:p>
                  </a:txBody>
                  <a:tcPr anchor="ctr" marL="101600" marR="101600" marT="50800" marB="50800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Yu Gothic"/>
                        </a:rPr>
                        <a:t>マネージド環境の</a:t>
                      </a:r>
                    </a:p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Yu Gothic"/>
                        </a:rPr>
                        <a:t>設定・DLP設定</a:t>
                      </a:r>
                    </a:p>
                  </a:txBody>
                  <a:tcPr anchor="ctr" marL="101600" marR="101600" marT="50800" marB="50800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Yu Gothic"/>
                        </a:rPr>
                        <a:t>アプリ/フローの実行</a:t>
                      </a:r>
                    </a:p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Yu Gothic"/>
                        </a:rPr>
                        <a:t>（マネージド環境内）</a:t>
                      </a:r>
                    </a:p>
                  </a:txBody>
                  <a:tcPr anchor="ctr" marL="101600" marR="101600" marT="50800" marB="50800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Yu Gothic"/>
                        </a:rPr>
                        <a:t>Premiumコネクタの</a:t>
                      </a:r>
                    </a:p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Yu Gothic"/>
                        </a:rPr>
                        <a:t>利用（環境問わず）</a:t>
                      </a:r>
                    </a:p>
                  </a:txBody>
                  <a:tcPr anchor="ctr" marL="101600" marR="101600" marT="50800" marB="50800">
                    <a:solidFill>
                      <a:srgbClr val="1B2A4A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B2A4A"/>
                          </a:solidFill>
                          <a:latin typeface="Yu Gothic"/>
                        </a:rPr>
                        <a:t>管理者</a:t>
                      </a:r>
                    </a:p>
                    <a:p>
                      <a:pPr algn="l"/>
                      <a:r>
                        <a:rPr sz="1200" b="1">
                          <a:solidFill>
                            <a:srgbClr val="1B2A4A"/>
                          </a:solidFill>
                          <a:latin typeface="Yu Gothic"/>
                        </a:rPr>
                        <a:t>(Power Platform管理者)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Yu Gothic"/>
                        </a:rPr>
                        <a:t>管理者ロールのみで可</a:t>
                      </a:r>
                    </a:p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Yu Gothic"/>
                        </a:rPr>
                        <a:t>（追加ライセンス不要）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Yu Gothic"/>
                        </a:rPr>
                        <a:t>実行する場合は</a:t>
                      </a:r>
                    </a:p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Yu Gothic"/>
                        </a:rPr>
                        <a:t>他の役割と同様に必要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Yu Gothic"/>
                        </a:rPr>
                        <a:t>実行する場合は必要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B2A4A"/>
                          </a:solidFill>
                          <a:latin typeface="Yu Gothic"/>
                        </a:rPr>
                        <a:t>作成者(Maker)</a:t>
                      </a:r>
                    </a:p>
                    <a:p>
                      <a:pPr algn="l"/>
                      <a:r>
                        <a:rPr sz="1200" b="1">
                          <a:solidFill>
                            <a:srgbClr val="1B2A4A"/>
                          </a:solidFill>
                          <a:latin typeface="Yu Gothic"/>
                        </a:rPr>
                        <a:t>アプリ/フロー開発</a:t>
                      </a:r>
                    </a:p>
                  </a:txBody>
                  <a:tcPr anchor="ctr" marL="101600" marR="101600" marT="50800" marB="50800">
                    <a:solidFill>
                      <a:srgbClr val="F5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Yu Gothic"/>
                        </a:rPr>
                        <a:t>対象外</a:t>
                      </a:r>
                    </a:p>
                  </a:txBody>
                  <a:tcPr anchor="ctr" marL="101600" marR="101600" marT="50800" marB="50800">
                    <a:solidFill>
                      <a:srgbClr val="F5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Yu Gothic"/>
                        </a:rPr>
                        <a:t>作成・プレビュー自体は</a:t>
                      </a:r>
                    </a:p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Yu Gothic"/>
                        </a:rPr>
                        <a:t>不要な場合あり</a:t>
                      </a:r>
                    </a:p>
                  </a:txBody>
                  <a:tcPr anchor="ctr" marL="101600" marR="101600" marT="50800" marB="50800">
                    <a:solidFill>
                      <a:srgbClr val="F5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Yu Gothic"/>
                        </a:rPr>
                        <a:t>プレミアムコネクタを</a:t>
                      </a:r>
                    </a:p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Yu Gothic"/>
                        </a:rPr>
                        <a:t>組み込む場合は必要</a:t>
                      </a:r>
                    </a:p>
                  </a:txBody>
                  <a:tcPr anchor="ctr" marL="101600" marR="101600" marT="50800" marB="50800">
                    <a:solidFill>
                      <a:srgbClr val="F5F6F8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B2A4A"/>
                          </a:solidFill>
                          <a:latin typeface="Yu Gothic"/>
                        </a:rPr>
                        <a:t>実行者(Runner)</a:t>
                      </a:r>
                    </a:p>
                    <a:p>
                      <a:pPr algn="l"/>
                      <a:r>
                        <a:rPr sz="1200" b="1">
                          <a:solidFill>
                            <a:srgbClr val="1B2A4A"/>
                          </a:solidFill>
                          <a:latin typeface="Yu Gothic"/>
                        </a:rPr>
                        <a:t>一般利用者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Yu Gothic"/>
                        </a:rPr>
                        <a:t>対象外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Yu Gothic"/>
                        </a:rPr>
                        <a:t>必須</a:t>
                      </a:r>
                    </a:p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Yu Gothic"/>
                        </a:rPr>
                        <a:t>(Premiumライセンス)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Yu Gothic"/>
                        </a:rPr>
                        <a:t>必須</a:t>
                      </a:r>
                    </a:p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Yu Gothic"/>
                        </a:rPr>
                        <a:t>(Premiumライセンス)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5532120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6E6E6E"/>
                </a:solidFill>
                <a:latin typeface="Yu Gothic"/>
              </a:rPr>
              <a:t>※ 管理者専用のライセンス区分は存在しない。管理者であっても環境内でアプリ/フローを実行する場合は、一般ユーザーと同じライセンス要件が適用される。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6539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6E6E"/>
                </a:solidFill>
                <a:latin typeface="Yu Gothic"/>
              </a:rPr>
              <a:t>Power Platform Default環境 統治 調査報告 ｜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56539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6E6E"/>
                </a:solidFill>
                <a:latin typeface="Yu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5A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B9C7E6"/>
                </a:solidFill>
                <a:latin typeface="Yu Gothic"/>
              </a:rPr>
              <a:t>ISSUE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1480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Yu Gothic"/>
              </a:rPr>
              <a:t>論点5：DLPポリシー適用自体にPremiumライセンスは必要か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1371600" cy="457200"/>
          </a:xfrm>
          <a:prstGeom prst="roundRect">
            <a:avLst>
              <a:gd name="adj" fmla="val 50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12700" bIns="12700"/>
          <a:lstStyle/>
          <a:p>
            <a:pPr algn="ctr"/>
            <a:r>
              <a:rPr sz="1200" b="1">
                <a:solidFill>
                  <a:srgbClr val="1D8A70"/>
                </a:solidFill>
                <a:latin typeface="Yu Gothic"/>
              </a:rPr>
              <a:t>結論：不要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65960"/>
            <a:ext cx="6949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300" b="1">
                <a:solidFill>
                  <a:srgbClr val="262626"/>
                </a:solidFill>
                <a:latin typeface="Yu Gothic"/>
              </a:rPr>
              <a:t>● DLPポリシーは「管理者による統制機能」であり、利用者側にライセンスを
要求するものではない</a:t>
            </a:r>
          </a:p>
          <a:p>
            <a:pPr marL="228600">
              <a:lnSpc>
                <a:spcPct val="115000"/>
              </a:lnSpc>
              <a:spcAft>
                <a:spcPts val="900"/>
              </a:spcAft>
            </a:pPr>
            <a:r>
              <a:rPr sz="1200" b="0">
                <a:solidFill>
                  <a:srgbClr val="262626"/>
                </a:solidFill>
                <a:latin typeface="Yu Gothic"/>
              </a:rPr>
              <a:t>- 標準（無償枠を含む）ライセンスの一般ユーザーにも強制適用される</a:t>
            </a:r>
          </a:p>
          <a:p>
            <a:pPr marL="228600">
              <a:lnSpc>
                <a:spcPct val="115000"/>
              </a:lnSpc>
              <a:spcAft>
                <a:spcPts val="900"/>
              </a:spcAft>
            </a:pPr>
            <a:r>
              <a:rPr sz="1200" b="0">
                <a:solidFill>
                  <a:srgbClr val="262626"/>
                </a:solidFill>
                <a:latin typeface="Yu Gothic"/>
              </a:rPr>
              <a:t>- ポリシーに反する接続の組み合わせを含むアプリ/フローは、実行時・
設計時ともにブロックされ、エラーメッセージが表示される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300" b="1">
                <a:solidFill>
                  <a:srgbClr val="262626"/>
                </a:solidFill>
                <a:latin typeface="Yu Gothic"/>
              </a:rPr>
              <a:t>● 管理者側の権限要件（ライセンスではなく「役割」の話）</a:t>
            </a:r>
          </a:p>
          <a:p>
            <a:pPr marL="228600">
              <a:lnSpc>
                <a:spcPct val="115000"/>
              </a:lnSpc>
              <a:spcAft>
                <a:spcPts val="900"/>
              </a:spcAft>
            </a:pPr>
            <a:r>
              <a:rPr sz="1200" b="0">
                <a:solidFill>
                  <a:srgbClr val="262626"/>
                </a:solidFill>
                <a:latin typeface="Yu Gothic"/>
              </a:rPr>
              <a:t>- ポリシーの作成・編集・削除には、環境管理者 または Power Platform
管理者ロールが必要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300" b="1">
                <a:solidFill>
                  <a:srgbClr val="262626"/>
                </a:solidFill>
                <a:latin typeface="Yu Gothic"/>
              </a:rPr>
              <a:t>● 唯一の例外：デスクトップフローのデータポリシー</a:t>
            </a:r>
          </a:p>
          <a:p>
            <a:pPr marL="228600">
              <a:lnSpc>
                <a:spcPct val="115000"/>
              </a:lnSpc>
              <a:spcAft>
                <a:spcPts val="900"/>
              </a:spcAft>
            </a:pPr>
            <a:r>
              <a:rPr sz="1200" b="0">
                <a:solidFill>
                  <a:srgbClr val="262626"/>
                </a:solidFill>
                <a:latin typeface="Yu Gothic"/>
              </a:rPr>
              <a:t>- デスクトップフロー向けデータポリシーは、マネージド環境下でのみ
機能する制限があり、その場合は論点3のPremiumライセンス要件が
間接的に絡む</a:t>
            </a:r>
          </a:p>
        </p:txBody>
      </p:sp>
      <p:sp>
        <p:nvSpPr>
          <p:cNvPr id="8" name="Rectangle 7"/>
          <p:cNvSpPr/>
          <p:nvPr/>
        </p:nvSpPr>
        <p:spPr>
          <a:xfrm>
            <a:off x="7726679" y="1325880"/>
            <a:ext cx="3977639" cy="4709160"/>
          </a:xfrm>
          <a:prstGeom prst="rect">
            <a:avLst/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79" y="1508760"/>
            <a:ext cx="3566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D8A70"/>
                </a:solidFill>
                <a:latin typeface="Yu Gothic"/>
              </a:rPr>
              <a:t>実務上の意味合い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2103120"/>
            <a:ext cx="35661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250" b="0">
                <a:solidFill>
                  <a:srgbClr val="262626"/>
                </a:solidFill>
                <a:latin typeface="Yu Gothic"/>
              </a:rPr>
              <a:t>● DLPポリシーはコスト負担なしで
即座に導入できる統制手段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250" b="0">
                <a:solidFill>
                  <a:srgbClr val="262626"/>
                </a:solidFill>
                <a:latin typeface="Yu Gothic"/>
              </a:rPr>
              <a:t>● ライセンス予算の議論を待たずに
Default環境のガードレールを
構築できる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250" b="0">
                <a:solidFill>
                  <a:srgbClr val="262626"/>
                </a:solidFill>
                <a:latin typeface="Yu Gothic"/>
              </a:rPr>
              <a:t>● マネージド環境化の是非（論点1・3）
とは切り離して意思決定可能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6E6E"/>
                </a:solidFill>
                <a:latin typeface="Yu Gothic"/>
              </a:rPr>
              <a:t>Power Platform Default環境 統治 調査報告 ｜ Confidential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56539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6E6E"/>
                </a:solidFill>
                <a:latin typeface="Yu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5A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B9C7E6"/>
                </a:solidFill>
                <a:latin typeface="Yu Gothic"/>
              </a:rPr>
              <a:t>HOW-TO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1480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Yu Gothic"/>
              </a:rPr>
              <a:t>実施手順の概要（Default環境向けDLPポリシー設定）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371600"/>
            <a:ext cx="457200" cy="457200"/>
          </a:xfrm>
          <a:prstGeom prst="ellipse">
            <a:avLst/>
          </a:prstGeom>
          <a:solidFill>
            <a:srgbClr val="2E5A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26464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353312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B2A4A"/>
                </a:solidFill>
                <a:latin typeface="Yu Gothic"/>
              </a:rPr>
              <a:t>Power Platform 管理センターにアクセス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1353312"/>
            <a:ext cx="6217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262626"/>
                </a:solidFill>
                <a:latin typeface="Yu Gothic"/>
              </a:rPr>
              <a:t>Power Platform管理者 または テナント管理者としてサインイン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262626"/>
                </a:solidFill>
                <a:latin typeface="Yu Gothic"/>
              </a:rPr>
              <a:t>（admin.powerplatform.microsoft.com）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2376" y="1828800"/>
            <a:ext cx="19050" cy="201168"/>
          </a:xfrm>
          <a:prstGeom prst="rect">
            <a:avLst/>
          </a:prstGeom>
          <a:solidFill>
            <a:srgbClr val="D9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02920" y="2029968"/>
            <a:ext cx="457200" cy="457200"/>
          </a:xfrm>
          <a:prstGeom prst="ellipse">
            <a:avLst/>
          </a:prstGeom>
          <a:solidFill>
            <a:srgbClr val="2E5A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08483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011680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B2A4A"/>
                </a:solidFill>
                <a:latin typeface="Yu Gothic"/>
              </a:rPr>
              <a:t>［ポリシー］→［データ ポリシー］を開く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2011680"/>
            <a:ext cx="6217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262626"/>
                </a:solidFill>
                <a:latin typeface="Yu Gothic"/>
              </a:rPr>
              <a:t>左メニューからデータポリシー一覧画面に移動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2376" y="2487168"/>
            <a:ext cx="19050" cy="201168"/>
          </a:xfrm>
          <a:prstGeom prst="rect">
            <a:avLst/>
          </a:prstGeom>
          <a:solidFill>
            <a:srgbClr val="D9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02920" y="2688336"/>
            <a:ext cx="457200" cy="457200"/>
          </a:xfrm>
          <a:prstGeom prst="ellipse">
            <a:avLst/>
          </a:prstGeom>
          <a:solidFill>
            <a:srgbClr val="2E5A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74320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2670048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B2A4A"/>
                </a:solidFill>
                <a:latin typeface="Yu Gothic"/>
              </a:rPr>
              <a:t>新しいポリシーを作成しスコープを設定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2670048"/>
            <a:ext cx="6217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262626"/>
                </a:solidFill>
                <a:latin typeface="Yu Gothic"/>
              </a:rPr>
              <a:t>ポリシー名を入力後、「特定の環境」としてDefault環境を選択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262626"/>
                </a:solidFill>
                <a:latin typeface="Yu Gothic"/>
              </a:rPr>
              <a:t>（またはテナントレベルで全環境対象＋Default含める）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2376" y="3145536"/>
            <a:ext cx="19050" cy="201168"/>
          </a:xfrm>
          <a:prstGeom prst="rect">
            <a:avLst/>
          </a:prstGeom>
          <a:solidFill>
            <a:srgbClr val="D9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02920" y="3346704"/>
            <a:ext cx="457200" cy="457200"/>
          </a:xfrm>
          <a:prstGeom prst="ellipse">
            <a:avLst/>
          </a:prstGeom>
          <a:solidFill>
            <a:srgbClr val="2E5A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40156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3328416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B2A4A"/>
                </a:solidFill>
                <a:latin typeface="Yu Gothic"/>
              </a:rPr>
              <a:t>コネクタを分類（業務データ／非業務データ／ブロック済み）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3328416"/>
            <a:ext cx="6217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262626"/>
                </a:solidFill>
                <a:latin typeface="Yu Gothic"/>
              </a:rPr>
              <a:t>承認済み主要コネクタを「業務データ」グループへ、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262626"/>
                </a:solidFill>
                <a:latin typeface="Yu Gothic"/>
              </a:rPr>
              <a:t>その他ブロック可能なコネクタを「ブロック済み」グループへ振分け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2376" y="3803904"/>
            <a:ext cx="19050" cy="201168"/>
          </a:xfrm>
          <a:prstGeom prst="rect">
            <a:avLst/>
          </a:prstGeom>
          <a:solidFill>
            <a:srgbClr val="D9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02920" y="4005072"/>
            <a:ext cx="457200" cy="457200"/>
          </a:xfrm>
          <a:prstGeom prst="ellipse">
            <a:avLst/>
          </a:prstGeom>
          <a:solidFill>
            <a:srgbClr val="2E5A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05993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Yu Gothic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3986784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B2A4A"/>
                </a:solidFill>
                <a:latin typeface="Yu Gothic"/>
              </a:rPr>
              <a:t>既定グループを「ブロック済み」に設定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0" y="3986784"/>
            <a:ext cx="6217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262626"/>
                </a:solidFill>
                <a:latin typeface="Yu Gothic"/>
              </a:rPr>
              <a:t>新規追加されるコネクタは自動的に未承認状態＝利用不可とする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2376" y="4462272"/>
            <a:ext cx="19050" cy="201168"/>
          </a:xfrm>
          <a:prstGeom prst="rect">
            <a:avLst/>
          </a:prstGeom>
          <a:solidFill>
            <a:srgbClr val="D9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02920" y="4663440"/>
            <a:ext cx="457200" cy="457200"/>
          </a:xfrm>
          <a:prstGeom prst="ellipse">
            <a:avLst/>
          </a:prstGeom>
          <a:solidFill>
            <a:srgbClr val="2E5A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4718304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Yu Gothic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" y="4645152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B2A4A"/>
                </a:solidFill>
                <a:latin typeface="Yu Gothic"/>
              </a:rPr>
              <a:t>レビュー・保存し、ポリシーを公開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0" y="4645152"/>
            <a:ext cx="6217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262626"/>
                </a:solidFill>
                <a:latin typeface="Yu Gothic"/>
              </a:rPr>
              <a:t>影響を受けるアプリ/フローの一覧を確認のうえ公開。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262626"/>
                </a:solidFill>
                <a:latin typeface="Yu Gothic"/>
              </a:rPr>
              <a:t>必要に応じ管理者向けエラーメッセージをカスタマイズ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22376" y="5120640"/>
            <a:ext cx="19050" cy="201168"/>
          </a:xfrm>
          <a:prstGeom prst="rect">
            <a:avLst/>
          </a:prstGeom>
          <a:solidFill>
            <a:srgbClr val="D9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02920" y="5321808"/>
            <a:ext cx="457200" cy="457200"/>
          </a:xfrm>
          <a:prstGeom prst="ellipse">
            <a:avLst/>
          </a:prstGeom>
          <a:solidFill>
            <a:srgbClr val="2E5A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537667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Yu Gothic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5303520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B2A4A"/>
                </a:solidFill>
                <a:latin typeface="Yu Gothic"/>
              </a:rPr>
              <a:t>（任意）環境ルーティングを有効化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5303520"/>
            <a:ext cx="6217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262626"/>
                </a:solidFill>
                <a:latin typeface="Yu Gothic"/>
              </a:rPr>
              <a:t>新規メーカーをDefault環境から個人用開発環境へ自動誘導し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262626"/>
                </a:solidFill>
                <a:latin typeface="Yu Gothic"/>
              </a:rPr>
              <a:t>意図しない作成を抑制（Copilot Studio／Power Apps／Power Automate対応）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56539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6E6E"/>
                </a:solidFill>
                <a:latin typeface="Yu Gothic"/>
              </a:rPr>
              <a:t>Power Platform Default環境 統治 調査報告 ｜ Confidential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0" y="656539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6E6E"/>
                </a:solidFill>
                <a:latin typeface="Yu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5A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B9C7E6"/>
                </a:solidFill>
                <a:latin typeface="Yu Gothic"/>
              </a:rPr>
              <a:t>ALTERNATIVES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1480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Yu Gothic"/>
              </a:rPr>
              <a:t>制約がある場合の代替案／現実的な利用制御方法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3630168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3630168" cy="73152"/>
          </a:xfrm>
          <a:prstGeom prst="rect">
            <a:avLst/>
          </a:prstGeom>
          <a:solidFill>
            <a:srgbClr val="1D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572768"/>
            <a:ext cx="32644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B2A4A"/>
                </a:solidFill>
                <a:latin typeface="Yu Gothic"/>
              </a:rPr>
              <a:t>環境ルーティング</a:t>
            </a:r>
          </a:p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B2A4A"/>
                </a:solidFill>
                <a:latin typeface="Yu Gothic"/>
              </a:rPr>
              <a:t>(Environment Routing)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40280"/>
            <a:ext cx="3264408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Yu Gothic"/>
              </a:rPr>
              <a:t>Copilot Studio／Power Apps／Power Automateへの新規アクセス時、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Yu Gothic"/>
              </a:rPr>
              <a:t>メーカーをDefault環境ではなく個人用開発環境へ自動的に誘導。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Yu Gothic"/>
              </a:rPr>
              <a:t>Default環境の「散らかり」と意図しない作成を抑制する。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88536" y="1371600"/>
            <a:ext cx="3630168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88536" y="1371600"/>
            <a:ext cx="3630168" cy="73152"/>
          </a:xfrm>
          <a:prstGeom prst="rect">
            <a:avLst/>
          </a:prstGeom>
          <a:solidFill>
            <a:srgbClr val="1D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1416" y="1572768"/>
            <a:ext cx="32644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B2A4A"/>
                </a:solidFill>
                <a:latin typeface="Yu Gothic"/>
              </a:rPr>
              <a:t>Default環境専用DLPポリシー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71416" y="2240280"/>
            <a:ext cx="3264408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Yu Gothic"/>
              </a:rPr>
              <a:t>論点2・5のとおり追加ライセンス不要で即時導入可能。コネクタ既定を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Yu Gothic"/>
              </a:rPr>
              <a:t>「ブロック済み」にする方式がMS推奨のベストプラクティス。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74152" y="1371600"/>
            <a:ext cx="3630168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74152" y="1371600"/>
            <a:ext cx="3630168" cy="73152"/>
          </a:xfrm>
          <a:prstGeom prst="rect">
            <a:avLst/>
          </a:prstGeom>
          <a:solidFill>
            <a:srgbClr val="2E5A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7032" y="1572768"/>
            <a:ext cx="32644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B2A4A"/>
                </a:solidFill>
                <a:latin typeface="Yu Gothic"/>
              </a:rPr>
              <a:t>環境グループ＋ルール</a:t>
            </a:r>
          </a:p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B2A4A"/>
                </a:solidFill>
                <a:latin typeface="Yu Gothic"/>
              </a:rPr>
              <a:t>(Environment Groups)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2" y="2240280"/>
            <a:ext cx="3264408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Yu Gothic"/>
              </a:rPr>
              <a:t>共有制限・データ保持・AI機能有効化などの統制ルールを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Yu Gothic"/>
              </a:rPr>
              <a:t>複数環境へ一括適用するプレミアムガバナンス機能。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Yu Gothic"/>
              </a:rPr>
              <a:t>適用範囲・ライセンス影響は個別環境ごとに要確認。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904488"/>
            <a:ext cx="3630168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904488"/>
            <a:ext cx="3630168" cy="73152"/>
          </a:xfrm>
          <a:prstGeom prst="rect">
            <a:avLst/>
          </a:prstGeom>
          <a:solidFill>
            <a:srgbClr val="2E5A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105656"/>
            <a:ext cx="32644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B2A4A"/>
                </a:solidFill>
                <a:latin typeface="Yu Gothic"/>
              </a:rPr>
              <a:t>高利用度アプリの専用環境への移行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773168"/>
            <a:ext cx="3264408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Yu Gothic"/>
              </a:rPr>
              <a:t>利用者数の多い重要アプリ／フローはソリューション化のうえ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Yu Gothic"/>
              </a:rPr>
              <a:t>専用の（小規模な）マネージド本番環境へ移行し、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Yu Gothic"/>
              </a:rPr>
              <a:t>そこだけをPremium対象とすることでコストを限定。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88536" y="3904488"/>
            <a:ext cx="3630168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8536" y="3904488"/>
            <a:ext cx="3630168" cy="73152"/>
          </a:xfrm>
          <a:prstGeom prst="rect">
            <a:avLst/>
          </a:prstGeom>
          <a:solidFill>
            <a:srgbClr val="C459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71416" y="4105656"/>
            <a:ext cx="32644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B2A4A"/>
                </a:solidFill>
                <a:latin typeface="Yu Gothic"/>
              </a:rPr>
              <a:t>Exchange側メール送信制御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71416" y="4773168"/>
            <a:ext cx="3264408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Yu Gothic"/>
              </a:rPr>
              <a:t>Power Automateからのメール送信は特有のSMTPヘッダーを持つため、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Yu Gothic"/>
              </a:rPr>
              <a:t>Exchange管理者の転送ルールで識別・制御可能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Yu Gothic"/>
              </a:rPr>
              <a:t>（Power Platform側の設定に依存しない補完策）。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74152" y="3904488"/>
            <a:ext cx="3630168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74152" y="3904488"/>
            <a:ext cx="3630168" cy="73152"/>
          </a:xfrm>
          <a:prstGeom prst="rect">
            <a:avLst/>
          </a:prstGeom>
          <a:solidFill>
            <a:srgbClr val="C459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57032" y="4105656"/>
            <a:ext cx="32644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B2A4A"/>
                </a:solidFill>
                <a:latin typeface="Yu Gothic"/>
              </a:rPr>
              <a:t>テナント分離／IPファイアウォール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57032" y="4773168"/>
            <a:ext cx="3264408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Yu Gothic"/>
              </a:rPr>
              <a:t>Cross-tenant isolationや管理対象環境のDataverse IP制限を用いて、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Yu Gothic"/>
              </a:rPr>
              <a:t>許可されていない外部接続・テナントへのデータ持ち出しを制御。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56539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6E6E"/>
                </a:solidFill>
                <a:latin typeface="Yu Gothic"/>
              </a:rPr>
              <a:t>Power Platform Default環境 統治 調査報告 ｜ Confidential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38560" y="656539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6E6E"/>
                </a:solidFill>
                <a:latin typeface="Yu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5A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B9C7E6"/>
                </a:solidFill>
                <a:latin typeface="Yu Gothic"/>
              </a:rPr>
              <a:t>RECOMMENDATION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1480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Yu Gothic"/>
              </a:rPr>
              <a:t>推奨アクションロードマップ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3630168" cy="4754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3630168" cy="777240"/>
          </a:xfrm>
          <a:prstGeom prst="rect">
            <a:avLst/>
          </a:prstGeom>
          <a:solidFill>
            <a:srgbClr val="1D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63040"/>
            <a:ext cx="32644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Yu Gothic"/>
              </a:rPr>
              <a:t>フェーズ1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810512"/>
            <a:ext cx="32644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FFFFFF"/>
                </a:solidFill>
                <a:latin typeface="Yu Gothic"/>
              </a:rPr>
              <a:t>即時（0〜2週間）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31720"/>
            <a:ext cx="3264408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00" b="0">
                <a:solidFill>
                  <a:srgbClr val="262626"/>
                </a:solidFill>
                <a:latin typeface="Yu Gothic"/>
              </a:rPr>
              <a:t>● Default環境専用のDLPポリシーを新規作成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00" b="0">
                <a:solidFill>
                  <a:srgbClr val="262626"/>
                </a:solidFill>
                <a:latin typeface="Yu Gothic"/>
              </a:rPr>
              <a:t>● コネクタ既定分類を「ブロック済み」に設定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00" b="0">
                <a:solidFill>
                  <a:srgbClr val="262626"/>
                </a:solidFill>
                <a:latin typeface="Yu Gothic"/>
              </a:rPr>
              <a:t>● 承認済み主要コネクタのみ許可リスト化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532120"/>
            <a:ext cx="3264408" cy="411480"/>
          </a:xfrm>
          <a:prstGeom prst="rect">
            <a:avLst/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577840"/>
            <a:ext cx="308152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62626"/>
                </a:solidFill>
                <a:latin typeface="Yu Gothic"/>
              </a:rPr>
              <a:t>追加ライセンス費用なし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88536" y="1371600"/>
            <a:ext cx="3630168" cy="4754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88536" y="1371600"/>
            <a:ext cx="3630168" cy="777240"/>
          </a:xfrm>
          <a:prstGeom prst="rect">
            <a:avLst/>
          </a:prstGeom>
          <a:solidFill>
            <a:srgbClr val="2E5A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71416" y="1463040"/>
            <a:ext cx="32644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Yu Gothic"/>
              </a:rPr>
              <a:t>フェーズ2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71416" y="1810512"/>
            <a:ext cx="32644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FFFFFF"/>
                </a:solidFill>
                <a:latin typeface="Yu Gothic"/>
              </a:rPr>
              <a:t>短期（1〜3ヶ月）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2331720"/>
            <a:ext cx="3264408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00" b="0">
                <a:solidFill>
                  <a:srgbClr val="262626"/>
                </a:solidFill>
                <a:latin typeface="Yu Gothic"/>
              </a:rPr>
              <a:t>● 環境ルーティングを有効化し新規メーカーを
個人用開発環境へ誘導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00" b="0">
                <a:solidFill>
                  <a:srgbClr val="262626"/>
                </a:solidFill>
                <a:latin typeface="Yu Gothic"/>
              </a:rPr>
              <a:t>● 利用状況の可視化（CoE Starter Kit等）でDefault環境の利用実態を棚卸し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00" b="0">
                <a:solidFill>
                  <a:srgbClr val="262626"/>
                </a:solidFill>
                <a:latin typeface="Yu Gothic"/>
              </a:rPr>
              <a:t>● 高利用度・重要アプリ/フローを洗い出し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71416" y="5532120"/>
            <a:ext cx="3264408" cy="411480"/>
          </a:xfrm>
          <a:prstGeom prst="rect">
            <a:avLst/>
          </a:prstGeom>
          <a:solidFill>
            <a:srgbClr val="E9E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2856" y="5577840"/>
            <a:ext cx="308152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62626"/>
                </a:solidFill>
                <a:latin typeface="Yu Gothic"/>
              </a:rPr>
              <a:t>既存ライセンス内で対応可能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74152" y="1371600"/>
            <a:ext cx="3630168" cy="4754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74152" y="1371600"/>
            <a:ext cx="3630168" cy="777240"/>
          </a:xfrm>
          <a:prstGeom prst="rect">
            <a:avLst/>
          </a:prstGeom>
          <a:solidFill>
            <a:srgbClr val="C459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57032" y="1463040"/>
            <a:ext cx="32644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Yu Gothic"/>
              </a:rPr>
              <a:t>フェーズ3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2" y="1810512"/>
            <a:ext cx="32644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FFFFFF"/>
                </a:solidFill>
                <a:latin typeface="Yu Gothic"/>
              </a:rPr>
              <a:t>中期（3〜6ヶ月）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2" y="2331720"/>
            <a:ext cx="3264408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00" b="0">
                <a:solidFill>
                  <a:srgbClr val="262626"/>
                </a:solidFill>
                <a:latin typeface="Yu Gothic"/>
              </a:rPr>
              <a:t>● 高利用度アプリ/フローを専用の
マネージド本番環境へ移行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00" b="0">
                <a:solidFill>
                  <a:srgbClr val="262626"/>
                </a:solidFill>
                <a:latin typeface="Yu Gothic"/>
              </a:rPr>
              <a:t>● 全社Premiumライセンス化のROIを試算した
うえでDefault環境自体のマネージド化を再判断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00" b="0">
                <a:solidFill>
                  <a:srgbClr val="262626"/>
                </a:solidFill>
                <a:latin typeface="Yu Gothic"/>
              </a:rPr>
              <a:t>● Copilot Studioエージェントのガバナンス方針を
環境戦略全体に統合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57032" y="5532120"/>
            <a:ext cx="3264408" cy="411480"/>
          </a:xfrm>
          <a:prstGeom prst="rect">
            <a:avLst/>
          </a:prstGeom>
          <a:solidFill>
            <a:srgbClr val="FBEA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48472" y="5577840"/>
            <a:ext cx="308152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62626"/>
                </a:solidFill>
                <a:latin typeface="Yu Gothic"/>
              </a:rPr>
              <a:t>ライセンス予算の意思決定が必要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56539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6E6E"/>
                </a:solidFill>
                <a:latin typeface="Yu Gothic"/>
              </a:rPr>
              <a:t>Power Platform Default環境 統治 調査報告 ｜ 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56539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6E6E"/>
                </a:solidFill>
                <a:latin typeface="Yu 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5A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B9C7E6"/>
                </a:solidFill>
                <a:latin typeface="Yu Gothic"/>
              </a:rPr>
              <a:t>RISKS &amp; CAVEATS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1480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Yu Gothic"/>
              </a:rPr>
              <a:t>リスク・留意事項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100"/>
              </a:spcAft>
            </a:pPr>
            <a:r>
              <a:rPr sz="1350" b="1">
                <a:solidFill>
                  <a:srgbClr val="262626"/>
                </a:solidFill>
                <a:latin typeface="Yu Gothic"/>
              </a:rPr>
              <a:t>● ライセンスコンプライアンス強化の流れ</a:t>
            </a:r>
          </a:p>
          <a:p>
            <a:pPr marL="228600">
              <a:lnSpc>
                <a:spcPct val="120000"/>
              </a:lnSpc>
              <a:spcAft>
                <a:spcPts val="1100"/>
              </a:spcAft>
            </a:pPr>
            <a:r>
              <a:rPr sz="1250" b="0">
                <a:solidFill>
                  <a:srgbClr val="262626"/>
                </a:solidFill>
                <a:latin typeface="Yu Gothic"/>
              </a:rPr>
              <a:t>- 2026年3月より管理者向け、6月よりエンドユーザー向けにライセンス
未充足の通知が順次導入されており、放置は将来的な利用制限リスクとなる</a:t>
            </a:r>
          </a:p>
          <a:p>
            <a:pPr>
              <a:lnSpc>
                <a:spcPct val="120000"/>
              </a:lnSpc>
              <a:spcAft>
                <a:spcPts val="1100"/>
              </a:spcAft>
            </a:pPr>
            <a:r>
              <a:rPr sz="1350" b="1">
                <a:solidFill>
                  <a:srgbClr val="262626"/>
                </a:solidFill>
                <a:latin typeface="Yu Gothic"/>
              </a:rPr>
              <a:t>● ブロック不可コネクタの存在</a:t>
            </a:r>
          </a:p>
          <a:p>
            <a:pPr marL="228600">
              <a:lnSpc>
                <a:spcPct val="120000"/>
              </a:lnSpc>
              <a:spcAft>
                <a:spcPts val="1100"/>
              </a:spcAft>
            </a:pPr>
            <a:r>
              <a:rPr sz="1250" b="0">
                <a:solidFill>
                  <a:srgbClr val="262626"/>
                </a:solidFill>
                <a:latin typeface="Yu Gothic"/>
              </a:rPr>
              <a:t>- 一部の標準コネクタはDLPポリシーで「ブロック不可」に分類されており、
完全な利用制御はできない点を事前に理解しておく必要がある</a:t>
            </a:r>
          </a:p>
          <a:p>
            <a:pPr>
              <a:lnSpc>
                <a:spcPct val="120000"/>
              </a:lnSpc>
              <a:spcAft>
                <a:spcPts val="1100"/>
              </a:spcAft>
            </a:pPr>
            <a:r>
              <a:rPr sz="1350" b="1">
                <a:solidFill>
                  <a:srgbClr val="262626"/>
                </a:solidFill>
                <a:latin typeface="Yu Gothic"/>
              </a:rPr>
              <a:t>● ユーザー影響の考慮</a:t>
            </a:r>
          </a:p>
          <a:p>
            <a:pPr marL="228600">
              <a:lnSpc>
                <a:spcPct val="120000"/>
              </a:lnSpc>
              <a:spcAft>
                <a:spcPts val="1100"/>
              </a:spcAft>
            </a:pPr>
            <a:r>
              <a:rPr sz="1250" b="0">
                <a:solidFill>
                  <a:srgbClr val="262626"/>
                </a:solidFill>
                <a:latin typeface="Yu Gothic"/>
              </a:rPr>
              <a:t>- DLPポリシーの厳格化・環境ルーティングの導入は、既存の正当な業務利用者
の体験に影響する可能性があるため、事前告知とエラーメッセージの
カスタマイズ（Set-PowerAppDlpErrorSettings 等）で移行摩擦を軽減する</a:t>
            </a:r>
          </a:p>
          <a:p>
            <a:pPr>
              <a:lnSpc>
                <a:spcPct val="120000"/>
              </a:lnSpc>
              <a:spcAft>
                <a:spcPts val="1100"/>
              </a:spcAft>
            </a:pPr>
            <a:r>
              <a:rPr sz="1350" b="1">
                <a:solidFill>
                  <a:srgbClr val="262626"/>
                </a:solidFill>
                <a:latin typeface="Yu Gothic"/>
              </a:rPr>
              <a:t>● 情報の鮮度</a:t>
            </a:r>
          </a:p>
          <a:p>
            <a:pPr marL="228600">
              <a:lnSpc>
                <a:spcPct val="120000"/>
              </a:lnSpc>
              <a:spcAft>
                <a:spcPts val="1100"/>
              </a:spcAft>
            </a:pPr>
            <a:r>
              <a:rPr sz="1250" b="0">
                <a:solidFill>
                  <a:srgbClr val="262626"/>
                </a:solidFill>
                <a:latin typeface="Yu Gothic"/>
              </a:rPr>
              <a:t>- Power PlatformのライセンスポリシーおよびManaged Environment機能は
継続的に更新されており、実施前に最新のMicrosoft Learn情報の
再確認を推奨する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6E6E"/>
                </a:solidFill>
                <a:latin typeface="Yu Gothic"/>
              </a:rPr>
              <a:t>Power Platform Default環境 統治 調査報告 ｜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56539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6E6E"/>
                </a:solidFill>
                <a:latin typeface="Yu 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5A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B9C7E6"/>
                </a:solidFill>
                <a:latin typeface="Yu Gothic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1480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Yu Gothic"/>
              </a:rPr>
              <a:t>参考文献・出典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E5AAC"/>
                </a:solidFill>
                <a:latin typeface="Yu Gothic"/>
              </a:rPr>
              <a:t>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371600"/>
            <a:ext cx="5212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62626"/>
                </a:solidFill>
                <a:latin typeface="Yu Gothic"/>
              </a:rPr>
              <a:t>Managed environments overview - Microsoft Learn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62626"/>
                </a:solidFill>
                <a:latin typeface="Yu Gothic"/>
              </a:rPr>
              <a:t>learn.microsoft.com/power-platform/admin/managed-environment-overview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E5AAC"/>
                </a:solidFill>
                <a:latin typeface="Yu Gothic"/>
              </a:rPr>
              <a:t>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48840"/>
            <a:ext cx="5212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62626"/>
                </a:solidFill>
                <a:latin typeface="Yu Gothic"/>
              </a:rPr>
              <a:t>Enable managed environments - Microsoft Learn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62626"/>
                </a:solidFill>
                <a:latin typeface="Yu Gothic"/>
              </a:rPr>
              <a:t>learn.microsoft.com/power-platform/admin/managed-environment-enable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926080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E5AAC"/>
                </a:solidFill>
                <a:latin typeface="Yu Gothic"/>
              </a:rPr>
              <a:t>3.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926080"/>
            <a:ext cx="5212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62626"/>
                </a:solidFill>
                <a:latin typeface="Yu Gothic"/>
              </a:rPr>
              <a:t>Licensing (Managed Environments) - Microsoft Learn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62626"/>
                </a:solidFill>
                <a:latin typeface="Yu Gothic"/>
              </a:rPr>
              <a:t>learn.microsoft.com/power-platform/admin/managed-environment-licensing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703320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E5AAC"/>
                </a:solidFill>
                <a:latin typeface="Yu Gothic"/>
              </a:rPr>
              <a:t>4.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703320"/>
            <a:ext cx="5212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62626"/>
                </a:solidFill>
                <a:latin typeface="Yu Gothic"/>
              </a:rPr>
              <a:t>Manage data policies (DLP) - Microsoft Learn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62626"/>
                </a:solidFill>
                <a:latin typeface="Yu Gothic"/>
              </a:rPr>
              <a:t>learn.microsoft.com/power-platform/admin/prevent-data-loss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480560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E5AAC"/>
                </a:solidFill>
                <a:latin typeface="Yu Gothic"/>
              </a:rPr>
              <a:t>5.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480560"/>
            <a:ext cx="5212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62626"/>
                </a:solidFill>
                <a:latin typeface="Yu Gothic"/>
              </a:rPr>
              <a:t>View policies and scope - Microsoft Learn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62626"/>
                </a:solidFill>
                <a:latin typeface="Yu Gothic"/>
              </a:rPr>
              <a:t>learn.microsoft.com/power-platform/admin/dlp-policy-scope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257800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E5AAC"/>
                </a:solidFill>
                <a:latin typeface="Yu Gothic"/>
              </a:rPr>
              <a:t>6.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257800"/>
            <a:ext cx="5212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62626"/>
                </a:solidFill>
                <a:latin typeface="Yu Gothic"/>
              </a:rPr>
              <a:t>Impact of data policies on apps and flows - Microsoft Learn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62626"/>
                </a:solidFill>
                <a:latin typeface="Yu Gothic"/>
              </a:rPr>
              <a:t>learn.microsoft.com/power-platform/admin/dlp-impact-policies-apps-flows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371600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E5AAC"/>
                </a:solidFill>
                <a:latin typeface="Yu Gothic"/>
              </a:rPr>
              <a:t>7.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1371600"/>
            <a:ext cx="5212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62626"/>
                </a:solidFill>
                <a:latin typeface="Yu Gothic"/>
              </a:rPr>
              <a:t>Secure the default environment - Microsoft Learn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62626"/>
                </a:solidFill>
                <a:latin typeface="Yu Gothic"/>
              </a:rPr>
              <a:t>learn.microsoft.com/power-platform/guidance/adoption/secure-default-environment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2148840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E5AAC"/>
                </a:solidFill>
                <a:latin typeface="Yu Gothic"/>
              </a:rPr>
              <a:t>8.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148840"/>
            <a:ext cx="5212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62626"/>
                </a:solidFill>
                <a:latin typeface="Yu Gothic"/>
              </a:rPr>
              <a:t>Manage and govern the default environment - Microsoft Learn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62626"/>
                </a:solidFill>
                <a:latin typeface="Yu Gothic"/>
              </a:rPr>
              <a:t>learn.microsoft.com/power-platform/guidance/adoption/manage-default-environment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2926080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E5AAC"/>
                </a:solidFill>
                <a:latin typeface="Yu Gothic"/>
              </a:rPr>
              <a:t>9.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926080"/>
            <a:ext cx="5212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62626"/>
                </a:solidFill>
                <a:latin typeface="Yu Gothic"/>
              </a:rPr>
              <a:t>Environment routing - Microsoft Learn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62626"/>
                </a:solidFill>
                <a:latin typeface="Yu Gothic"/>
              </a:rPr>
              <a:t>learn.microsoft.com/power-platform/admin/default-environment-routing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3703320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E5AAC"/>
                </a:solidFill>
                <a:latin typeface="Yu Gothic"/>
              </a:rPr>
              <a:t>10.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703320"/>
            <a:ext cx="5212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62626"/>
                </a:solidFill>
                <a:latin typeface="Yu Gothic"/>
              </a:rPr>
              <a:t>Environment groups - Microsoft Learn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62626"/>
                </a:solidFill>
                <a:latin typeface="Yu Gothic"/>
              </a:rPr>
              <a:t>learn.microsoft.com/power-platform/admin/environment-groups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4480560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E5AAC"/>
                </a:solidFill>
                <a:latin typeface="Yu Gothic"/>
              </a:rPr>
              <a:t>11.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480560"/>
            <a:ext cx="5212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62626"/>
                </a:solidFill>
                <a:latin typeface="Yu Gothic"/>
              </a:rPr>
              <a:t>Power Automate licensing FAQ - Microsoft Learn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62626"/>
                </a:solidFill>
                <a:latin typeface="Yu Gothic"/>
              </a:rPr>
              <a:t>learn.microsoft.com/power-platform/admin/power-automate-licensing/faqs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5257800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E5AAC"/>
                </a:solidFill>
                <a:latin typeface="Yu Gothic"/>
              </a:rPr>
              <a:t>12.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257800"/>
            <a:ext cx="5212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62626"/>
                </a:solidFill>
                <a:latin typeface="Yu Gothic"/>
              </a:rPr>
              <a:t>8 Power Platform DLP Policy Best Practices - matthewdevaney.com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2636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1">
                <a:solidFill>
                  <a:srgbClr val="6E6E6E"/>
                </a:solidFill>
                <a:latin typeface="Yu Gothic"/>
              </a:rPr>
              <a:t>※ 本資料はMicrosoft公式ドキュメントおよび信頼できる二次情報源に基づき2026年7月時点の情報を整理したものです。設定前に最新情報をご確認ください。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56539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6E6E"/>
                </a:solidFill>
                <a:latin typeface="Yu Gothic"/>
              </a:rPr>
              <a:t>Power Platform Default環境 統治 調査報告 ｜ Confidential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56539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6E6E"/>
                </a:solidFill>
                <a:latin typeface="Yu Gothic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