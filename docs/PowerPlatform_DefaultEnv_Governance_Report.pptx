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4892040"/>
            <a:ext cx="12191695" cy="54864"/>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058400" cy="457200"/>
          </a:xfrm>
          <a:prstGeom prst="rect">
            <a:avLst/>
          </a:prstGeom>
          <a:noFill/>
        </p:spPr>
        <p:txBody>
          <a:bodyPr wrap="square" anchor="t" lIns="0" rIns="0" tIns="0" bIns="0">
            <a:spAutoFit/>
          </a:bodyPr>
          <a:lstStyle/>
          <a:p>
            <a:pPr algn="l">
              <a:lnSpc>
                <a:spcPct val="100000"/>
              </a:lnSpc>
            </a:pPr>
            <a:r>
              <a:rPr sz="1600" b="1" i="0">
                <a:solidFill>
                  <a:srgbClr val="B9C7E6"/>
                </a:solidFill>
                <a:latin typeface="Yu Gothic"/>
              </a:rPr>
              <a:t>調査報告書</a:t>
            </a:r>
          </a:p>
        </p:txBody>
      </p:sp>
      <p:sp>
        <p:nvSpPr>
          <p:cNvPr id="4" name="TextBox 3"/>
          <p:cNvSpPr txBox="1"/>
          <p:nvPr/>
        </p:nvSpPr>
        <p:spPr>
          <a:xfrm>
            <a:off x="822960" y="1828800"/>
            <a:ext cx="10515600" cy="1737360"/>
          </a:xfrm>
          <a:prstGeom prst="rect">
            <a:avLst/>
          </a:prstGeom>
          <a:noFill/>
        </p:spPr>
        <p:txBody>
          <a:bodyPr wrap="square" anchor="t" lIns="0" rIns="0" tIns="0" bIns="0">
            <a:spAutoFit/>
          </a:bodyPr>
          <a:lstStyle/>
          <a:p>
            <a:pPr algn="l">
              <a:lnSpc>
                <a:spcPct val="115000"/>
              </a:lnSpc>
            </a:pPr>
            <a:r>
              <a:rPr sz="3200" b="1" i="0">
                <a:solidFill>
                  <a:srgbClr val="FFFFFF"/>
                </a:solidFill>
                <a:latin typeface="Yu Gothic"/>
              </a:rPr>
              <a:t>Power Platform「Default環境」における</a:t>
            </a:r>
          </a:p>
          <a:p>
            <a:pPr algn="l">
              <a:lnSpc>
                <a:spcPct val="115000"/>
              </a:lnSpc>
            </a:pPr>
            <a:r>
              <a:rPr sz="3200" b="1" i="0">
                <a:solidFill>
                  <a:srgbClr val="FFFFFF"/>
                </a:solidFill>
                <a:latin typeface="Yu Gothic"/>
              </a:rPr>
              <a:t>マネージド環境設定・DLPポリシー適用の可否調査</a:t>
            </a:r>
          </a:p>
        </p:txBody>
      </p:sp>
      <p:sp>
        <p:nvSpPr>
          <p:cNvPr id="5" name="TextBox 4"/>
          <p:cNvSpPr txBox="1"/>
          <p:nvPr/>
        </p:nvSpPr>
        <p:spPr>
          <a:xfrm>
            <a:off x="822960" y="3520440"/>
            <a:ext cx="10515600" cy="548640"/>
          </a:xfrm>
          <a:prstGeom prst="rect">
            <a:avLst/>
          </a:prstGeom>
          <a:noFill/>
        </p:spPr>
        <p:txBody>
          <a:bodyPr wrap="square" anchor="t" lIns="0" rIns="0" tIns="0" bIns="0">
            <a:spAutoFit/>
          </a:bodyPr>
          <a:lstStyle/>
          <a:p>
            <a:pPr algn="l">
              <a:lnSpc>
                <a:spcPct val="100000"/>
              </a:lnSpc>
            </a:pPr>
            <a:r>
              <a:rPr sz="1700" b="0" i="0">
                <a:solidFill>
                  <a:srgbClr val="CED8EE"/>
                </a:solidFill>
                <a:latin typeface="Yu Gothic"/>
              </a:rPr>
              <a:t>― Power Automate／Copilot Studio 等 利用制御方針の判断材料整理 ―</a:t>
            </a:r>
          </a:p>
        </p:txBody>
      </p:sp>
      <p:sp>
        <p:nvSpPr>
          <p:cNvPr id="6" name="TextBox 5"/>
          <p:cNvSpPr txBox="1"/>
          <p:nvPr/>
        </p:nvSpPr>
        <p:spPr>
          <a:xfrm>
            <a:off x="822960" y="5989320"/>
            <a:ext cx="7315200" cy="365760"/>
          </a:xfrm>
          <a:prstGeom prst="rect">
            <a:avLst/>
          </a:prstGeom>
          <a:noFill/>
        </p:spPr>
        <p:txBody>
          <a:bodyPr wrap="square" anchor="t" lIns="0" rIns="0" tIns="0" bIns="0">
            <a:spAutoFit/>
          </a:bodyPr>
          <a:lstStyle/>
          <a:p>
            <a:pPr algn="l">
              <a:lnSpc>
                <a:spcPct val="100000"/>
              </a:lnSpc>
            </a:pPr>
            <a:r>
              <a:rPr sz="1300" b="0" i="0">
                <a:solidFill>
                  <a:srgbClr val="B9C7E6"/>
                </a:solidFill>
                <a:latin typeface="Yu Gothic"/>
              </a:rPr>
              <a:t>2026年7月2日</a:t>
            </a:r>
          </a:p>
        </p:txBody>
      </p:sp>
      <p:sp>
        <p:nvSpPr>
          <p:cNvPr id="7" name="TextBox 6"/>
          <p:cNvSpPr txBox="1"/>
          <p:nvPr/>
        </p:nvSpPr>
        <p:spPr>
          <a:xfrm>
            <a:off x="822960" y="6309360"/>
            <a:ext cx="7315200" cy="365760"/>
          </a:xfrm>
          <a:prstGeom prst="rect">
            <a:avLst/>
          </a:prstGeom>
          <a:noFill/>
        </p:spPr>
        <p:txBody>
          <a:bodyPr wrap="square" anchor="t" lIns="0" rIns="0" tIns="0" bIns="0">
            <a:spAutoFit/>
          </a:bodyPr>
          <a:lstStyle/>
          <a:p>
            <a:pPr algn="l">
              <a:lnSpc>
                <a:spcPct val="100000"/>
              </a:lnSpc>
            </a:pPr>
            <a:r>
              <a:rPr sz="1300" b="0" i="0">
                <a:solidFill>
                  <a:srgbClr val="B9C7E6"/>
                </a:solidFill>
                <a:latin typeface="Yu Gothic"/>
              </a:rPr>
              <a:t>IT ガバナンス調査チーム</a:t>
            </a:r>
          </a:p>
        </p:txBody>
      </p:sp>
      <p:sp>
        <p:nvSpPr>
          <p:cNvPr id="8" name="TextBox 7"/>
          <p:cNvSpPr txBox="1"/>
          <p:nvPr/>
        </p:nvSpPr>
        <p:spPr>
          <a:xfrm>
            <a:off x="9692640" y="5989320"/>
            <a:ext cx="2011680" cy="640080"/>
          </a:xfrm>
          <a:prstGeom prst="rect">
            <a:avLst/>
          </a:prstGeom>
          <a:noFill/>
        </p:spPr>
        <p:txBody>
          <a:bodyPr wrap="square" anchor="t" lIns="0" rIns="0" tIns="0" bIns="0">
            <a:spAutoFit/>
          </a:bodyPr>
          <a:lstStyle/>
          <a:p>
            <a:pPr algn="r">
              <a:lnSpc>
                <a:spcPct val="100000"/>
              </a:lnSpc>
            </a:pPr>
            <a:r>
              <a:rPr sz="1100" b="0" i="0">
                <a:solidFill>
                  <a:srgbClr val="8C9CC4"/>
                </a:solidFill>
                <a:latin typeface="Yu Gothic"/>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BACKGROUND &amp; OBJECTIVE</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調査の背景・目的</a:t>
            </a:r>
          </a:p>
        </p:txBody>
      </p:sp>
      <p:sp>
        <p:nvSpPr>
          <p:cNvPr id="6" name="Rectangle 5"/>
          <p:cNvSpPr/>
          <p:nvPr/>
        </p:nvSpPr>
        <p:spPr>
          <a:xfrm>
            <a:off x="502920" y="1371600"/>
            <a:ext cx="5394960" cy="457200"/>
          </a:xfrm>
          <a:prstGeom prst="rect">
            <a:avLst/>
          </a:prstGeom>
          <a:solidFill>
            <a:srgbClr val="E9E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44752"/>
            <a:ext cx="5029200" cy="365760"/>
          </a:xfrm>
          <a:prstGeom prst="rect">
            <a:avLst/>
          </a:prstGeom>
          <a:noFill/>
        </p:spPr>
        <p:txBody>
          <a:bodyPr wrap="square" anchor="t" lIns="0" rIns="0" tIns="0" bIns="0">
            <a:spAutoFit/>
          </a:bodyPr>
          <a:lstStyle/>
          <a:p>
            <a:pPr algn="l">
              <a:lnSpc>
                <a:spcPct val="100000"/>
              </a:lnSpc>
            </a:pPr>
            <a:r>
              <a:rPr sz="1500" b="1" i="0">
                <a:solidFill>
                  <a:srgbClr val="2E5AAC"/>
                </a:solidFill>
                <a:latin typeface="Yu Gothic"/>
              </a:rPr>
              <a:t>背景</a:t>
            </a:r>
          </a:p>
        </p:txBody>
      </p:sp>
      <p:sp>
        <p:nvSpPr>
          <p:cNvPr id="8" name="TextBox 7"/>
          <p:cNvSpPr txBox="1"/>
          <p:nvPr/>
        </p:nvSpPr>
        <p:spPr>
          <a:xfrm>
            <a:off x="548640" y="1965960"/>
            <a:ext cx="5349240" cy="3657600"/>
          </a:xfrm>
          <a:prstGeom prst="rect">
            <a:avLst/>
          </a:prstGeom>
          <a:noFill/>
        </p:spPr>
        <p:txBody>
          <a:bodyPr wrap="square">
            <a:spAutoFit/>
          </a:bodyPr>
          <a:lstStyle/>
          <a:p>
            <a:pPr>
              <a:lnSpc>
                <a:spcPct val="120000"/>
              </a:lnSpc>
              <a:spcAft>
                <a:spcPts val="1200"/>
              </a:spcAft>
            </a:pPr>
            <a:r>
              <a:rPr sz="1350" b="0">
                <a:solidFill>
                  <a:srgbClr val="262626"/>
                </a:solidFill>
                <a:latin typeface="Yu Gothic"/>
              </a:rPr>
              <a:t>● Default環境は全ライセンスユーザーが自動的に「環境メーカー」権限で
アクセス可能な共有環境である</a:t>
            </a:r>
          </a:p>
          <a:p>
            <a:pPr>
              <a:lnSpc>
                <a:spcPct val="120000"/>
              </a:lnSpc>
              <a:spcAft>
                <a:spcPts val="1200"/>
              </a:spcAft>
            </a:pPr>
            <a:r>
              <a:rPr sz="1350" b="0">
                <a:solidFill>
                  <a:srgbClr val="262626"/>
                </a:solidFill>
                <a:latin typeface="Yu Gothic"/>
              </a:rPr>
              <a:t>● ユーザーが意図せずアプリ・フロー・Copilot Studio エージェント等を
作成・利用してしまうリスクが存在</a:t>
            </a:r>
          </a:p>
          <a:p>
            <a:pPr>
              <a:lnSpc>
                <a:spcPct val="120000"/>
              </a:lnSpc>
              <a:spcAft>
                <a:spcPts val="1200"/>
              </a:spcAft>
            </a:pPr>
            <a:r>
              <a:rPr sz="1350" b="0">
                <a:solidFill>
                  <a:srgbClr val="262626"/>
                </a:solidFill>
                <a:latin typeface="Yu Gothic"/>
              </a:rPr>
              <a:t>● 無秩序な利用（シャドーIT化）は情報漏えい・コンプライアンス・
コスト管理上のリスクとなる</a:t>
            </a:r>
          </a:p>
        </p:txBody>
      </p:sp>
      <p:sp>
        <p:nvSpPr>
          <p:cNvPr id="9" name="Rectangle 8"/>
          <p:cNvSpPr/>
          <p:nvPr/>
        </p:nvSpPr>
        <p:spPr>
          <a:xfrm>
            <a:off x="6263640" y="1371600"/>
            <a:ext cx="5394960" cy="457200"/>
          </a:xfrm>
          <a:prstGeom prst="rect">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44752"/>
            <a:ext cx="5029200" cy="365760"/>
          </a:xfrm>
          <a:prstGeom prst="rect">
            <a:avLst/>
          </a:prstGeom>
          <a:noFill/>
        </p:spPr>
        <p:txBody>
          <a:bodyPr wrap="square" anchor="t" lIns="0" rIns="0" tIns="0" bIns="0">
            <a:spAutoFit/>
          </a:bodyPr>
          <a:lstStyle/>
          <a:p>
            <a:pPr algn="l">
              <a:lnSpc>
                <a:spcPct val="100000"/>
              </a:lnSpc>
            </a:pPr>
            <a:r>
              <a:rPr sz="1500" b="1" i="0">
                <a:solidFill>
                  <a:srgbClr val="1D8A70"/>
                </a:solidFill>
                <a:latin typeface="Yu Gothic"/>
              </a:rPr>
              <a:t>目的</a:t>
            </a:r>
          </a:p>
        </p:txBody>
      </p:sp>
      <p:sp>
        <p:nvSpPr>
          <p:cNvPr id="11" name="TextBox 10"/>
          <p:cNvSpPr txBox="1"/>
          <p:nvPr/>
        </p:nvSpPr>
        <p:spPr>
          <a:xfrm>
            <a:off x="6309360" y="1965960"/>
            <a:ext cx="5349240" cy="3657600"/>
          </a:xfrm>
          <a:prstGeom prst="rect">
            <a:avLst/>
          </a:prstGeom>
          <a:noFill/>
        </p:spPr>
        <p:txBody>
          <a:bodyPr wrap="square">
            <a:spAutoFit/>
          </a:bodyPr>
          <a:lstStyle/>
          <a:p>
            <a:pPr>
              <a:lnSpc>
                <a:spcPct val="120000"/>
              </a:lnSpc>
              <a:spcAft>
                <a:spcPts val="1200"/>
              </a:spcAft>
            </a:pPr>
            <a:r>
              <a:rPr sz="1350" b="0">
                <a:solidFill>
                  <a:srgbClr val="262626"/>
                </a:solidFill>
                <a:latin typeface="Yu Gothic"/>
              </a:rPr>
              <a:t>● Default環境を統制対象として管理できるか（マネージド環境化）を確認する</a:t>
            </a:r>
          </a:p>
          <a:p>
            <a:pPr>
              <a:lnSpc>
                <a:spcPct val="120000"/>
              </a:lnSpc>
              <a:spcAft>
                <a:spcPts val="1200"/>
              </a:spcAft>
            </a:pPr>
            <a:r>
              <a:rPr sz="1350" b="0">
                <a:solidFill>
                  <a:srgbClr val="262626"/>
                </a:solidFill>
                <a:latin typeface="Yu Gothic"/>
              </a:rPr>
              <a:t>● DLPポリシーによるコネクタ利用・データ接続制限の適用可否を確認する</a:t>
            </a:r>
          </a:p>
          <a:p>
            <a:pPr>
              <a:lnSpc>
                <a:spcPct val="120000"/>
              </a:lnSpc>
              <a:spcAft>
                <a:spcPts val="1200"/>
              </a:spcAft>
            </a:pPr>
            <a:r>
              <a:rPr sz="1350" b="0">
                <a:solidFill>
                  <a:srgbClr val="262626"/>
                </a:solidFill>
                <a:latin typeface="Yu Gothic"/>
              </a:rPr>
              <a:t>● 統制導入に伴うPremiumライセンスの要否・対象範囲を明確化し、
利用制御方針の意思決定に必要な材料を整理する</a:t>
            </a:r>
          </a:p>
        </p:txBody>
      </p:sp>
      <p:sp>
        <p:nvSpPr>
          <p:cNvPr id="12" name="Rectangle 11"/>
          <p:cNvSpPr/>
          <p:nvPr/>
        </p:nvSpPr>
        <p:spPr>
          <a:xfrm>
            <a:off x="502920" y="5532120"/>
            <a:ext cx="11155680" cy="77724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650992"/>
            <a:ext cx="10698480" cy="548640"/>
          </a:xfrm>
          <a:prstGeom prst="rect">
            <a:avLst/>
          </a:prstGeom>
          <a:noFill/>
        </p:spPr>
        <p:txBody>
          <a:bodyPr wrap="square" anchor="ctr" lIns="0" rIns="0" tIns="0" bIns="0">
            <a:spAutoFit/>
          </a:bodyPr>
          <a:lstStyle/>
          <a:p>
            <a:pPr algn="l">
              <a:lnSpc>
                <a:spcPct val="100000"/>
              </a:lnSpc>
            </a:pPr>
            <a:r>
              <a:rPr sz="1300" b="1" i="0">
                <a:solidFill>
                  <a:srgbClr val="1B2A4A"/>
                </a:solidFill>
                <a:latin typeface="Yu Gothic"/>
              </a:rPr>
              <a:t>本資料は依頼内容の各確認項目に対し、Microsoft公式情報を出典として明記した結論を提示するものである。</a:t>
            </a:r>
          </a:p>
        </p:txBody>
      </p:sp>
      <p:sp>
        <p:nvSpPr>
          <p:cNvPr id="14" name="TextBox 13"/>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15" name="TextBox 14"/>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EXECUTIVE SUMMARY</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結論サマリー①：依頼内容 確認項目1〜4</a:t>
            </a:r>
          </a:p>
        </p:txBody>
      </p:sp>
      <p:graphicFrame>
        <p:nvGraphicFramePr>
          <p:cNvPr id="6" name="Table 5"/>
          <p:cNvGraphicFramePr>
            <a:graphicFrameLocks noGrp="1"/>
          </p:cNvGraphicFramePr>
          <p:nvPr/>
        </p:nvGraphicFramePr>
        <p:xfrm>
          <a:off x="365760" y="1325880"/>
          <a:ext cx="11430000" cy="5074920"/>
        </p:xfrm>
        <a:graphic>
          <a:graphicData uri="http://schemas.openxmlformats.org/drawingml/2006/table">
            <a:tbl>
              <a:tblPr firstRow="1" bandRow="1">
                <a:tableStyleId>{5C22544A-7EE6-4342-B048-85BDC9FD1C3A}</a:tableStyleId>
              </a:tblPr>
              <a:tblGrid>
                <a:gridCol w="457200"/>
                <a:gridCol w="2468880"/>
                <a:gridCol w="1280160"/>
                <a:gridCol w="5760720"/>
                <a:gridCol w="1463040"/>
              </a:tblGrid>
              <a:tr h="1014984">
                <a:tc>
                  <a:txBody>
                    <a:bodyPr wrap="square"/>
                    <a:lstStyle/>
                    <a:p>
                      <a:pPr algn="ctr"/>
                      <a:r>
                        <a:rPr sz="1250" b="1">
                          <a:solidFill>
                            <a:srgbClr val="FFFFFF"/>
                          </a:solidFill>
                          <a:latin typeface="Yu Gothic"/>
                        </a:rPr>
                        <a:t>No.</a:t>
                      </a:r>
                    </a:p>
                  </a:txBody>
                  <a:tcPr anchor="ctr" marL="101600" marR="101600" marT="50800" marB="50800">
                    <a:solidFill>
                      <a:srgbClr val="1B2A4A"/>
                    </a:solidFill>
                  </a:tcPr>
                </a:tc>
                <a:tc>
                  <a:txBody>
                    <a:bodyPr wrap="square"/>
                    <a:lstStyle/>
                    <a:p>
                      <a:pPr algn="ctr"/>
                      <a:r>
                        <a:rPr sz="1250" b="1">
                          <a:solidFill>
                            <a:srgbClr val="FFFFFF"/>
                          </a:solidFill>
                          <a:latin typeface="Yu Gothic"/>
                        </a:rPr>
                        <a:t>確認項目（依頼内容）</a:t>
                      </a:r>
                    </a:p>
                  </a:txBody>
                  <a:tcPr anchor="ctr" marL="101600" marR="101600" marT="50800" marB="50800">
                    <a:solidFill>
                      <a:srgbClr val="1B2A4A"/>
                    </a:solidFill>
                  </a:tcPr>
                </a:tc>
                <a:tc>
                  <a:txBody>
                    <a:bodyPr wrap="square"/>
                    <a:lstStyle/>
                    <a:p>
                      <a:pPr algn="ctr"/>
                      <a:r>
                        <a:rPr sz="1250" b="1">
                          <a:solidFill>
                            <a:srgbClr val="FFFFFF"/>
                          </a:solidFill>
                          <a:latin typeface="Yu Gothic"/>
                        </a:rPr>
                        <a:t>判定</a:t>
                      </a:r>
                    </a:p>
                  </a:txBody>
                  <a:tcPr anchor="ctr" marL="101600" marR="101600" marT="50800" marB="50800">
                    <a:solidFill>
                      <a:srgbClr val="1B2A4A"/>
                    </a:solidFill>
                  </a:tcPr>
                </a:tc>
                <a:tc>
                  <a:txBody>
                    <a:bodyPr wrap="square"/>
                    <a:lstStyle/>
                    <a:p>
                      <a:pPr algn="ctr"/>
                      <a:r>
                        <a:rPr sz="1250" b="1">
                          <a:solidFill>
                            <a:srgbClr val="FFFFFF"/>
                          </a:solidFill>
                          <a:latin typeface="Yu Gothic"/>
                        </a:rPr>
                        <a:t>理由</a:t>
                      </a:r>
                    </a:p>
                  </a:txBody>
                  <a:tcPr anchor="ctr" marL="101600" marR="101600" marT="50800" marB="50800">
                    <a:solidFill>
                      <a:srgbClr val="1B2A4A"/>
                    </a:solidFill>
                  </a:tcPr>
                </a:tc>
                <a:tc>
                  <a:txBody>
                    <a:bodyPr wrap="square"/>
                    <a:lstStyle/>
                    <a:p>
                      <a:pPr algn="ctr"/>
                      <a:r>
                        <a:rPr sz="1250" b="1">
                          <a:solidFill>
                            <a:srgbClr val="FFFFFF"/>
                          </a:solidFill>
                          <a:latin typeface="Yu Gothic"/>
                        </a:rPr>
                        <a:t>出典</a:t>
                      </a:r>
                    </a:p>
                  </a:txBody>
                  <a:tcPr anchor="ctr" marL="101600" marR="101600" marT="50800" marB="50800">
                    <a:solidFill>
                      <a:srgbClr val="1B2A4A"/>
                    </a:solidFill>
                  </a:tcPr>
                </a:tc>
              </a:tr>
              <a:tr h="1014984">
                <a:tc>
                  <a:txBody>
                    <a:bodyPr wrap="square"/>
                    <a:lstStyle/>
                    <a:p>
                      <a:pPr algn="ctr"/>
                      <a:r>
                        <a:rPr sz="1200" b="1">
                          <a:solidFill>
                            <a:srgbClr val="1B2A4A"/>
                          </a:solidFill>
                          <a:latin typeface="Yu Gothic"/>
                        </a:rPr>
                        <a:t>1</a:t>
                      </a:r>
                    </a:p>
                  </a:txBody>
                  <a:tcPr anchor="ctr" marL="101600" marR="101600" marT="50800" marB="50800">
                    <a:solidFill>
                      <a:srgbClr val="F5F6F8"/>
                    </a:solidFill>
                  </a:tcPr>
                </a:tc>
                <a:tc>
                  <a:txBody>
                    <a:bodyPr wrap="square"/>
                    <a:lstStyle/>
                    <a:p>
                      <a:pPr algn="l"/>
                      <a:r>
                        <a:rPr sz="1150" b="1">
                          <a:solidFill>
                            <a:srgbClr val="1B2A4A"/>
                          </a:solidFill>
                          <a:latin typeface="Yu Gothic"/>
                        </a:rPr>
                        <a:t>Default環境をマネージド</a:t>
                      </a:r>
                    </a:p>
                    <a:p>
                      <a:pPr algn="l"/>
                      <a:r>
                        <a:rPr sz="1150" b="1">
                          <a:solidFill>
                            <a:srgbClr val="1B2A4A"/>
                          </a:solidFill>
                          <a:latin typeface="Yu Gothic"/>
                        </a:rPr>
                        <a:t>環境に設定できるか</a:t>
                      </a:r>
                    </a:p>
                  </a:txBody>
                  <a:tcPr anchor="ctr" marL="101600" marR="101600" marT="50800" marB="50800">
                    <a:solidFill>
                      <a:srgbClr val="F5F6F8"/>
                    </a:solidFill>
                  </a:tcPr>
                </a:tc>
                <a:tc>
                  <a:txBody>
                    <a:bodyPr wrap="square"/>
                    <a:lstStyle/>
                    <a:p>
                      <a:pPr algn="ctr"/>
                      <a:r>
                        <a:rPr sz="1200" b="1">
                          <a:solidFill>
                            <a:srgbClr val="1D8A70"/>
                          </a:solidFill>
                          <a:latin typeface="Yu Gothic"/>
                        </a:rPr>
                        <a:t>YES</a:t>
                      </a:r>
                    </a:p>
                    <a:p>
                      <a:pPr algn="ctr"/>
                      <a:r>
                        <a:rPr sz="1200" b="1">
                          <a:solidFill>
                            <a:srgbClr val="1D8A70"/>
                          </a:solidFill>
                          <a:latin typeface="Yu Gothic"/>
                        </a:rPr>
                        <a:t>（条件付き）</a:t>
                      </a:r>
                    </a:p>
                  </a:txBody>
                  <a:tcPr anchor="ctr" marL="101600" marR="101600" marT="50800" marB="50800">
                    <a:solidFill>
                      <a:srgbClr val="E3F3EE"/>
                    </a:solidFill>
                  </a:tcPr>
                </a:tc>
                <a:tc>
                  <a:txBody>
                    <a:bodyPr wrap="square"/>
                    <a:lstStyle/>
                    <a:p>
                      <a:pPr algn="l"/>
                      <a:r>
                        <a:rPr sz="1080" b="0">
                          <a:solidFill>
                            <a:srgbClr val="262626"/>
                          </a:solidFill>
                          <a:latin typeface="Yu Gothic"/>
                        </a:rPr>
                        <a:t>環境の種類を問わず有効化は可能。ただし有効化するとその環境の</a:t>
                      </a:r>
                    </a:p>
                    <a:p>
                      <a:pPr algn="l"/>
                      <a:r>
                        <a:rPr sz="1080" b="0">
                          <a:solidFill>
                            <a:srgbClr val="262626"/>
                          </a:solidFill>
                          <a:latin typeface="Yu Gothic"/>
                        </a:rPr>
                        <a:t>全利用者にPremiumライセンスが必要となるため、Default環境では</a:t>
                      </a:r>
                    </a:p>
                    <a:p>
                      <a:pPr algn="l"/>
                      <a:r>
                        <a:rPr sz="1080" b="0">
                          <a:solidFill>
                            <a:srgbClr val="262626"/>
                          </a:solidFill>
                          <a:latin typeface="Yu Gothic"/>
                        </a:rPr>
                        <a:t>事実上「全社Premium化」が前提となる</a:t>
                      </a:r>
                    </a:p>
                  </a:txBody>
                  <a:tcPr anchor="ctr" marL="101600" marR="101600" marT="50800" marB="50800">
                    <a:solidFill>
                      <a:srgbClr val="F5F6F8"/>
                    </a:solidFill>
                  </a:tcPr>
                </a:tc>
                <a:tc>
                  <a:txBody>
                    <a:bodyPr wrap="square"/>
                    <a:lstStyle/>
                    <a:p>
                      <a:pPr algn="ctr"/>
                      <a:r>
                        <a:rPr sz="1150" b="1">
                          <a:solidFill>
                            <a:srgbClr val="2E5AAC"/>
                          </a:solidFill>
                          <a:latin typeface="Yu Gothic"/>
                        </a:rPr>
                        <a:t>[1][7]</a:t>
                      </a:r>
                    </a:p>
                  </a:txBody>
                  <a:tcPr anchor="ctr" marL="101600" marR="101600" marT="50800" marB="50800">
                    <a:solidFill>
                      <a:srgbClr val="F5F6F8"/>
                    </a:solidFill>
                  </a:tcPr>
                </a:tc>
              </a:tr>
              <a:tr h="1014984">
                <a:tc>
                  <a:txBody>
                    <a:bodyPr wrap="square"/>
                    <a:lstStyle/>
                    <a:p>
                      <a:pPr algn="ctr"/>
                      <a:r>
                        <a:rPr sz="1200" b="1">
                          <a:solidFill>
                            <a:srgbClr val="1B2A4A"/>
                          </a:solidFill>
                          <a:latin typeface="Yu Gothic"/>
                        </a:rPr>
                        <a:t>2</a:t>
                      </a:r>
                    </a:p>
                  </a:txBody>
                  <a:tcPr anchor="ctr" marL="101600" marR="101600" marT="50800" marB="50800">
                    <a:solidFill>
                      <a:srgbClr val="FFFFFF"/>
                    </a:solidFill>
                  </a:tcPr>
                </a:tc>
                <a:tc>
                  <a:txBody>
                    <a:bodyPr wrap="square"/>
                    <a:lstStyle/>
                    <a:p>
                      <a:pPr algn="l"/>
                      <a:r>
                        <a:rPr sz="1150" b="1">
                          <a:solidFill>
                            <a:srgbClr val="1B2A4A"/>
                          </a:solidFill>
                          <a:latin typeface="Yu Gothic"/>
                        </a:rPr>
                        <a:t>Default環境にDLPポリシー</a:t>
                      </a:r>
                    </a:p>
                    <a:p>
                      <a:pPr algn="l"/>
                      <a:r>
                        <a:rPr sz="1150" b="1">
                          <a:solidFill>
                            <a:srgbClr val="1B2A4A"/>
                          </a:solidFill>
                          <a:latin typeface="Yu Gothic"/>
                        </a:rPr>
                        <a:t>を適用できるか</a:t>
                      </a:r>
                    </a:p>
                  </a:txBody>
                  <a:tcPr anchor="ctr" marL="101600" marR="101600" marT="50800" marB="50800">
                    <a:solidFill>
                      <a:srgbClr val="FFFFFF"/>
                    </a:solidFill>
                  </a:tcPr>
                </a:tc>
                <a:tc>
                  <a:txBody>
                    <a:bodyPr wrap="square"/>
                    <a:lstStyle/>
                    <a:p>
                      <a:pPr algn="ctr"/>
                      <a:r>
                        <a:rPr sz="1200" b="1">
                          <a:solidFill>
                            <a:srgbClr val="1D8A70"/>
                          </a:solidFill>
                          <a:latin typeface="Yu Gothic"/>
                        </a:rPr>
                        <a:t>YES</a:t>
                      </a:r>
                    </a:p>
                  </a:txBody>
                  <a:tcPr anchor="ctr" marL="101600" marR="101600" marT="50800" marB="50800">
                    <a:solidFill>
                      <a:srgbClr val="E3F3EE"/>
                    </a:solidFill>
                  </a:tcPr>
                </a:tc>
                <a:tc>
                  <a:txBody>
                    <a:bodyPr wrap="square"/>
                    <a:lstStyle/>
                    <a:p>
                      <a:pPr algn="l"/>
                      <a:r>
                        <a:rPr sz="1080" b="0">
                          <a:solidFill>
                            <a:srgbClr val="262626"/>
                          </a:solidFill>
                          <a:latin typeface="Yu Gothic"/>
                        </a:rPr>
                        <a:t>マネージド環境化とは独立した機能であり、追加ライセンスなしで</a:t>
                      </a:r>
                    </a:p>
                    <a:p>
                      <a:pPr algn="l"/>
                      <a:r>
                        <a:rPr sz="1080" b="0">
                          <a:solidFill>
                            <a:srgbClr val="262626"/>
                          </a:solidFill>
                          <a:latin typeface="Yu Gothic"/>
                        </a:rPr>
                        <a:t>適用可能。Microsoft公式もDefault環境への適用を強く推奨している</a:t>
                      </a:r>
                    </a:p>
                  </a:txBody>
                  <a:tcPr anchor="ctr" marL="101600" marR="101600" marT="50800" marB="50800">
                    <a:solidFill>
                      <a:srgbClr val="FFFFFF"/>
                    </a:solidFill>
                  </a:tcPr>
                </a:tc>
                <a:tc>
                  <a:txBody>
                    <a:bodyPr wrap="square"/>
                    <a:lstStyle/>
                    <a:p>
                      <a:pPr algn="ctr"/>
                      <a:r>
                        <a:rPr sz="1150" b="1">
                          <a:solidFill>
                            <a:srgbClr val="2E5AAC"/>
                          </a:solidFill>
                          <a:latin typeface="Yu Gothic"/>
                        </a:rPr>
                        <a:t>[4][7]</a:t>
                      </a:r>
                    </a:p>
                  </a:txBody>
                  <a:tcPr anchor="ctr" marL="101600" marR="101600" marT="50800" marB="50800">
                    <a:solidFill>
                      <a:srgbClr val="FFFFFF"/>
                    </a:solidFill>
                  </a:tcPr>
                </a:tc>
              </a:tr>
              <a:tr h="1014984">
                <a:tc>
                  <a:txBody>
                    <a:bodyPr wrap="square"/>
                    <a:lstStyle/>
                    <a:p>
                      <a:pPr algn="ctr"/>
                      <a:r>
                        <a:rPr sz="1200" b="1">
                          <a:solidFill>
                            <a:srgbClr val="1B2A4A"/>
                          </a:solidFill>
                          <a:latin typeface="Yu Gothic"/>
                        </a:rPr>
                        <a:t>3</a:t>
                      </a:r>
                    </a:p>
                  </a:txBody>
                  <a:tcPr anchor="ctr" marL="101600" marR="101600" marT="50800" marB="50800">
                    <a:solidFill>
                      <a:srgbClr val="F5F6F8"/>
                    </a:solidFill>
                  </a:tcPr>
                </a:tc>
                <a:tc>
                  <a:txBody>
                    <a:bodyPr wrap="square"/>
                    <a:lstStyle/>
                    <a:p>
                      <a:pPr algn="l"/>
                      <a:r>
                        <a:rPr sz="1150" b="1">
                          <a:solidFill>
                            <a:srgbClr val="1B2A4A"/>
                          </a:solidFill>
                          <a:latin typeface="Yu Gothic"/>
                        </a:rPr>
                        <a:t>マネージド環境有効化時に</a:t>
                      </a:r>
                    </a:p>
                    <a:p>
                      <a:pPr algn="l"/>
                      <a:r>
                        <a:rPr sz="1150" b="1">
                          <a:solidFill>
                            <a:srgbClr val="1B2A4A"/>
                          </a:solidFill>
                          <a:latin typeface="Yu Gothic"/>
                        </a:rPr>
                        <a:t>Power Automate Premium</a:t>
                      </a:r>
                    </a:p>
                    <a:p>
                      <a:pPr algn="l"/>
                      <a:r>
                        <a:rPr sz="1150" b="1">
                          <a:solidFill>
                            <a:srgbClr val="1B2A4A"/>
                          </a:solidFill>
                          <a:latin typeface="Yu Gothic"/>
                        </a:rPr>
                        <a:t>ライセンスは必要か</a:t>
                      </a:r>
                    </a:p>
                  </a:txBody>
                  <a:tcPr anchor="ctr" marL="101600" marR="101600" marT="50800" marB="50800">
                    <a:solidFill>
                      <a:srgbClr val="F5F6F8"/>
                    </a:solidFill>
                  </a:tcPr>
                </a:tc>
                <a:tc>
                  <a:txBody>
                    <a:bodyPr wrap="square"/>
                    <a:lstStyle/>
                    <a:p>
                      <a:pPr algn="ctr"/>
                      <a:r>
                        <a:rPr sz="1200" b="1">
                          <a:solidFill>
                            <a:srgbClr val="B02A2A"/>
                          </a:solidFill>
                          <a:latin typeface="Yu Gothic"/>
                        </a:rPr>
                        <a:t>YES</a:t>
                      </a:r>
                    </a:p>
                  </a:txBody>
                  <a:tcPr anchor="ctr" marL="101600" marR="101600" marT="50800" marB="50800">
                    <a:solidFill>
                      <a:srgbClr val="F8E3E3"/>
                    </a:solidFill>
                  </a:tcPr>
                </a:tc>
                <a:tc>
                  <a:txBody>
                    <a:bodyPr wrap="square"/>
                    <a:lstStyle/>
                    <a:p>
                      <a:pPr algn="l"/>
                      <a:r>
                        <a:rPr sz="1080" b="0">
                          <a:solidFill>
                            <a:srgbClr val="262626"/>
                          </a:solidFill>
                          <a:latin typeface="Yu Gothic"/>
                        </a:rPr>
                        <a:t>マネージド環境下でアプリ／クラウドフローを実行する場合、</a:t>
                      </a:r>
                    </a:p>
                    <a:p>
                      <a:pPr algn="l"/>
                      <a:r>
                        <a:rPr sz="1080" b="0">
                          <a:solidFill>
                            <a:srgbClr val="262626"/>
                          </a:solidFill>
                          <a:latin typeface="Yu Gothic"/>
                        </a:rPr>
                        <a:t>Power Apps Premium・Power Automate Premium・Dynamics 365</a:t>
                      </a:r>
                    </a:p>
                    <a:p>
                      <a:pPr algn="l"/>
                      <a:r>
                        <a:rPr sz="1080" b="0">
                          <a:solidFill>
                            <a:srgbClr val="262626"/>
                          </a:solidFill>
                          <a:latin typeface="Yu Gothic"/>
                        </a:rPr>
                        <a:t>Enterpriseのいずれかのライセンスが必須</a:t>
                      </a:r>
                    </a:p>
                  </a:txBody>
                  <a:tcPr anchor="ctr" marL="101600" marR="101600" marT="50800" marB="50800">
                    <a:solidFill>
                      <a:srgbClr val="F5F6F8"/>
                    </a:solidFill>
                  </a:tcPr>
                </a:tc>
                <a:tc>
                  <a:txBody>
                    <a:bodyPr wrap="square"/>
                    <a:lstStyle/>
                    <a:p>
                      <a:pPr algn="ctr"/>
                      <a:r>
                        <a:rPr sz="1150" b="1">
                          <a:solidFill>
                            <a:srgbClr val="2E5AAC"/>
                          </a:solidFill>
                          <a:latin typeface="Yu Gothic"/>
                        </a:rPr>
                        <a:t>[3]</a:t>
                      </a:r>
                    </a:p>
                  </a:txBody>
                  <a:tcPr anchor="ctr" marL="101600" marR="101600" marT="50800" marB="50800">
                    <a:solidFill>
                      <a:srgbClr val="F5F6F8"/>
                    </a:solidFill>
                  </a:tcPr>
                </a:tc>
              </a:tr>
              <a:tr h="1014984">
                <a:tc>
                  <a:txBody>
                    <a:bodyPr wrap="square"/>
                    <a:lstStyle/>
                    <a:p>
                      <a:pPr algn="ctr"/>
                      <a:r>
                        <a:rPr sz="1200" b="1">
                          <a:solidFill>
                            <a:srgbClr val="1B2A4A"/>
                          </a:solidFill>
                          <a:latin typeface="Yu Gothic"/>
                        </a:rPr>
                        <a:t>4</a:t>
                      </a:r>
                    </a:p>
                  </a:txBody>
                  <a:tcPr anchor="ctr" marL="101600" marR="101600" marT="50800" marB="50800">
                    <a:solidFill>
                      <a:srgbClr val="FFFFFF"/>
                    </a:solidFill>
                  </a:tcPr>
                </a:tc>
                <a:tc>
                  <a:txBody>
                    <a:bodyPr wrap="square"/>
                    <a:lstStyle/>
                    <a:p>
                      <a:pPr algn="l"/>
                      <a:r>
                        <a:rPr sz="1150" b="1">
                          <a:solidFill>
                            <a:srgbClr val="1B2A4A"/>
                          </a:solidFill>
                          <a:latin typeface="Yu Gothic"/>
                        </a:rPr>
                        <a:t>必要対象は管理者のみか、</a:t>
                      </a:r>
                    </a:p>
                    <a:p>
                      <a:pPr algn="l"/>
                      <a:r>
                        <a:rPr sz="1150" b="1">
                          <a:solidFill>
                            <a:srgbClr val="1B2A4A"/>
                          </a:solidFill>
                          <a:latin typeface="Yu Gothic"/>
                        </a:rPr>
                        <a:t>Power Automateを利用する</a:t>
                      </a:r>
                    </a:p>
                    <a:p>
                      <a:pPr algn="l"/>
                      <a:r>
                        <a:rPr sz="1150" b="1">
                          <a:solidFill>
                            <a:srgbClr val="1B2A4A"/>
                          </a:solidFill>
                          <a:latin typeface="Yu Gothic"/>
                        </a:rPr>
                        <a:t>全ユーザーか</a:t>
                      </a:r>
                    </a:p>
                  </a:txBody>
                  <a:tcPr anchor="ctr" marL="101600" marR="101600" marT="50800" marB="50800">
                    <a:solidFill>
                      <a:srgbClr val="FFFFFF"/>
                    </a:solidFill>
                  </a:tcPr>
                </a:tc>
                <a:tc>
                  <a:txBody>
                    <a:bodyPr wrap="square"/>
                    <a:lstStyle/>
                    <a:p>
                      <a:pPr algn="ctr"/>
                      <a:r>
                        <a:rPr sz="1200" b="1">
                          <a:solidFill>
                            <a:srgbClr val="B02A2A"/>
                          </a:solidFill>
                          <a:latin typeface="Yu Gothic"/>
                        </a:rPr>
                        <a:t>全ユーザー</a:t>
                      </a:r>
                    </a:p>
                  </a:txBody>
                  <a:tcPr anchor="ctr" marL="101600" marR="101600" marT="50800" marB="50800">
                    <a:solidFill>
                      <a:srgbClr val="F8E3E3"/>
                    </a:solidFill>
                  </a:tcPr>
                </a:tc>
                <a:tc>
                  <a:txBody>
                    <a:bodyPr wrap="square"/>
                    <a:lstStyle/>
                    <a:p>
                      <a:pPr algn="l"/>
                      <a:r>
                        <a:rPr sz="1080" b="0">
                          <a:solidFill>
                            <a:srgbClr val="262626"/>
                          </a:solidFill>
                          <a:latin typeface="Yu Gothic"/>
                        </a:rPr>
                        <a:t>管理者専用のライセンス区分は存在しない。当該環境でアプリ／</a:t>
                      </a:r>
                    </a:p>
                    <a:p>
                      <a:pPr algn="l"/>
                      <a:r>
                        <a:rPr sz="1080" b="0">
                          <a:solidFill>
                            <a:srgbClr val="262626"/>
                          </a:solidFill>
                          <a:latin typeface="Yu Gothic"/>
                        </a:rPr>
                        <a:t>フローを実行する利用者全員が対象となる</a:t>
                      </a:r>
                    </a:p>
                  </a:txBody>
                  <a:tcPr anchor="ctr" marL="101600" marR="101600" marT="50800" marB="50800">
                    <a:solidFill>
                      <a:srgbClr val="FFFFFF"/>
                    </a:solidFill>
                  </a:tcPr>
                </a:tc>
                <a:tc>
                  <a:txBody>
                    <a:bodyPr wrap="square"/>
                    <a:lstStyle/>
                    <a:p>
                      <a:pPr algn="ctr"/>
                      <a:r>
                        <a:rPr sz="1150" b="1">
                          <a:solidFill>
                            <a:srgbClr val="2E5AAC"/>
                          </a:solidFill>
                          <a:latin typeface="Yu Gothic"/>
                        </a:rPr>
                        <a:t>[3]</a:t>
                      </a:r>
                    </a:p>
                  </a:txBody>
                  <a:tcPr anchor="ctr" marL="101600" marR="101600" marT="50800" marB="50800">
                    <a:solidFill>
                      <a:srgbClr val="FFFFFF"/>
                    </a:solidFill>
                  </a:tcPr>
                </a:tc>
              </a:tr>
            </a:tbl>
          </a:graphicData>
        </a:graphic>
      </p:graphicFrame>
      <p:sp>
        <p:nvSpPr>
          <p:cNvPr id="7" name="TextBox 6"/>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8" name="TextBox 7"/>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EXECUTIVE SUMMARY</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結論サマリー②：依頼内容 確認項目5〜7</a:t>
            </a:r>
          </a:p>
        </p:txBody>
      </p:sp>
      <p:graphicFrame>
        <p:nvGraphicFramePr>
          <p:cNvPr id="6" name="Table 5"/>
          <p:cNvGraphicFramePr>
            <a:graphicFrameLocks noGrp="1"/>
          </p:cNvGraphicFramePr>
          <p:nvPr/>
        </p:nvGraphicFramePr>
        <p:xfrm>
          <a:off x="365760" y="1325880"/>
          <a:ext cx="11430000" cy="3931920"/>
        </p:xfrm>
        <a:graphic>
          <a:graphicData uri="http://schemas.openxmlformats.org/drawingml/2006/table">
            <a:tbl>
              <a:tblPr firstRow="1" bandRow="1">
                <a:tableStyleId>{5C22544A-7EE6-4342-B048-85BDC9FD1C3A}</a:tableStyleId>
              </a:tblPr>
              <a:tblGrid>
                <a:gridCol w="457200"/>
                <a:gridCol w="2468880"/>
                <a:gridCol w="1280160"/>
                <a:gridCol w="5760720"/>
                <a:gridCol w="1463040"/>
              </a:tblGrid>
              <a:tr h="982980">
                <a:tc>
                  <a:txBody>
                    <a:bodyPr wrap="square"/>
                    <a:lstStyle/>
                    <a:p>
                      <a:pPr algn="ctr"/>
                      <a:r>
                        <a:rPr sz="1250" b="1">
                          <a:solidFill>
                            <a:srgbClr val="FFFFFF"/>
                          </a:solidFill>
                          <a:latin typeface="Yu Gothic"/>
                        </a:rPr>
                        <a:t>No.</a:t>
                      </a:r>
                    </a:p>
                  </a:txBody>
                  <a:tcPr anchor="ctr" marL="101600" marR="101600" marT="50800" marB="50800">
                    <a:solidFill>
                      <a:srgbClr val="1B2A4A"/>
                    </a:solidFill>
                  </a:tcPr>
                </a:tc>
                <a:tc>
                  <a:txBody>
                    <a:bodyPr wrap="square"/>
                    <a:lstStyle/>
                    <a:p>
                      <a:pPr algn="ctr"/>
                      <a:r>
                        <a:rPr sz="1250" b="1">
                          <a:solidFill>
                            <a:srgbClr val="FFFFFF"/>
                          </a:solidFill>
                          <a:latin typeface="Yu Gothic"/>
                        </a:rPr>
                        <a:t>確認項目（依頼内容）</a:t>
                      </a:r>
                    </a:p>
                  </a:txBody>
                  <a:tcPr anchor="ctr" marL="101600" marR="101600" marT="50800" marB="50800">
                    <a:solidFill>
                      <a:srgbClr val="1B2A4A"/>
                    </a:solidFill>
                  </a:tcPr>
                </a:tc>
                <a:tc>
                  <a:txBody>
                    <a:bodyPr wrap="square"/>
                    <a:lstStyle/>
                    <a:p>
                      <a:pPr algn="ctr"/>
                      <a:r>
                        <a:rPr sz="1250" b="1">
                          <a:solidFill>
                            <a:srgbClr val="FFFFFF"/>
                          </a:solidFill>
                          <a:latin typeface="Yu Gothic"/>
                        </a:rPr>
                        <a:t>判定</a:t>
                      </a:r>
                    </a:p>
                  </a:txBody>
                  <a:tcPr anchor="ctr" marL="101600" marR="101600" marT="50800" marB="50800">
                    <a:solidFill>
                      <a:srgbClr val="1B2A4A"/>
                    </a:solidFill>
                  </a:tcPr>
                </a:tc>
                <a:tc>
                  <a:txBody>
                    <a:bodyPr wrap="square"/>
                    <a:lstStyle/>
                    <a:p>
                      <a:pPr algn="ctr"/>
                      <a:r>
                        <a:rPr sz="1250" b="1">
                          <a:solidFill>
                            <a:srgbClr val="FFFFFF"/>
                          </a:solidFill>
                          <a:latin typeface="Yu Gothic"/>
                        </a:rPr>
                        <a:t>理由</a:t>
                      </a:r>
                    </a:p>
                  </a:txBody>
                  <a:tcPr anchor="ctr" marL="101600" marR="101600" marT="50800" marB="50800">
                    <a:solidFill>
                      <a:srgbClr val="1B2A4A"/>
                    </a:solidFill>
                  </a:tcPr>
                </a:tc>
                <a:tc>
                  <a:txBody>
                    <a:bodyPr wrap="square"/>
                    <a:lstStyle/>
                    <a:p>
                      <a:pPr algn="ctr"/>
                      <a:r>
                        <a:rPr sz="1250" b="1">
                          <a:solidFill>
                            <a:srgbClr val="FFFFFF"/>
                          </a:solidFill>
                          <a:latin typeface="Yu Gothic"/>
                        </a:rPr>
                        <a:t>出典</a:t>
                      </a:r>
                    </a:p>
                  </a:txBody>
                  <a:tcPr anchor="ctr" marL="101600" marR="101600" marT="50800" marB="50800">
                    <a:solidFill>
                      <a:srgbClr val="1B2A4A"/>
                    </a:solidFill>
                  </a:tcPr>
                </a:tc>
              </a:tr>
              <a:tr h="982980">
                <a:tc>
                  <a:txBody>
                    <a:bodyPr wrap="square"/>
                    <a:lstStyle/>
                    <a:p>
                      <a:pPr algn="ctr"/>
                      <a:r>
                        <a:rPr sz="1200" b="1">
                          <a:solidFill>
                            <a:srgbClr val="1B2A4A"/>
                          </a:solidFill>
                          <a:latin typeface="Yu Gothic"/>
                        </a:rPr>
                        <a:t>5</a:t>
                      </a:r>
                    </a:p>
                  </a:txBody>
                  <a:tcPr anchor="ctr" marL="101600" marR="101600" marT="50800" marB="50800">
                    <a:solidFill>
                      <a:srgbClr val="F5F6F8"/>
                    </a:solidFill>
                  </a:tcPr>
                </a:tc>
                <a:tc>
                  <a:txBody>
                    <a:bodyPr wrap="square"/>
                    <a:lstStyle/>
                    <a:p>
                      <a:pPr algn="l"/>
                      <a:r>
                        <a:rPr sz="1150" b="1">
                          <a:solidFill>
                            <a:srgbClr val="1B2A4A"/>
                          </a:solidFill>
                          <a:latin typeface="Yu Gothic"/>
                        </a:rPr>
                        <a:t>DLPポリシーの適用自体に、</a:t>
                      </a:r>
                    </a:p>
                    <a:p>
                      <a:pPr algn="l"/>
                      <a:r>
                        <a:rPr sz="1150" b="1">
                          <a:solidFill>
                            <a:srgbClr val="1B2A4A"/>
                          </a:solidFill>
                          <a:latin typeface="Yu Gothic"/>
                        </a:rPr>
                        <a:t>Power Automate利用者側の</a:t>
                      </a:r>
                    </a:p>
                    <a:p>
                      <a:pPr algn="l"/>
                      <a:r>
                        <a:rPr sz="1150" b="1">
                          <a:solidFill>
                            <a:srgbClr val="1B2A4A"/>
                          </a:solidFill>
                          <a:latin typeface="Yu Gothic"/>
                        </a:rPr>
                        <a:t>Premiumライセンスが必要か</a:t>
                      </a:r>
                    </a:p>
                  </a:txBody>
                  <a:tcPr anchor="ctr" marL="101600" marR="101600" marT="50800" marB="50800">
                    <a:solidFill>
                      <a:srgbClr val="F5F6F8"/>
                    </a:solidFill>
                  </a:tcPr>
                </a:tc>
                <a:tc>
                  <a:txBody>
                    <a:bodyPr wrap="square"/>
                    <a:lstStyle/>
                    <a:p>
                      <a:pPr algn="ctr"/>
                      <a:r>
                        <a:rPr sz="1200" b="1">
                          <a:solidFill>
                            <a:srgbClr val="1D8A70"/>
                          </a:solidFill>
                          <a:latin typeface="Yu Gothic"/>
                        </a:rPr>
                        <a:t>NO</a:t>
                      </a:r>
                    </a:p>
                  </a:txBody>
                  <a:tcPr anchor="ctr" marL="101600" marR="101600" marT="50800" marB="50800">
                    <a:solidFill>
                      <a:srgbClr val="E3F3EE"/>
                    </a:solidFill>
                  </a:tcPr>
                </a:tc>
                <a:tc>
                  <a:txBody>
                    <a:bodyPr wrap="square"/>
                    <a:lstStyle/>
                    <a:p>
                      <a:pPr algn="l"/>
                      <a:r>
                        <a:rPr sz="1080" b="0">
                          <a:solidFill>
                            <a:srgbClr val="262626"/>
                          </a:solidFill>
                          <a:latin typeface="Yu Gothic"/>
                        </a:rPr>
                        <a:t>DLPは管理者側の統制機能であり、無償・標準ライセンスの一般</a:t>
                      </a:r>
                    </a:p>
                    <a:p>
                      <a:pPr algn="l"/>
                      <a:r>
                        <a:rPr sz="1080" b="0">
                          <a:solidFill>
                            <a:srgbClr val="262626"/>
                          </a:solidFill>
                          <a:latin typeface="Yu Gothic"/>
                        </a:rPr>
                        <a:t>利用者にも強制適用される。ポリシー作成・編集には管理者</a:t>
                      </a:r>
                    </a:p>
                    <a:p>
                      <a:pPr algn="l"/>
                      <a:r>
                        <a:rPr sz="1080" b="0">
                          <a:solidFill>
                            <a:srgbClr val="262626"/>
                          </a:solidFill>
                          <a:latin typeface="Yu Gothic"/>
                        </a:rPr>
                        <a:t>「権限（ロール）」が必要なだけで、ライセンスは不要</a:t>
                      </a:r>
                    </a:p>
                  </a:txBody>
                  <a:tcPr anchor="ctr" marL="101600" marR="101600" marT="50800" marB="50800">
                    <a:solidFill>
                      <a:srgbClr val="F5F6F8"/>
                    </a:solidFill>
                  </a:tcPr>
                </a:tc>
                <a:tc>
                  <a:txBody>
                    <a:bodyPr wrap="square"/>
                    <a:lstStyle/>
                    <a:p>
                      <a:pPr algn="ctr"/>
                      <a:r>
                        <a:rPr sz="1150" b="1">
                          <a:solidFill>
                            <a:srgbClr val="2E5AAC"/>
                          </a:solidFill>
                          <a:latin typeface="Yu Gothic"/>
                        </a:rPr>
                        <a:t>[4][6]</a:t>
                      </a:r>
                    </a:p>
                  </a:txBody>
                  <a:tcPr anchor="ctr" marL="101600" marR="101600" marT="50800" marB="50800">
                    <a:solidFill>
                      <a:srgbClr val="F5F6F8"/>
                    </a:solidFill>
                  </a:tcPr>
                </a:tc>
              </a:tr>
              <a:tr h="982980">
                <a:tc>
                  <a:txBody>
                    <a:bodyPr wrap="square"/>
                    <a:lstStyle/>
                    <a:p>
                      <a:pPr algn="ctr"/>
                      <a:r>
                        <a:rPr sz="1200" b="1">
                          <a:solidFill>
                            <a:srgbClr val="1B2A4A"/>
                          </a:solidFill>
                          <a:latin typeface="Yu Gothic"/>
                        </a:rPr>
                        <a:t>6</a:t>
                      </a:r>
                    </a:p>
                  </a:txBody>
                  <a:tcPr anchor="ctr" marL="101600" marR="101600" marT="50800" marB="50800">
                    <a:solidFill>
                      <a:srgbClr val="FFFFFF"/>
                    </a:solidFill>
                  </a:tcPr>
                </a:tc>
                <a:tc>
                  <a:txBody>
                    <a:bodyPr wrap="square"/>
                    <a:lstStyle/>
                    <a:p>
                      <a:pPr algn="l"/>
                      <a:r>
                        <a:rPr sz="1150" b="1">
                          <a:solidFill>
                            <a:srgbClr val="1B2A4A"/>
                          </a:solidFill>
                          <a:latin typeface="Yu Gothic"/>
                        </a:rPr>
                        <a:t>設定可能な場合の</a:t>
                      </a:r>
                    </a:p>
                    <a:p>
                      <a:pPr algn="l"/>
                      <a:r>
                        <a:rPr sz="1150" b="1">
                          <a:solidFill>
                            <a:srgbClr val="1B2A4A"/>
                          </a:solidFill>
                          <a:latin typeface="Yu Gothic"/>
                        </a:rPr>
                        <a:t>実施手順の概要</a:t>
                      </a:r>
                    </a:p>
                  </a:txBody>
                  <a:tcPr anchor="ctr" marL="101600" marR="101600" marT="50800" marB="50800">
                    <a:solidFill>
                      <a:srgbClr val="FFFFFF"/>
                    </a:solidFill>
                  </a:tcPr>
                </a:tc>
                <a:tc>
                  <a:txBody>
                    <a:bodyPr wrap="square"/>
                    <a:lstStyle/>
                    <a:p>
                      <a:pPr algn="ctr"/>
                      <a:r>
                        <a:rPr sz="1200" b="1">
                          <a:solidFill>
                            <a:srgbClr val="2E5AAC"/>
                          </a:solidFill>
                          <a:latin typeface="Yu Gothic"/>
                        </a:rPr>
                        <a:t>手順あり</a:t>
                      </a:r>
                    </a:p>
                  </a:txBody>
                  <a:tcPr anchor="ctr" marL="101600" marR="101600" marT="50800" marB="50800">
                    <a:solidFill>
                      <a:srgbClr val="E9EFF9"/>
                    </a:solidFill>
                  </a:tcPr>
                </a:tc>
                <a:tc>
                  <a:txBody>
                    <a:bodyPr wrap="square"/>
                    <a:lstStyle/>
                    <a:p>
                      <a:pPr algn="l"/>
                      <a:r>
                        <a:rPr sz="1080" b="0">
                          <a:solidFill>
                            <a:srgbClr val="262626"/>
                          </a:solidFill>
                          <a:latin typeface="Yu Gothic"/>
                        </a:rPr>
                        <a:t>Power Platform管理センターでポリシーを新規作成し、スコープを</a:t>
                      </a:r>
                    </a:p>
                    <a:p>
                      <a:pPr algn="l"/>
                      <a:r>
                        <a:rPr sz="1080" b="0">
                          <a:solidFill>
                            <a:srgbClr val="262626"/>
                          </a:solidFill>
                          <a:latin typeface="Yu Gothic"/>
                        </a:rPr>
                        <a:t>Default環境に設定、コネクタを分類（既定＝ブロック済み）した</a:t>
                      </a:r>
                    </a:p>
                    <a:p>
                      <a:pPr algn="l"/>
                      <a:r>
                        <a:rPr sz="1080" b="0">
                          <a:solidFill>
                            <a:srgbClr val="262626"/>
                          </a:solidFill>
                          <a:latin typeface="Yu Gothic"/>
                        </a:rPr>
                        <a:t>うえで公開する（詳細はP.9）</a:t>
                      </a:r>
                    </a:p>
                  </a:txBody>
                  <a:tcPr anchor="ctr" marL="101600" marR="101600" marT="50800" marB="50800">
                    <a:solidFill>
                      <a:srgbClr val="FFFFFF"/>
                    </a:solidFill>
                  </a:tcPr>
                </a:tc>
                <a:tc>
                  <a:txBody>
                    <a:bodyPr wrap="square"/>
                    <a:lstStyle/>
                    <a:p>
                      <a:pPr algn="ctr"/>
                      <a:r>
                        <a:rPr sz="1150" b="1">
                          <a:solidFill>
                            <a:srgbClr val="2E5AAC"/>
                          </a:solidFill>
                          <a:latin typeface="Yu Gothic"/>
                        </a:rPr>
                        <a:t>[4][5]</a:t>
                      </a:r>
                    </a:p>
                  </a:txBody>
                  <a:tcPr anchor="ctr" marL="101600" marR="101600" marT="50800" marB="50800">
                    <a:solidFill>
                      <a:srgbClr val="FFFFFF"/>
                    </a:solidFill>
                  </a:tcPr>
                </a:tc>
              </a:tr>
              <a:tr h="982980">
                <a:tc>
                  <a:txBody>
                    <a:bodyPr wrap="square"/>
                    <a:lstStyle/>
                    <a:p>
                      <a:pPr algn="ctr"/>
                      <a:r>
                        <a:rPr sz="1200" b="1">
                          <a:solidFill>
                            <a:srgbClr val="1B2A4A"/>
                          </a:solidFill>
                          <a:latin typeface="Yu Gothic"/>
                        </a:rPr>
                        <a:t>7</a:t>
                      </a:r>
                    </a:p>
                  </a:txBody>
                  <a:tcPr anchor="ctr" marL="101600" marR="101600" marT="50800" marB="50800">
                    <a:solidFill>
                      <a:srgbClr val="F5F6F8"/>
                    </a:solidFill>
                  </a:tcPr>
                </a:tc>
                <a:tc>
                  <a:txBody>
                    <a:bodyPr wrap="square"/>
                    <a:lstStyle/>
                    <a:p>
                      <a:pPr algn="l"/>
                      <a:r>
                        <a:rPr sz="1150" b="1">
                          <a:solidFill>
                            <a:srgbClr val="1B2A4A"/>
                          </a:solidFill>
                          <a:latin typeface="Yu Gothic"/>
                        </a:rPr>
                        <a:t>設定できない／制約がある</a:t>
                      </a:r>
                    </a:p>
                    <a:p>
                      <a:pPr algn="l"/>
                      <a:r>
                        <a:rPr sz="1150" b="1">
                          <a:solidFill>
                            <a:srgbClr val="1B2A4A"/>
                          </a:solidFill>
                          <a:latin typeface="Yu Gothic"/>
                        </a:rPr>
                        <a:t>場合の理由と代替案</a:t>
                      </a:r>
                    </a:p>
                  </a:txBody>
                  <a:tcPr anchor="ctr" marL="101600" marR="101600" marT="50800" marB="50800">
                    <a:solidFill>
                      <a:srgbClr val="F5F6F8"/>
                    </a:solidFill>
                  </a:tcPr>
                </a:tc>
                <a:tc>
                  <a:txBody>
                    <a:bodyPr wrap="square"/>
                    <a:lstStyle/>
                    <a:p>
                      <a:pPr algn="ctr"/>
                      <a:r>
                        <a:rPr sz="1200" b="1">
                          <a:solidFill>
                            <a:srgbClr val="C45911"/>
                          </a:solidFill>
                          <a:latin typeface="Yu Gothic"/>
                        </a:rPr>
                        <a:t>制約あり</a:t>
                      </a:r>
                    </a:p>
                  </a:txBody>
                  <a:tcPr anchor="ctr" marL="101600" marR="101600" marT="50800" marB="50800">
                    <a:solidFill>
                      <a:srgbClr val="FBEADA"/>
                    </a:solidFill>
                  </a:tcPr>
                </a:tc>
                <a:tc>
                  <a:txBody>
                    <a:bodyPr wrap="square"/>
                    <a:lstStyle/>
                    <a:p>
                      <a:pPr algn="l"/>
                      <a:r>
                        <a:rPr sz="1080" b="0">
                          <a:solidFill>
                            <a:srgbClr val="262626"/>
                          </a:solidFill>
                          <a:latin typeface="Yu Gothic"/>
                        </a:rPr>
                        <a:t>Default環境の全体マネージド化は全社Premium化が前提となり</a:t>
                      </a:r>
                    </a:p>
                    <a:p>
                      <a:pPr algn="l"/>
                      <a:r>
                        <a:rPr sz="1080" b="0">
                          <a:solidFill>
                            <a:srgbClr val="262626"/>
                          </a:solidFill>
                          <a:latin typeface="Yu Gothic"/>
                        </a:rPr>
                        <a:t>実務上ハードルが高い。DLPポリシーの先行適用・環境ルーティング</a:t>
                      </a:r>
                    </a:p>
                    <a:p>
                      <a:pPr algn="l"/>
                      <a:r>
                        <a:rPr sz="1080" b="0">
                          <a:solidFill>
                            <a:srgbClr val="262626"/>
                          </a:solidFill>
                          <a:latin typeface="Yu Gothic"/>
                        </a:rPr>
                        <a:t>などの代替統制で早期にリスクを低減できる</a:t>
                      </a:r>
                    </a:p>
                  </a:txBody>
                  <a:tcPr anchor="ctr" marL="101600" marR="101600" marT="50800" marB="50800">
                    <a:solidFill>
                      <a:srgbClr val="F5F6F8"/>
                    </a:solidFill>
                  </a:tcPr>
                </a:tc>
                <a:tc>
                  <a:txBody>
                    <a:bodyPr wrap="square"/>
                    <a:lstStyle/>
                    <a:p>
                      <a:pPr algn="ctr"/>
                      <a:r>
                        <a:rPr sz="1150" b="1">
                          <a:solidFill>
                            <a:srgbClr val="2E5AAC"/>
                          </a:solidFill>
                          <a:latin typeface="Yu Gothic"/>
                        </a:rPr>
                        <a:t>[3][9][10]</a:t>
                      </a:r>
                    </a:p>
                  </a:txBody>
                  <a:tcPr anchor="ctr" marL="101600" marR="101600" marT="50800" marB="50800">
                    <a:solidFill>
                      <a:srgbClr val="F5F6F8"/>
                    </a:solidFill>
                  </a:tcPr>
                </a:tc>
              </a:tr>
            </a:tbl>
          </a:graphicData>
        </a:graphic>
      </p:graphicFrame>
      <p:sp>
        <p:nvSpPr>
          <p:cNvPr id="7" name="Rectangle 6"/>
          <p:cNvSpPr/>
          <p:nvPr/>
        </p:nvSpPr>
        <p:spPr>
          <a:xfrm>
            <a:off x="365760" y="5532120"/>
            <a:ext cx="11430000" cy="86868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5623560"/>
            <a:ext cx="10972800" cy="685800"/>
          </a:xfrm>
          <a:prstGeom prst="rect">
            <a:avLst/>
          </a:prstGeom>
          <a:noFill/>
        </p:spPr>
        <p:txBody>
          <a:bodyPr wrap="square" anchor="t" lIns="0" rIns="0" tIns="0" bIns="0">
            <a:spAutoFit/>
          </a:bodyPr>
          <a:lstStyle/>
          <a:p>
            <a:pPr algn="l">
              <a:lnSpc>
                <a:spcPct val="120000"/>
              </a:lnSpc>
            </a:pPr>
            <a:r>
              <a:rPr sz="1100" b="0" i="0">
                <a:solidFill>
                  <a:srgbClr val="1B2A4A"/>
                </a:solidFill>
                <a:latin typeface="Yu Gothic"/>
              </a:rPr>
              <a:t>補足論点（Default環境は通常環境同様にManaged化可能か／DLPは無償ユーザーにも適用されるか／Premiumライセンスは管理者・作成者・実行者のどこまで必要か／</a:t>
            </a:r>
          </a:p>
          <a:p>
            <a:pPr algn="l">
              <a:lnSpc>
                <a:spcPct val="120000"/>
              </a:lnSpc>
            </a:pPr>
            <a:r>
              <a:rPr sz="1100" b="0" i="0">
                <a:solidFill>
                  <a:srgbClr val="1B2A4A"/>
                </a:solidFill>
                <a:latin typeface="Yu Gothic"/>
              </a:rPr>
              <a:t>Copilot Studio等の現実的な利用制御方法）は、P.6〜P.11の詳細説明の中で対応する確認項目とあわせて回答する。</a:t>
            </a:r>
          </a:p>
        </p:txBody>
      </p:sp>
      <p:sp>
        <p:nvSpPr>
          <p:cNvPr id="9" name="TextBox 8"/>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10" name="TextBox 9"/>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依頼内容 確認項目 1</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① Default環境をマネージド環境に設定できるか</a:t>
            </a:r>
          </a:p>
        </p:txBody>
      </p:sp>
      <p:sp>
        <p:nvSpPr>
          <p:cNvPr id="6" name="Rounded Rectangle 5"/>
          <p:cNvSpPr/>
          <p:nvPr/>
        </p:nvSpPr>
        <p:spPr>
          <a:xfrm>
            <a:off x="502920" y="1325880"/>
            <a:ext cx="2103120" cy="457200"/>
          </a:xfrm>
          <a:prstGeom prst="roundRect">
            <a:avLst>
              <a:gd name="adj" fmla="val 50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12700" bIns="12700"/>
          <a:lstStyle/>
          <a:p>
            <a:pPr algn="ctr"/>
            <a:r>
              <a:rPr sz="1200" b="1">
                <a:solidFill>
                  <a:srgbClr val="1D8A70"/>
                </a:solidFill>
                <a:latin typeface="Yu Gothic"/>
              </a:rPr>
              <a:t>判定：YES（条件付き）</a:t>
            </a:r>
          </a:p>
        </p:txBody>
      </p:sp>
      <p:sp>
        <p:nvSpPr>
          <p:cNvPr id="7" name="TextBox 6"/>
          <p:cNvSpPr txBox="1"/>
          <p:nvPr/>
        </p:nvSpPr>
        <p:spPr>
          <a:xfrm>
            <a:off x="502920" y="1965960"/>
            <a:ext cx="6949440" cy="3931920"/>
          </a:xfrm>
          <a:prstGeom prst="rect">
            <a:avLst/>
          </a:prstGeom>
          <a:noFill/>
        </p:spPr>
        <p:txBody>
          <a:bodyPr wrap="square">
            <a:spAutoFit/>
          </a:bodyPr>
          <a:lstStyle/>
          <a:p>
            <a:pPr>
              <a:lnSpc>
                <a:spcPct val="115000"/>
              </a:lnSpc>
              <a:spcAft>
                <a:spcPts val="900"/>
              </a:spcAft>
            </a:pPr>
            <a:r>
              <a:rPr sz="1300" b="1">
                <a:solidFill>
                  <a:srgbClr val="262626"/>
                </a:solidFill>
                <a:latin typeface="Yu Gothic"/>
              </a:rPr>
              <a:t>● 技術的な制約は存在しない</a:t>
            </a:r>
          </a:p>
          <a:p>
            <a:pPr marL="228600">
              <a:lnSpc>
                <a:spcPct val="115000"/>
              </a:lnSpc>
              <a:spcAft>
                <a:spcPts val="900"/>
              </a:spcAft>
            </a:pPr>
            <a:r>
              <a:rPr sz="1200" b="0">
                <a:solidFill>
                  <a:srgbClr val="262626"/>
                </a:solidFill>
                <a:latin typeface="Yu Gothic"/>
              </a:rPr>
              <a:t>- Microsoft公式：「Admins can use managed environments with any
type of environment」— 環境の種類を問わず有効化可能と明記</a:t>
            </a:r>
          </a:p>
          <a:p>
            <a:pPr marL="228600">
              <a:lnSpc>
                <a:spcPct val="115000"/>
              </a:lnSpc>
              <a:spcAft>
                <a:spcPts val="900"/>
              </a:spcAft>
            </a:pPr>
            <a:r>
              <a:rPr sz="1200" b="0">
                <a:solidFill>
                  <a:srgbClr val="262626"/>
                </a:solidFill>
                <a:latin typeface="Yu Gothic"/>
              </a:rPr>
              <a:t>- Default環境も例外ではなく、管理センターの操作（環境選択 →
［Enable Managed Environments］）で有効化できる</a:t>
            </a:r>
          </a:p>
          <a:p>
            <a:pPr>
              <a:lnSpc>
                <a:spcPct val="115000"/>
              </a:lnSpc>
              <a:spcAft>
                <a:spcPts val="900"/>
              </a:spcAft>
            </a:pPr>
            <a:r>
              <a:rPr sz="1300" b="1">
                <a:solidFill>
                  <a:srgbClr val="262626"/>
                </a:solidFill>
                <a:latin typeface="Yu Gothic"/>
              </a:rPr>
              <a:t>● Microsoft自身もDefault環境への適用を推奨</a:t>
            </a:r>
          </a:p>
          <a:p>
            <a:pPr marL="228600">
              <a:lnSpc>
                <a:spcPct val="115000"/>
              </a:lnSpc>
              <a:spcAft>
                <a:spcPts val="900"/>
              </a:spcAft>
            </a:pPr>
            <a:r>
              <a:rPr sz="1200" b="0">
                <a:solidFill>
                  <a:srgbClr val="262626"/>
                </a:solidFill>
                <a:latin typeface="Yu Gothic"/>
              </a:rPr>
              <a:t>- 公式ガイダンスでは、共有制限・使用状況インサイト・Dataverse IP
ファイアウォール等の統治強化のため、Default環境でのマネージド
環境機能の活用を推奨している</a:t>
            </a:r>
          </a:p>
          <a:p>
            <a:pPr>
              <a:lnSpc>
                <a:spcPct val="115000"/>
              </a:lnSpc>
              <a:spcAft>
                <a:spcPts val="900"/>
              </a:spcAft>
            </a:pPr>
            <a:r>
              <a:rPr sz="1300" b="1">
                <a:solidFill>
                  <a:srgbClr val="262626"/>
                </a:solidFill>
                <a:latin typeface="Yu Gothic"/>
              </a:rPr>
              <a:t>● ただし実務上は「全社Premiumライセンス化」という制約が伴う</a:t>
            </a:r>
          </a:p>
          <a:p>
            <a:pPr marL="228600">
              <a:lnSpc>
                <a:spcPct val="115000"/>
              </a:lnSpc>
              <a:spcAft>
                <a:spcPts val="900"/>
              </a:spcAft>
            </a:pPr>
            <a:r>
              <a:rPr sz="1200" b="0">
                <a:solidFill>
                  <a:srgbClr val="262626"/>
                </a:solidFill>
                <a:latin typeface="Yu Gothic"/>
              </a:rPr>
              <a:t>- Default環境は全ライセンスユーザーが標準でアクセス可能なため、
有効化するとその全員がPremium対象になり得る（詳細はP.7）</a:t>
            </a:r>
          </a:p>
        </p:txBody>
      </p:sp>
      <p:sp>
        <p:nvSpPr>
          <p:cNvPr id="8" name="Rectangle 7"/>
          <p:cNvSpPr/>
          <p:nvPr/>
        </p:nvSpPr>
        <p:spPr>
          <a:xfrm>
            <a:off x="7818120" y="1325880"/>
            <a:ext cx="3886200" cy="3977639"/>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508760"/>
            <a:ext cx="3474720" cy="365760"/>
          </a:xfrm>
          <a:prstGeom prst="rect">
            <a:avLst/>
          </a:prstGeom>
          <a:noFill/>
        </p:spPr>
        <p:txBody>
          <a:bodyPr wrap="square" anchor="t" lIns="0" rIns="0" tIns="0" bIns="0">
            <a:spAutoFit/>
          </a:bodyPr>
          <a:lstStyle/>
          <a:p>
            <a:pPr algn="l">
              <a:lnSpc>
                <a:spcPct val="100000"/>
              </a:lnSpc>
            </a:pPr>
            <a:r>
              <a:rPr sz="1350" b="1" i="0">
                <a:solidFill>
                  <a:srgbClr val="1B2A4A"/>
                </a:solidFill>
                <a:latin typeface="Yu Gothic"/>
              </a:rPr>
              <a:t>有効化で得られる主な機能</a:t>
            </a:r>
          </a:p>
        </p:txBody>
      </p:sp>
      <p:sp>
        <p:nvSpPr>
          <p:cNvPr id="10" name="TextBox 9"/>
          <p:cNvSpPr txBox="1"/>
          <p:nvPr/>
        </p:nvSpPr>
        <p:spPr>
          <a:xfrm>
            <a:off x="8046720" y="1965960"/>
            <a:ext cx="3474720" cy="3200400"/>
          </a:xfrm>
          <a:prstGeom prst="rect">
            <a:avLst/>
          </a:prstGeom>
          <a:noFill/>
        </p:spPr>
        <p:txBody>
          <a:bodyPr wrap="square">
            <a:spAutoFit/>
          </a:bodyPr>
          <a:lstStyle/>
          <a:p>
            <a:pPr>
              <a:lnSpc>
                <a:spcPct val="120000"/>
              </a:lnSpc>
              <a:spcAft>
                <a:spcPts val="800"/>
              </a:spcAft>
            </a:pPr>
            <a:r>
              <a:rPr sz="1200" b="0">
                <a:solidFill>
                  <a:srgbClr val="262626"/>
                </a:solidFill>
                <a:latin typeface="Yu Gothic"/>
              </a:rPr>
              <a:t>● 共有制限（アプリ/フローの共有範囲制御）</a:t>
            </a:r>
          </a:p>
          <a:p>
            <a:pPr>
              <a:lnSpc>
                <a:spcPct val="120000"/>
              </a:lnSpc>
              <a:spcAft>
                <a:spcPts val="800"/>
              </a:spcAft>
            </a:pPr>
            <a:r>
              <a:rPr sz="1200" b="0">
                <a:solidFill>
                  <a:srgbClr val="262626"/>
                </a:solidFill>
                <a:latin typeface="Yu Gothic"/>
              </a:rPr>
              <a:t>● 使用状況インサイト（ダッシュボード）</a:t>
            </a:r>
          </a:p>
          <a:p>
            <a:pPr>
              <a:lnSpc>
                <a:spcPct val="120000"/>
              </a:lnSpc>
              <a:spcAft>
                <a:spcPts val="800"/>
              </a:spcAft>
            </a:pPr>
            <a:r>
              <a:rPr sz="1200" b="0">
                <a:solidFill>
                  <a:srgbClr val="262626"/>
                </a:solidFill>
                <a:latin typeface="Yu Gothic"/>
              </a:rPr>
              <a:t>● Dataverse アクセス制限（IPファイアウォール）</a:t>
            </a:r>
          </a:p>
          <a:p>
            <a:pPr>
              <a:lnSpc>
                <a:spcPct val="120000"/>
              </a:lnSpc>
              <a:spcAft>
                <a:spcPts val="800"/>
              </a:spcAft>
            </a:pPr>
            <a:r>
              <a:rPr sz="1200" b="0">
                <a:solidFill>
                  <a:srgbClr val="262626"/>
                </a:solidFill>
                <a:latin typeface="Yu Gothic"/>
              </a:rPr>
              <a:t>● ソリューションチェッカーの自動実行</a:t>
            </a:r>
          </a:p>
          <a:p>
            <a:pPr>
              <a:lnSpc>
                <a:spcPct val="120000"/>
              </a:lnSpc>
              <a:spcAft>
                <a:spcPts val="800"/>
              </a:spcAft>
            </a:pPr>
            <a:r>
              <a:rPr sz="1200" b="0">
                <a:solidFill>
                  <a:srgbClr val="262626"/>
                </a:solidFill>
                <a:latin typeface="Yu Gothic"/>
              </a:rPr>
              <a:t>● 最適化推奨事項の自動提示</a:t>
            </a:r>
          </a:p>
        </p:txBody>
      </p:sp>
      <p:sp>
        <p:nvSpPr>
          <p:cNvPr id="11" name="TextBox 10"/>
          <p:cNvSpPr txBox="1"/>
          <p:nvPr/>
        </p:nvSpPr>
        <p:spPr>
          <a:xfrm>
            <a:off x="502920" y="6080760"/>
            <a:ext cx="11155680" cy="320040"/>
          </a:xfrm>
          <a:prstGeom prst="rect">
            <a:avLst/>
          </a:prstGeom>
          <a:noFill/>
        </p:spPr>
        <p:txBody>
          <a:bodyPr wrap="square" anchor="t" lIns="0" rIns="0" tIns="0" bIns="0">
            <a:spAutoFit/>
          </a:bodyPr>
          <a:lstStyle/>
          <a:p>
            <a:pPr algn="l">
              <a:lnSpc>
                <a:spcPct val="100000"/>
              </a:lnSpc>
            </a:pPr>
            <a:r>
              <a:rPr sz="1050" b="0" i="1">
                <a:solidFill>
                  <a:srgbClr val="6E6E6E"/>
                </a:solidFill>
                <a:latin typeface="Yu Gothic"/>
              </a:rPr>
              <a:t>出典：[1] Managed environments overview／[2] Enable managed environments／[7] Secure the default environment（いずれもMicrosoft Learn）</a:t>
            </a:r>
          </a:p>
        </p:txBody>
      </p:sp>
      <p:sp>
        <p:nvSpPr>
          <p:cNvPr id="12" name="TextBox 11"/>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13" name="TextBox 12"/>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依頼内容 確認項目 2</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② Default環境にDLPポリシーを適用できるか</a:t>
            </a:r>
          </a:p>
        </p:txBody>
      </p:sp>
      <p:sp>
        <p:nvSpPr>
          <p:cNvPr id="6" name="Rounded Rectangle 5"/>
          <p:cNvSpPr/>
          <p:nvPr/>
        </p:nvSpPr>
        <p:spPr>
          <a:xfrm>
            <a:off x="502920" y="1325880"/>
            <a:ext cx="1371600" cy="457200"/>
          </a:xfrm>
          <a:prstGeom prst="roundRect">
            <a:avLst>
              <a:gd name="adj" fmla="val 50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12700" bIns="12700"/>
          <a:lstStyle/>
          <a:p>
            <a:pPr algn="ctr"/>
            <a:r>
              <a:rPr sz="1200" b="1">
                <a:solidFill>
                  <a:srgbClr val="1D8A70"/>
                </a:solidFill>
                <a:latin typeface="Yu Gothic"/>
              </a:rPr>
              <a:t>判定：YES</a:t>
            </a:r>
          </a:p>
        </p:txBody>
      </p:sp>
      <p:sp>
        <p:nvSpPr>
          <p:cNvPr id="7" name="TextBox 6"/>
          <p:cNvSpPr txBox="1"/>
          <p:nvPr/>
        </p:nvSpPr>
        <p:spPr>
          <a:xfrm>
            <a:off x="502920" y="1965960"/>
            <a:ext cx="6949440" cy="3931920"/>
          </a:xfrm>
          <a:prstGeom prst="rect">
            <a:avLst/>
          </a:prstGeom>
          <a:noFill/>
        </p:spPr>
        <p:txBody>
          <a:bodyPr wrap="square">
            <a:spAutoFit/>
          </a:bodyPr>
          <a:lstStyle/>
          <a:p>
            <a:pPr>
              <a:lnSpc>
                <a:spcPct val="115000"/>
              </a:lnSpc>
              <a:spcAft>
                <a:spcPts val="900"/>
              </a:spcAft>
            </a:pPr>
            <a:r>
              <a:rPr sz="1300" b="1">
                <a:solidFill>
                  <a:srgbClr val="262626"/>
                </a:solidFill>
                <a:latin typeface="Yu Gothic"/>
              </a:rPr>
              <a:t>● DLPポリシーはマネージド環境化と独立した機能</a:t>
            </a:r>
          </a:p>
          <a:p>
            <a:pPr marL="228600">
              <a:lnSpc>
                <a:spcPct val="115000"/>
              </a:lnSpc>
              <a:spcAft>
                <a:spcPts val="900"/>
              </a:spcAft>
            </a:pPr>
            <a:r>
              <a:rPr sz="1200" b="0">
                <a:solidFill>
                  <a:srgbClr val="262626"/>
                </a:solidFill>
                <a:latin typeface="Yu Gothic"/>
              </a:rPr>
              <a:t>- テナント管理者／環境管理者権限があれば、マネージド環境化の
有無に関わらずどの環境にもDLPポリシーを設定できる</a:t>
            </a:r>
          </a:p>
          <a:p>
            <a:pPr>
              <a:lnSpc>
                <a:spcPct val="115000"/>
              </a:lnSpc>
              <a:spcAft>
                <a:spcPts val="900"/>
              </a:spcAft>
            </a:pPr>
            <a:r>
              <a:rPr sz="1300" b="1">
                <a:solidFill>
                  <a:srgbClr val="262626"/>
                </a:solidFill>
                <a:latin typeface="Yu Gothic"/>
              </a:rPr>
              <a:t>● 適用スコープの選択肢</a:t>
            </a:r>
          </a:p>
          <a:p>
            <a:pPr marL="228600">
              <a:lnSpc>
                <a:spcPct val="115000"/>
              </a:lnSpc>
              <a:spcAft>
                <a:spcPts val="900"/>
              </a:spcAft>
            </a:pPr>
            <a:r>
              <a:rPr sz="1200" b="0">
                <a:solidFill>
                  <a:srgbClr val="262626"/>
                </a:solidFill>
                <a:latin typeface="Yu Gothic"/>
              </a:rPr>
              <a:t>- 環境レベルポリシー：Default環境単体を指定して適用</a:t>
            </a:r>
          </a:p>
          <a:p>
            <a:pPr marL="228600">
              <a:lnSpc>
                <a:spcPct val="115000"/>
              </a:lnSpc>
              <a:spcAft>
                <a:spcPts val="900"/>
              </a:spcAft>
            </a:pPr>
            <a:r>
              <a:rPr sz="1200" b="0">
                <a:solidFill>
                  <a:srgbClr val="262626"/>
                </a:solidFill>
                <a:latin typeface="Yu Gothic"/>
              </a:rPr>
              <a:t>- テナントレベルポリシー：全環境／複数環境／除外環境を指定して
適用（Default環境を含めることも可能）</a:t>
            </a:r>
          </a:p>
          <a:p>
            <a:pPr>
              <a:lnSpc>
                <a:spcPct val="115000"/>
              </a:lnSpc>
              <a:spcAft>
                <a:spcPts val="900"/>
              </a:spcAft>
            </a:pPr>
            <a:r>
              <a:rPr sz="1300" b="1">
                <a:solidFill>
                  <a:srgbClr val="262626"/>
                </a:solidFill>
                <a:latin typeface="Yu Gothic"/>
              </a:rPr>
              <a:t>● Microsoft公式のベストプラクティス</a:t>
            </a:r>
          </a:p>
          <a:p>
            <a:pPr marL="228600">
              <a:lnSpc>
                <a:spcPct val="115000"/>
              </a:lnSpc>
              <a:spcAft>
                <a:spcPts val="900"/>
              </a:spcAft>
            </a:pPr>
            <a:r>
              <a:rPr sz="1200" b="0">
                <a:solidFill>
                  <a:srgbClr val="262626"/>
                </a:solidFill>
                <a:latin typeface="Yu Gothic"/>
              </a:rPr>
              <a:t>- 「Having a data policy in place is especially critical for the
default environment」— Default環境への適用を明確に推奨</a:t>
            </a:r>
          </a:p>
          <a:p>
            <a:pPr marL="228600">
              <a:lnSpc>
                <a:spcPct val="115000"/>
              </a:lnSpc>
              <a:spcAft>
                <a:spcPts val="900"/>
              </a:spcAft>
            </a:pPr>
            <a:r>
              <a:rPr sz="1200" b="0">
                <a:solidFill>
                  <a:srgbClr val="262626"/>
                </a:solidFill>
                <a:latin typeface="Yu Gothic"/>
              </a:rPr>
              <a:t>- コネクタ分類の既定グループを「ブロック済み」に設定し、新規
コネクタは承認するまで自動的に利用不可とする方式を推奨</a:t>
            </a:r>
          </a:p>
        </p:txBody>
      </p:sp>
      <p:sp>
        <p:nvSpPr>
          <p:cNvPr id="8" name="Rectangle 7"/>
          <p:cNvSpPr/>
          <p:nvPr/>
        </p:nvSpPr>
        <p:spPr>
          <a:xfrm>
            <a:off x="7818120" y="1325880"/>
            <a:ext cx="3886200" cy="3977639"/>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508760"/>
            <a:ext cx="3474720" cy="365760"/>
          </a:xfrm>
          <a:prstGeom prst="rect">
            <a:avLst/>
          </a:prstGeom>
          <a:noFill/>
        </p:spPr>
        <p:txBody>
          <a:bodyPr wrap="square" anchor="t" lIns="0" rIns="0" tIns="0" bIns="0">
            <a:spAutoFit/>
          </a:bodyPr>
          <a:lstStyle/>
          <a:p>
            <a:pPr algn="l">
              <a:lnSpc>
                <a:spcPct val="100000"/>
              </a:lnSpc>
            </a:pPr>
            <a:r>
              <a:rPr sz="1350" b="1" i="0">
                <a:solidFill>
                  <a:srgbClr val="1B2A4A"/>
                </a:solidFill>
                <a:latin typeface="Yu Gothic"/>
              </a:rPr>
              <a:t>推奨コネクタ分類設計</a:t>
            </a:r>
          </a:p>
        </p:txBody>
      </p:sp>
      <p:sp>
        <p:nvSpPr>
          <p:cNvPr id="10" name="TextBox 9"/>
          <p:cNvSpPr txBox="1"/>
          <p:nvPr/>
        </p:nvSpPr>
        <p:spPr>
          <a:xfrm>
            <a:off x="8046720" y="1965960"/>
            <a:ext cx="3474720" cy="3291840"/>
          </a:xfrm>
          <a:prstGeom prst="rect">
            <a:avLst/>
          </a:prstGeom>
          <a:noFill/>
        </p:spPr>
        <p:txBody>
          <a:bodyPr wrap="square">
            <a:spAutoFit/>
          </a:bodyPr>
          <a:lstStyle/>
          <a:p>
            <a:pPr>
              <a:lnSpc>
                <a:spcPct val="125000"/>
              </a:lnSpc>
              <a:spcAft>
                <a:spcPts val="1000"/>
              </a:spcAft>
            </a:pPr>
            <a:r>
              <a:rPr sz="1200" b="0">
                <a:solidFill>
                  <a:srgbClr val="262626"/>
                </a:solidFill>
                <a:latin typeface="Yu Gothic"/>
              </a:rPr>
              <a:t>● ① ブロック不可コネクタ → 「業務データ」グループへ</a:t>
            </a:r>
          </a:p>
          <a:p>
            <a:pPr>
              <a:lnSpc>
                <a:spcPct val="125000"/>
              </a:lnSpc>
              <a:spcAft>
                <a:spcPts val="1000"/>
              </a:spcAft>
            </a:pPr>
            <a:r>
              <a:rPr sz="1200" b="0">
                <a:solidFill>
                  <a:srgbClr val="262626"/>
                </a:solidFill>
                <a:latin typeface="Yu Gothic"/>
              </a:rPr>
              <a:t>● ② ブロック可能なコネクタ → 「ブロック済み」グループへ</a:t>
            </a:r>
          </a:p>
          <a:p>
            <a:pPr>
              <a:lnSpc>
                <a:spcPct val="125000"/>
              </a:lnSpc>
              <a:spcAft>
                <a:spcPts val="1000"/>
              </a:spcAft>
            </a:pPr>
            <a:r>
              <a:rPr sz="1200" b="0">
                <a:solidFill>
                  <a:srgbClr val="262626"/>
                </a:solidFill>
                <a:latin typeface="Yu Gothic"/>
              </a:rPr>
              <a:t>● ③ 既定グループを「ブロック済み」に設定</a:t>
            </a:r>
          </a:p>
          <a:p>
            <a:pPr>
              <a:lnSpc>
                <a:spcPct val="125000"/>
              </a:lnSpc>
              <a:spcAft>
                <a:spcPts val="1000"/>
              </a:spcAft>
            </a:pPr>
            <a:r>
              <a:rPr sz="1200" b="0">
                <a:solidFill>
                  <a:srgbClr val="262626"/>
                </a:solidFill>
                <a:latin typeface="Yu Gothic"/>
              </a:rPr>
              <a:t>● ④ 必要なコネクタのみ都度承認して昇格</a:t>
            </a:r>
          </a:p>
        </p:txBody>
      </p:sp>
      <p:sp>
        <p:nvSpPr>
          <p:cNvPr id="11" name="TextBox 10"/>
          <p:cNvSpPr txBox="1"/>
          <p:nvPr/>
        </p:nvSpPr>
        <p:spPr>
          <a:xfrm>
            <a:off x="502920" y="6080760"/>
            <a:ext cx="11155680" cy="320040"/>
          </a:xfrm>
          <a:prstGeom prst="rect">
            <a:avLst/>
          </a:prstGeom>
          <a:noFill/>
        </p:spPr>
        <p:txBody>
          <a:bodyPr wrap="square" anchor="t" lIns="0" rIns="0" tIns="0" bIns="0">
            <a:spAutoFit/>
          </a:bodyPr>
          <a:lstStyle/>
          <a:p>
            <a:pPr algn="l">
              <a:lnSpc>
                <a:spcPct val="100000"/>
              </a:lnSpc>
            </a:pPr>
            <a:r>
              <a:rPr sz="1050" b="0" i="1">
                <a:solidFill>
                  <a:srgbClr val="6E6E6E"/>
                </a:solidFill>
                <a:latin typeface="Yu Gothic"/>
              </a:rPr>
              <a:t>出典：[4] Manage data policies／[5] View policies and scope／[7] Secure the default environment（いずれもMicrosoft Learn）</a:t>
            </a:r>
          </a:p>
        </p:txBody>
      </p:sp>
      <p:sp>
        <p:nvSpPr>
          <p:cNvPr id="12" name="TextBox 11"/>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13" name="TextBox 12"/>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依頼内容 確認項目 3・4</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③④ Premiumライセンスの要否と対象範囲</a:t>
            </a:r>
          </a:p>
        </p:txBody>
      </p:sp>
      <p:sp>
        <p:nvSpPr>
          <p:cNvPr id="6" name="Rounded Rectangle 5"/>
          <p:cNvSpPr/>
          <p:nvPr/>
        </p:nvSpPr>
        <p:spPr>
          <a:xfrm>
            <a:off x="502920" y="1298448"/>
            <a:ext cx="4206240" cy="457200"/>
          </a:xfrm>
          <a:prstGeom prst="roundRect">
            <a:avLst>
              <a:gd name="adj" fmla="val 50000"/>
            </a:avLst>
          </a:prstGeom>
          <a:solidFill>
            <a:srgbClr val="F8E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12700" bIns="12700"/>
          <a:lstStyle/>
          <a:p>
            <a:pPr algn="ctr"/>
            <a:r>
              <a:rPr sz="1300" b="1">
                <a:solidFill>
                  <a:srgbClr val="B02A2A"/>
                </a:solidFill>
                <a:latin typeface="Yu Gothic"/>
              </a:rPr>
              <a:t>判定：必要／対象は全ユーザー（管理者限定ではない）</a:t>
            </a:r>
          </a:p>
        </p:txBody>
      </p:sp>
      <p:graphicFrame>
        <p:nvGraphicFramePr>
          <p:cNvPr id="7" name="Table 6"/>
          <p:cNvGraphicFramePr>
            <a:graphicFrameLocks noGrp="1"/>
          </p:cNvGraphicFramePr>
          <p:nvPr/>
        </p:nvGraphicFramePr>
        <p:xfrm>
          <a:off x="502920" y="1920240"/>
          <a:ext cx="11201400" cy="3246120"/>
        </p:xfrm>
        <a:graphic>
          <a:graphicData uri="http://schemas.openxmlformats.org/drawingml/2006/table">
            <a:tbl>
              <a:tblPr firstRow="1" bandRow="1">
                <a:tableStyleId>{5C22544A-7EE6-4342-B048-85BDC9FD1C3A}</a:tableStyleId>
              </a:tblPr>
              <a:tblGrid>
                <a:gridCol w="2423160"/>
                <a:gridCol w="3200400"/>
                <a:gridCol w="2834640"/>
                <a:gridCol w="2743200"/>
              </a:tblGrid>
              <a:tr h="811530">
                <a:tc>
                  <a:txBody>
                    <a:bodyPr wrap="square"/>
                    <a:lstStyle/>
                    <a:p>
                      <a:pPr algn="ctr"/>
                      <a:r>
                        <a:rPr sz="1250" b="1">
                          <a:solidFill>
                            <a:srgbClr val="FFFFFF"/>
                          </a:solidFill>
                          <a:latin typeface="Yu Gothic"/>
                        </a:rPr>
                        <a:t>役割</a:t>
                      </a:r>
                    </a:p>
                  </a:txBody>
                  <a:tcPr anchor="ctr" marL="101600" marR="101600" marT="50800" marB="50800">
                    <a:solidFill>
                      <a:srgbClr val="1B2A4A"/>
                    </a:solidFill>
                  </a:tcPr>
                </a:tc>
                <a:tc>
                  <a:txBody>
                    <a:bodyPr wrap="square"/>
                    <a:lstStyle/>
                    <a:p>
                      <a:pPr algn="ctr"/>
                      <a:r>
                        <a:rPr sz="1250" b="1">
                          <a:solidFill>
                            <a:srgbClr val="FFFFFF"/>
                          </a:solidFill>
                          <a:latin typeface="Yu Gothic"/>
                        </a:rPr>
                        <a:t>マネージド環境の</a:t>
                      </a:r>
                    </a:p>
                    <a:p>
                      <a:pPr algn="ctr"/>
                      <a:r>
                        <a:rPr sz="1250" b="1">
                          <a:solidFill>
                            <a:srgbClr val="FFFFFF"/>
                          </a:solidFill>
                          <a:latin typeface="Yu Gothic"/>
                        </a:rPr>
                        <a:t>設定・DLP設定</a:t>
                      </a:r>
                    </a:p>
                  </a:txBody>
                  <a:tcPr anchor="ctr" marL="101600" marR="101600" marT="50800" marB="50800">
                    <a:solidFill>
                      <a:srgbClr val="1B2A4A"/>
                    </a:solidFill>
                  </a:tcPr>
                </a:tc>
                <a:tc>
                  <a:txBody>
                    <a:bodyPr wrap="square"/>
                    <a:lstStyle/>
                    <a:p>
                      <a:pPr algn="ctr"/>
                      <a:r>
                        <a:rPr sz="1250" b="1">
                          <a:solidFill>
                            <a:srgbClr val="FFFFFF"/>
                          </a:solidFill>
                          <a:latin typeface="Yu Gothic"/>
                        </a:rPr>
                        <a:t>アプリ/フローの実行</a:t>
                      </a:r>
                    </a:p>
                    <a:p>
                      <a:pPr algn="ctr"/>
                      <a:r>
                        <a:rPr sz="1250" b="1">
                          <a:solidFill>
                            <a:srgbClr val="FFFFFF"/>
                          </a:solidFill>
                          <a:latin typeface="Yu Gothic"/>
                        </a:rPr>
                        <a:t>（マネージド環境内）</a:t>
                      </a:r>
                    </a:p>
                  </a:txBody>
                  <a:tcPr anchor="ctr" marL="101600" marR="101600" marT="50800" marB="50800">
                    <a:solidFill>
                      <a:srgbClr val="1B2A4A"/>
                    </a:solidFill>
                  </a:tcPr>
                </a:tc>
                <a:tc>
                  <a:txBody>
                    <a:bodyPr wrap="square"/>
                    <a:lstStyle/>
                    <a:p>
                      <a:pPr algn="ctr"/>
                      <a:r>
                        <a:rPr sz="1250" b="1">
                          <a:solidFill>
                            <a:srgbClr val="FFFFFF"/>
                          </a:solidFill>
                          <a:latin typeface="Yu Gothic"/>
                        </a:rPr>
                        <a:t>Premiumコネクタの</a:t>
                      </a:r>
                    </a:p>
                    <a:p>
                      <a:pPr algn="ctr"/>
                      <a:r>
                        <a:rPr sz="1250" b="1">
                          <a:solidFill>
                            <a:srgbClr val="FFFFFF"/>
                          </a:solidFill>
                          <a:latin typeface="Yu Gothic"/>
                        </a:rPr>
                        <a:t>利用（環境問わず）</a:t>
                      </a:r>
                    </a:p>
                  </a:txBody>
                  <a:tcPr anchor="ctr" marL="101600" marR="101600" marT="50800" marB="50800">
                    <a:solidFill>
                      <a:srgbClr val="1B2A4A"/>
                    </a:solidFill>
                  </a:tcPr>
                </a:tc>
              </a:tr>
              <a:tr h="811530">
                <a:tc>
                  <a:txBody>
                    <a:bodyPr wrap="square"/>
                    <a:lstStyle/>
                    <a:p>
                      <a:pPr algn="l"/>
                      <a:r>
                        <a:rPr sz="1200" b="1">
                          <a:solidFill>
                            <a:srgbClr val="1B2A4A"/>
                          </a:solidFill>
                          <a:latin typeface="Yu Gothic"/>
                        </a:rPr>
                        <a:t>管理者</a:t>
                      </a:r>
                    </a:p>
                    <a:p>
                      <a:pPr algn="l"/>
                      <a:r>
                        <a:rPr sz="1200" b="1">
                          <a:solidFill>
                            <a:srgbClr val="1B2A4A"/>
                          </a:solidFill>
                          <a:latin typeface="Yu Gothic"/>
                        </a:rPr>
                        <a:t>(Power Platform管理者)</a:t>
                      </a:r>
                    </a:p>
                  </a:txBody>
                  <a:tcPr anchor="ctr" marL="101600" marR="101600" marT="50800" marB="50800">
                    <a:solidFill>
                      <a:srgbClr val="FFFFFF"/>
                    </a:solidFill>
                  </a:tcPr>
                </a:tc>
                <a:tc>
                  <a:txBody>
                    <a:bodyPr wrap="square"/>
                    <a:lstStyle/>
                    <a:p>
                      <a:pPr algn="ctr"/>
                      <a:r>
                        <a:rPr sz="1200" b="0">
                          <a:solidFill>
                            <a:srgbClr val="262626"/>
                          </a:solidFill>
                          <a:latin typeface="Yu Gothic"/>
                        </a:rPr>
                        <a:t>管理者ロールのみで可</a:t>
                      </a:r>
                    </a:p>
                    <a:p>
                      <a:pPr algn="ctr"/>
                      <a:r>
                        <a:rPr sz="1200" b="0">
                          <a:solidFill>
                            <a:srgbClr val="262626"/>
                          </a:solidFill>
                          <a:latin typeface="Yu Gothic"/>
                        </a:rPr>
                        <a:t>（追加ライセンス不要）</a:t>
                      </a:r>
                    </a:p>
                  </a:txBody>
                  <a:tcPr anchor="ctr" marL="101600" marR="101600" marT="50800" marB="50800">
                    <a:solidFill>
                      <a:srgbClr val="FFFFFF"/>
                    </a:solidFill>
                  </a:tcPr>
                </a:tc>
                <a:tc>
                  <a:txBody>
                    <a:bodyPr wrap="square"/>
                    <a:lstStyle/>
                    <a:p>
                      <a:pPr algn="ctr"/>
                      <a:r>
                        <a:rPr sz="1200" b="0">
                          <a:solidFill>
                            <a:srgbClr val="262626"/>
                          </a:solidFill>
                          <a:latin typeface="Yu Gothic"/>
                        </a:rPr>
                        <a:t>実行する場合は</a:t>
                      </a:r>
                    </a:p>
                    <a:p>
                      <a:pPr algn="ctr"/>
                      <a:r>
                        <a:rPr sz="1200" b="0">
                          <a:solidFill>
                            <a:srgbClr val="262626"/>
                          </a:solidFill>
                          <a:latin typeface="Yu Gothic"/>
                        </a:rPr>
                        <a:t>他の役割と同様に必要</a:t>
                      </a:r>
                    </a:p>
                  </a:txBody>
                  <a:tcPr anchor="ctr" marL="101600" marR="101600" marT="50800" marB="50800">
                    <a:solidFill>
                      <a:srgbClr val="FFFFFF"/>
                    </a:solidFill>
                  </a:tcPr>
                </a:tc>
                <a:tc>
                  <a:txBody>
                    <a:bodyPr wrap="square"/>
                    <a:lstStyle/>
                    <a:p>
                      <a:pPr algn="ctr"/>
                      <a:r>
                        <a:rPr sz="1200" b="0">
                          <a:solidFill>
                            <a:srgbClr val="262626"/>
                          </a:solidFill>
                          <a:latin typeface="Yu Gothic"/>
                        </a:rPr>
                        <a:t>実行する場合は必要</a:t>
                      </a:r>
                    </a:p>
                  </a:txBody>
                  <a:tcPr anchor="ctr" marL="101600" marR="101600" marT="50800" marB="50800">
                    <a:solidFill>
                      <a:srgbClr val="FFFFFF"/>
                    </a:solidFill>
                  </a:tcPr>
                </a:tc>
              </a:tr>
              <a:tr h="811530">
                <a:tc>
                  <a:txBody>
                    <a:bodyPr wrap="square"/>
                    <a:lstStyle/>
                    <a:p>
                      <a:pPr algn="l"/>
                      <a:r>
                        <a:rPr sz="1200" b="1">
                          <a:solidFill>
                            <a:srgbClr val="1B2A4A"/>
                          </a:solidFill>
                          <a:latin typeface="Yu Gothic"/>
                        </a:rPr>
                        <a:t>作成者(Maker)</a:t>
                      </a:r>
                    </a:p>
                    <a:p>
                      <a:pPr algn="l"/>
                      <a:r>
                        <a:rPr sz="1200" b="1">
                          <a:solidFill>
                            <a:srgbClr val="1B2A4A"/>
                          </a:solidFill>
                          <a:latin typeface="Yu Gothic"/>
                        </a:rPr>
                        <a:t>アプリ/フロー開発</a:t>
                      </a:r>
                    </a:p>
                  </a:txBody>
                  <a:tcPr anchor="ctr" marL="101600" marR="101600" marT="50800" marB="50800">
                    <a:solidFill>
                      <a:srgbClr val="F5F6F8"/>
                    </a:solidFill>
                  </a:tcPr>
                </a:tc>
                <a:tc>
                  <a:txBody>
                    <a:bodyPr wrap="square"/>
                    <a:lstStyle/>
                    <a:p>
                      <a:pPr algn="ctr"/>
                      <a:r>
                        <a:rPr sz="1200" b="0">
                          <a:solidFill>
                            <a:srgbClr val="262626"/>
                          </a:solidFill>
                          <a:latin typeface="Yu Gothic"/>
                        </a:rPr>
                        <a:t>対象外</a:t>
                      </a:r>
                    </a:p>
                  </a:txBody>
                  <a:tcPr anchor="ctr" marL="101600" marR="101600" marT="50800" marB="50800">
                    <a:solidFill>
                      <a:srgbClr val="F5F6F8"/>
                    </a:solidFill>
                  </a:tcPr>
                </a:tc>
                <a:tc>
                  <a:txBody>
                    <a:bodyPr wrap="square"/>
                    <a:lstStyle/>
                    <a:p>
                      <a:pPr algn="ctr"/>
                      <a:r>
                        <a:rPr sz="1200" b="0">
                          <a:solidFill>
                            <a:srgbClr val="262626"/>
                          </a:solidFill>
                          <a:latin typeface="Yu Gothic"/>
                        </a:rPr>
                        <a:t>作成・プレビュー自体は</a:t>
                      </a:r>
                    </a:p>
                    <a:p>
                      <a:pPr algn="ctr"/>
                      <a:r>
                        <a:rPr sz="1200" b="0">
                          <a:solidFill>
                            <a:srgbClr val="262626"/>
                          </a:solidFill>
                          <a:latin typeface="Yu Gothic"/>
                        </a:rPr>
                        <a:t>不要な場合あり</a:t>
                      </a:r>
                    </a:p>
                  </a:txBody>
                  <a:tcPr anchor="ctr" marL="101600" marR="101600" marT="50800" marB="50800">
                    <a:solidFill>
                      <a:srgbClr val="F5F6F8"/>
                    </a:solidFill>
                  </a:tcPr>
                </a:tc>
                <a:tc>
                  <a:txBody>
                    <a:bodyPr wrap="square"/>
                    <a:lstStyle/>
                    <a:p>
                      <a:pPr algn="ctr"/>
                      <a:r>
                        <a:rPr sz="1200" b="0">
                          <a:solidFill>
                            <a:srgbClr val="262626"/>
                          </a:solidFill>
                          <a:latin typeface="Yu Gothic"/>
                        </a:rPr>
                        <a:t>プレミアムコネクタを</a:t>
                      </a:r>
                    </a:p>
                    <a:p>
                      <a:pPr algn="ctr"/>
                      <a:r>
                        <a:rPr sz="1200" b="0">
                          <a:solidFill>
                            <a:srgbClr val="262626"/>
                          </a:solidFill>
                          <a:latin typeface="Yu Gothic"/>
                        </a:rPr>
                        <a:t>組み込む場合は必要</a:t>
                      </a:r>
                    </a:p>
                  </a:txBody>
                  <a:tcPr anchor="ctr" marL="101600" marR="101600" marT="50800" marB="50800">
                    <a:solidFill>
                      <a:srgbClr val="F5F6F8"/>
                    </a:solidFill>
                  </a:tcPr>
                </a:tc>
              </a:tr>
              <a:tr h="811530">
                <a:tc>
                  <a:txBody>
                    <a:bodyPr wrap="square"/>
                    <a:lstStyle/>
                    <a:p>
                      <a:pPr algn="l"/>
                      <a:r>
                        <a:rPr sz="1200" b="1">
                          <a:solidFill>
                            <a:srgbClr val="1B2A4A"/>
                          </a:solidFill>
                          <a:latin typeface="Yu Gothic"/>
                        </a:rPr>
                        <a:t>実行者(Runner)</a:t>
                      </a:r>
                    </a:p>
                    <a:p>
                      <a:pPr algn="l"/>
                      <a:r>
                        <a:rPr sz="1200" b="1">
                          <a:solidFill>
                            <a:srgbClr val="1B2A4A"/>
                          </a:solidFill>
                          <a:latin typeface="Yu Gothic"/>
                        </a:rPr>
                        <a:t>一般利用者</a:t>
                      </a:r>
                    </a:p>
                  </a:txBody>
                  <a:tcPr anchor="ctr" marL="101600" marR="101600" marT="50800" marB="50800">
                    <a:solidFill>
                      <a:srgbClr val="FFFFFF"/>
                    </a:solidFill>
                  </a:tcPr>
                </a:tc>
                <a:tc>
                  <a:txBody>
                    <a:bodyPr wrap="square"/>
                    <a:lstStyle/>
                    <a:p>
                      <a:pPr algn="ctr"/>
                      <a:r>
                        <a:rPr sz="1200" b="0">
                          <a:solidFill>
                            <a:srgbClr val="262626"/>
                          </a:solidFill>
                          <a:latin typeface="Yu Gothic"/>
                        </a:rPr>
                        <a:t>対象外</a:t>
                      </a:r>
                    </a:p>
                  </a:txBody>
                  <a:tcPr anchor="ctr" marL="101600" marR="101600" marT="50800" marB="50800">
                    <a:solidFill>
                      <a:srgbClr val="FFFFFF"/>
                    </a:solidFill>
                  </a:tcPr>
                </a:tc>
                <a:tc>
                  <a:txBody>
                    <a:bodyPr wrap="square"/>
                    <a:lstStyle/>
                    <a:p>
                      <a:pPr algn="ctr"/>
                      <a:r>
                        <a:rPr sz="1200" b="0">
                          <a:solidFill>
                            <a:srgbClr val="262626"/>
                          </a:solidFill>
                          <a:latin typeface="Yu Gothic"/>
                        </a:rPr>
                        <a:t>必須</a:t>
                      </a:r>
                    </a:p>
                    <a:p>
                      <a:pPr algn="ctr"/>
                      <a:r>
                        <a:rPr sz="1200" b="0">
                          <a:solidFill>
                            <a:srgbClr val="262626"/>
                          </a:solidFill>
                          <a:latin typeface="Yu Gothic"/>
                        </a:rPr>
                        <a:t>(Premiumライセンス)</a:t>
                      </a:r>
                    </a:p>
                  </a:txBody>
                  <a:tcPr anchor="ctr" marL="101600" marR="101600" marT="50800" marB="50800">
                    <a:solidFill>
                      <a:srgbClr val="FFFFFF"/>
                    </a:solidFill>
                  </a:tcPr>
                </a:tc>
                <a:tc>
                  <a:txBody>
                    <a:bodyPr wrap="square"/>
                    <a:lstStyle/>
                    <a:p>
                      <a:pPr algn="ctr"/>
                      <a:r>
                        <a:rPr sz="1200" b="0">
                          <a:solidFill>
                            <a:srgbClr val="262626"/>
                          </a:solidFill>
                          <a:latin typeface="Yu Gothic"/>
                        </a:rPr>
                        <a:t>必須</a:t>
                      </a:r>
                    </a:p>
                    <a:p>
                      <a:pPr algn="ctr"/>
                      <a:r>
                        <a:rPr sz="1200" b="0">
                          <a:solidFill>
                            <a:srgbClr val="262626"/>
                          </a:solidFill>
                          <a:latin typeface="Yu Gothic"/>
                        </a:rPr>
                        <a:t>(Premiumライセンス)</a:t>
                      </a:r>
                    </a:p>
                  </a:txBody>
                  <a:tcPr anchor="ctr" marL="101600" marR="101600" marT="50800" marB="50800">
                    <a:solidFill>
                      <a:srgbClr val="FFFFFF"/>
                    </a:solidFill>
                  </a:tcPr>
                </a:tc>
              </a:tr>
            </a:tbl>
          </a:graphicData>
        </a:graphic>
      </p:graphicFrame>
      <p:sp>
        <p:nvSpPr>
          <p:cNvPr id="8" name="TextBox 7"/>
          <p:cNvSpPr txBox="1"/>
          <p:nvPr/>
        </p:nvSpPr>
        <p:spPr>
          <a:xfrm>
            <a:off x="502920" y="5349240"/>
            <a:ext cx="11155680" cy="640080"/>
          </a:xfrm>
          <a:prstGeom prst="rect">
            <a:avLst/>
          </a:prstGeom>
          <a:noFill/>
        </p:spPr>
        <p:txBody>
          <a:bodyPr wrap="square" anchor="t" lIns="0" rIns="0" tIns="0" bIns="0">
            <a:spAutoFit/>
          </a:bodyPr>
          <a:lstStyle/>
          <a:p>
            <a:pPr algn="l">
              <a:lnSpc>
                <a:spcPct val="100000"/>
              </a:lnSpc>
            </a:pPr>
            <a:r>
              <a:rPr sz="1150" b="0" i="1">
                <a:solidFill>
                  <a:srgbClr val="6E6E6E"/>
                </a:solidFill>
                <a:latin typeface="Yu Gothic"/>
              </a:rPr>
              <a:t>※ 管理者専用のライセンス区分は存在しない。管理者であっても環境内でアプリ/フローを実行する場合は、一般ユーザーと同じライセンス要件が適用される。</a:t>
            </a:r>
          </a:p>
        </p:txBody>
      </p:sp>
      <p:sp>
        <p:nvSpPr>
          <p:cNvPr id="9" name="TextBox 8"/>
          <p:cNvSpPr txBox="1"/>
          <p:nvPr/>
        </p:nvSpPr>
        <p:spPr>
          <a:xfrm>
            <a:off x="502920" y="5989320"/>
            <a:ext cx="11155680" cy="320040"/>
          </a:xfrm>
          <a:prstGeom prst="rect">
            <a:avLst/>
          </a:prstGeom>
          <a:noFill/>
        </p:spPr>
        <p:txBody>
          <a:bodyPr wrap="square" anchor="t" lIns="0" rIns="0" tIns="0" bIns="0">
            <a:spAutoFit/>
          </a:bodyPr>
          <a:lstStyle/>
          <a:p>
            <a:pPr algn="l">
              <a:lnSpc>
                <a:spcPct val="100000"/>
              </a:lnSpc>
            </a:pPr>
            <a:r>
              <a:rPr sz="1050" b="0" i="1">
                <a:solidFill>
                  <a:srgbClr val="6E6E6E"/>
                </a:solidFill>
                <a:latin typeface="Yu Gothic"/>
              </a:rPr>
              <a:t>出典：[3] Licensing（Managed Environments）／[11] Power Automate licensing FAQ（いずれもMicrosoft Learn）</a:t>
            </a:r>
          </a:p>
        </p:txBody>
      </p:sp>
      <p:sp>
        <p:nvSpPr>
          <p:cNvPr id="10" name="TextBox 9"/>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11" name="TextBox 10"/>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依頼内容 確認項目 5</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⑤ DLPポリシー適用自体にPremiumライセンスは必要か</a:t>
            </a:r>
          </a:p>
        </p:txBody>
      </p:sp>
      <p:sp>
        <p:nvSpPr>
          <p:cNvPr id="6" name="Rounded Rectangle 5"/>
          <p:cNvSpPr/>
          <p:nvPr/>
        </p:nvSpPr>
        <p:spPr>
          <a:xfrm>
            <a:off x="502920" y="1325880"/>
            <a:ext cx="1371600" cy="457200"/>
          </a:xfrm>
          <a:prstGeom prst="roundRect">
            <a:avLst>
              <a:gd name="adj" fmla="val 50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12700" bIns="12700"/>
          <a:lstStyle/>
          <a:p>
            <a:pPr algn="ctr"/>
            <a:r>
              <a:rPr sz="1200" b="1">
                <a:solidFill>
                  <a:srgbClr val="1D8A70"/>
                </a:solidFill>
                <a:latin typeface="Yu Gothic"/>
              </a:rPr>
              <a:t>判定：NO</a:t>
            </a:r>
          </a:p>
        </p:txBody>
      </p:sp>
      <p:sp>
        <p:nvSpPr>
          <p:cNvPr id="7" name="TextBox 6"/>
          <p:cNvSpPr txBox="1"/>
          <p:nvPr/>
        </p:nvSpPr>
        <p:spPr>
          <a:xfrm>
            <a:off x="502920" y="1965960"/>
            <a:ext cx="6949440" cy="3931920"/>
          </a:xfrm>
          <a:prstGeom prst="rect">
            <a:avLst/>
          </a:prstGeom>
          <a:noFill/>
        </p:spPr>
        <p:txBody>
          <a:bodyPr wrap="square">
            <a:spAutoFit/>
          </a:bodyPr>
          <a:lstStyle/>
          <a:p>
            <a:pPr>
              <a:lnSpc>
                <a:spcPct val="115000"/>
              </a:lnSpc>
              <a:spcAft>
                <a:spcPts val="900"/>
              </a:spcAft>
            </a:pPr>
            <a:r>
              <a:rPr sz="1300" b="1">
                <a:solidFill>
                  <a:srgbClr val="262626"/>
                </a:solidFill>
                <a:latin typeface="Yu Gothic"/>
              </a:rPr>
              <a:t>● DLPポリシーは「管理者による統制機能」であり、利用者側にライセンスを
要求するものではない</a:t>
            </a:r>
          </a:p>
          <a:p>
            <a:pPr marL="228600">
              <a:lnSpc>
                <a:spcPct val="115000"/>
              </a:lnSpc>
              <a:spcAft>
                <a:spcPts val="900"/>
              </a:spcAft>
            </a:pPr>
            <a:r>
              <a:rPr sz="1200" b="0">
                <a:solidFill>
                  <a:srgbClr val="262626"/>
                </a:solidFill>
                <a:latin typeface="Yu Gothic"/>
              </a:rPr>
              <a:t>- 標準（無償枠を含む）ライセンスの一般ユーザーにも強制適用される</a:t>
            </a:r>
          </a:p>
          <a:p>
            <a:pPr marL="228600">
              <a:lnSpc>
                <a:spcPct val="115000"/>
              </a:lnSpc>
              <a:spcAft>
                <a:spcPts val="900"/>
              </a:spcAft>
            </a:pPr>
            <a:r>
              <a:rPr sz="1200" b="0">
                <a:solidFill>
                  <a:srgbClr val="262626"/>
                </a:solidFill>
                <a:latin typeface="Yu Gothic"/>
              </a:rPr>
              <a:t>- ポリシーに反する接続の組み合わせを含むアプリ/フローは、実行時・
設計時ともにブロックされ、エラーメッセージが表示される</a:t>
            </a:r>
          </a:p>
          <a:p>
            <a:pPr>
              <a:lnSpc>
                <a:spcPct val="115000"/>
              </a:lnSpc>
              <a:spcAft>
                <a:spcPts val="900"/>
              </a:spcAft>
            </a:pPr>
            <a:r>
              <a:rPr sz="1300" b="1">
                <a:solidFill>
                  <a:srgbClr val="262626"/>
                </a:solidFill>
                <a:latin typeface="Yu Gothic"/>
              </a:rPr>
              <a:t>● 管理者側の要件は「権限（ロール）」であり「ライセンス」ではない</a:t>
            </a:r>
          </a:p>
          <a:p>
            <a:pPr marL="228600">
              <a:lnSpc>
                <a:spcPct val="115000"/>
              </a:lnSpc>
              <a:spcAft>
                <a:spcPts val="900"/>
              </a:spcAft>
            </a:pPr>
            <a:r>
              <a:rPr sz="1200" b="0">
                <a:solidFill>
                  <a:srgbClr val="262626"/>
                </a:solidFill>
                <a:latin typeface="Yu Gothic"/>
              </a:rPr>
              <a:t>- ポリシーの作成・編集・削除には、環境管理者 または Power Platform
管理者ロールが必要（Premiumライセンスの保有は前提条件ではない）</a:t>
            </a:r>
          </a:p>
          <a:p>
            <a:pPr>
              <a:lnSpc>
                <a:spcPct val="115000"/>
              </a:lnSpc>
              <a:spcAft>
                <a:spcPts val="900"/>
              </a:spcAft>
            </a:pPr>
            <a:r>
              <a:rPr sz="1300" b="1">
                <a:solidFill>
                  <a:srgbClr val="262626"/>
                </a:solidFill>
                <a:latin typeface="Yu Gothic"/>
              </a:rPr>
              <a:t>● 唯一の例外：デスクトップフローのデータポリシー</a:t>
            </a:r>
          </a:p>
          <a:p>
            <a:pPr marL="228600">
              <a:lnSpc>
                <a:spcPct val="115000"/>
              </a:lnSpc>
              <a:spcAft>
                <a:spcPts val="900"/>
              </a:spcAft>
            </a:pPr>
            <a:r>
              <a:rPr sz="1200" b="0">
                <a:solidFill>
                  <a:srgbClr val="262626"/>
                </a:solidFill>
                <a:latin typeface="Yu Gothic"/>
              </a:rPr>
              <a:t>- デスクトップフロー向けデータポリシーは、マネージド環境下でのみ
機能する制限があり、その場合は確認項目3のPremium要件が
間接的に関わる</a:t>
            </a:r>
          </a:p>
        </p:txBody>
      </p:sp>
      <p:sp>
        <p:nvSpPr>
          <p:cNvPr id="8" name="Rectangle 7"/>
          <p:cNvSpPr/>
          <p:nvPr/>
        </p:nvSpPr>
        <p:spPr>
          <a:xfrm>
            <a:off x="7726679" y="1325880"/>
            <a:ext cx="3977639" cy="3977639"/>
          </a:xfrm>
          <a:prstGeom prst="rect">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508760"/>
            <a:ext cx="3566160" cy="640080"/>
          </a:xfrm>
          <a:prstGeom prst="rect">
            <a:avLst/>
          </a:prstGeom>
          <a:noFill/>
        </p:spPr>
        <p:txBody>
          <a:bodyPr wrap="square" anchor="t" lIns="0" rIns="0" tIns="0" bIns="0">
            <a:spAutoFit/>
          </a:bodyPr>
          <a:lstStyle/>
          <a:p>
            <a:pPr algn="l">
              <a:lnSpc>
                <a:spcPct val="100000"/>
              </a:lnSpc>
            </a:pPr>
            <a:r>
              <a:rPr sz="1400" b="1" i="0">
                <a:solidFill>
                  <a:srgbClr val="1D8A70"/>
                </a:solidFill>
                <a:latin typeface="Yu Gothic"/>
              </a:rPr>
              <a:t>実務上の意味合い</a:t>
            </a:r>
          </a:p>
        </p:txBody>
      </p:sp>
      <p:sp>
        <p:nvSpPr>
          <p:cNvPr id="10" name="TextBox 9"/>
          <p:cNvSpPr txBox="1"/>
          <p:nvPr/>
        </p:nvSpPr>
        <p:spPr>
          <a:xfrm>
            <a:off x="7955279" y="2103120"/>
            <a:ext cx="3566160" cy="3108960"/>
          </a:xfrm>
          <a:prstGeom prst="rect">
            <a:avLst/>
          </a:prstGeom>
          <a:noFill/>
        </p:spPr>
        <p:txBody>
          <a:bodyPr wrap="square">
            <a:spAutoFit/>
          </a:bodyPr>
          <a:lstStyle/>
          <a:p>
            <a:pPr>
              <a:lnSpc>
                <a:spcPct val="130000"/>
              </a:lnSpc>
              <a:spcAft>
                <a:spcPts val="1200"/>
              </a:spcAft>
            </a:pPr>
            <a:r>
              <a:rPr sz="1250" b="0">
                <a:solidFill>
                  <a:srgbClr val="262626"/>
                </a:solidFill>
                <a:latin typeface="Yu Gothic"/>
              </a:rPr>
              <a:t>● DLPポリシーはコスト負担なしで
即座に導入できる統制手段</a:t>
            </a:r>
          </a:p>
          <a:p>
            <a:pPr>
              <a:lnSpc>
                <a:spcPct val="130000"/>
              </a:lnSpc>
              <a:spcAft>
                <a:spcPts val="1200"/>
              </a:spcAft>
            </a:pPr>
            <a:r>
              <a:rPr sz="1250" b="0">
                <a:solidFill>
                  <a:srgbClr val="262626"/>
                </a:solidFill>
                <a:latin typeface="Yu Gothic"/>
              </a:rPr>
              <a:t>● ライセンス予算の議論を待たずに
Default環境のガードレールを
構築できる</a:t>
            </a:r>
          </a:p>
          <a:p>
            <a:pPr>
              <a:lnSpc>
                <a:spcPct val="130000"/>
              </a:lnSpc>
              <a:spcAft>
                <a:spcPts val="1200"/>
              </a:spcAft>
            </a:pPr>
            <a:r>
              <a:rPr sz="1250" b="0">
                <a:solidFill>
                  <a:srgbClr val="262626"/>
                </a:solidFill>
                <a:latin typeface="Yu Gothic"/>
              </a:rPr>
              <a:t>● マネージド環境化の是非（確認項目
1・3）とは切り離して意思決定可能</a:t>
            </a:r>
          </a:p>
        </p:txBody>
      </p:sp>
      <p:sp>
        <p:nvSpPr>
          <p:cNvPr id="11" name="TextBox 10"/>
          <p:cNvSpPr txBox="1"/>
          <p:nvPr/>
        </p:nvSpPr>
        <p:spPr>
          <a:xfrm>
            <a:off x="502920" y="6080760"/>
            <a:ext cx="11155680" cy="320040"/>
          </a:xfrm>
          <a:prstGeom prst="rect">
            <a:avLst/>
          </a:prstGeom>
          <a:noFill/>
        </p:spPr>
        <p:txBody>
          <a:bodyPr wrap="square" anchor="t" lIns="0" rIns="0" tIns="0" bIns="0">
            <a:spAutoFit/>
          </a:bodyPr>
          <a:lstStyle/>
          <a:p>
            <a:pPr algn="l">
              <a:lnSpc>
                <a:spcPct val="100000"/>
              </a:lnSpc>
            </a:pPr>
            <a:r>
              <a:rPr sz="1050" b="0" i="1">
                <a:solidFill>
                  <a:srgbClr val="6E6E6E"/>
                </a:solidFill>
                <a:latin typeface="Yu Gothic"/>
              </a:rPr>
              <a:t>出典：[4] Manage data policies／[6] Impact of data policies on apps and flows（いずれもMicrosoft Learn）</a:t>
            </a:r>
          </a:p>
        </p:txBody>
      </p:sp>
      <p:sp>
        <p:nvSpPr>
          <p:cNvPr id="12" name="TextBox 11"/>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13" name="TextBox 12"/>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依頼内容 確認項目 6</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⑥ 設定可能な場合の実施手順の概要</a:t>
            </a:r>
          </a:p>
        </p:txBody>
      </p:sp>
      <p:sp>
        <p:nvSpPr>
          <p:cNvPr id="6" name="Oval 5"/>
          <p:cNvSpPr/>
          <p:nvPr/>
        </p:nvSpPr>
        <p:spPr>
          <a:xfrm>
            <a:off x="502920" y="1371600"/>
            <a:ext cx="457200" cy="457200"/>
          </a:xfrm>
          <a:prstGeom prst="ellips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26464"/>
            <a:ext cx="457200" cy="365760"/>
          </a:xfrm>
          <a:prstGeom prst="rect">
            <a:avLst/>
          </a:prstGeom>
          <a:noFill/>
        </p:spPr>
        <p:txBody>
          <a:bodyPr wrap="square" anchor="t" lIns="0" rIns="0" tIns="0" bIns="0">
            <a:spAutoFit/>
          </a:bodyPr>
          <a:lstStyle/>
          <a:p>
            <a:pPr algn="ctr">
              <a:lnSpc>
                <a:spcPct val="100000"/>
              </a:lnSpc>
            </a:pPr>
            <a:r>
              <a:rPr sz="1600" b="1" i="0">
                <a:solidFill>
                  <a:srgbClr val="FFFFFF"/>
                </a:solidFill>
                <a:latin typeface="Yu Gothic"/>
              </a:rPr>
              <a:t>1</a:t>
            </a:r>
          </a:p>
        </p:txBody>
      </p:sp>
      <p:sp>
        <p:nvSpPr>
          <p:cNvPr id="8" name="TextBox 7"/>
          <p:cNvSpPr txBox="1"/>
          <p:nvPr/>
        </p:nvSpPr>
        <p:spPr>
          <a:xfrm>
            <a:off x="1143000" y="1353312"/>
            <a:ext cx="4480560" cy="548640"/>
          </a:xfrm>
          <a:prstGeom prst="rect">
            <a:avLst/>
          </a:prstGeom>
          <a:noFill/>
        </p:spPr>
        <p:txBody>
          <a:bodyPr wrap="square" anchor="t" lIns="0" rIns="0" tIns="0" bIns="0">
            <a:spAutoFit/>
          </a:bodyPr>
          <a:lstStyle/>
          <a:p>
            <a:pPr algn="l">
              <a:lnSpc>
                <a:spcPct val="105000"/>
              </a:lnSpc>
            </a:pPr>
            <a:r>
              <a:rPr sz="1300" b="1" i="0">
                <a:solidFill>
                  <a:srgbClr val="1B2A4A"/>
                </a:solidFill>
                <a:latin typeface="Yu Gothic"/>
              </a:rPr>
              <a:t>Power Platform 管理センターにアクセス</a:t>
            </a:r>
          </a:p>
        </p:txBody>
      </p:sp>
      <p:sp>
        <p:nvSpPr>
          <p:cNvPr id="9" name="TextBox 8"/>
          <p:cNvSpPr txBox="1"/>
          <p:nvPr/>
        </p:nvSpPr>
        <p:spPr>
          <a:xfrm>
            <a:off x="5760720" y="1353312"/>
            <a:ext cx="5943600" cy="594360"/>
          </a:xfrm>
          <a:prstGeom prst="rect">
            <a:avLst/>
          </a:prstGeom>
          <a:noFill/>
        </p:spPr>
        <p:txBody>
          <a:bodyPr wrap="square" anchor="t" lIns="0" rIns="0" tIns="0" bIns="0">
            <a:spAutoFit/>
          </a:bodyPr>
          <a:lstStyle/>
          <a:p>
            <a:pPr algn="l">
              <a:lnSpc>
                <a:spcPct val="110000"/>
              </a:lnSpc>
            </a:pPr>
            <a:r>
              <a:rPr sz="1150" b="0" i="0">
                <a:solidFill>
                  <a:srgbClr val="262626"/>
                </a:solidFill>
                <a:latin typeface="Yu Gothic"/>
              </a:rPr>
              <a:t>Power Platform管理者 または テナント管理者としてサインイン</a:t>
            </a:r>
          </a:p>
          <a:p>
            <a:pPr algn="l">
              <a:lnSpc>
                <a:spcPct val="110000"/>
              </a:lnSpc>
            </a:pPr>
            <a:r>
              <a:rPr sz="1150" b="0" i="0">
                <a:solidFill>
                  <a:srgbClr val="262626"/>
                </a:solidFill>
                <a:latin typeface="Yu Gothic"/>
              </a:rPr>
              <a:t>（admin.powerplatform.microsoft.com）</a:t>
            </a:r>
          </a:p>
        </p:txBody>
      </p:sp>
      <p:sp>
        <p:nvSpPr>
          <p:cNvPr id="10" name="Rectangle 9"/>
          <p:cNvSpPr/>
          <p:nvPr/>
        </p:nvSpPr>
        <p:spPr>
          <a:xfrm>
            <a:off x="722376" y="1828800"/>
            <a:ext cx="19050" cy="256032"/>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02920" y="2084832"/>
            <a:ext cx="457200" cy="457200"/>
          </a:xfrm>
          <a:prstGeom prst="ellips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139696"/>
            <a:ext cx="457200" cy="365760"/>
          </a:xfrm>
          <a:prstGeom prst="rect">
            <a:avLst/>
          </a:prstGeom>
          <a:noFill/>
        </p:spPr>
        <p:txBody>
          <a:bodyPr wrap="square" anchor="t" lIns="0" rIns="0" tIns="0" bIns="0">
            <a:spAutoFit/>
          </a:bodyPr>
          <a:lstStyle/>
          <a:p>
            <a:pPr algn="ctr">
              <a:lnSpc>
                <a:spcPct val="100000"/>
              </a:lnSpc>
            </a:pPr>
            <a:r>
              <a:rPr sz="1600" b="1" i="0">
                <a:solidFill>
                  <a:srgbClr val="FFFFFF"/>
                </a:solidFill>
                <a:latin typeface="Yu Gothic"/>
              </a:rPr>
              <a:t>2</a:t>
            </a:r>
          </a:p>
        </p:txBody>
      </p:sp>
      <p:sp>
        <p:nvSpPr>
          <p:cNvPr id="13" name="TextBox 12"/>
          <p:cNvSpPr txBox="1"/>
          <p:nvPr/>
        </p:nvSpPr>
        <p:spPr>
          <a:xfrm>
            <a:off x="1143000" y="2066544"/>
            <a:ext cx="4480560" cy="548640"/>
          </a:xfrm>
          <a:prstGeom prst="rect">
            <a:avLst/>
          </a:prstGeom>
          <a:noFill/>
        </p:spPr>
        <p:txBody>
          <a:bodyPr wrap="square" anchor="t" lIns="0" rIns="0" tIns="0" bIns="0">
            <a:spAutoFit/>
          </a:bodyPr>
          <a:lstStyle/>
          <a:p>
            <a:pPr algn="l">
              <a:lnSpc>
                <a:spcPct val="105000"/>
              </a:lnSpc>
            </a:pPr>
            <a:r>
              <a:rPr sz="1300" b="1" i="0">
                <a:solidFill>
                  <a:srgbClr val="1B2A4A"/>
                </a:solidFill>
                <a:latin typeface="Yu Gothic"/>
              </a:rPr>
              <a:t>［ポリシー］→［データ ポリシー］を開く</a:t>
            </a:r>
          </a:p>
        </p:txBody>
      </p:sp>
      <p:sp>
        <p:nvSpPr>
          <p:cNvPr id="14" name="TextBox 13"/>
          <p:cNvSpPr txBox="1"/>
          <p:nvPr/>
        </p:nvSpPr>
        <p:spPr>
          <a:xfrm>
            <a:off x="5760720" y="2066544"/>
            <a:ext cx="5943600" cy="594360"/>
          </a:xfrm>
          <a:prstGeom prst="rect">
            <a:avLst/>
          </a:prstGeom>
          <a:noFill/>
        </p:spPr>
        <p:txBody>
          <a:bodyPr wrap="square" anchor="t" lIns="0" rIns="0" tIns="0" bIns="0">
            <a:spAutoFit/>
          </a:bodyPr>
          <a:lstStyle/>
          <a:p>
            <a:pPr algn="l">
              <a:lnSpc>
                <a:spcPct val="110000"/>
              </a:lnSpc>
            </a:pPr>
            <a:r>
              <a:rPr sz="1150" b="0" i="0">
                <a:solidFill>
                  <a:srgbClr val="262626"/>
                </a:solidFill>
                <a:latin typeface="Yu Gothic"/>
              </a:rPr>
              <a:t>左メニューからデータポリシー一覧画面に移動</a:t>
            </a:r>
          </a:p>
        </p:txBody>
      </p:sp>
      <p:sp>
        <p:nvSpPr>
          <p:cNvPr id="15" name="Rectangle 14"/>
          <p:cNvSpPr/>
          <p:nvPr/>
        </p:nvSpPr>
        <p:spPr>
          <a:xfrm>
            <a:off x="722376" y="2542032"/>
            <a:ext cx="19050" cy="256032"/>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2920" y="2798064"/>
            <a:ext cx="457200" cy="457200"/>
          </a:xfrm>
          <a:prstGeom prst="ellips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852928"/>
            <a:ext cx="457200" cy="365760"/>
          </a:xfrm>
          <a:prstGeom prst="rect">
            <a:avLst/>
          </a:prstGeom>
          <a:noFill/>
        </p:spPr>
        <p:txBody>
          <a:bodyPr wrap="square" anchor="t" lIns="0" rIns="0" tIns="0" bIns="0">
            <a:spAutoFit/>
          </a:bodyPr>
          <a:lstStyle/>
          <a:p>
            <a:pPr algn="ctr">
              <a:lnSpc>
                <a:spcPct val="100000"/>
              </a:lnSpc>
            </a:pPr>
            <a:r>
              <a:rPr sz="1600" b="1" i="0">
                <a:solidFill>
                  <a:srgbClr val="FFFFFF"/>
                </a:solidFill>
                <a:latin typeface="Yu Gothic"/>
              </a:rPr>
              <a:t>3</a:t>
            </a:r>
          </a:p>
        </p:txBody>
      </p:sp>
      <p:sp>
        <p:nvSpPr>
          <p:cNvPr id="18" name="TextBox 17"/>
          <p:cNvSpPr txBox="1"/>
          <p:nvPr/>
        </p:nvSpPr>
        <p:spPr>
          <a:xfrm>
            <a:off x="1143000" y="2779776"/>
            <a:ext cx="4480560" cy="548640"/>
          </a:xfrm>
          <a:prstGeom prst="rect">
            <a:avLst/>
          </a:prstGeom>
          <a:noFill/>
        </p:spPr>
        <p:txBody>
          <a:bodyPr wrap="square" anchor="t" lIns="0" rIns="0" tIns="0" bIns="0">
            <a:spAutoFit/>
          </a:bodyPr>
          <a:lstStyle/>
          <a:p>
            <a:pPr algn="l">
              <a:lnSpc>
                <a:spcPct val="105000"/>
              </a:lnSpc>
            </a:pPr>
            <a:r>
              <a:rPr sz="1300" b="1" i="0">
                <a:solidFill>
                  <a:srgbClr val="1B2A4A"/>
                </a:solidFill>
                <a:latin typeface="Yu Gothic"/>
              </a:rPr>
              <a:t>新しいポリシーを作成しスコープを設定</a:t>
            </a:r>
          </a:p>
        </p:txBody>
      </p:sp>
      <p:sp>
        <p:nvSpPr>
          <p:cNvPr id="19" name="TextBox 18"/>
          <p:cNvSpPr txBox="1"/>
          <p:nvPr/>
        </p:nvSpPr>
        <p:spPr>
          <a:xfrm>
            <a:off x="5760720" y="2779776"/>
            <a:ext cx="5943600" cy="594360"/>
          </a:xfrm>
          <a:prstGeom prst="rect">
            <a:avLst/>
          </a:prstGeom>
          <a:noFill/>
        </p:spPr>
        <p:txBody>
          <a:bodyPr wrap="square" anchor="t" lIns="0" rIns="0" tIns="0" bIns="0">
            <a:spAutoFit/>
          </a:bodyPr>
          <a:lstStyle/>
          <a:p>
            <a:pPr algn="l">
              <a:lnSpc>
                <a:spcPct val="110000"/>
              </a:lnSpc>
            </a:pPr>
            <a:r>
              <a:rPr sz="1150" b="0" i="0">
                <a:solidFill>
                  <a:srgbClr val="262626"/>
                </a:solidFill>
                <a:latin typeface="Yu Gothic"/>
              </a:rPr>
              <a:t>ポリシー名を入力後、「特定の環境」としてDefault環境を選択</a:t>
            </a:r>
          </a:p>
          <a:p>
            <a:pPr algn="l">
              <a:lnSpc>
                <a:spcPct val="110000"/>
              </a:lnSpc>
            </a:pPr>
            <a:r>
              <a:rPr sz="1150" b="0" i="0">
                <a:solidFill>
                  <a:srgbClr val="262626"/>
                </a:solidFill>
                <a:latin typeface="Yu Gothic"/>
              </a:rPr>
              <a:t>（またはテナントレベルで全環境対象＋Default含める）</a:t>
            </a:r>
          </a:p>
        </p:txBody>
      </p:sp>
      <p:sp>
        <p:nvSpPr>
          <p:cNvPr id="20" name="Rectangle 19"/>
          <p:cNvSpPr/>
          <p:nvPr/>
        </p:nvSpPr>
        <p:spPr>
          <a:xfrm>
            <a:off x="722376" y="3255264"/>
            <a:ext cx="19050" cy="256032"/>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02920" y="3511296"/>
            <a:ext cx="457200" cy="457200"/>
          </a:xfrm>
          <a:prstGeom prst="ellips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566160"/>
            <a:ext cx="457200" cy="365760"/>
          </a:xfrm>
          <a:prstGeom prst="rect">
            <a:avLst/>
          </a:prstGeom>
          <a:noFill/>
        </p:spPr>
        <p:txBody>
          <a:bodyPr wrap="square" anchor="t" lIns="0" rIns="0" tIns="0" bIns="0">
            <a:spAutoFit/>
          </a:bodyPr>
          <a:lstStyle/>
          <a:p>
            <a:pPr algn="ctr">
              <a:lnSpc>
                <a:spcPct val="100000"/>
              </a:lnSpc>
            </a:pPr>
            <a:r>
              <a:rPr sz="1600" b="1" i="0">
                <a:solidFill>
                  <a:srgbClr val="FFFFFF"/>
                </a:solidFill>
                <a:latin typeface="Yu Gothic"/>
              </a:rPr>
              <a:t>4</a:t>
            </a:r>
          </a:p>
        </p:txBody>
      </p:sp>
      <p:sp>
        <p:nvSpPr>
          <p:cNvPr id="23" name="TextBox 22"/>
          <p:cNvSpPr txBox="1"/>
          <p:nvPr/>
        </p:nvSpPr>
        <p:spPr>
          <a:xfrm>
            <a:off x="1143000" y="3493008"/>
            <a:ext cx="4480560" cy="548640"/>
          </a:xfrm>
          <a:prstGeom prst="rect">
            <a:avLst/>
          </a:prstGeom>
          <a:noFill/>
        </p:spPr>
        <p:txBody>
          <a:bodyPr wrap="square" anchor="t" lIns="0" rIns="0" tIns="0" bIns="0">
            <a:spAutoFit/>
          </a:bodyPr>
          <a:lstStyle/>
          <a:p>
            <a:pPr algn="l">
              <a:lnSpc>
                <a:spcPct val="105000"/>
              </a:lnSpc>
            </a:pPr>
            <a:r>
              <a:rPr sz="1300" b="1" i="0">
                <a:solidFill>
                  <a:srgbClr val="1B2A4A"/>
                </a:solidFill>
                <a:latin typeface="Yu Gothic"/>
              </a:rPr>
              <a:t>コネクタを分類（業務データ／非業務データ／ブロック済み）</a:t>
            </a:r>
          </a:p>
        </p:txBody>
      </p:sp>
      <p:sp>
        <p:nvSpPr>
          <p:cNvPr id="24" name="TextBox 23"/>
          <p:cNvSpPr txBox="1"/>
          <p:nvPr/>
        </p:nvSpPr>
        <p:spPr>
          <a:xfrm>
            <a:off x="5760720" y="3493008"/>
            <a:ext cx="5943600" cy="594360"/>
          </a:xfrm>
          <a:prstGeom prst="rect">
            <a:avLst/>
          </a:prstGeom>
          <a:noFill/>
        </p:spPr>
        <p:txBody>
          <a:bodyPr wrap="square" anchor="t" lIns="0" rIns="0" tIns="0" bIns="0">
            <a:spAutoFit/>
          </a:bodyPr>
          <a:lstStyle/>
          <a:p>
            <a:pPr algn="l">
              <a:lnSpc>
                <a:spcPct val="110000"/>
              </a:lnSpc>
            </a:pPr>
            <a:r>
              <a:rPr sz="1150" b="0" i="0">
                <a:solidFill>
                  <a:srgbClr val="262626"/>
                </a:solidFill>
                <a:latin typeface="Yu Gothic"/>
              </a:rPr>
              <a:t>承認済み主要コネクタを「業務データ」グループへ、</a:t>
            </a:r>
          </a:p>
          <a:p>
            <a:pPr algn="l">
              <a:lnSpc>
                <a:spcPct val="110000"/>
              </a:lnSpc>
            </a:pPr>
            <a:r>
              <a:rPr sz="1150" b="0" i="0">
                <a:solidFill>
                  <a:srgbClr val="262626"/>
                </a:solidFill>
                <a:latin typeface="Yu Gothic"/>
              </a:rPr>
              <a:t>その他ブロック可能なコネクタを「ブロック済み」グループへ振分け</a:t>
            </a:r>
          </a:p>
        </p:txBody>
      </p:sp>
      <p:sp>
        <p:nvSpPr>
          <p:cNvPr id="25" name="Rectangle 24"/>
          <p:cNvSpPr/>
          <p:nvPr/>
        </p:nvSpPr>
        <p:spPr>
          <a:xfrm>
            <a:off x="722376" y="3968496"/>
            <a:ext cx="19050" cy="256032"/>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2920" y="4224528"/>
            <a:ext cx="457200" cy="457200"/>
          </a:xfrm>
          <a:prstGeom prst="ellips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279392"/>
            <a:ext cx="457200" cy="365760"/>
          </a:xfrm>
          <a:prstGeom prst="rect">
            <a:avLst/>
          </a:prstGeom>
          <a:noFill/>
        </p:spPr>
        <p:txBody>
          <a:bodyPr wrap="square" anchor="t" lIns="0" rIns="0" tIns="0" bIns="0">
            <a:spAutoFit/>
          </a:bodyPr>
          <a:lstStyle/>
          <a:p>
            <a:pPr algn="ctr">
              <a:lnSpc>
                <a:spcPct val="100000"/>
              </a:lnSpc>
            </a:pPr>
            <a:r>
              <a:rPr sz="1600" b="1" i="0">
                <a:solidFill>
                  <a:srgbClr val="FFFFFF"/>
                </a:solidFill>
                <a:latin typeface="Yu Gothic"/>
              </a:rPr>
              <a:t>5</a:t>
            </a:r>
          </a:p>
        </p:txBody>
      </p:sp>
      <p:sp>
        <p:nvSpPr>
          <p:cNvPr id="28" name="TextBox 27"/>
          <p:cNvSpPr txBox="1"/>
          <p:nvPr/>
        </p:nvSpPr>
        <p:spPr>
          <a:xfrm>
            <a:off x="1143000" y="4206240"/>
            <a:ext cx="4480560" cy="548640"/>
          </a:xfrm>
          <a:prstGeom prst="rect">
            <a:avLst/>
          </a:prstGeom>
          <a:noFill/>
        </p:spPr>
        <p:txBody>
          <a:bodyPr wrap="square" anchor="t" lIns="0" rIns="0" tIns="0" bIns="0">
            <a:spAutoFit/>
          </a:bodyPr>
          <a:lstStyle/>
          <a:p>
            <a:pPr algn="l">
              <a:lnSpc>
                <a:spcPct val="105000"/>
              </a:lnSpc>
            </a:pPr>
            <a:r>
              <a:rPr sz="1300" b="1" i="0">
                <a:solidFill>
                  <a:srgbClr val="1B2A4A"/>
                </a:solidFill>
                <a:latin typeface="Yu Gothic"/>
              </a:rPr>
              <a:t>既定グループを「ブロック済み」に設定</a:t>
            </a:r>
          </a:p>
        </p:txBody>
      </p:sp>
      <p:sp>
        <p:nvSpPr>
          <p:cNvPr id="29" name="TextBox 28"/>
          <p:cNvSpPr txBox="1"/>
          <p:nvPr/>
        </p:nvSpPr>
        <p:spPr>
          <a:xfrm>
            <a:off x="5760720" y="4206240"/>
            <a:ext cx="5943600" cy="594360"/>
          </a:xfrm>
          <a:prstGeom prst="rect">
            <a:avLst/>
          </a:prstGeom>
          <a:noFill/>
        </p:spPr>
        <p:txBody>
          <a:bodyPr wrap="square" anchor="t" lIns="0" rIns="0" tIns="0" bIns="0">
            <a:spAutoFit/>
          </a:bodyPr>
          <a:lstStyle/>
          <a:p>
            <a:pPr algn="l">
              <a:lnSpc>
                <a:spcPct val="110000"/>
              </a:lnSpc>
            </a:pPr>
            <a:r>
              <a:rPr sz="1150" b="0" i="0">
                <a:solidFill>
                  <a:srgbClr val="262626"/>
                </a:solidFill>
                <a:latin typeface="Yu Gothic"/>
              </a:rPr>
              <a:t>新規追加されるコネクタは自動的に未承認状態＝利用不可とする</a:t>
            </a:r>
          </a:p>
        </p:txBody>
      </p:sp>
      <p:sp>
        <p:nvSpPr>
          <p:cNvPr id="30" name="Rectangle 29"/>
          <p:cNvSpPr/>
          <p:nvPr/>
        </p:nvSpPr>
        <p:spPr>
          <a:xfrm>
            <a:off x="722376" y="4681728"/>
            <a:ext cx="19050" cy="256032"/>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02920" y="4937760"/>
            <a:ext cx="457200" cy="457200"/>
          </a:xfrm>
          <a:prstGeom prst="ellips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4992624"/>
            <a:ext cx="457200" cy="365760"/>
          </a:xfrm>
          <a:prstGeom prst="rect">
            <a:avLst/>
          </a:prstGeom>
          <a:noFill/>
        </p:spPr>
        <p:txBody>
          <a:bodyPr wrap="square" anchor="t" lIns="0" rIns="0" tIns="0" bIns="0">
            <a:spAutoFit/>
          </a:bodyPr>
          <a:lstStyle/>
          <a:p>
            <a:pPr algn="ctr">
              <a:lnSpc>
                <a:spcPct val="100000"/>
              </a:lnSpc>
            </a:pPr>
            <a:r>
              <a:rPr sz="1600" b="1" i="0">
                <a:solidFill>
                  <a:srgbClr val="FFFFFF"/>
                </a:solidFill>
                <a:latin typeface="Yu Gothic"/>
              </a:rPr>
              <a:t>6</a:t>
            </a:r>
          </a:p>
        </p:txBody>
      </p:sp>
      <p:sp>
        <p:nvSpPr>
          <p:cNvPr id="33" name="TextBox 32"/>
          <p:cNvSpPr txBox="1"/>
          <p:nvPr/>
        </p:nvSpPr>
        <p:spPr>
          <a:xfrm>
            <a:off x="1143000" y="4919472"/>
            <a:ext cx="4480560" cy="548640"/>
          </a:xfrm>
          <a:prstGeom prst="rect">
            <a:avLst/>
          </a:prstGeom>
          <a:noFill/>
        </p:spPr>
        <p:txBody>
          <a:bodyPr wrap="square" anchor="t" lIns="0" rIns="0" tIns="0" bIns="0">
            <a:spAutoFit/>
          </a:bodyPr>
          <a:lstStyle/>
          <a:p>
            <a:pPr algn="l">
              <a:lnSpc>
                <a:spcPct val="105000"/>
              </a:lnSpc>
            </a:pPr>
            <a:r>
              <a:rPr sz="1300" b="1" i="0">
                <a:solidFill>
                  <a:srgbClr val="1B2A4A"/>
                </a:solidFill>
                <a:latin typeface="Yu Gothic"/>
              </a:rPr>
              <a:t>レビュー・保存し、ポリシーを公開</a:t>
            </a:r>
          </a:p>
        </p:txBody>
      </p:sp>
      <p:sp>
        <p:nvSpPr>
          <p:cNvPr id="34" name="TextBox 33"/>
          <p:cNvSpPr txBox="1"/>
          <p:nvPr/>
        </p:nvSpPr>
        <p:spPr>
          <a:xfrm>
            <a:off x="5760720" y="4919472"/>
            <a:ext cx="5943600" cy="594360"/>
          </a:xfrm>
          <a:prstGeom prst="rect">
            <a:avLst/>
          </a:prstGeom>
          <a:noFill/>
        </p:spPr>
        <p:txBody>
          <a:bodyPr wrap="square" anchor="t" lIns="0" rIns="0" tIns="0" bIns="0">
            <a:spAutoFit/>
          </a:bodyPr>
          <a:lstStyle/>
          <a:p>
            <a:pPr algn="l">
              <a:lnSpc>
                <a:spcPct val="110000"/>
              </a:lnSpc>
            </a:pPr>
            <a:r>
              <a:rPr sz="1150" b="0" i="0">
                <a:solidFill>
                  <a:srgbClr val="262626"/>
                </a:solidFill>
                <a:latin typeface="Yu Gothic"/>
              </a:rPr>
              <a:t>影響を受けるアプリ/フローの一覧を確認のうえ公開</a:t>
            </a:r>
          </a:p>
        </p:txBody>
      </p:sp>
      <p:sp>
        <p:nvSpPr>
          <p:cNvPr id="35" name="TextBox 34"/>
          <p:cNvSpPr txBox="1"/>
          <p:nvPr/>
        </p:nvSpPr>
        <p:spPr>
          <a:xfrm>
            <a:off x="502920" y="6309360"/>
            <a:ext cx="11155680" cy="320040"/>
          </a:xfrm>
          <a:prstGeom prst="rect">
            <a:avLst/>
          </a:prstGeom>
          <a:noFill/>
        </p:spPr>
        <p:txBody>
          <a:bodyPr wrap="square" anchor="t" lIns="0" rIns="0" tIns="0" bIns="0">
            <a:spAutoFit/>
          </a:bodyPr>
          <a:lstStyle/>
          <a:p>
            <a:pPr algn="l">
              <a:lnSpc>
                <a:spcPct val="100000"/>
              </a:lnSpc>
            </a:pPr>
            <a:r>
              <a:rPr sz="1050" b="0" i="1">
                <a:solidFill>
                  <a:srgbClr val="6E6E6E"/>
                </a:solidFill>
                <a:latin typeface="Yu Gothic"/>
              </a:rPr>
              <a:t>出典：[4] Manage data policies／[5] View policies and scope（いずれもMicrosoft Learn）</a:t>
            </a:r>
          </a:p>
        </p:txBody>
      </p:sp>
      <p:sp>
        <p:nvSpPr>
          <p:cNvPr id="36" name="TextBox 35"/>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37" name="TextBox 36"/>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依頼内容 確認項目 7</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⑦ 制約がある場合の理由と代替案／現実的な利用制御方法</a:t>
            </a:r>
          </a:p>
        </p:txBody>
      </p:sp>
      <p:sp>
        <p:nvSpPr>
          <p:cNvPr id="6" name="Rounded Rectangle 5"/>
          <p:cNvSpPr/>
          <p:nvPr/>
        </p:nvSpPr>
        <p:spPr>
          <a:xfrm>
            <a:off x="502920" y="1298448"/>
            <a:ext cx="3108960" cy="457200"/>
          </a:xfrm>
          <a:prstGeom prst="roundRect">
            <a:avLst>
              <a:gd name="adj" fmla="val 50000"/>
            </a:avLst>
          </a:prstGeom>
          <a:solidFill>
            <a:srgbClr val="FBEAD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12700" bIns="12700"/>
          <a:lstStyle/>
          <a:p>
            <a:pPr algn="ctr"/>
            <a:r>
              <a:rPr sz="1250" b="1">
                <a:solidFill>
                  <a:srgbClr val="C45911"/>
                </a:solidFill>
                <a:latin typeface="Yu Gothic"/>
              </a:rPr>
              <a:t>判定：Default環境の全体マネージド化には制約あり</a:t>
            </a:r>
          </a:p>
        </p:txBody>
      </p:sp>
      <p:sp>
        <p:nvSpPr>
          <p:cNvPr id="7" name="TextBox 6"/>
          <p:cNvSpPr txBox="1"/>
          <p:nvPr/>
        </p:nvSpPr>
        <p:spPr>
          <a:xfrm>
            <a:off x="502920" y="1874519"/>
            <a:ext cx="11155680" cy="457200"/>
          </a:xfrm>
          <a:prstGeom prst="rect">
            <a:avLst/>
          </a:prstGeom>
          <a:noFill/>
        </p:spPr>
        <p:txBody>
          <a:bodyPr wrap="square" anchor="t" lIns="0" rIns="0" tIns="0" bIns="0">
            <a:spAutoFit/>
          </a:bodyPr>
          <a:lstStyle/>
          <a:p>
            <a:pPr algn="l">
              <a:lnSpc>
                <a:spcPct val="100000"/>
              </a:lnSpc>
            </a:pPr>
            <a:r>
              <a:rPr sz="1250" b="0" i="1">
                <a:solidFill>
                  <a:srgbClr val="262626"/>
                </a:solidFill>
                <a:latin typeface="Yu Gothic"/>
              </a:rPr>
              <a:t>制約の理由：Default環境は全社員が標準アクセス可能 → 有効化すると事実上「全社Premiumライセンス化」が前提となる [3][7]</a:t>
            </a:r>
          </a:p>
        </p:txBody>
      </p:sp>
      <p:sp>
        <p:nvSpPr>
          <p:cNvPr id="8" name="Rectangle 7"/>
          <p:cNvSpPr/>
          <p:nvPr/>
        </p:nvSpPr>
        <p:spPr>
          <a:xfrm>
            <a:off x="502920" y="2468880"/>
            <a:ext cx="5532120" cy="1828800"/>
          </a:xfrm>
          <a:prstGeom prst="rect">
            <a:avLst/>
          </a:prstGeom>
          <a:solidFill>
            <a:srgbClr val="FFFFFF"/>
          </a:solidFill>
          <a:ln w="9525">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468880"/>
            <a:ext cx="5532120" cy="73152"/>
          </a:xfrm>
          <a:prstGeom prst="rect">
            <a:avLst/>
          </a:prstGeom>
          <a:solidFill>
            <a:srgbClr val="1D8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15184"/>
            <a:ext cx="4526280" cy="548640"/>
          </a:xfrm>
          <a:prstGeom prst="rect">
            <a:avLst/>
          </a:prstGeom>
          <a:noFill/>
        </p:spPr>
        <p:txBody>
          <a:bodyPr wrap="square" anchor="t" lIns="0" rIns="0" tIns="0" bIns="0">
            <a:spAutoFit/>
          </a:bodyPr>
          <a:lstStyle/>
          <a:p>
            <a:pPr algn="l">
              <a:lnSpc>
                <a:spcPct val="105000"/>
              </a:lnSpc>
            </a:pPr>
            <a:r>
              <a:rPr sz="1350" b="1" i="0">
                <a:solidFill>
                  <a:srgbClr val="1B2A4A"/>
                </a:solidFill>
                <a:latin typeface="Yu Gothic"/>
              </a:rPr>
              <a:t>環境ルーティング</a:t>
            </a:r>
          </a:p>
          <a:p>
            <a:pPr algn="l">
              <a:lnSpc>
                <a:spcPct val="105000"/>
              </a:lnSpc>
            </a:pPr>
            <a:r>
              <a:rPr sz="1350" b="1" i="0">
                <a:solidFill>
                  <a:srgbClr val="1B2A4A"/>
                </a:solidFill>
                <a:latin typeface="Yu Gothic"/>
              </a:rPr>
              <a:t>(Environment Routing)</a:t>
            </a:r>
          </a:p>
        </p:txBody>
      </p:sp>
      <p:sp>
        <p:nvSpPr>
          <p:cNvPr id="11" name="Rounded Rectangle 10"/>
          <p:cNvSpPr/>
          <p:nvPr/>
        </p:nvSpPr>
        <p:spPr>
          <a:xfrm>
            <a:off x="5257800" y="2615184"/>
            <a:ext cx="594360" cy="292608"/>
          </a:xfrm>
          <a:prstGeom prst="roundRect">
            <a:avLst>
              <a:gd name="adj" fmla="val 50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12700" bIns="12700"/>
          <a:lstStyle/>
          <a:p>
            <a:pPr algn="ctr"/>
            <a:r>
              <a:rPr sz="1100" b="1">
                <a:solidFill>
                  <a:srgbClr val="1D8A70"/>
                </a:solidFill>
                <a:latin typeface="Yu Gothic"/>
              </a:rPr>
              <a:t>[9]</a:t>
            </a:r>
          </a:p>
        </p:txBody>
      </p:sp>
      <p:sp>
        <p:nvSpPr>
          <p:cNvPr id="12" name="TextBox 11"/>
          <p:cNvSpPr txBox="1"/>
          <p:nvPr/>
        </p:nvSpPr>
        <p:spPr>
          <a:xfrm>
            <a:off x="685800" y="3154680"/>
            <a:ext cx="5166360" cy="1005840"/>
          </a:xfrm>
          <a:prstGeom prst="rect">
            <a:avLst/>
          </a:prstGeom>
          <a:noFill/>
        </p:spPr>
        <p:txBody>
          <a:bodyPr wrap="square" anchor="t" lIns="0" rIns="0" tIns="0" bIns="0">
            <a:spAutoFit/>
          </a:bodyPr>
          <a:lstStyle/>
          <a:p>
            <a:pPr algn="l">
              <a:lnSpc>
                <a:spcPct val="120000"/>
              </a:lnSpc>
            </a:pPr>
            <a:r>
              <a:rPr sz="1100" b="0" i="0">
                <a:solidFill>
                  <a:srgbClr val="262626"/>
                </a:solidFill>
                <a:latin typeface="Yu Gothic"/>
              </a:rPr>
              <a:t>Copilot Studio／Power Apps／Power Automateへの新規アクセス時、</a:t>
            </a:r>
          </a:p>
          <a:p>
            <a:pPr algn="l">
              <a:lnSpc>
                <a:spcPct val="120000"/>
              </a:lnSpc>
            </a:pPr>
            <a:r>
              <a:rPr sz="1100" b="0" i="0">
                <a:solidFill>
                  <a:srgbClr val="262626"/>
                </a:solidFill>
                <a:latin typeface="Yu Gothic"/>
              </a:rPr>
              <a:t>メーカーをDefault環境ではなく個人用開発環境へ自動的に誘導し、</a:t>
            </a:r>
          </a:p>
          <a:p>
            <a:pPr algn="l">
              <a:lnSpc>
                <a:spcPct val="120000"/>
              </a:lnSpc>
            </a:pPr>
            <a:r>
              <a:rPr sz="1100" b="0" i="0">
                <a:solidFill>
                  <a:srgbClr val="262626"/>
                </a:solidFill>
                <a:latin typeface="Yu Gothic"/>
              </a:rPr>
              <a:t>意図しない作成を抑制する。</a:t>
            </a:r>
          </a:p>
        </p:txBody>
      </p:sp>
      <p:sp>
        <p:nvSpPr>
          <p:cNvPr id="13" name="Rectangle 12"/>
          <p:cNvSpPr/>
          <p:nvPr/>
        </p:nvSpPr>
        <p:spPr>
          <a:xfrm>
            <a:off x="6172200" y="2468880"/>
            <a:ext cx="5532120" cy="1828800"/>
          </a:xfrm>
          <a:prstGeom prst="rect">
            <a:avLst/>
          </a:prstGeom>
          <a:solidFill>
            <a:srgbClr val="FFFFFF"/>
          </a:solidFill>
          <a:ln w="9525">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468880"/>
            <a:ext cx="5532120" cy="73152"/>
          </a:xfrm>
          <a:prstGeom prst="rect">
            <a:avLst/>
          </a:prstGeom>
          <a:solidFill>
            <a:srgbClr val="1D8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2615184"/>
            <a:ext cx="4526280" cy="548640"/>
          </a:xfrm>
          <a:prstGeom prst="rect">
            <a:avLst/>
          </a:prstGeom>
          <a:noFill/>
        </p:spPr>
        <p:txBody>
          <a:bodyPr wrap="square" anchor="t" lIns="0" rIns="0" tIns="0" bIns="0">
            <a:spAutoFit/>
          </a:bodyPr>
          <a:lstStyle/>
          <a:p>
            <a:pPr algn="l">
              <a:lnSpc>
                <a:spcPct val="105000"/>
              </a:lnSpc>
            </a:pPr>
            <a:r>
              <a:rPr sz="1350" b="1" i="0">
                <a:solidFill>
                  <a:srgbClr val="1B2A4A"/>
                </a:solidFill>
                <a:latin typeface="Yu Gothic"/>
              </a:rPr>
              <a:t>Default環境専用DLPポリシー</a:t>
            </a:r>
          </a:p>
        </p:txBody>
      </p:sp>
      <p:sp>
        <p:nvSpPr>
          <p:cNvPr id="16" name="Rounded Rectangle 15"/>
          <p:cNvSpPr/>
          <p:nvPr/>
        </p:nvSpPr>
        <p:spPr>
          <a:xfrm>
            <a:off x="10927080" y="2615184"/>
            <a:ext cx="594360" cy="292608"/>
          </a:xfrm>
          <a:prstGeom prst="roundRect">
            <a:avLst>
              <a:gd name="adj" fmla="val 50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12700" bIns="12700"/>
          <a:lstStyle/>
          <a:p>
            <a:pPr algn="ctr"/>
            <a:r>
              <a:rPr sz="1100" b="1">
                <a:solidFill>
                  <a:srgbClr val="1D8A70"/>
                </a:solidFill>
                <a:latin typeface="Yu Gothic"/>
              </a:rPr>
              <a:t>[4][7]</a:t>
            </a:r>
          </a:p>
        </p:txBody>
      </p:sp>
      <p:sp>
        <p:nvSpPr>
          <p:cNvPr id="17" name="TextBox 16"/>
          <p:cNvSpPr txBox="1"/>
          <p:nvPr/>
        </p:nvSpPr>
        <p:spPr>
          <a:xfrm>
            <a:off x="6355080" y="3154680"/>
            <a:ext cx="5166360" cy="1005840"/>
          </a:xfrm>
          <a:prstGeom prst="rect">
            <a:avLst/>
          </a:prstGeom>
          <a:noFill/>
        </p:spPr>
        <p:txBody>
          <a:bodyPr wrap="square" anchor="t" lIns="0" rIns="0" tIns="0" bIns="0">
            <a:spAutoFit/>
          </a:bodyPr>
          <a:lstStyle/>
          <a:p>
            <a:pPr algn="l">
              <a:lnSpc>
                <a:spcPct val="120000"/>
              </a:lnSpc>
            </a:pPr>
            <a:r>
              <a:rPr sz="1100" b="0" i="0">
                <a:solidFill>
                  <a:srgbClr val="262626"/>
                </a:solidFill>
                <a:latin typeface="Yu Gothic"/>
              </a:rPr>
              <a:t>確認項目2・5のとおり追加ライセンス不要で即時導入可能。コネクタ</a:t>
            </a:r>
          </a:p>
          <a:p>
            <a:pPr algn="l">
              <a:lnSpc>
                <a:spcPct val="120000"/>
              </a:lnSpc>
            </a:pPr>
            <a:r>
              <a:rPr sz="1100" b="0" i="0">
                <a:solidFill>
                  <a:srgbClr val="262626"/>
                </a:solidFill>
                <a:latin typeface="Yu Gothic"/>
              </a:rPr>
              <a:t>既定を「ブロック済み」にする方式がMS推奨のベストプラクティス。</a:t>
            </a:r>
          </a:p>
        </p:txBody>
      </p:sp>
      <p:sp>
        <p:nvSpPr>
          <p:cNvPr id="18" name="Rectangle 17"/>
          <p:cNvSpPr/>
          <p:nvPr/>
        </p:nvSpPr>
        <p:spPr>
          <a:xfrm>
            <a:off x="502920" y="4434840"/>
            <a:ext cx="5532120" cy="1828800"/>
          </a:xfrm>
          <a:prstGeom prst="rect">
            <a:avLst/>
          </a:prstGeom>
          <a:solidFill>
            <a:srgbClr val="FFFFFF"/>
          </a:solidFill>
          <a:ln w="9525">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4434840"/>
            <a:ext cx="5532120" cy="73152"/>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581144"/>
            <a:ext cx="4526280" cy="548640"/>
          </a:xfrm>
          <a:prstGeom prst="rect">
            <a:avLst/>
          </a:prstGeom>
          <a:noFill/>
        </p:spPr>
        <p:txBody>
          <a:bodyPr wrap="square" anchor="t" lIns="0" rIns="0" tIns="0" bIns="0">
            <a:spAutoFit/>
          </a:bodyPr>
          <a:lstStyle/>
          <a:p>
            <a:pPr algn="l">
              <a:lnSpc>
                <a:spcPct val="105000"/>
              </a:lnSpc>
            </a:pPr>
            <a:r>
              <a:rPr sz="1350" b="1" i="0">
                <a:solidFill>
                  <a:srgbClr val="1B2A4A"/>
                </a:solidFill>
                <a:latin typeface="Yu Gothic"/>
              </a:rPr>
              <a:t>環境グループ＋ルール</a:t>
            </a:r>
          </a:p>
          <a:p>
            <a:pPr algn="l">
              <a:lnSpc>
                <a:spcPct val="105000"/>
              </a:lnSpc>
            </a:pPr>
            <a:r>
              <a:rPr sz="1350" b="1" i="0">
                <a:solidFill>
                  <a:srgbClr val="1B2A4A"/>
                </a:solidFill>
                <a:latin typeface="Yu Gothic"/>
              </a:rPr>
              <a:t>(Environment Groups)</a:t>
            </a:r>
          </a:p>
        </p:txBody>
      </p:sp>
      <p:sp>
        <p:nvSpPr>
          <p:cNvPr id="21" name="Rounded Rectangle 20"/>
          <p:cNvSpPr/>
          <p:nvPr/>
        </p:nvSpPr>
        <p:spPr>
          <a:xfrm>
            <a:off x="5257800" y="4581144"/>
            <a:ext cx="594360" cy="292608"/>
          </a:xfrm>
          <a:prstGeom prst="roundRect">
            <a:avLst>
              <a:gd name="adj" fmla="val 50000"/>
            </a:avLst>
          </a:prstGeom>
          <a:solidFill>
            <a:srgbClr val="E9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12700" bIns="12700"/>
          <a:lstStyle/>
          <a:p>
            <a:pPr algn="ctr"/>
            <a:r>
              <a:rPr sz="1100" b="1">
                <a:solidFill>
                  <a:srgbClr val="2E5AAC"/>
                </a:solidFill>
                <a:latin typeface="Yu Gothic"/>
              </a:rPr>
              <a:t>[10]</a:t>
            </a:r>
          </a:p>
        </p:txBody>
      </p:sp>
      <p:sp>
        <p:nvSpPr>
          <p:cNvPr id="22" name="TextBox 21"/>
          <p:cNvSpPr txBox="1"/>
          <p:nvPr/>
        </p:nvSpPr>
        <p:spPr>
          <a:xfrm>
            <a:off x="685800" y="5120640"/>
            <a:ext cx="5166360" cy="1005840"/>
          </a:xfrm>
          <a:prstGeom prst="rect">
            <a:avLst/>
          </a:prstGeom>
          <a:noFill/>
        </p:spPr>
        <p:txBody>
          <a:bodyPr wrap="square" anchor="t" lIns="0" rIns="0" tIns="0" bIns="0">
            <a:spAutoFit/>
          </a:bodyPr>
          <a:lstStyle/>
          <a:p>
            <a:pPr algn="l">
              <a:lnSpc>
                <a:spcPct val="120000"/>
              </a:lnSpc>
            </a:pPr>
            <a:r>
              <a:rPr sz="1100" b="0" i="0">
                <a:solidFill>
                  <a:srgbClr val="262626"/>
                </a:solidFill>
                <a:latin typeface="Yu Gothic"/>
              </a:rPr>
              <a:t>共有制限・データ保持・AI機能有効化などの統制ルールを複数環境へ</a:t>
            </a:r>
          </a:p>
          <a:p>
            <a:pPr algn="l">
              <a:lnSpc>
                <a:spcPct val="120000"/>
              </a:lnSpc>
            </a:pPr>
            <a:r>
              <a:rPr sz="1100" b="0" i="0">
                <a:solidFill>
                  <a:srgbClr val="262626"/>
                </a:solidFill>
                <a:latin typeface="Yu Gothic"/>
              </a:rPr>
              <a:t>一括適用するガバナンス機能。適用範囲は個別環境ごとに要確認。</a:t>
            </a:r>
          </a:p>
        </p:txBody>
      </p:sp>
      <p:sp>
        <p:nvSpPr>
          <p:cNvPr id="23" name="Rectangle 22"/>
          <p:cNvSpPr/>
          <p:nvPr/>
        </p:nvSpPr>
        <p:spPr>
          <a:xfrm>
            <a:off x="6172200" y="4434840"/>
            <a:ext cx="5532120" cy="1828800"/>
          </a:xfrm>
          <a:prstGeom prst="rect">
            <a:avLst/>
          </a:prstGeom>
          <a:solidFill>
            <a:srgbClr val="FFFFFF"/>
          </a:solidFill>
          <a:ln w="9525">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434840"/>
            <a:ext cx="5532120" cy="73152"/>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581144"/>
            <a:ext cx="4526280" cy="548640"/>
          </a:xfrm>
          <a:prstGeom prst="rect">
            <a:avLst/>
          </a:prstGeom>
          <a:noFill/>
        </p:spPr>
        <p:txBody>
          <a:bodyPr wrap="square" anchor="t" lIns="0" rIns="0" tIns="0" bIns="0">
            <a:spAutoFit/>
          </a:bodyPr>
          <a:lstStyle/>
          <a:p>
            <a:pPr algn="l">
              <a:lnSpc>
                <a:spcPct val="105000"/>
              </a:lnSpc>
            </a:pPr>
            <a:r>
              <a:rPr sz="1350" b="1" i="0">
                <a:solidFill>
                  <a:srgbClr val="1B2A4A"/>
                </a:solidFill>
                <a:latin typeface="Yu Gothic"/>
              </a:rPr>
              <a:t>高利用度アプリの専用環境への移行</a:t>
            </a:r>
          </a:p>
        </p:txBody>
      </p:sp>
      <p:sp>
        <p:nvSpPr>
          <p:cNvPr id="26" name="Rounded Rectangle 25"/>
          <p:cNvSpPr/>
          <p:nvPr/>
        </p:nvSpPr>
        <p:spPr>
          <a:xfrm>
            <a:off x="10927080" y="4581144"/>
            <a:ext cx="594360" cy="292608"/>
          </a:xfrm>
          <a:prstGeom prst="roundRect">
            <a:avLst>
              <a:gd name="adj" fmla="val 50000"/>
            </a:avLst>
          </a:prstGeom>
          <a:solidFill>
            <a:srgbClr val="E9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12700" bIns="12700"/>
          <a:lstStyle/>
          <a:p>
            <a:pPr algn="ctr"/>
            <a:r>
              <a:rPr sz="1100" b="1">
                <a:solidFill>
                  <a:srgbClr val="2E5AAC"/>
                </a:solidFill>
                <a:latin typeface="Yu Gothic"/>
              </a:rPr>
              <a:t>[8]</a:t>
            </a:r>
          </a:p>
        </p:txBody>
      </p:sp>
      <p:sp>
        <p:nvSpPr>
          <p:cNvPr id="27" name="TextBox 26"/>
          <p:cNvSpPr txBox="1"/>
          <p:nvPr/>
        </p:nvSpPr>
        <p:spPr>
          <a:xfrm>
            <a:off x="6355080" y="5120640"/>
            <a:ext cx="5166360" cy="1005840"/>
          </a:xfrm>
          <a:prstGeom prst="rect">
            <a:avLst/>
          </a:prstGeom>
          <a:noFill/>
        </p:spPr>
        <p:txBody>
          <a:bodyPr wrap="square" anchor="t" lIns="0" rIns="0" tIns="0" bIns="0">
            <a:spAutoFit/>
          </a:bodyPr>
          <a:lstStyle/>
          <a:p>
            <a:pPr algn="l">
              <a:lnSpc>
                <a:spcPct val="120000"/>
              </a:lnSpc>
            </a:pPr>
            <a:r>
              <a:rPr sz="1100" b="0" i="0">
                <a:solidFill>
                  <a:srgbClr val="262626"/>
                </a:solidFill>
                <a:latin typeface="Yu Gothic"/>
              </a:rPr>
              <a:t>利用者数の多い重要アプリ／フローはソリューション化のうえ専用の</a:t>
            </a:r>
          </a:p>
          <a:p>
            <a:pPr algn="l">
              <a:lnSpc>
                <a:spcPct val="120000"/>
              </a:lnSpc>
            </a:pPr>
            <a:r>
              <a:rPr sz="1100" b="0" i="0">
                <a:solidFill>
                  <a:srgbClr val="262626"/>
                </a:solidFill>
                <a:latin typeface="Yu Gothic"/>
              </a:rPr>
              <a:t>（小規模な）マネージド環境へ移行し、Premium対象を限定する。</a:t>
            </a:r>
          </a:p>
        </p:txBody>
      </p:sp>
      <p:sp>
        <p:nvSpPr>
          <p:cNvPr id="28" name="TextBox 27"/>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29" name="TextBox 28"/>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RISKS &amp; CAVEATS</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リスク・留意事項</a:t>
            </a:r>
          </a:p>
        </p:txBody>
      </p:sp>
      <p:sp>
        <p:nvSpPr>
          <p:cNvPr id="6" name="Rectangle 5"/>
          <p:cNvSpPr/>
          <p:nvPr/>
        </p:nvSpPr>
        <p:spPr>
          <a:xfrm>
            <a:off x="502920" y="1371600"/>
            <a:ext cx="11201400" cy="109728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91440" cy="1097280"/>
          </a:xfrm>
          <a:prstGeom prst="rect">
            <a:avLst/>
          </a:prstGeom>
          <a:solidFill>
            <a:srgbClr val="C459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81328"/>
            <a:ext cx="10698480" cy="320040"/>
          </a:xfrm>
          <a:prstGeom prst="rect">
            <a:avLst/>
          </a:prstGeom>
          <a:noFill/>
        </p:spPr>
        <p:txBody>
          <a:bodyPr wrap="square" anchor="t" lIns="0" rIns="0" tIns="0" bIns="0">
            <a:spAutoFit/>
          </a:bodyPr>
          <a:lstStyle/>
          <a:p>
            <a:pPr algn="l">
              <a:lnSpc>
                <a:spcPct val="100000"/>
              </a:lnSpc>
            </a:pPr>
            <a:r>
              <a:rPr sz="1350" b="1" i="0">
                <a:solidFill>
                  <a:srgbClr val="1B2A4A"/>
                </a:solidFill>
                <a:latin typeface="Yu Gothic"/>
              </a:rPr>
              <a:t>ライセンスコンプライアンス強化の流れ</a:t>
            </a:r>
          </a:p>
        </p:txBody>
      </p:sp>
      <p:sp>
        <p:nvSpPr>
          <p:cNvPr id="9" name="TextBox 8"/>
          <p:cNvSpPr txBox="1"/>
          <p:nvPr/>
        </p:nvSpPr>
        <p:spPr>
          <a:xfrm>
            <a:off x="777240" y="1810512"/>
            <a:ext cx="10698480" cy="411480"/>
          </a:xfrm>
          <a:prstGeom prst="rect">
            <a:avLst/>
          </a:prstGeom>
          <a:noFill/>
        </p:spPr>
        <p:txBody>
          <a:bodyPr wrap="square" anchor="t" lIns="0" rIns="0" tIns="0" bIns="0">
            <a:spAutoFit/>
          </a:bodyPr>
          <a:lstStyle/>
          <a:p>
            <a:pPr algn="l">
              <a:lnSpc>
                <a:spcPct val="115000"/>
              </a:lnSpc>
            </a:pPr>
            <a:r>
              <a:rPr sz="1150" b="0" i="0">
                <a:solidFill>
                  <a:srgbClr val="262626"/>
                </a:solidFill>
                <a:latin typeface="Yu Gothic"/>
              </a:rPr>
              <a:t>2026年3月より管理者向け、6月よりエンドユーザー向けにライセンス未充足の通知が順次導入されており、</a:t>
            </a:r>
          </a:p>
          <a:p>
            <a:pPr algn="l">
              <a:lnSpc>
                <a:spcPct val="115000"/>
              </a:lnSpc>
            </a:pPr>
            <a:r>
              <a:rPr sz="1150" b="0" i="0">
                <a:solidFill>
                  <a:srgbClr val="262626"/>
                </a:solidFill>
                <a:latin typeface="Yu Gothic"/>
              </a:rPr>
              <a:t>放置は将来的な利用制限リスクとなる。</a:t>
            </a:r>
          </a:p>
        </p:txBody>
      </p:sp>
      <p:sp>
        <p:nvSpPr>
          <p:cNvPr id="10" name="TextBox 9"/>
          <p:cNvSpPr txBox="1"/>
          <p:nvPr/>
        </p:nvSpPr>
        <p:spPr>
          <a:xfrm>
            <a:off x="777240" y="2221992"/>
            <a:ext cx="10698480" cy="274320"/>
          </a:xfrm>
          <a:prstGeom prst="rect">
            <a:avLst/>
          </a:prstGeom>
          <a:noFill/>
        </p:spPr>
        <p:txBody>
          <a:bodyPr wrap="square" anchor="t" lIns="0" rIns="0" tIns="0" bIns="0">
            <a:spAutoFit/>
          </a:bodyPr>
          <a:lstStyle/>
          <a:p>
            <a:pPr algn="l">
              <a:lnSpc>
                <a:spcPct val="100000"/>
              </a:lnSpc>
            </a:pPr>
            <a:r>
              <a:rPr sz="1000" b="0" i="1">
                <a:solidFill>
                  <a:srgbClr val="6E6E6E"/>
                </a:solidFill>
                <a:latin typeface="Yu Gothic"/>
              </a:rPr>
              <a:t>出典：[3] Licensing（Managed Environments）</a:t>
            </a:r>
          </a:p>
        </p:txBody>
      </p:sp>
      <p:sp>
        <p:nvSpPr>
          <p:cNvPr id="11" name="Rectangle 10"/>
          <p:cNvSpPr/>
          <p:nvPr/>
        </p:nvSpPr>
        <p:spPr>
          <a:xfrm>
            <a:off x="502920" y="2606040"/>
            <a:ext cx="11201400" cy="109728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606040"/>
            <a:ext cx="91440" cy="1097280"/>
          </a:xfrm>
          <a:prstGeom prst="rect">
            <a:avLst/>
          </a:prstGeom>
          <a:solidFill>
            <a:srgbClr val="C459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715768"/>
            <a:ext cx="10698480" cy="320040"/>
          </a:xfrm>
          <a:prstGeom prst="rect">
            <a:avLst/>
          </a:prstGeom>
          <a:noFill/>
        </p:spPr>
        <p:txBody>
          <a:bodyPr wrap="square" anchor="t" lIns="0" rIns="0" tIns="0" bIns="0">
            <a:spAutoFit/>
          </a:bodyPr>
          <a:lstStyle/>
          <a:p>
            <a:pPr algn="l">
              <a:lnSpc>
                <a:spcPct val="100000"/>
              </a:lnSpc>
            </a:pPr>
            <a:r>
              <a:rPr sz="1350" b="1" i="0">
                <a:solidFill>
                  <a:srgbClr val="1B2A4A"/>
                </a:solidFill>
                <a:latin typeface="Yu Gothic"/>
              </a:rPr>
              <a:t>ブロック不可コネクタの存在</a:t>
            </a:r>
          </a:p>
        </p:txBody>
      </p:sp>
      <p:sp>
        <p:nvSpPr>
          <p:cNvPr id="14" name="TextBox 13"/>
          <p:cNvSpPr txBox="1"/>
          <p:nvPr/>
        </p:nvSpPr>
        <p:spPr>
          <a:xfrm>
            <a:off x="777240" y="3044952"/>
            <a:ext cx="10698480" cy="411480"/>
          </a:xfrm>
          <a:prstGeom prst="rect">
            <a:avLst/>
          </a:prstGeom>
          <a:noFill/>
        </p:spPr>
        <p:txBody>
          <a:bodyPr wrap="square" anchor="t" lIns="0" rIns="0" tIns="0" bIns="0">
            <a:spAutoFit/>
          </a:bodyPr>
          <a:lstStyle/>
          <a:p>
            <a:pPr algn="l">
              <a:lnSpc>
                <a:spcPct val="115000"/>
              </a:lnSpc>
            </a:pPr>
            <a:r>
              <a:rPr sz="1150" b="0" i="0">
                <a:solidFill>
                  <a:srgbClr val="262626"/>
                </a:solidFill>
                <a:latin typeface="Yu Gothic"/>
              </a:rPr>
              <a:t>一部の標準コネクタはDLPポリシーで「ブロック不可」に分類されており、完全な利用制御はできない</a:t>
            </a:r>
          </a:p>
          <a:p>
            <a:pPr algn="l">
              <a:lnSpc>
                <a:spcPct val="115000"/>
              </a:lnSpc>
            </a:pPr>
            <a:r>
              <a:rPr sz="1150" b="0" i="0">
                <a:solidFill>
                  <a:srgbClr val="262626"/>
                </a:solidFill>
                <a:latin typeface="Yu Gothic"/>
              </a:rPr>
              <a:t>点を事前に理解しておく必要がある。</a:t>
            </a:r>
          </a:p>
        </p:txBody>
      </p:sp>
      <p:sp>
        <p:nvSpPr>
          <p:cNvPr id="15" name="TextBox 14"/>
          <p:cNvSpPr txBox="1"/>
          <p:nvPr/>
        </p:nvSpPr>
        <p:spPr>
          <a:xfrm>
            <a:off x="777240" y="3456432"/>
            <a:ext cx="10698480" cy="274320"/>
          </a:xfrm>
          <a:prstGeom prst="rect">
            <a:avLst/>
          </a:prstGeom>
          <a:noFill/>
        </p:spPr>
        <p:txBody>
          <a:bodyPr wrap="square" anchor="t" lIns="0" rIns="0" tIns="0" bIns="0">
            <a:spAutoFit/>
          </a:bodyPr>
          <a:lstStyle/>
          <a:p>
            <a:pPr algn="l">
              <a:lnSpc>
                <a:spcPct val="100000"/>
              </a:lnSpc>
            </a:pPr>
            <a:r>
              <a:rPr sz="1000" b="0" i="1">
                <a:solidFill>
                  <a:srgbClr val="6E6E6E"/>
                </a:solidFill>
                <a:latin typeface="Yu Gothic"/>
              </a:rPr>
              <a:t>出典：[8] Manage and govern the default environment</a:t>
            </a:r>
          </a:p>
        </p:txBody>
      </p:sp>
      <p:sp>
        <p:nvSpPr>
          <p:cNvPr id="16" name="Rectangle 15"/>
          <p:cNvSpPr/>
          <p:nvPr/>
        </p:nvSpPr>
        <p:spPr>
          <a:xfrm>
            <a:off x="502920" y="3840480"/>
            <a:ext cx="11201400" cy="109728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840480"/>
            <a:ext cx="91440" cy="1097280"/>
          </a:xfrm>
          <a:prstGeom prst="rect">
            <a:avLst/>
          </a:prstGeom>
          <a:solidFill>
            <a:srgbClr val="C459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950208"/>
            <a:ext cx="10698480" cy="320040"/>
          </a:xfrm>
          <a:prstGeom prst="rect">
            <a:avLst/>
          </a:prstGeom>
          <a:noFill/>
        </p:spPr>
        <p:txBody>
          <a:bodyPr wrap="square" anchor="t" lIns="0" rIns="0" tIns="0" bIns="0">
            <a:spAutoFit/>
          </a:bodyPr>
          <a:lstStyle/>
          <a:p>
            <a:pPr algn="l">
              <a:lnSpc>
                <a:spcPct val="100000"/>
              </a:lnSpc>
            </a:pPr>
            <a:r>
              <a:rPr sz="1350" b="1" i="0">
                <a:solidFill>
                  <a:srgbClr val="1B2A4A"/>
                </a:solidFill>
                <a:latin typeface="Yu Gothic"/>
              </a:rPr>
              <a:t>ユーザー影響への配慮</a:t>
            </a:r>
          </a:p>
        </p:txBody>
      </p:sp>
      <p:sp>
        <p:nvSpPr>
          <p:cNvPr id="19" name="TextBox 18"/>
          <p:cNvSpPr txBox="1"/>
          <p:nvPr/>
        </p:nvSpPr>
        <p:spPr>
          <a:xfrm>
            <a:off x="777240" y="4279392"/>
            <a:ext cx="10698480" cy="411480"/>
          </a:xfrm>
          <a:prstGeom prst="rect">
            <a:avLst/>
          </a:prstGeom>
          <a:noFill/>
        </p:spPr>
        <p:txBody>
          <a:bodyPr wrap="square" anchor="t" lIns="0" rIns="0" tIns="0" bIns="0">
            <a:spAutoFit/>
          </a:bodyPr>
          <a:lstStyle/>
          <a:p>
            <a:pPr algn="l">
              <a:lnSpc>
                <a:spcPct val="115000"/>
              </a:lnSpc>
            </a:pPr>
            <a:r>
              <a:rPr sz="1150" b="0" i="0">
                <a:solidFill>
                  <a:srgbClr val="262626"/>
                </a:solidFill>
                <a:latin typeface="Yu Gothic"/>
              </a:rPr>
              <a:t>DLPポリシーの厳格化・環境ルーティングの導入は既存の正当な業務利用者の体験に影響し得るため、</a:t>
            </a:r>
          </a:p>
          <a:p>
            <a:pPr algn="l">
              <a:lnSpc>
                <a:spcPct val="115000"/>
              </a:lnSpc>
            </a:pPr>
            <a:r>
              <a:rPr sz="1150" b="0" i="0">
                <a:solidFill>
                  <a:srgbClr val="262626"/>
                </a:solidFill>
                <a:latin typeface="Yu Gothic"/>
              </a:rPr>
              <a:t>事前告知とエラーメッセージのカスタマイズ（Set-PowerAppDlpErrorSettings）で移行摩擦を軽減する。</a:t>
            </a:r>
          </a:p>
        </p:txBody>
      </p:sp>
      <p:sp>
        <p:nvSpPr>
          <p:cNvPr id="20" name="TextBox 19"/>
          <p:cNvSpPr txBox="1"/>
          <p:nvPr/>
        </p:nvSpPr>
        <p:spPr>
          <a:xfrm>
            <a:off x="777240" y="4690872"/>
            <a:ext cx="10698480" cy="274320"/>
          </a:xfrm>
          <a:prstGeom prst="rect">
            <a:avLst/>
          </a:prstGeom>
          <a:noFill/>
        </p:spPr>
        <p:txBody>
          <a:bodyPr wrap="square" anchor="t" lIns="0" rIns="0" tIns="0" bIns="0">
            <a:spAutoFit/>
          </a:bodyPr>
          <a:lstStyle/>
          <a:p>
            <a:pPr algn="l">
              <a:lnSpc>
                <a:spcPct val="100000"/>
              </a:lnSpc>
            </a:pPr>
            <a:r>
              <a:rPr sz="1000" b="0" i="1">
                <a:solidFill>
                  <a:srgbClr val="6E6E6E"/>
                </a:solidFill>
                <a:latin typeface="Yu Gothic"/>
              </a:rPr>
              <a:t>出典：[7] Secure the default environment</a:t>
            </a:r>
          </a:p>
        </p:txBody>
      </p:sp>
      <p:sp>
        <p:nvSpPr>
          <p:cNvPr id="21" name="Rectangle 20"/>
          <p:cNvSpPr/>
          <p:nvPr/>
        </p:nvSpPr>
        <p:spPr>
          <a:xfrm>
            <a:off x="502920" y="5074920"/>
            <a:ext cx="11201400" cy="109728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5074920"/>
            <a:ext cx="91440" cy="1097280"/>
          </a:xfrm>
          <a:prstGeom prst="rect">
            <a:avLst/>
          </a:prstGeom>
          <a:solidFill>
            <a:srgbClr val="C459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184648"/>
            <a:ext cx="10698480" cy="320040"/>
          </a:xfrm>
          <a:prstGeom prst="rect">
            <a:avLst/>
          </a:prstGeom>
          <a:noFill/>
        </p:spPr>
        <p:txBody>
          <a:bodyPr wrap="square" anchor="t" lIns="0" rIns="0" tIns="0" bIns="0">
            <a:spAutoFit/>
          </a:bodyPr>
          <a:lstStyle/>
          <a:p>
            <a:pPr algn="l">
              <a:lnSpc>
                <a:spcPct val="100000"/>
              </a:lnSpc>
            </a:pPr>
            <a:r>
              <a:rPr sz="1350" b="1" i="0">
                <a:solidFill>
                  <a:srgbClr val="1B2A4A"/>
                </a:solidFill>
                <a:latin typeface="Yu Gothic"/>
              </a:rPr>
              <a:t>情報の鮮度</a:t>
            </a:r>
          </a:p>
        </p:txBody>
      </p:sp>
      <p:sp>
        <p:nvSpPr>
          <p:cNvPr id="24" name="TextBox 23"/>
          <p:cNvSpPr txBox="1"/>
          <p:nvPr/>
        </p:nvSpPr>
        <p:spPr>
          <a:xfrm>
            <a:off x="777240" y="5513832"/>
            <a:ext cx="10698480" cy="411480"/>
          </a:xfrm>
          <a:prstGeom prst="rect">
            <a:avLst/>
          </a:prstGeom>
          <a:noFill/>
        </p:spPr>
        <p:txBody>
          <a:bodyPr wrap="square" anchor="t" lIns="0" rIns="0" tIns="0" bIns="0">
            <a:spAutoFit/>
          </a:bodyPr>
          <a:lstStyle/>
          <a:p>
            <a:pPr algn="l">
              <a:lnSpc>
                <a:spcPct val="115000"/>
              </a:lnSpc>
            </a:pPr>
            <a:r>
              <a:rPr sz="1150" b="0" i="0">
                <a:solidFill>
                  <a:srgbClr val="262626"/>
                </a:solidFill>
                <a:latin typeface="Yu Gothic"/>
              </a:rPr>
              <a:t>Power PlatformのライセンスポリシーおよびManaged Environment機能は継続的に更新されており、</a:t>
            </a:r>
          </a:p>
          <a:p>
            <a:pPr algn="l">
              <a:lnSpc>
                <a:spcPct val="115000"/>
              </a:lnSpc>
            </a:pPr>
            <a:r>
              <a:rPr sz="1150" b="0" i="0">
                <a:solidFill>
                  <a:srgbClr val="262626"/>
                </a:solidFill>
                <a:latin typeface="Yu Gothic"/>
              </a:rPr>
              <a:t>実施前に最新のMicrosoft Learn情報の再確認を推奨する。</a:t>
            </a:r>
          </a:p>
        </p:txBody>
      </p:sp>
      <p:sp>
        <p:nvSpPr>
          <p:cNvPr id="25" name="TextBox 24"/>
          <p:cNvSpPr txBox="1"/>
          <p:nvPr/>
        </p:nvSpPr>
        <p:spPr>
          <a:xfrm>
            <a:off x="777240" y="5925312"/>
            <a:ext cx="10698480" cy="274320"/>
          </a:xfrm>
          <a:prstGeom prst="rect">
            <a:avLst/>
          </a:prstGeom>
          <a:noFill/>
        </p:spPr>
        <p:txBody>
          <a:bodyPr wrap="square" anchor="t" lIns="0" rIns="0" tIns="0" bIns="0">
            <a:spAutoFit/>
          </a:bodyPr>
          <a:lstStyle/>
          <a:p>
            <a:pPr algn="l">
              <a:lnSpc>
                <a:spcPct val="100000"/>
              </a:lnSpc>
            </a:pPr>
            <a:r>
              <a:rPr sz="1000" b="0" i="1">
                <a:solidFill>
                  <a:srgbClr val="6E6E6E"/>
                </a:solidFill>
                <a:latin typeface="Yu Gothic"/>
              </a:rPr>
              <a:t>出典：[1][3] Managed environments overview／Licensing</a:t>
            </a:r>
          </a:p>
        </p:txBody>
      </p:sp>
      <p:sp>
        <p:nvSpPr>
          <p:cNvPr id="26" name="TextBox 25"/>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27" name="TextBox 26"/>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9144000" cy="320040"/>
          </a:xfrm>
          <a:prstGeom prst="rect">
            <a:avLst/>
          </a:prstGeom>
          <a:noFill/>
        </p:spPr>
        <p:txBody>
          <a:bodyPr wrap="square" anchor="t" lIns="0" rIns="0" tIns="0" bIns="0">
            <a:spAutoFit/>
          </a:bodyPr>
          <a:lstStyle/>
          <a:p>
            <a:pPr algn="l">
              <a:lnSpc>
                <a:spcPct val="100000"/>
              </a:lnSpc>
            </a:pPr>
            <a:r>
              <a:rPr sz="1200" b="1" i="0">
                <a:solidFill>
                  <a:srgbClr val="B9C7E6"/>
                </a:solidFill>
                <a:latin typeface="Yu Gothic"/>
              </a:rPr>
              <a:t>REFERENCES</a:t>
            </a:r>
          </a:p>
        </p:txBody>
      </p:sp>
      <p:sp>
        <p:nvSpPr>
          <p:cNvPr id="5" name="TextBox 4"/>
          <p:cNvSpPr txBox="1"/>
          <p:nvPr/>
        </p:nvSpPr>
        <p:spPr>
          <a:xfrm>
            <a:off x="502920" y="411480"/>
            <a:ext cx="10972800" cy="594360"/>
          </a:xfrm>
          <a:prstGeom prst="rect">
            <a:avLst/>
          </a:prstGeom>
          <a:noFill/>
        </p:spPr>
        <p:txBody>
          <a:bodyPr wrap="square" anchor="t" lIns="0" rIns="0" tIns="0" bIns="0">
            <a:spAutoFit/>
          </a:bodyPr>
          <a:lstStyle/>
          <a:p>
            <a:pPr algn="l">
              <a:lnSpc>
                <a:spcPct val="100000"/>
              </a:lnSpc>
            </a:pPr>
            <a:r>
              <a:rPr sz="2300" b="1" i="0">
                <a:solidFill>
                  <a:srgbClr val="FFFFFF"/>
                </a:solidFill>
                <a:latin typeface="Yu Gothic"/>
              </a:rPr>
              <a:t>参考文献・出典一覧</a:t>
            </a:r>
          </a:p>
        </p:txBody>
      </p:sp>
      <p:sp>
        <p:nvSpPr>
          <p:cNvPr id="6" name="TextBox 5"/>
          <p:cNvSpPr txBox="1"/>
          <p:nvPr/>
        </p:nvSpPr>
        <p:spPr>
          <a:xfrm>
            <a:off x="502920" y="137160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[1]</a:t>
            </a:r>
          </a:p>
        </p:txBody>
      </p:sp>
      <p:sp>
        <p:nvSpPr>
          <p:cNvPr id="7" name="TextBox 6"/>
          <p:cNvSpPr txBox="1"/>
          <p:nvPr/>
        </p:nvSpPr>
        <p:spPr>
          <a:xfrm>
            <a:off x="1005840" y="137160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Managed environments overview － Microsoft Learn</a:t>
            </a:r>
          </a:p>
          <a:p>
            <a:pPr algn="l">
              <a:lnSpc>
                <a:spcPct val="115000"/>
              </a:lnSpc>
            </a:pPr>
            <a:r>
              <a:rPr sz="1100" b="0" i="0">
                <a:solidFill>
                  <a:srgbClr val="262626"/>
                </a:solidFill>
                <a:latin typeface="Yu Gothic"/>
              </a:rPr>
              <a:t>learn.microsoft.com/power-platform/admin/managed-environment-overview</a:t>
            </a:r>
          </a:p>
        </p:txBody>
      </p:sp>
      <p:sp>
        <p:nvSpPr>
          <p:cNvPr id="8" name="TextBox 7"/>
          <p:cNvSpPr txBox="1"/>
          <p:nvPr/>
        </p:nvSpPr>
        <p:spPr>
          <a:xfrm>
            <a:off x="502920" y="214884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[2]</a:t>
            </a:r>
          </a:p>
        </p:txBody>
      </p:sp>
      <p:sp>
        <p:nvSpPr>
          <p:cNvPr id="9" name="TextBox 8"/>
          <p:cNvSpPr txBox="1"/>
          <p:nvPr/>
        </p:nvSpPr>
        <p:spPr>
          <a:xfrm>
            <a:off x="1005840" y="214884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Enable managed environments － Microsoft Learn</a:t>
            </a:r>
          </a:p>
          <a:p>
            <a:pPr algn="l">
              <a:lnSpc>
                <a:spcPct val="115000"/>
              </a:lnSpc>
            </a:pPr>
            <a:r>
              <a:rPr sz="1100" b="0" i="0">
                <a:solidFill>
                  <a:srgbClr val="262626"/>
                </a:solidFill>
                <a:latin typeface="Yu Gothic"/>
              </a:rPr>
              <a:t>learn.microsoft.com/power-platform/admin/managed-environment-enable</a:t>
            </a:r>
          </a:p>
        </p:txBody>
      </p:sp>
      <p:sp>
        <p:nvSpPr>
          <p:cNvPr id="10" name="TextBox 9"/>
          <p:cNvSpPr txBox="1"/>
          <p:nvPr/>
        </p:nvSpPr>
        <p:spPr>
          <a:xfrm>
            <a:off x="502920" y="292608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[3]</a:t>
            </a:r>
          </a:p>
        </p:txBody>
      </p:sp>
      <p:sp>
        <p:nvSpPr>
          <p:cNvPr id="11" name="TextBox 10"/>
          <p:cNvSpPr txBox="1"/>
          <p:nvPr/>
        </p:nvSpPr>
        <p:spPr>
          <a:xfrm>
            <a:off x="1005840" y="292608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Licensing (Managed Environments) － Microsoft Learn</a:t>
            </a:r>
          </a:p>
          <a:p>
            <a:pPr algn="l">
              <a:lnSpc>
                <a:spcPct val="115000"/>
              </a:lnSpc>
            </a:pPr>
            <a:r>
              <a:rPr sz="1100" b="0" i="0">
                <a:solidFill>
                  <a:srgbClr val="262626"/>
                </a:solidFill>
                <a:latin typeface="Yu Gothic"/>
              </a:rPr>
              <a:t>learn.microsoft.com/power-platform/admin/managed-environment-licensing</a:t>
            </a:r>
          </a:p>
        </p:txBody>
      </p:sp>
      <p:sp>
        <p:nvSpPr>
          <p:cNvPr id="12" name="TextBox 11"/>
          <p:cNvSpPr txBox="1"/>
          <p:nvPr/>
        </p:nvSpPr>
        <p:spPr>
          <a:xfrm>
            <a:off x="502920" y="370332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[4]</a:t>
            </a:r>
          </a:p>
        </p:txBody>
      </p:sp>
      <p:sp>
        <p:nvSpPr>
          <p:cNvPr id="13" name="TextBox 12"/>
          <p:cNvSpPr txBox="1"/>
          <p:nvPr/>
        </p:nvSpPr>
        <p:spPr>
          <a:xfrm>
            <a:off x="1005840" y="370332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Manage data policies (DLP) － Microsoft Learn</a:t>
            </a:r>
          </a:p>
          <a:p>
            <a:pPr algn="l">
              <a:lnSpc>
                <a:spcPct val="115000"/>
              </a:lnSpc>
            </a:pPr>
            <a:r>
              <a:rPr sz="1100" b="0" i="0">
                <a:solidFill>
                  <a:srgbClr val="262626"/>
                </a:solidFill>
                <a:latin typeface="Yu Gothic"/>
              </a:rPr>
              <a:t>learn.microsoft.com/power-platform/admin/prevent-data-loss</a:t>
            </a:r>
          </a:p>
        </p:txBody>
      </p:sp>
      <p:sp>
        <p:nvSpPr>
          <p:cNvPr id="14" name="TextBox 13"/>
          <p:cNvSpPr txBox="1"/>
          <p:nvPr/>
        </p:nvSpPr>
        <p:spPr>
          <a:xfrm>
            <a:off x="502920" y="448056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[5]</a:t>
            </a:r>
          </a:p>
        </p:txBody>
      </p:sp>
      <p:sp>
        <p:nvSpPr>
          <p:cNvPr id="15" name="TextBox 14"/>
          <p:cNvSpPr txBox="1"/>
          <p:nvPr/>
        </p:nvSpPr>
        <p:spPr>
          <a:xfrm>
            <a:off x="1005840" y="448056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View policies and scope － Microsoft Learn</a:t>
            </a:r>
          </a:p>
          <a:p>
            <a:pPr algn="l">
              <a:lnSpc>
                <a:spcPct val="115000"/>
              </a:lnSpc>
            </a:pPr>
            <a:r>
              <a:rPr sz="1100" b="0" i="0">
                <a:solidFill>
                  <a:srgbClr val="262626"/>
                </a:solidFill>
                <a:latin typeface="Yu Gothic"/>
              </a:rPr>
              <a:t>learn.microsoft.com/power-platform/admin/dlp-policy-scope</a:t>
            </a:r>
          </a:p>
        </p:txBody>
      </p:sp>
      <p:sp>
        <p:nvSpPr>
          <p:cNvPr id="16" name="TextBox 15"/>
          <p:cNvSpPr txBox="1"/>
          <p:nvPr/>
        </p:nvSpPr>
        <p:spPr>
          <a:xfrm>
            <a:off x="502920" y="525780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[6]</a:t>
            </a:r>
          </a:p>
        </p:txBody>
      </p:sp>
      <p:sp>
        <p:nvSpPr>
          <p:cNvPr id="17" name="TextBox 16"/>
          <p:cNvSpPr txBox="1"/>
          <p:nvPr/>
        </p:nvSpPr>
        <p:spPr>
          <a:xfrm>
            <a:off x="1005840" y="525780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Impact of data policies on apps and flows － Microsoft Learn</a:t>
            </a:r>
          </a:p>
          <a:p>
            <a:pPr algn="l">
              <a:lnSpc>
                <a:spcPct val="115000"/>
              </a:lnSpc>
            </a:pPr>
            <a:r>
              <a:rPr sz="1100" b="0" i="0">
                <a:solidFill>
                  <a:srgbClr val="262626"/>
                </a:solidFill>
                <a:latin typeface="Yu Gothic"/>
              </a:rPr>
              <a:t>learn.microsoft.com/power-platform/admin/dlp-impact-policies-apps-flows</a:t>
            </a:r>
          </a:p>
        </p:txBody>
      </p:sp>
      <p:sp>
        <p:nvSpPr>
          <p:cNvPr id="18" name="TextBox 17"/>
          <p:cNvSpPr txBox="1"/>
          <p:nvPr/>
        </p:nvSpPr>
        <p:spPr>
          <a:xfrm>
            <a:off x="6263640" y="137160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[7]</a:t>
            </a:r>
          </a:p>
        </p:txBody>
      </p:sp>
      <p:sp>
        <p:nvSpPr>
          <p:cNvPr id="19" name="TextBox 18"/>
          <p:cNvSpPr txBox="1"/>
          <p:nvPr/>
        </p:nvSpPr>
        <p:spPr>
          <a:xfrm>
            <a:off x="6766560" y="137160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Secure the default environment － Microsoft Learn（Adoption Guidance）</a:t>
            </a:r>
          </a:p>
          <a:p>
            <a:pPr algn="l">
              <a:lnSpc>
                <a:spcPct val="115000"/>
              </a:lnSpc>
            </a:pPr>
            <a:r>
              <a:rPr sz="1100" b="0" i="0">
                <a:solidFill>
                  <a:srgbClr val="262626"/>
                </a:solidFill>
                <a:latin typeface="Yu Gothic"/>
              </a:rPr>
              <a:t>learn.microsoft.com/power-platform/guidance/adoption/secure-default-environment</a:t>
            </a:r>
          </a:p>
        </p:txBody>
      </p:sp>
      <p:sp>
        <p:nvSpPr>
          <p:cNvPr id="20" name="TextBox 19"/>
          <p:cNvSpPr txBox="1"/>
          <p:nvPr/>
        </p:nvSpPr>
        <p:spPr>
          <a:xfrm>
            <a:off x="6263640" y="214884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[8]</a:t>
            </a:r>
          </a:p>
        </p:txBody>
      </p:sp>
      <p:sp>
        <p:nvSpPr>
          <p:cNvPr id="21" name="TextBox 20"/>
          <p:cNvSpPr txBox="1"/>
          <p:nvPr/>
        </p:nvSpPr>
        <p:spPr>
          <a:xfrm>
            <a:off x="6766560" y="214884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Manage and govern the default environment － Microsoft Learn（Adoption Guidance）</a:t>
            </a:r>
          </a:p>
          <a:p>
            <a:pPr algn="l">
              <a:lnSpc>
                <a:spcPct val="115000"/>
              </a:lnSpc>
            </a:pPr>
            <a:r>
              <a:rPr sz="1100" b="0" i="0">
                <a:solidFill>
                  <a:srgbClr val="262626"/>
                </a:solidFill>
                <a:latin typeface="Yu Gothic"/>
              </a:rPr>
              <a:t>learn.microsoft.com/power-platform/guidance/adoption/manage-default-environment</a:t>
            </a:r>
          </a:p>
        </p:txBody>
      </p:sp>
      <p:sp>
        <p:nvSpPr>
          <p:cNvPr id="22" name="TextBox 21"/>
          <p:cNvSpPr txBox="1"/>
          <p:nvPr/>
        </p:nvSpPr>
        <p:spPr>
          <a:xfrm>
            <a:off x="6263640" y="292608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[9]</a:t>
            </a:r>
          </a:p>
        </p:txBody>
      </p:sp>
      <p:sp>
        <p:nvSpPr>
          <p:cNvPr id="23" name="TextBox 22"/>
          <p:cNvSpPr txBox="1"/>
          <p:nvPr/>
        </p:nvSpPr>
        <p:spPr>
          <a:xfrm>
            <a:off x="6766560" y="292608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Environment routing － Microsoft Learn</a:t>
            </a:r>
          </a:p>
          <a:p>
            <a:pPr algn="l">
              <a:lnSpc>
                <a:spcPct val="115000"/>
              </a:lnSpc>
            </a:pPr>
            <a:r>
              <a:rPr sz="1100" b="0" i="0">
                <a:solidFill>
                  <a:srgbClr val="262626"/>
                </a:solidFill>
                <a:latin typeface="Yu Gothic"/>
              </a:rPr>
              <a:t>learn.microsoft.com/power-platform/admin/default-environment-routing</a:t>
            </a:r>
          </a:p>
        </p:txBody>
      </p:sp>
      <p:sp>
        <p:nvSpPr>
          <p:cNvPr id="24" name="TextBox 23"/>
          <p:cNvSpPr txBox="1"/>
          <p:nvPr/>
        </p:nvSpPr>
        <p:spPr>
          <a:xfrm>
            <a:off x="6263640" y="370332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[10]</a:t>
            </a:r>
          </a:p>
        </p:txBody>
      </p:sp>
      <p:sp>
        <p:nvSpPr>
          <p:cNvPr id="25" name="TextBox 24"/>
          <p:cNvSpPr txBox="1"/>
          <p:nvPr/>
        </p:nvSpPr>
        <p:spPr>
          <a:xfrm>
            <a:off x="6766560" y="370332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Environment groups － Microsoft Learn</a:t>
            </a:r>
          </a:p>
          <a:p>
            <a:pPr algn="l">
              <a:lnSpc>
                <a:spcPct val="115000"/>
              </a:lnSpc>
            </a:pPr>
            <a:r>
              <a:rPr sz="1100" b="0" i="0">
                <a:solidFill>
                  <a:srgbClr val="262626"/>
                </a:solidFill>
                <a:latin typeface="Yu Gothic"/>
              </a:rPr>
              <a:t>learn.microsoft.com/power-platform/admin/environment-groups</a:t>
            </a:r>
          </a:p>
        </p:txBody>
      </p:sp>
      <p:sp>
        <p:nvSpPr>
          <p:cNvPr id="26" name="TextBox 25"/>
          <p:cNvSpPr txBox="1"/>
          <p:nvPr/>
        </p:nvSpPr>
        <p:spPr>
          <a:xfrm>
            <a:off x="6263640" y="4480560"/>
            <a:ext cx="457200" cy="320040"/>
          </a:xfrm>
          <a:prstGeom prst="rect">
            <a:avLst/>
          </a:prstGeom>
          <a:noFill/>
        </p:spPr>
        <p:txBody>
          <a:bodyPr wrap="square" anchor="t" lIns="0" rIns="0" tIns="0" bIns="0">
            <a:spAutoFit/>
          </a:bodyPr>
          <a:lstStyle/>
          <a:p>
            <a:pPr algn="l">
              <a:lnSpc>
                <a:spcPct val="100000"/>
              </a:lnSpc>
            </a:pPr>
            <a:r>
              <a:rPr sz="1200" b="1" i="0">
                <a:solidFill>
                  <a:srgbClr val="2E5AAC"/>
                </a:solidFill>
                <a:latin typeface="Yu Gothic"/>
              </a:rPr>
              <a:t>[11]</a:t>
            </a:r>
          </a:p>
        </p:txBody>
      </p:sp>
      <p:sp>
        <p:nvSpPr>
          <p:cNvPr id="27" name="TextBox 26"/>
          <p:cNvSpPr txBox="1"/>
          <p:nvPr/>
        </p:nvSpPr>
        <p:spPr>
          <a:xfrm>
            <a:off x="6766560" y="4480560"/>
            <a:ext cx="5074920" cy="731520"/>
          </a:xfrm>
          <a:prstGeom prst="rect">
            <a:avLst/>
          </a:prstGeom>
          <a:noFill/>
        </p:spPr>
        <p:txBody>
          <a:bodyPr wrap="square" anchor="t" lIns="0" rIns="0" tIns="0" bIns="0">
            <a:spAutoFit/>
          </a:bodyPr>
          <a:lstStyle/>
          <a:p>
            <a:pPr algn="l">
              <a:lnSpc>
                <a:spcPct val="115000"/>
              </a:lnSpc>
            </a:pPr>
            <a:r>
              <a:rPr sz="1100" b="0" i="0">
                <a:solidFill>
                  <a:srgbClr val="262626"/>
                </a:solidFill>
                <a:latin typeface="Yu Gothic"/>
              </a:rPr>
              <a:t>Power Automate licensing FAQ － Microsoft Learn</a:t>
            </a:r>
          </a:p>
          <a:p>
            <a:pPr algn="l">
              <a:lnSpc>
                <a:spcPct val="115000"/>
              </a:lnSpc>
            </a:pPr>
            <a:r>
              <a:rPr sz="1100" b="0" i="0">
                <a:solidFill>
                  <a:srgbClr val="262626"/>
                </a:solidFill>
                <a:latin typeface="Yu Gothic"/>
              </a:rPr>
              <a:t>learn.microsoft.com/power-platform/admin/power-automate-licensing/faqs</a:t>
            </a:r>
          </a:p>
        </p:txBody>
      </p:sp>
      <p:sp>
        <p:nvSpPr>
          <p:cNvPr id="28" name="TextBox 27"/>
          <p:cNvSpPr txBox="1"/>
          <p:nvPr/>
        </p:nvSpPr>
        <p:spPr>
          <a:xfrm>
            <a:off x="502920" y="6263640"/>
            <a:ext cx="11155680" cy="365760"/>
          </a:xfrm>
          <a:prstGeom prst="rect">
            <a:avLst/>
          </a:prstGeom>
          <a:noFill/>
        </p:spPr>
        <p:txBody>
          <a:bodyPr wrap="square" anchor="t" lIns="0" rIns="0" tIns="0" bIns="0">
            <a:spAutoFit/>
          </a:bodyPr>
          <a:lstStyle/>
          <a:p>
            <a:pPr algn="l">
              <a:lnSpc>
                <a:spcPct val="100000"/>
              </a:lnSpc>
            </a:pPr>
            <a:r>
              <a:rPr sz="1050" b="0" i="1">
                <a:solidFill>
                  <a:srgbClr val="6E6E6E"/>
                </a:solidFill>
                <a:latin typeface="Yu Gothic"/>
              </a:rPr>
              <a:t>※ 本資料はMicrosoft公式ドキュメントに基づき2026年7月時点の情報を整理したものです。設定前に最新情報をご確認ください。</a:t>
            </a:r>
          </a:p>
        </p:txBody>
      </p:sp>
      <p:sp>
        <p:nvSpPr>
          <p:cNvPr id="29" name="TextBox 28"/>
          <p:cNvSpPr txBox="1"/>
          <p:nvPr/>
        </p:nvSpPr>
        <p:spPr>
          <a:xfrm>
            <a:off x="502920" y="6565392"/>
            <a:ext cx="8229600" cy="274320"/>
          </a:xfrm>
          <a:prstGeom prst="rect">
            <a:avLst/>
          </a:prstGeom>
          <a:noFill/>
        </p:spPr>
        <p:txBody>
          <a:bodyPr wrap="square" anchor="t" lIns="0" rIns="0" tIns="0" bIns="0">
            <a:spAutoFit/>
          </a:bodyPr>
          <a:lstStyle/>
          <a:p>
            <a:pPr algn="l">
              <a:lnSpc>
                <a:spcPct val="100000"/>
              </a:lnSpc>
            </a:pPr>
            <a:r>
              <a:rPr sz="900" b="0" i="0">
                <a:solidFill>
                  <a:srgbClr val="6E6E6E"/>
                </a:solidFill>
                <a:latin typeface="Yu Gothic"/>
              </a:rPr>
              <a:t>Power Platform Default環境 統治 調査報告 ｜ Confidential</a:t>
            </a:r>
          </a:p>
        </p:txBody>
      </p:sp>
      <p:sp>
        <p:nvSpPr>
          <p:cNvPr id="30" name="TextBox 29"/>
          <p:cNvSpPr txBox="1"/>
          <p:nvPr/>
        </p:nvSpPr>
        <p:spPr>
          <a:xfrm>
            <a:off x="11338560" y="6565392"/>
            <a:ext cx="548640" cy="274320"/>
          </a:xfrm>
          <a:prstGeom prst="rect">
            <a:avLst/>
          </a:prstGeom>
          <a:noFill/>
        </p:spPr>
        <p:txBody>
          <a:bodyPr wrap="square" anchor="t" lIns="0" rIns="0" tIns="0" bIns="0">
            <a:spAutoFit/>
          </a:bodyPr>
          <a:lstStyle/>
          <a:p>
            <a:pPr algn="r">
              <a:lnSpc>
                <a:spcPct val="100000"/>
              </a:lnSpc>
            </a:pPr>
            <a:r>
              <a:rPr sz="900" b="0" i="0">
                <a:solidFill>
                  <a:srgbClr val="6E6E6E"/>
                </a:solidFill>
                <a:latin typeface="Yu Gothic"/>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