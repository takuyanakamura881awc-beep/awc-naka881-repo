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91695" cy="54864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9FB4D8"/>
                </a:solidFill>
                <a:latin typeface="Meiryo"/>
                <a:ea typeface="Meiryo"/>
                <a:cs typeface="Meiryo"/>
              </a:rPr>
              <a:t>Microsoft 365 モダンワークプレイス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移行・活用ガイド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2004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C9D3E4"/>
                </a:solidFill>
                <a:latin typeface="Meiryo"/>
                <a:ea typeface="Meiryo"/>
                <a:cs typeface="Meiryo"/>
              </a:rPr>
              <a:t>オンプレファイルサーバーから SharePoint Online 中心の推奨構成へ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794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FB4D8"/>
                </a:solidFill>
                <a:latin typeface="Meiryo"/>
                <a:ea typeface="Meiryo"/>
                <a:cs typeface="Meiryo"/>
              </a:rPr>
              <a:t>― フェーズ1〜4（基礎・セキュリティ・ガバナンス・活用）全量版 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9377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C9D3E4"/>
                </a:solidFill>
                <a:latin typeface="Meiryo"/>
                <a:ea typeface="Meiryo"/>
                <a:cs typeface="Meiryo"/>
              </a:rPr>
              <a:t>対象：従業員 100〜1,000 名／国内・日本語テナント／Microsoft 365 E3 主体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440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FB4D8"/>
                </a:solidFill>
                <a:latin typeface="Meiryo"/>
                <a:ea typeface="Meiryo"/>
                <a:cs typeface="Meiryo"/>
              </a:rPr>
              <a:t>版 1.0 ｜ 2026-07-15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本資料について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0879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目的：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M365 を活用し、脱ファイルサーバーと推奨構成への移行を段階的に進めるための汎用ガイド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対象読者：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情報システム／IT 担当（SharePoint 初学者にも配慮）。冒頭は意思決定者向け要約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前提：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従業員 100〜1,000 名・国内テナント・日本語・Microsoft 365 E3 主体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進め方：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一度に完璧を目指さず、フェーズ1→4 で段階的に成熟させる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出典：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各説明に Microsoft 公式ドキュメント等の出典番号〔S◯〕を付与（末尾に一覧）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617720"/>
            <a:ext cx="10908792" cy="1188720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 w="12700">
            <a:solidFill>
              <a:srgbClr val="274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727448"/>
            <a:ext cx="10506456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ライセンスの考え方　</a:t>
            </a:r>
            <a:r>
              <a:rPr sz="14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フェーズ1は概ね E3 の範囲で実現可能。フェーズ2以降は E5／Entra ID P2／SharePoint Advanced Management／Copilot 等の追加ライセンスを要する施策が増えます。各章に［E3標準］／［要追加ライセンス］を明示します。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目次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600200"/>
            <a:ext cx="4572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はじめに／エグゼクティブサマリ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9572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441448"/>
            <a:ext cx="4572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全体アーキテクチャと棲み分け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36976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282696"/>
            <a:ext cx="4572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サイトの種類と Teams の使い分け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7822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23944"/>
            <a:ext cx="4572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情報アーキテクチャとグループ・権限設計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91947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965192"/>
            <a:ext cx="4572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クラシック→モダン移行と移行ツール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55448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1600200"/>
            <a:ext cx="4572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フェーズ2：セキュリティ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39572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441448"/>
            <a:ext cx="4572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フェーズ3：ガバナンス・運用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236976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3282696"/>
            <a:ext cx="4572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フェーズ4：高度化・活用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07822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4123944"/>
            <a:ext cx="4572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導入ロードマップ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91947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90/99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4965192"/>
            <a:ext cx="4572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出典一覧・用語集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フェーズの全体像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63040"/>
            <a:ext cx="269748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1463040"/>
            <a:ext cx="2697480" cy="548640"/>
          </a:xfrm>
          <a:prstGeom prst="roundRect">
            <a:avLst>
              <a:gd name="adj" fmla="val 5000"/>
            </a:avLst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517904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176272"/>
            <a:ext cx="24048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基礎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834640"/>
            <a:ext cx="2331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構成・棲み分け・サイト選定・権限・移行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83864" y="1463040"/>
            <a:ext cx="269748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83864" y="1463040"/>
            <a:ext cx="2697480" cy="548640"/>
          </a:xfrm>
          <a:prstGeom prst="roundRect">
            <a:avLst>
              <a:gd name="adj" fmla="val 5000"/>
            </a:avLst>
          </a:prstGeom>
          <a:solidFill>
            <a:srgbClr val="3E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83864" y="1517904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0168" y="2176272"/>
            <a:ext cx="24048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セキュリティ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66744" y="2834640"/>
            <a:ext cx="2331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秘密度ラベル・DLP・監査・条件付きアクセス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1463040"/>
            <a:ext cx="269748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09360" y="1463040"/>
            <a:ext cx="2697480" cy="548640"/>
          </a:xfrm>
          <a:prstGeom prst="roundRect">
            <a:avLst>
              <a:gd name="adj" fmla="val 5000"/>
            </a:avLst>
          </a:prstGeom>
          <a:solidFill>
            <a:srgbClr val="4A7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1517904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Phase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2176272"/>
            <a:ext cx="24048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ガバナンス・運用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834640"/>
            <a:ext cx="2331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作成統制・ライフサイクル・棚卸し・体制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34856" y="1463040"/>
            <a:ext cx="269748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34856" y="1463040"/>
            <a:ext cx="2697480" cy="548640"/>
          </a:xfrm>
          <a:prstGeom prst="roundRect">
            <a:avLst>
              <a:gd name="adj" fmla="val 5000"/>
            </a:avLst>
          </a:prstGeom>
          <a:solidFill>
            <a:srgbClr val="8A5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4856" y="1517904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Phase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1160" y="2176272"/>
            <a:ext cx="24048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高度化・活用（任意）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7736" y="2834640"/>
            <a:ext cx="2331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Copilot・Power Platform 連携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709160"/>
            <a:ext cx="10908792" cy="1051560"/>
          </a:xfrm>
          <a:prstGeom prst="roundRect">
            <a:avLst>
              <a:gd name="adj" fmla="val 5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4818888"/>
            <a:ext cx="10506456" cy="8321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重要　</a:t>
            </a:r>
            <a:r>
              <a:rPr sz="13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フェーズ2以降は追加ライセンスを要する施策が増えます。まず E3 でできることから着手し、追加投資は段階的に判断してください。順番に進めるのが原則（フェーズ4 は任意）。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2540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9FB4D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基礎：構成・棲み分け・権限設計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7947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C9D3E4"/>
                </a:solidFill>
                <a:latin typeface="Meiryo"/>
                <a:ea typeface="Meiryo"/>
                <a:cs typeface="Meiryo"/>
              </a:rPr>
              <a:t>どこに何を置くか／サイトの選び方／グループ・権限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エグゼクティブサマリ①：課題と目指す姿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371600"/>
            <a:ext cx="10908792" cy="1508760"/>
          </a:xfrm>
          <a:prstGeom prst="roundRect">
            <a:avLst>
              <a:gd name="adj" fmla="val 5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1481328"/>
            <a:ext cx="105064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課題（オンプレファイルサーバー）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1828800"/>
            <a:ext cx="10451592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4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社外アクセス（VPN依存）・同時編集不可・検索性・事故耐性の弱さ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4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M365 契約済みなのに機能が重複＝二重投資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63240"/>
            <a:ext cx="10908792" cy="1600200"/>
          </a:xfrm>
          <a:prstGeom prst="roundRect">
            <a:avLst>
              <a:gd name="adj" fmla="val 5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72968"/>
            <a:ext cx="105064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目指す姿（Microsoft 推奨の棲み分け）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520440"/>
            <a:ext cx="1045159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4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個人＝OneDrive</a:t>
            </a:r>
            <a:r>
              <a:rPr sz="14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／</a:t>
            </a:r>
            <a:r>
              <a:rPr sz="14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チーム共有＝SharePoint チームサイト</a:t>
            </a:r>
            <a:r>
              <a:rPr sz="14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／</a:t>
            </a:r>
            <a:r>
              <a:rPr sz="14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全社発信＝コミュニケーションサイト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4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モダンでフラットな構成に移行し、アクセス性・検索性・共同編集・ガバナンスを底上げ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進め方：フェーズ1（基礎）→2（セキュリティ）→3（ガバナンス）→4（活用・任意）で段階的に成熟。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エグゼクティブサマリ②：フェーズ1の結論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08792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700"/>
              </a:spcAft>
            </a:pPr>
            <a:r>
              <a:rPr sz="17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7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① 棲み分けを先に決める：</a:t>
            </a:r>
            <a:r>
              <a:rPr sz="17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「どこに何を置くか」を全社で共有してから移行する</a:t>
            </a:r>
          </a:p>
          <a:p>
            <a:pPr>
              <a:lnSpc>
                <a:spcPct val="112000"/>
              </a:lnSpc>
              <a:spcAft>
                <a:spcPts val="1700"/>
              </a:spcAft>
            </a:pPr>
            <a:r>
              <a:rPr sz="17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7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② サイトは基本2択：</a:t>
            </a:r>
            <a:r>
              <a:rPr sz="17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Teams チーム か コミュニケーションサイト。クラシック・サブサイトは作らない</a:t>
            </a:r>
          </a:p>
          <a:p>
            <a:pPr>
              <a:lnSpc>
                <a:spcPct val="112000"/>
              </a:lnSpc>
              <a:spcAft>
                <a:spcPts val="1700"/>
              </a:spcAft>
            </a:pPr>
            <a:r>
              <a:rPr sz="17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7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③ 権限はグループで束ねる：</a:t>
            </a:r>
            <a:r>
              <a:rPr sz="17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個人単位で付けず、境界はサイトで切る</a:t>
            </a:r>
          </a:p>
          <a:p>
            <a:pPr>
              <a:lnSpc>
                <a:spcPct val="112000"/>
              </a:lnSpc>
              <a:spcAft>
                <a:spcPts val="1700"/>
              </a:spcAft>
            </a:pPr>
            <a:r>
              <a:rPr sz="17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7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④ 移行は影響調査を先に：</a:t>
            </a:r>
            <a:r>
              <a:rPr sz="17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無償の SPMT／Migration Manager を基本に、規模・要件で有償を検討</a:t>
            </a:r>
          </a:p>
          <a:p>
            <a:pPr>
              <a:lnSpc>
                <a:spcPct val="112000"/>
              </a:lnSpc>
              <a:spcAft>
                <a:spcPts val="1700"/>
              </a:spcAft>
            </a:pPr>
            <a:r>
              <a:rPr sz="17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7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フェーズ1 の内容は Microsoft 365 E3 の範囲でほぼ実現可能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なぜ今、脱ファイルサーバーなのか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371600"/>
          <a:ext cx="10908791" cy="3675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9934"/>
                <a:gridCol w="8508857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観点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オンプレファイルサーバーの課題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社外アクセス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VPN 依存でテレワーク・モバイルに不向き、集中による遅延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共同作業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同時編集できず「最新_v3_確定版」の重複・世代混乱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検索性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全文検索が弱く目的のファイルに辿り着けない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事故耐性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誤削除・上書きの復旧が運用頼み、ランサムの標的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権限管理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深いフォルダ＋個別 ACL で誰が何にアクセスできるか不透明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コスト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機器更改・保守の継続費用、M365 との二重投資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目指す姿：ファイルの置き場所を3つに整理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8</a:t>
            </a:r>
          </a:p>
        </p:txBody>
      </p:sp>
      <p:pic>
        <p:nvPicPr>
          <p:cNvPr id="10" name="Picture 9" descr="pl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537" y="1371600"/>
            <a:ext cx="6599878" cy="3108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4937760"/>
            <a:ext cx="109087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「個人＝OneDrive／チーム共有＝SharePoint チームサイト／全社発信＝コミュニケーションサイト」を全社の共通言語に。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各サービスの役割分担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371600"/>
          <a:ext cx="10908791" cy="32186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08989"/>
                <a:gridCol w="5018044"/>
                <a:gridCol w="2181758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サービス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主な役割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ひとこと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OneDrive for Business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個人の作業ファイル・下書き。共有はしても“貸す”感覚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自分の引き出し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SharePoint（チームサイト）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チーム・部門で共有し共同編集する正式なファイル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チームの書庫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SharePoint（コミュニケーション）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全社・部門へ広く発信・閲覧させる情報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社内Web・掲示板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Microsoft Teams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会話・会議を軸に上記と束ねる作業ハブ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チームの作業部屋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Planner / Lists / Loop / Forms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タスク・簡易DB・共同メモ・アンケート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専用道具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5029200"/>
            <a:ext cx="10908792" cy="868680"/>
          </a:xfrm>
          <a:prstGeom prst="roundRect">
            <a:avLst>
              <a:gd name="adj" fmla="val 5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5138928"/>
            <a:ext cx="10506456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補足：ファイルの実体はすべて SharePoint　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OneDrive も実体は「1人が所有者の SharePoint サイト」。Teams のファイルも裏の SharePoint に保存されます。違いは“所有者が組織か個人か”だけ。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どこに何を置くか（棲み分けの原則）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10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371600"/>
          <a:ext cx="10908792" cy="34564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4396"/>
                <a:gridCol w="5454396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情報の性質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置き場所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自分だけの下書き・一時ファイル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OneDrive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特定の相手に一時的に渡す個人ファイル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OneDrive（共有リンク）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チーム・部門で共同編集する業務ファイル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SharePoint チームサイト（多くは Teams 経由）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全社規程・ポータル・お知らせ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コミュニケーションサイト／ホームサイト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部門内の一部だけの機密ファイル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プライベートチャネル／専用サイト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社外パートナーと共同編集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共有チャネル／外部共有を許可した専用サイト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5074920"/>
            <a:ext cx="10908792" cy="777240"/>
          </a:xfrm>
          <a:prstGeom prst="roundRect">
            <a:avLst>
              <a:gd name="adj" fmla="val 5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5184648"/>
            <a:ext cx="10506456" cy="5577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アンチパターン　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OneDrive をチーム共有に使う（退職で消える）／巨大1サイトに詰め込む（権限複雑化）／深いフォルダをそのまま移植（モダンの利点を活かせない）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OneDrive と既知フォルダ移動（KFM）・外部共有の初期方針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371600"/>
            <a:ext cx="10908792" cy="1965960"/>
          </a:xfrm>
          <a:prstGeom prst="roundRect">
            <a:avLst>
              <a:gd name="adj" fmla="val 5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1481328"/>
            <a:ext cx="105064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OneDrive／KFM（Known Folder Move）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1828800"/>
            <a:ext cx="10451592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3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デスクトップ／ドキュメント／ピクチャを OneDrive へ自動同期・バックアップ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3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PC 故障・入替でも個人ファイルを失わない。ポリシーで一括有効化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3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KFM＝個人ファイルの保護。共有フォルダは SharePoint へ、と経路を分ける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520440"/>
            <a:ext cx="10908792" cy="1920240"/>
          </a:xfrm>
          <a:prstGeom prst="roundRect">
            <a:avLst>
              <a:gd name="adj" fmla="val 5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630168"/>
            <a:ext cx="105064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外部共有の基本方針（フェーズ1）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977640"/>
            <a:ext cx="1045159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3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テナントとサイトの二段構え。サイトはテナント上限を超えられない（厳しい方が適用）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3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初期はテナント既定を絞り（匿名リンクは原則オフ）、必要なサイトだけ緩める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3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厳格な統制はフェーズ2/3。まず“ザルにしない初期値”まで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SharePoint サイトの種類と選び方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371600"/>
          <a:ext cx="10908790" cy="29443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72637"/>
                <a:gridCol w="1745406"/>
                <a:gridCol w="3927165"/>
                <a:gridCol w="1963582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種類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M365グループ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主な用途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新規作成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チームサイト（グループ連携）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あり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チーム・部門の共同作業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◎ 標準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コミュニケーションサイト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なし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全社・部門への発信・閲覧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◎ 標準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ホームサイト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なし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全社の玄関口・公式ニュース源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○ 全社に1つ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チームサイト（グループなし）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なし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グループ連携が不要な共同作業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△ 限定的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クラシックサイト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–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旧来のUI・機能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✕ 作らない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5029200"/>
            <a:ext cx="10908792" cy="777240"/>
          </a:xfrm>
          <a:prstGeom prst="roundRect">
            <a:avLst>
              <a:gd name="adj" fmla="val 5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5138928"/>
            <a:ext cx="10506456" cy="5577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迷ったら　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少人数で編集し合う→チームサイト／多数に読ませる（編集は少数）→コミュニケーションサイト。ハブサイトは種類ではなく“束ね役”。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Teams チームの裏には SharePoint サイトがある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13</a:t>
            </a:r>
          </a:p>
        </p:txBody>
      </p:sp>
      <p:pic>
        <p:nvPicPr>
          <p:cNvPr id="10" name="Picture 9" descr="t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10908792" cy="265762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349240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標準チャネル＝親サイトのフォルダ／プライベート・共有チャネル＝別サイト（別サイトコレクション）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チャネルの種類と裏の SharePoint 構造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14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371600"/>
          <a:ext cx="10908789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45406"/>
                <a:gridCol w="3054461"/>
                <a:gridCol w="3272637"/>
                <a:gridCol w="2836285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チャネル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見える範囲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裏の SharePoint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用途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標準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チーム全員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親サイト内のフォルダ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通常の作業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プライベート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指定メンバーのみ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専用の別サイト（別コレクション）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一部だけの機微情報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共有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チーム＋招いた社外/他チーム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専用の別サイト（別コレクション）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社外・別部門と共同作業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4297680"/>
            <a:ext cx="10908792" cy="1097280"/>
          </a:xfrm>
          <a:prstGeom prst="roundRect">
            <a:avLst>
              <a:gd name="adj" fmla="val 5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407408"/>
            <a:ext cx="1050645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なぜ別サイトか　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標準チャネルは親サイトのフォルダ共有＝チーム全員が見える。一部限定・社外を含む場合は権限を分けるため独立サイトになる。プライベートチャネルの作りすぎは棚卸しを煩雑にするので注意。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判断フロー：Teams チーム vs 純サイト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15</a:t>
            </a:r>
          </a:p>
        </p:txBody>
      </p:sp>
      <p:pic>
        <p:nvPicPr>
          <p:cNvPr id="10" name="Picture 9" descr="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4581" y="1280160"/>
            <a:ext cx="3239789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判断の指針とよくある誤解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16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371600"/>
          <a:ext cx="5486400" cy="2743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01568"/>
                <a:gridCol w="2084832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状況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推奨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会話しながら共同作業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Teams チーム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全社に読ませるポータル・規程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コミュニケーションサイト単独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会話は不要だがリスト/Planner 共有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グループ連携チームサイト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既存チーム内の一部だけ機微情報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プライベートチャネル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社外・別部門と対等に共同作業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共有チャネル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309360" y="1371600"/>
          <a:ext cx="5239511" cy="22677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10175"/>
                <a:gridCol w="2829336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誤解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正しい理解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Teams のファイルは Teams 内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実体は裏の SharePoint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プライベートチャネル＝親の中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別サイト（別コレクション）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何でもチームサイトでよい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発信はコミュニケーションサイト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サブサイトで整理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フラット＋ハブ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情報アーキテクチャ：フラット＋ハブ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17</a:t>
            </a:r>
          </a:p>
        </p:txBody>
      </p:sp>
      <p:pic>
        <p:nvPicPr>
          <p:cNvPr id="10" name="Picture 9" descr="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7315200" cy="194076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1554480"/>
            <a:ext cx="33832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35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サブサイトを作らない</a:t>
            </a:r>
          </a:p>
          <a:p>
            <a:pPr lvl="1"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5A6270"/>
                </a:solidFill>
                <a:latin typeface="Meiryo"/>
                <a:ea typeface="Meiryo"/>
                <a:cs typeface="Meiryo"/>
              </a:rPr>
              <a:t>– </a:t>
            </a:r>
            <a:r>
              <a:rPr sz="135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組織変更に弱く権限も複雑化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35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各チームは独立サイトで平らに作る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35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ハブサイトで論理的に束ねる</a:t>
            </a:r>
          </a:p>
          <a:p>
            <a:pPr lvl="1"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5A6270"/>
                </a:solidFill>
                <a:latin typeface="Meiryo"/>
                <a:ea typeface="Meiryo"/>
                <a:cs typeface="Meiryo"/>
              </a:rPr>
              <a:t>– </a:t>
            </a:r>
            <a:r>
              <a:rPr sz="135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付け替え容易で組織変更に追随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35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分類はフォルダ→メタデータへ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フォルダ vs メタデータ／グループの種類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371600"/>
          <a:ext cx="10908792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4396"/>
                <a:gridCol w="5454396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従来（ファイルサーバー）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モダン（推奨）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深いフォルダ階層で分類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浅いフォルダ＋メタデータ（列）で分類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1つの分類軸のみ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年度・種別・顧客など複数軸で絞込・検索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移動すると場所が変わる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メタデータは場所を変えず再分類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520440"/>
          <a:ext cx="10908791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90813"/>
                <a:gridCol w="7417978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グループの種類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主な目的／使いどころ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Microsoft 365 グループ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共同作業。SharePoint・Teams・Planner 等が一式（チームの“場”）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セキュリティグループ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アクセス許可付与用の“人の束”。部署横断の権限付与に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配布リスト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メール一斉配信用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権限設計：ロールと3つの原則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19</a:t>
            </a:r>
          </a:p>
        </p:txBody>
      </p:sp>
      <p:pic>
        <p:nvPicPr>
          <p:cNvPr id="10" name="Picture 9" descr="pe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5435532" cy="2926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0" y="1508760"/>
            <a:ext cx="46634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35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① 権限は“個人”でなく“グループ”に</a:t>
            </a:r>
          </a:p>
          <a:p>
            <a:pPr lvl="1"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5A6270"/>
                </a:solidFill>
                <a:latin typeface="Meiryo"/>
                <a:ea typeface="Meiryo"/>
                <a:cs typeface="Meiryo"/>
              </a:rPr>
              <a:t>– </a:t>
            </a:r>
            <a:r>
              <a:rPr sz="135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異動・退職はグループ管理で吸収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35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② 権限の境界は“サイト”で切る</a:t>
            </a:r>
          </a:p>
          <a:p>
            <a:pPr lvl="1"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5A6270"/>
                </a:solidFill>
                <a:latin typeface="Meiryo"/>
                <a:ea typeface="Meiryo"/>
                <a:cs typeface="Meiryo"/>
              </a:rPr>
              <a:t>– </a:t>
            </a:r>
            <a:r>
              <a:rPr sz="135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一部限定は別サイト/プライベートチャネル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35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③ 権限の継承を壊さない</a:t>
            </a:r>
          </a:p>
          <a:p>
            <a:pPr lvl="1"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5A6270"/>
                </a:solidFill>
                <a:latin typeface="Meiryo"/>
                <a:ea typeface="Meiryo"/>
                <a:cs typeface="Meiryo"/>
              </a:rPr>
              <a:t>– </a:t>
            </a:r>
            <a:r>
              <a:rPr sz="135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フォルダ個別ACLは最後の手段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10908792" cy="822960"/>
          </a:xfrm>
          <a:prstGeom prst="roundRect">
            <a:avLst>
              <a:gd name="adj" fmla="val 5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184648"/>
            <a:ext cx="1050645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最大の要点　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所有者は必ず2名以上（退職・異動による孤児化を防ぐ）。コミュニケーションサイト等グループ非連携は SharePoint グループへ直接（推奨はセキュリティグループ）割り当て。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共有リンクの基礎と権限設計チェックリスト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20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371600"/>
          <a:ext cx="5486400" cy="1874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/>
                <a:gridCol w="1865376"/>
                <a:gridCol w="1426464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共有リンク種類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渡せる相手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フェーズ1既定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組織内のリンク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社内の誰でも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用途に応じ可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特定のユーザー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指定した人だけ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最も安全（既定推奨）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リンクを知っている全員（匿名）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社外含む誰でも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原則オフ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309360" y="1371600"/>
            <a:ext cx="5239512" cy="3474720"/>
          </a:xfrm>
          <a:prstGeom prst="roundRect">
            <a:avLst>
              <a:gd name="adj" fmla="val 5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1481328"/>
            <a:ext cx="48371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チェックリスト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1828800"/>
            <a:ext cx="4782312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所有者2名以上／権限はグループで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一部限定はサイト/チャネル分離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継承を維持・固有権限は最小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既定共有リンクは「特定のユーザー」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外部共有はテナント上限を絞る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サブサイト・深いフォルダを作らない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クラシックとモダンの違い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21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371600"/>
          <a:ext cx="10908790" cy="24323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45406"/>
                <a:gridCol w="4363516"/>
                <a:gridCol w="4799868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観点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クラシック体験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モダン体験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UI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旧来のツールバー中心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レスポンシブ・モバイル対応・Webパーツ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連携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単体サイト中心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M365グループ・Teams・ハブと連動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ページ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クラシックページ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モダンページ（セクション＋Webパーツ）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拡張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サーバーサイド/旧カスタマイズ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SPFx（SharePoint Framework）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4892040"/>
            <a:ext cx="10908792" cy="822960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 w="12700">
            <a:solidFill>
              <a:srgbClr val="274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5001768"/>
            <a:ext cx="1050645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方針　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Microsoft は即時「廃止」はしていないが、モダン体験への移行・変換を一貫して推奨。新規はモダンで作り、既存クラシックは計画的にモダン化。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移行前に必ず確認：廃止・非推奨の機能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22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371600"/>
          <a:ext cx="10908790" cy="24323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363516"/>
                <a:gridCol w="3708989"/>
                <a:gridCol w="2836285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機能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状況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移行先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SharePoint 2010 ワークフロー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廃止済み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Power Automate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SharePoint 2013 ワークフロー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2026年4月以降 順次削除中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Power Automate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InfoPath フォーム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2026年7月14日 サポート終了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Power Apps／Forms／Lists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クラシック Web パーツ／旧カスタマイズ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モダンで非対応が多い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SPFx／モダン部品／Power Platform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4892040"/>
            <a:ext cx="10908792" cy="914400"/>
          </a:xfrm>
          <a:prstGeom prst="roundRect">
            <a:avLst>
              <a:gd name="adj" fmla="val 5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5001768"/>
            <a:ext cx="10506456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最優先　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業務を回す 2013 ワークフロー・InfoPath は移行後に動かなくなる（2026年に到来済み）。「ファイルを移せば終わり」ではない。現行環境で何が動いているかの棚卸しを移行計画の最初に。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モダン化の進め方（選択肢）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23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371600"/>
          <a:ext cx="10908791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72637"/>
                <a:gridCol w="3708989"/>
                <a:gridCol w="3927165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アプローチ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向くケース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概要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作り直し（多くの場合・推奨）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構造を見直したい／クラシック依存が強い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モダンサイトを新設しコンテンツを移す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ページのモダン化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サイトは活かしページだけ古い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クラシックページをモダンページへ変換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段階的併存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一度に切り替えられない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モダン新設＋一定期間クラシック残置（恒久併存は避ける）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02920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移行を機に、旧来の深いフォルダ・独自権限を持ち込まず、棲み分け・フラット構造・グループ権限に再設計する。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移行ツール：無償（Microsoft 純正）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371600"/>
            <a:ext cx="10908792" cy="1920240"/>
          </a:xfrm>
          <a:prstGeom prst="roundRect">
            <a:avLst>
              <a:gd name="adj" fmla="val 5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1481328"/>
            <a:ext cx="105064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SharePoint Migration Tool（SPMT）― 無償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1828800"/>
            <a:ext cx="1045159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対応：ファイル共有、SharePoint Server 2010–2019 → SPO/OneDrive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メリット：無料、モダン構造へ変換可、メタデータ・履歴移行、CSV/JSON一括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デメリット：一元管理ダッシュボードがなく各ジョブを個別監視（大規模/多拠点は手間）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520440"/>
            <a:ext cx="10908792" cy="1920240"/>
          </a:xfrm>
          <a:prstGeom prst="roundRect">
            <a:avLst>
              <a:gd name="adj" fmla="val 5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630168"/>
            <a:ext cx="105064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Migration Manager（管理センター）― 無償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977640"/>
            <a:ext cx="1045159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対応：ファイル共有・オンプレSP・各種クラウド。エージェント型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メリット：複数エージェントで並列分散＋一元ダッシュボード。大規模の現実解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デメリット：権限マッピング等の柔軟性はサードパーティに劣る面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移行ツール：有償（第三者製）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25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371600"/>
          <a:ext cx="10908791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18110"/>
                <a:gridCol w="2836285"/>
                <a:gridCol w="5454396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ツール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費用（参考・変動）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主な強み／弱み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ShareGate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$5,995〜$17,995/年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高速・精緻な権限/メタデータ移行、UI良好／超大規模はバッチ分割前提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AvePoint Fly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非公開・要見積もり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高忠実度・大容量・ガバナンス機能／導入が複雑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Quest Content Matrix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非公開・要見積もり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複雑・大規模・ゼロダウンタイム／学習曲線が高い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4297680"/>
            <a:ext cx="10908792" cy="1097280"/>
          </a:xfrm>
          <a:prstGeom prst="roundRect">
            <a:avLst>
              <a:gd name="adj" fmla="val 5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407408"/>
            <a:ext cx="1050645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費用の注意　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有償ツールは変動が大きく多くが要見積もり。金額は調査時点の参考値。正式額は各ベンダー／国内代理店の見積もりで確認を。参考：Cloudiway／BitTitan もあり。Mover は Migration Manager に統合済み。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移行ツール選定の考え方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26</a:t>
            </a:r>
          </a:p>
        </p:txBody>
      </p:sp>
      <p:pic>
        <p:nvPicPr>
          <p:cNvPr id="10" name="Picture 9" descr="m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794" y="1371600"/>
            <a:ext cx="5129363" cy="38404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394960"/>
            <a:ext cx="10908792" cy="822960"/>
          </a:xfrm>
          <a:prstGeom prst="roundRect">
            <a:avLst>
              <a:gd name="adj" fmla="val 5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5504688"/>
            <a:ext cx="1050645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進め方　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「棚卸し→クレンジング→PoC→本移行」。まず無償ツールで小さく試す。不要データを削れば時間もライセンス費用も圧縮できる。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フェーズ1 まとめ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08792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棲み分けを先に決める：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個人=OneDrive／チーム共有=チームサイト／全社発信=コミュニケーションサイト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サイトは基本2択：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Teams チーム か コミュニケーションサイト。クラシック・サブサイトは作らない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権限はグループで：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個人直付けを避け、境界はサイトで切り、継承は壊さない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移行は影響調査を先に：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2013WF・InfoPath を棚卸し。無償の SPMT／Migration Manager を基本に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フェーズ1 は概ね E3 の範囲で実現可能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25400"/>
          </a:xfrm>
          <a:prstGeom prst="rect">
            <a:avLst/>
          </a:prstGeom>
          <a:solidFill>
            <a:srgbClr val="3E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9FB4D8"/>
                </a:solidFill>
                <a:latin typeface="Meiryo"/>
                <a:ea typeface="Meiryo"/>
                <a:cs typeface="Meiryo"/>
              </a:rPr>
              <a:t>Phase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セキュリティ：秘密度ラベル・監査・情報保護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7947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C9D3E4"/>
                </a:solidFill>
                <a:latin typeface="Meiryo"/>
                <a:ea typeface="Meiryo"/>
                <a:cs typeface="Meiryo"/>
              </a:rPr>
              <a:t>E3で今すぐ／追加ライセンスで拡張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フェーズ2 でできることの全体像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29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207008"/>
            <a:ext cx="1005840" cy="310896"/>
          </a:xfrm>
          <a:prstGeom prst="roundRect">
            <a:avLst>
              <a:gd name="adj" fmla="val 5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E3標準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9072" y="1207008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追加費用なし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1207008"/>
            <a:ext cx="1508760" cy="310896"/>
          </a:xfrm>
          <a:prstGeom prst="roundRect">
            <a:avLst>
              <a:gd name="adj" fmla="val 5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要追加ライセンス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207008"/>
            <a:ext cx="3108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別途の購入・契約が必要</a:t>
            </a:r>
          </a:p>
        </p:txBody>
      </p:sp>
      <p:pic>
        <p:nvPicPr>
          <p:cNvPr id="14" name="Picture 13" descr="p2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373" y="1737360"/>
            <a:ext cx="3726205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追加費用の要否ひとめ表（フェーズ2）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188720"/>
            <a:ext cx="1005840" cy="310896"/>
          </a:xfrm>
          <a:prstGeom prst="roundRect">
            <a:avLst>
              <a:gd name="adj" fmla="val 5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E3標準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9072" y="1188720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追加費用なし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1188720"/>
            <a:ext cx="1508760" cy="310896"/>
          </a:xfrm>
          <a:prstGeom prst="roundRect">
            <a:avLst>
              <a:gd name="adj" fmla="val 5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要追加ライセンス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188720"/>
            <a:ext cx="3108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別途の購入・契約が必要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1645920"/>
          <a:ext cx="10908791" cy="4480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27165"/>
                <a:gridCol w="4363516"/>
                <a:gridCol w="261811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機能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できること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追加費用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監査ログ（Standard・180日）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操作の記録を残し調査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秘密度ラベル（手動・暗号化）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ファイルに社外秘を付け守る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DLP（SPO/OneDrive/Exchange）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機微情報の外部共有をブロック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条件付きアクセス（基本）／MFA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入口を固める（Entra P1 内包）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保持（手動・場所ベース）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規程に沿って保持・自動削除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秘密度ラベルの自動付与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中身を判定し自動でラベル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要追加（E5）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DLP（Teamsチャット本文）／エンドポイントDLP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チャット・PC操作の制御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要追加（E5）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監査ログ Premium／保持の自動適用／eDiscovery Premium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長期保持・内容ベース自動化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要追加（E5系）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リスクベースCA／アクセスレビュー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動的制御・ゲスト自動棚卸し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要追加（E5＝P2）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情報保護の全体像：可視化→分類→保護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31</a:t>
            </a:r>
          </a:p>
        </p:txBody>
      </p:sp>
      <p:pic>
        <p:nvPicPr>
          <p:cNvPr id="10" name="Picture 9" descr="protec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10908792" cy="28948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475488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緩い制御から始めて反復的に精度を上げる。①可視化・②手動分類・③基本DLP までは E3 で着手可能。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秘密度ラベル：社外秘・極秘のタグ付け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325880"/>
            <a:ext cx="10908792" cy="914400"/>
          </a:xfrm>
          <a:prstGeom prst="roundRect">
            <a:avLst>
              <a:gd name="adj" fmla="val 5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1435608"/>
            <a:ext cx="10506456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ラベルと権限の違い　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権限＝“その置き場所に誰が入れるか”。秘密度ラベル＝“ファイル自体”に保護を付与し、持ち出し後も暗号化・制御が効き続ける。両者は補完関係。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423160"/>
          <a:ext cx="10908791" cy="2377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45406"/>
                <a:gridCol w="3708989"/>
                <a:gridCol w="5454396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ラベル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想定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保護の例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公開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対外公開してよい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保護なし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社内限り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社員なら閲覧可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外部共有を警告／制限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社外秘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部門・関係者限定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暗号化（社内限定）・外部共有ブロック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極秘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ごく一部の限定メンバー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強い暗号化・透かし・コピー/印刷/DL 制限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5074920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まず4段階前後・直感的な名称から。ラベルの削除・格下げ時に理由入力を必須にすると監査に有効。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手動/自動付与・コンテナラベル・DLP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33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371600"/>
          <a:ext cx="10908791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18110"/>
                <a:gridCol w="5454396"/>
                <a:gridCol w="2836285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方式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内容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ライセンス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手動付与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Office リボンから選択。暗号化も可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既定・必須ラベル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新規に既定設定・未ラベル保存を禁止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自動付与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内容を検知して自動でラベル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要追加（E5）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3108960"/>
            <a:ext cx="10908792" cy="1371600"/>
          </a:xfrm>
          <a:prstGeom prst="roundRect">
            <a:avLst>
              <a:gd name="adj" fmla="val 5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218688"/>
            <a:ext cx="105064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コンテナラベル（サイト/Teams/グループ）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66160"/>
            <a:ext cx="104515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プライバシー（公開/非公開）・外部共有可否・非管理デバイス制限を一括制御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フェーズ1で機密を別サイトに分けておくと、サイト単位でまとめて強く保護できる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663440"/>
            <a:ext cx="10908792" cy="822960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 w="12700">
            <a:solidFill>
              <a:srgbClr val="274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4773168"/>
            <a:ext cx="1050645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DLP（情報漏えい防止）　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SharePoint/OneDrive/Exchange のファイルは E3標準。Teams チャット本文・エンドポイント（PCのUSB等）は 要追加（E5）。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監査ログ・保持・eDiscovery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34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371600"/>
          <a:ext cx="10908791" cy="24140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81692"/>
                <a:gridCol w="3708989"/>
                <a:gridCol w="261811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種別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保持期間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ライセンス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監査 Standard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180 日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監査 Premium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1 年（アドオンで最大10年）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要追加（E5）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保持ポリシー/ラベル（手動・場所ベース）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規程に沿った保持・削除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保持の内容ベース自動適用／eDiscovery Premium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分類子・機微情報で自動化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要追加（E5系）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3977639"/>
            <a:ext cx="10908792" cy="868680"/>
          </a:xfrm>
          <a:prstGeom prst="roundRect">
            <a:avLst>
              <a:gd name="adj" fmla="val 5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087367"/>
            <a:ext cx="10506456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監査は最初に有効化　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監査ログは有効化した時点以降しか記録されない。インシデント後に過去は追えない。フェーズ2の最初に有効化を（保持期間・対象も確認）。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ID 保護：MFA・条件付きアクセス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35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371600"/>
          <a:ext cx="10908790" cy="2487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54461"/>
                <a:gridCol w="5018044"/>
                <a:gridCol w="2836285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施策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内容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ライセンス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セキュリティ既定値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MFA を全社一括で強制する最小構成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無償・全SKU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条件付きアクセス（基本）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社外はMFA必須・非管理デバイスは制限 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E3標準（Entra P1 内包）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リスクベース条件付きアクセス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サインイン/ユーザーリスクで動的制御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要追加（E5＝Entra P2）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アクセスレビュー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ゲスト・メンバーの定期棚卸し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要追加（E5相当＝Entra P2）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4023360"/>
            <a:ext cx="10908792" cy="914400"/>
          </a:xfrm>
          <a:prstGeom prst="roundRect">
            <a:avLst>
              <a:gd name="adj" fmla="val 5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133088"/>
            <a:ext cx="10506456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まず MFA を　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E3 には Entra P1 が含まれるので条件付きアクセスで柔軟な MFA・デバイス制御が可能（既定値とは併用不可）。ゲスト棚卸しの自動化（アクセスレビュー）は P2＝E5 相当が必要。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フェーズ2の進め方（①〜④は E3 で着手）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36</a:t>
            </a:r>
          </a:p>
        </p:txBody>
      </p:sp>
      <p:pic>
        <p:nvPicPr>
          <p:cNvPr id="10" name="Picture 9" descr="p2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049" y="1371600"/>
            <a:ext cx="1564854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要追加ライセンスとなる機能（E3では実施不可）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371600"/>
            <a:ext cx="10908792" cy="3017520"/>
          </a:xfrm>
          <a:prstGeom prst="roundRect">
            <a:avLst>
              <a:gd name="adj" fmla="val 5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645920"/>
            <a:ext cx="1024128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秘密度ラベルの自動付与（E5／E3＋E5 Compliance）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Teams チャット本文の DLP／エンドポイント DLP（E5）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監査ログ Premium（E5／E5 Compliance）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保持の内容ベース自動適用・eDiscovery Premium（E5 系）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リスクベース条件付きアクセス／アクセスレビュー（E5＝Entra ID P2）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63440"/>
            <a:ext cx="109087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補足：上位機能は原則、恩恵を受ける利用者側に上位ライセンスが必要（「管理者だけ E5」で済むとは限らない）。導入は追加ライセンス調達とセットで計画を。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フェーズ2 まとめ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10908792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まず E3 でできることから：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監査ログ有効化・MFA/条件付きアクセス・手動ラベル・基本DLP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秘密度ラベルは社外秘/極秘をファイル自体に付け、持ち出し後も保護（手動=E3／自動=E5）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監査ログは最初に有効化（記録は有効化以降のみ）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自動付与・Premium監査・Teams/エンドポイントDLP・アクセスレビューは要追加ライセンス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25400"/>
          </a:xfrm>
          <a:prstGeom prst="rect">
            <a:avLst/>
          </a:prstGeom>
          <a:solidFill>
            <a:srgbClr val="4A7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9FB4D8"/>
                </a:solidFill>
                <a:latin typeface="Meiryo"/>
                <a:ea typeface="Meiryo"/>
                <a:cs typeface="Meiryo"/>
              </a:rPr>
              <a:t>Phase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ガバナンス・運用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7947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C9D3E4"/>
                </a:solidFill>
                <a:latin typeface="Meiryo"/>
                <a:ea typeface="Meiryo"/>
                <a:cs typeface="Meiryo"/>
              </a:rPr>
              <a:t>作らせ方の統制／ライフサイクル／過剰共有の是正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フェーズ3 でできることの全体像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40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207008"/>
            <a:ext cx="1005840" cy="310896"/>
          </a:xfrm>
          <a:prstGeom prst="roundRect">
            <a:avLst>
              <a:gd name="adj" fmla="val 5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E3標準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9072" y="1207008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追加費用なし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1207008"/>
            <a:ext cx="1508760" cy="310896"/>
          </a:xfrm>
          <a:prstGeom prst="roundRect">
            <a:avLst>
              <a:gd name="adj" fmla="val 5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要追加ライセンス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207008"/>
            <a:ext cx="3108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別途の購入・契約が必要</a:t>
            </a:r>
          </a:p>
        </p:txBody>
      </p:sp>
      <p:pic>
        <p:nvPicPr>
          <p:cNvPr id="14" name="Picture 13" descr="p3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7667" y="1737360"/>
            <a:ext cx="3713617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追加費用の要否ひとめ表（フェーズ3）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188720"/>
            <a:ext cx="1005840" cy="310896"/>
          </a:xfrm>
          <a:prstGeom prst="roundRect">
            <a:avLst>
              <a:gd name="adj" fmla="val 5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E3標準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9072" y="1188720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追加費用なし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1188720"/>
            <a:ext cx="1508760" cy="310896"/>
          </a:xfrm>
          <a:prstGeom prst="roundRect">
            <a:avLst>
              <a:gd name="adj" fmla="val 5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要追加ライセンス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188720"/>
            <a:ext cx="3108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別途の購入・契約が必要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1645920"/>
          <a:ext cx="10908791" cy="4480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27165"/>
                <a:gridCol w="4363516"/>
                <a:gridCol w="261811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機能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できること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追加費用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作成・テンプレート／利用状況レポート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正しい構成で払い出す・見える化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作成できる人の制限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作れる人を情シス等に限定（Entra P1）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命名規則／グループ有効期限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名前ルール強制・未使用を自動失効（P1）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B2B ゲスト招待・基本の所有者管理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社外を招く・所有者設定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アクセスレビュー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ゲスト等を自動で定期棚卸し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要追加（E5＝P2）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データアクセスガバナンスレポート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過剰共有を検出・可視化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要追加（SAM）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非アクティブサイト／所有権ポリシー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放置検出・所有者不在を是正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要追加（SAM）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制限付きコンテンツ検出（RCD）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検索/Copilot から除外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要追加（SAM）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Microsoft 365 Archive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使わないサイトを低コスト保管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要追加（従量課金）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作らせ方の統制（乱立の防止）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42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371600"/>
          <a:ext cx="10908791" cy="19019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36285"/>
                <a:gridCol w="5454396"/>
                <a:gridCol w="261811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施策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内容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ライセンス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作成できる人の制限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作れる人を情シス・部門長等に限定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E3標準（Entra P1）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命名規則（名前付けポリシー）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接頭辞/接尾辞を強制・禁止語をブロック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E3標準（Entra P1）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申請・承認フロー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Power Automate 等で申請→承認→自動払い出し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3246120"/>
            <a:ext cx="10908792" cy="914400"/>
          </a:xfrm>
          <a:prstGeom prst="roundRect">
            <a:avLst>
              <a:gd name="adj" fmla="val 5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355848"/>
            <a:ext cx="10506456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「作成禁止」より「正しく作れる導線」を　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全面禁止は野良ツールへの回避を招く。申請すれば速やかに正しい構成のサイトが払い出される導線（テンプレート＋承認）が、統制と現場満足を両立する。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43400"/>
            <a:ext cx="10908792" cy="960120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 w="12700">
            <a:solidFill>
              <a:srgbClr val="274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453128"/>
            <a:ext cx="10506456" cy="7406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プロビジョニング標準化　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サイトデザイン/サイトスクリプト（標準）でライブラリ・列・権限・ナビを自動適用。PnP（OSS・公式サポート外）でより高度に。Power Automate で申請〜作成を自動化。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ライフサイクル管理（棚卸し・所有者・保管）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43</a:t>
            </a:r>
          </a:p>
        </p:txBody>
      </p:sp>
      <p:pic>
        <p:nvPicPr>
          <p:cNvPr id="10" name="Picture 9" descr="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10908792" cy="2462827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931920"/>
          <a:ext cx="10908791" cy="19568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199802"/>
                <a:gridCol w="3708989"/>
              </a:tblGrid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施策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ライセンス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グループ有効期限ポリシー（未使用を自動失効）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E3標準（Entra P1）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非アクティブサイトポリシー（放置を自動検出・通知）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要追加（SAM）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サイト所有権ポリシー（所有者要件を自動是正）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要追加（SAM）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Microsoft 365 Archive（低コスト保管）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要追加（従量課金）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所有者不在リスク・過剰共有の是正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325880"/>
            <a:ext cx="10908792" cy="1005840"/>
          </a:xfrm>
          <a:prstGeom prst="roundRect">
            <a:avLst>
              <a:gd name="adj" fmla="val 5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1435608"/>
            <a:ext cx="10506456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最大のリスクは所有者不在サイト　</a:t>
            </a:r>
            <a:r>
              <a:rPr sz="13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退職・異動で所有者がいなくなると権限変更もできず放置され最も危険。「所有者2名以上」を徹底。規模が大きければ SAM のサイト所有権ポリシーで自動検知・是正。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514600"/>
          <a:ext cx="10908791" cy="19019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08989"/>
                <a:gridCol w="4581692"/>
                <a:gridCol w="261811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施策（過剰共有の是正）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内容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ライセンス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データアクセスガバナンスレポート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過剰共有・機密コンテンツを検出・可視化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要追加（SAM）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制限付きアクセス制御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指定グループだけにサイトアクセスを限定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要追加（SAM）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制限付きコンテンツ検出（RCD）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対象サイトを検索/Copilot から除外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要追加（SAM）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40080" y="4343400"/>
            <a:ext cx="10908792" cy="822960"/>
          </a:xfrm>
          <a:prstGeom prst="roundRect">
            <a:avLst>
              <a:gd name="adj" fmla="val 5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453128"/>
            <a:ext cx="1050645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名前が似た2機能に注意　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RCD（Restricted Content Discovery）＝SAM（有償）。RSS（Restricted SharePoint Search・フェーズ4）＝無償。ライセンス帰属が真逆。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アクセスレビュー・可視化・運用体制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371600"/>
            <a:ext cx="10908792" cy="1828800"/>
          </a:xfrm>
          <a:prstGeom prst="roundRect">
            <a:avLst>
              <a:gd name="adj" fmla="val 5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1481328"/>
            <a:ext cx="105064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棚卸しと可視化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1828800"/>
            <a:ext cx="1045159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アクセスレビュー：ゲスト等を定期レビューし不要を自動削除（Entra P2）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B2B 招待自体は E3標準。自動棚卸しは P2/Governance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利用状況レポート（管理センター）は E3標準。まず現状を数字で把握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3383280"/>
          <a:ext cx="10908791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54461"/>
                <a:gridCol w="785433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役割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主な責務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ガバナンス・コアチーム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プロビジョニング・命名・外部共有・保持の全社方針を決定・維持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SharePoint／M365 管理者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テナント設定・テンプレート・レポート監視・ポリシー適用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サイト所有者（現場）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自サイトのメンバー・権限・コンテンツ管理（2名以上）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一般利用者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棲み分け・ラベル・共有ルールの遵守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フェーズ3 まとめ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08760"/>
            <a:ext cx="10908792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作らせ方の統制（作成制限・命名・有効期限）は E3標準で着手（Entra P1 内包）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ライフサイクル自動化（放置検出・所有権是正・過剰共有是正）は SAM（有償）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アクセスレビューは Entra P2、低コスト保管は M365 Archive（従量課金）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可視化（利用状況レポート）は E3標準で今すぐ。最大リスクは所有者不在サイト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運用体制：ガバナンス・コアチーム＋1枚のガイドラインを用意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25400"/>
          </a:xfrm>
          <a:prstGeom prst="rect">
            <a:avLst/>
          </a:prstGeom>
          <a:solidFill>
            <a:srgbClr val="8A5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9FB4D8"/>
                </a:solidFill>
                <a:latin typeface="Meiryo"/>
                <a:ea typeface="Meiryo"/>
                <a:cs typeface="Meiryo"/>
              </a:rPr>
              <a:t>Phase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高度化・活用（任意）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7947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C9D3E4"/>
                </a:solidFill>
                <a:latin typeface="Meiryo"/>
                <a:ea typeface="Meiryo"/>
                <a:cs typeface="Meiryo"/>
              </a:rPr>
              <a:t>Copilot／Power Platform ― 付属機能と追加課金を区別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フェーズ4 でできることの全体像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207008"/>
            <a:ext cx="1005840" cy="310896"/>
          </a:xfrm>
          <a:prstGeom prst="roundRect">
            <a:avLst>
              <a:gd name="adj" fmla="val 5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E3標準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9072" y="1207008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追加費用なし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1207008"/>
            <a:ext cx="1508760" cy="310896"/>
          </a:xfrm>
          <a:prstGeom prst="roundRect">
            <a:avLst>
              <a:gd name="adj" fmla="val 5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要追加ライセンス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207008"/>
            <a:ext cx="3108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別途の購入・契約が必要</a:t>
            </a:r>
          </a:p>
        </p:txBody>
      </p:sp>
      <p:pic>
        <p:nvPicPr>
          <p:cNvPr id="14" name="Picture 13" descr="p4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877" y="1737360"/>
            <a:ext cx="4061197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追加費用の要否ひとめ表（フェーズ4）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49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188720"/>
            <a:ext cx="1005840" cy="310896"/>
          </a:xfrm>
          <a:prstGeom prst="roundRect">
            <a:avLst>
              <a:gd name="adj" fmla="val 5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E3標準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9072" y="1188720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追加費用なし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1188720"/>
            <a:ext cx="1508760" cy="310896"/>
          </a:xfrm>
          <a:prstGeom prst="roundRect">
            <a:avLst>
              <a:gd name="adj" fmla="val 5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要追加ライセンス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188720"/>
            <a:ext cx="3108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別途の購入・契約が必要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1645920"/>
          <a:ext cx="10908791" cy="4480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08989"/>
                <a:gridCol w="4581692"/>
                <a:gridCol w="261811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機能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できること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追加費用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Lists / Forms / Loop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簡易DB・アンケート・共同編集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Viva Connections（基本）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ポータルを従業員ダッシュボード化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Power Automate（標準コネクタ）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承認・通知・転記の自動化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Power Apps（Basic）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SharePoint リスト連携アプリ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Restricted SharePoint Search（RSS）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Copilot の参照範囲を一時的に限定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Microsoft 365 Copilot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社内知識を AI で検索・要約・生成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要追加（Copilot）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Power Automate/Apps（Premium）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基幹系連携・本格アプリ展開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要追加（Premium）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Power BI（レポート作成・公開）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データをグラフ化・共有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要追加（Power BI Pro）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過剰共有の恒久是正（RCD 等）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Copilot 前の是正を自動化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要追加（SAM）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Copilot は「過剰共有」をそのまま映す鏡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50</a:t>
            </a:r>
          </a:p>
        </p:txBody>
      </p:sp>
      <p:pic>
        <p:nvPicPr>
          <p:cNvPr id="10" name="Picture 9" descr="copi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0904" y="1371600"/>
            <a:ext cx="5167143" cy="26517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4297680"/>
            <a:ext cx="10908792" cy="1097280"/>
          </a:xfrm>
          <a:prstGeom prst="roundRect">
            <a:avLst>
              <a:gd name="adj" fmla="val 5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407408"/>
            <a:ext cx="1050645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最重要　</a:t>
            </a:r>
            <a:r>
              <a:rPr sz="14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Copilot はユーザーがアクセスできる情報を答える。放置された過剰共有はそのまま引き出される。フェーズ1〜3（権限整理・ラベル・過剰共有是正）が導入の前提。地ならしが成否を決める。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Copilot 導入前チェックと是正手段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51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371600"/>
            <a:ext cx="10908792" cy="1828800"/>
          </a:xfrm>
          <a:prstGeom prst="roundRect">
            <a:avLst>
              <a:gd name="adj" fmla="val 5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1481328"/>
            <a:ext cx="105064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導入前チェック（フェーズ1〜3の総仕上げ）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1828800"/>
            <a:ext cx="1045159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権限がサイト単位で整理され、過剰共有が是正されているか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機密情報に秘密度ラベルが付き、暗号化文書は権限がないと参照されないか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Copilot は権限・ラベルに準拠して Graph 経由で参照（権限昇格なし）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3383280"/>
          <a:ext cx="10908790" cy="15727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54461"/>
                <a:gridCol w="5018044"/>
                <a:gridCol w="2836285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機能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役割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ライセンス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Restricted SharePoint Search（RSS）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是正が済むまで参照範囲を許可リストに限定（最大100サイト）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E3標準（無償・全テナント）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SharePoint Advanced Management（SAM）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過剰共有の恒久的是正・データアクセスガバナンス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要追加（SAM・一部Copilot付帯）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Power Platform：自動化・アプリ・BI・ガバナンス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08792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Power Automate：</a:t>
            </a:r>
            <a:r>
              <a:rPr sz="15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承認・通知・転記を自動化。標準コネクタは E3標準／基幹系・大規模は Premium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Power Apps：</a:t>
            </a:r>
            <a:r>
              <a:rPr sz="15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SharePoint リストから業務アプリ（InfoPath 後継）。Basic は付属／フルは Premium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Power BI：</a:t>
            </a:r>
            <a:r>
              <a:rPr sz="15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SharePoint データをグラフ化しページに埋め込み。作成・公開は Power BI Pro 以上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ガバナンス：</a:t>
            </a:r>
            <a:r>
              <a:rPr sz="15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環境の分離＋Power Platform 用 DLP で野良アプリ/フローを抑止（フェーズ3の考え方）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663440"/>
            <a:ext cx="10908792" cy="914400"/>
          </a:xfrm>
          <a:prstGeom prst="roundRect">
            <a:avLst>
              <a:gd name="adj" fmla="val 5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773168"/>
            <a:ext cx="10506456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まず付属機能で成功体験を　</a:t>
            </a:r>
            <a:r>
              <a:rPr sz="13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Lists／Forms／標準 Power Automate で「紙・Excel 台帳・メール申請」を置き換えると追加費用ゼロで効果を出せる。ここで得た型が後の Premium 投資判断の材料に。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付属機能で今すぐできる高度化・ユースケース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53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371600"/>
          <a:ext cx="6035039" cy="22677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89811"/>
                <a:gridCol w="2655417"/>
                <a:gridCol w="1689811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機能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用途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ライセンス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Microsoft Lists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簡易DB（案件・在庫・問い合わせ管理）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Microsoft Forms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アンケート・申請の入力受付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Loop コンポーネント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Teams/Outlook/SharePoint 間の共同編集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Viva Connections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ポータルを従業員ダッシュボードに統合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E3標準（一部拡張は要確認）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858000" y="1371600"/>
            <a:ext cx="4690872" cy="3474720"/>
          </a:xfrm>
          <a:prstGeom prst="roundRect">
            <a:avLst>
              <a:gd name="adj" fmla="val 5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59168" y="1481328"/>
            <a:ext cx="42885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ユースケース例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4032" y="1828800"/>
            <a:ext cx="4233672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稟議・申請承認：Forms→Power Automate→Lists 台帳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文書の版・承認管理：ライブラリ＋承認フロー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社内ナレッジ検索：Copilot（権限・ラベル準拠）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部門ダッシュボード：Lists＋Power BI 埋め込み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フェーズ4 まとめ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8440" y="274320"/>
            <a:ext cx="1371600" cy="384048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10908792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フェーズ4 は任意・追加投資。主役（Copilot／Premium）は E3 に含まれない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Copilot は過剰共有をそのまま映す。フェーズ1〜3が導入前提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付属機能（Lists／Forms／Loop／標準 Power Automate／RSS）は追加費用ゼロ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まず付属機能で紙・Excel・メール申請を置き換え、成功体験を作る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Power Platform 拡大時は環境分離・DLP でガバナンスを適用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導入ロードマップ（全体像）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55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37360"/>
            <a:ext cx="269748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459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1737360"/>
            <a:ext cx="2697480" cy="868680"/>
          </a:xfrm>
          <a:prstGeom prst="roundRect">
            <a:avLst>
              <a:gd name="adj" fmla="val 5000"/>
            </a:avLst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82880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STEP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176272"/>
            <a:ext cx="2697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基礎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2788920"/>
            <a:ext cx="23317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棲み分け合意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サイト設計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権限・移行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（E3の範囲）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834640"/>
            <a:ext cx="27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3008" y="1737360"/>
            <a:ext cx="269748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E6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93008" y="1737360"/>
            <a:ext cx="2697480" cy="868680"/>
          </a:xfrm>
          <a:prstGeom prst="roundRect">
            <a:avLst>
              <a:gd name="adj" fmla="val 5000"/>
            </a:avLst>
          </a:prstGeom>
          <a:solidFill>
            <a:srgbClr val="3E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182880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STEP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176272"/>
            <a:ext cx="2697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セキュリティ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94176" y="2788920"/>
            <a:ext cx="23317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監査有効化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MFA/CA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手動ラベル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（一部E5）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2834640"/>
            <a:ext cx="27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3E6B8C"/>
                </a:solidFill>
                <a:latin typeface="Meiryo"/>
                <a:ea typeface="Meiryo"/>
                <a:cs typeface="Meiryo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1737360"/>
            <a:ext cx="269748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4A77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27648" y="1737360"/>
            <a:ext cx="2697480" cy="868680"/>
          </a:xfrm>
          <a:prstGeom prst="roundRect">
            <a:avLst>
              <a:gd name="adj" fmla="val 5000"/>
            </a:avLst>
          </a:prstGeom>
          <a:solidFill>
            <a:srgbClr val="4A7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182880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STEP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2176272"/>
            <a:ext cx="2697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ガバナンス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28816" y="2788920"/>
            <a:ext cx="23317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作成統制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棚卸し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過剰共有是正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（一部SAM/P2）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2834640"/>
            <a:ext cx="27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4A775C"/>
                </a:solidFill>
                <a:latin typeface="Meiryo"/>
                <a:ea typeface="Meiryo"/>
                <a:cs typeface="Meiryo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62288" y="1737360"/>
            <a:ext cx="269748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62288" y="1737360"/>
            <a:ext cx="2697480" cy="868680"/>
          </a:xfrm>
          <a:prstGeom prst="roundRect">
            <a:avLst>
              <a:gd name="adj" fmla="val 5000"/>
            </a:avLst>
          </a:prstGeom>
          <a:solidFill>
            <a:srgbClr val="8A5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62288" y="182880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STEP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62288" y="2176272"/>
            <a:ext cx="2697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活用（任意）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63456" y="2788920"/>
            <a:ext cx="23317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付属機能で自動化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Copilot 前提整備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（Copilot/Premium）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502920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まず E3 でできることを着実に。追加ライセンス（E5／Entra P2／SAM／Copilot）は費用対効果を見て段階導入。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用語集（1/2）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56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71600"/>
          <a:ext cx="10908791" cy="4800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36285"/>
                <a:gridCol w="8072506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用語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説明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SharePoint Online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M365 のファイル・情報共有基盤。サイト単位で管理。ファイル系の土台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OneDrive for Business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個人用ファイル置き場。実体は1人所有の SharePoint サイト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チームサイト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共同編集用サイト。多くは M365 グループ／Teams と連携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コミュニケーションサイト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少数が編集・多数が閲覧する発信用サイト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ホームサイト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全社の玄関口となる特別なコミュニケーションサイト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ハブサイト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複数サイトを横串で束ねる役割（種類ではない）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M365 グループ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SharePoint・Teams・Planner 等を一式結びつける会員名簿＋設備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標準/プライベート/共有チャネル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裏のSharePoint：標準=親のフォルダ／他=別サイト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権限の継承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サイト→ライブラリ→ファイルへ権限が引き継がれる仕組み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KFM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既知フォルダ移動。デスクトップ等を OneDrive へ自動保護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用語集（2/2）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57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71600"/>
          <a:ext cx="10908791" cy="4800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36285"/>
                <a:gridCol w="8072506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用語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説明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秘密度ラベル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社外秘/極秘等を付与し暗号化・制御。手動=E3／自動=E5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DLP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機微情報の外部流出を検知・防止。SPO/OneDrive/Exchange=E3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監査ログ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操作の記録。Standard=E3・180日／Premium=E5・1年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条件付きアクセス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MFA・デバイス条件で制御。基本=Entra P1（E3内包）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Entra ID P1 / P2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ID 上位ライセンス。P1=E3内包／P2=E5相当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SharePoint Advanced Management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過剰共有是正・ライフサイクル等の有償アドオン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Microsoft 365 Archive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非アクティブサイトの低コスト保管（従量課金）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過剰共有(oversharing)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誰でも見られる放置状態。Copilot 導入前に是正が必須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Microsoft 365 Copilot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権限内の情報を横断活用する AI。E3 とは別の追加ライセンス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SPMT / Migration Manager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無償の移行ツール（後者はエージェント並列・一元管理）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出典一覧（1/2）：フェーズ1〜2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58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5486400" cy="44951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77824"/>
                <a:gridCol w="4608576"/>
              </a:tblGrid>
              <a:tr h="31089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説明対象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ファイル共有→SPO/OneDrive 移行・棲み分け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S2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OneDrive 既知フォルダ移動（KFM）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チーム vs コミュニケーションサイト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S4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ホームサイト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ハブサイト／フラット構造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S6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M365 グループ連携サイト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Teams で SP サイト自動生成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S8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標準/プライベート/共有チャネル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S9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権限レベル・継承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S10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グループの種類の比較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S11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外部共有設定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S12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クラシック→モダン化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S13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2013WF・InfoPath 廃止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09360" y="1325880"/>
          <a:ext cx="5239511" cy="44951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43112"/>
                <a:gridCol w="4296399"/>
              </a:tblGrid>
              <a:tr h="31089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説明対象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S14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SharePoint Migration Tool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S15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Migration Manager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S16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ガバナンス・導入計画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S17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秘密度ラベル概要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S18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手動付与（E3）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S19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自動付与（E5）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S20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コンテナラベル・デバイス制御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S21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既定・必須ラベル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S22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DLP（Teams本文=E5）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S23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エンドポイント DLP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S24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監査 Standard/Premium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S25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保持・eDiscovery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S26〜S29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外部共有厳格化・CA・アクセスレビュー・導入順序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6126480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※ 各出典の URL は HTML／Markdown 版の「出典一覧」を参照。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出典一覧（2/2）：フェーズ3〜4・ベンダー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59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5486400" cy="44951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77824"/>
                <a:gridCol w="4608576"/>
              </a:tblGrid>
              <a:tr h="31089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説明対象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S30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グループ作成制御（P1）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S31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名前付けポリシー（P1）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S32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有効期限ポリシー（P1）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S33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プロビジョニング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S34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SharePoint Advanced Management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S35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データアクセスガバナンス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S36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非アクティブサイト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S37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制限付きアクセス/RCD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S38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サイト所有権ポリシー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S39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Microsoft 365 Archive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S40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アクセスレビュー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S41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利用状況レポート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S42／S43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ゲストB2B／ガバナンス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09360" y="1325880"/>
          <a:ext cx="5239511" cy="44951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43112"/>
                <a:gridCol w="4296399"/>
              </a:tblGrid>
              <a:tr h="31089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説明対象</a:t>
                      </a:r>
                    </a:p>
                  </a:txBody>
                  <a:tcPr marL="64008" marR="45720" marT="13716" marB="13716" anchor="ctr">
                    <a:solidFill>
                      <a:srgbClr val="345995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S44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Copilot 概要・ライセンス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S45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Copilot 過剰共有対策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S46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Restricted SP Search／SAM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S47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Copilot コンテンツ参照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S48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Power Automate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S49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Power Apps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S50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Power BI 連携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S51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Power Platform ガバナンス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S52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Lists/Forms/Loop/Viva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S53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業務自動化ユースケース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V1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ShareGate（料金）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V2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AvePoint</a:t>
                      </a:r>
                    </a:p>
                  </a:txBody>
                  <a:tcPr marL="64008" marR="45720" marT="13716" marB="13716" anchor="ctr">
                    <a:solidFill>
                      <a:srgbClr val="F8F7F4"/>
                    </a:solidFill>
                  </a:tcPr>
                </a:tc>
              </a:tr>
              <a:tr h="32186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V3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Quest Content Matrix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6126480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※ 各出典の URL は HTML／Markdown 版の「出典一覧」を参照。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免責・ご確認事項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0908792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5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出典：</a:t>
            </a:r>
            <a:r>
              <a:rPr sz="15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各説明は Microsoft 公式ドキュメント（learn.microsoft.com 等）に基づく。移行ツール費用は各ベンダー公式（要見積もり）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5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ライセンス：</a:t>
            </a:r>
            <a:r>
              <a:rPr sz="15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E3／E5／E5 Compliance／Entra ID P1・P2／SharePoint Advanced Management／Copilot 等の切り分けは一般公開情報に基づく整理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5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免責：</a:t>
            </a:r>
            <a:r>
              <a:rPr sz="15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機能・画面・ライセンス条件・価格は変更されることがあります。実装前に最新の一次情報で必ずご確認ください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5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本デックの位置づけ：</a:t>
            </a:r>
            <a:r>
              <a:rPr sz="15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HTML／Markdown 版と同等の全量を収録。最新の詳細・全 URL は HTML 版を参照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