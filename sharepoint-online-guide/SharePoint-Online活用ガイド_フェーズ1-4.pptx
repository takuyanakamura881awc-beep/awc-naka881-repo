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84"/>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Lst>
  <p:sldSz cx="13439775" cy="7559675"/>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6FA6F713-009B-4F03-8CAB-6188FCBE72DD}">
          <p14:sldIdLst>
            <p14:sldId id="2147483568"/>
            <p14:sldId id="2147483559"/>
            <p14:sldId id="2147483561"/>
            <p14:sldId id="2147483560"/>
            <p14:sldId id="2147483641"/>
            <p14:sldId id="2147483397"/>
            <p14:sldId id="2147483463"/>
            <p14:sldId id="2147483400"/>
            <p14:sldId id="288"/>
            <p14:sldId id="289"/>
            <p14:sldId id="262"/>
            <p14:sldId id="263"/>
            <p14:sldId id="264"/>
            <p14:sldId id="265"/>
            <p14:sldId id="266"/>
            <p14:sldId id="2147479149"/>
            <p14:sldId id="2147483417"/>
          </p14:sldIdLst>
        </p14:section>
        <p14:section name="サンプルフロー(キーワードでTeams通知)" id="{6F0B52DB-EC09-4907-BC3B-0D2BF75E8E92}">
          <p14:sldIdLst>
            <p14:sldId id="2147483514"/>
            <p14:sldId id="2147483433"/>
            <p14:sldId id="2147483531"/>
            <p14:sldId id="257"/>
            <p14:sldId id="256"/>
            <p14:sldId id="2147483646"/>
            <p14:sldId id="2147483645"/>
            <p14:sldId id="2147483647"/>
          </p14:sldIdLst>
        </p14:section>
        <p14:section name="サンプルフロー(添付ファイルの保存)" id="{C67CF426-158F-46C2-A0FC-02BDB7A9FB2A}">
          <p14:sldIdLst>
            <p14:sldId id="268"/>
            <p14:sldId id="267"/>
            <p14:sldId id="269"/>
            <p14:sldId id="2147483535"/>
            <p14:sldId id="258"/>
            <p14:sldId id="2147483532"/>
            <p14:sldId id="271"/>
            <p14:sldId id="2147483534"/>
            <p14:sldId id="2147483536"/>
            <p14:sldId id="2147483538"/>
            <p14:sldId id="2147483537"/>
            <p14:sldId id="2147483539"/>
          </p14:sldIdLst>
        </p14:section>
        <p14:section name="タイトルなしのセクション" id="{FA25AF74-8F77-43E6-838A-E192941C5291}">
          <p14:sldIdLst>
            <p14:sldId id="2147483556"/>
            <p14:sldId id="2147483557"/>
            <p14:sldId id="285"/>
            <p14:sldId id="2147483523"/>
            <p14:sldId id="2147483497"/>
            <p14:sldId id="259"/>
            <p14:sldId id="2147483524"/>
            <p14:sldId id="286"/>
            <p14:sldId id="2147483504"/>
            <p14:sldId id="2147483505"/>
            <p14:sldId id="2147483506"/>
            <p14:sldId id="2147483507"/>
            <p14:sldId id="2147483508"/>
            <p14:sldId id="2147483498"/>
            <p14:sldId id="2147483435"/>
            <p14:sldId id="2147483644"/>
            <p14:sldId id="270"/>
            <p14:sldId id="2147483529"/>
            <p14:sldId id="272"/>
            <p14:sldId id="274"/>
            <p14:sldId id="275"/>
            <p14:sldId id="276"/>
            <p14:sldId id="277"/>
            <p14:sldId id="278"/>
            <p14:sldId id="2147483540"/>
            <p14:sldId id="279"/>
            <p14:sldId id="280"/>
            <p14:sldId id="281"/>
            <p14:sldId id="282"/>
            <p14:sldId id="283"/>
            <p14:sldId id="2147483541"/>
            <p14:sldId id="2147483542"/>
            <p14:sldId id="2147483562"/>
            <p14:sldId id="260"/>
            <p14:sldId id="2147483515"/>
            <p14:sldId id="2147483642"/>
            <p14:sldId id="287"/>
            <p14:sldId id="2147483543"/>
            <p14:sldId id="2147483545"/>
            <p14:sldId id="2147483414"/>
            <p14:sldId id="2147483637"/>
            <p14:sldId id="2147483591"/>
          </p14:sldIdLst>
        </p14:section>
      </p14:sectionLst>
    </p:ext>
    <p:ext uri="{EFAFB233-063F-42B5-8137-9DF3F51BA10A}">
      <p15:sldGuideLst xmlns:p15="http://schemas.microsoft.com/office/powerpoint/2012/main">
        <p15:guide id="1" orient="horz" pos="2336" userDrawn="1">
          <p15:clr>
            <a:srgbClr val="A4A3A4"/>
          </p15:clr>
        </p15:guide>
        <p15:guide id="2" pos="423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3B4266-0FF5-64F0-FA58-A1F23455564B}" name="久保田郁哉" initials="久保田郁哉" userId="久保田郁哉" providerId="None"/>
  <p188:author id="{AC273978-33BA-87E9-9480-1FB84D67A3AD}" name="morita akiko" initials="ma" userId="S::morita.akiko@lowcode.co.jp::90408e21-7a02-4982-95a6-6840885cf3c6" providerId="AD"/>
  <p188:author id="{693EB579-ACED-138A-227B-18475408DB58}" name="suekane risa" initials="sr" userId="S::suekane.risa@lowcode.co.jp::6671a883-47e3-4867-b7b0-f7d2778060b3" providerId="AD"/>
  <p188:author id="{1ACAB0C1-B804-A4F7-FCCE-6DE1D8EF8214}" name="katayama sho" initials="sk" userId="S::katayama.sho@lowcode.co.jp::49ea1565-1ae6-4500-a7e8-783af7c77e30" providerId="AD"/>
  <p188:author id="{AF25C1DD-6706-C995-6EE9-0E9A01E29D77}" name="aoki koichi" initials="晃青" userId="S::aoki.koichi@lowcode.co.jp::00b14e93-8605-4462-b61b-52d4818a892a" providerId="AD"/>
  <p188:author id="{B18043FF-2C97-01B7-4E1D-147ADA62DAAE}" name="shibata mari" initials="ms" userId="S::shibata.mari@lowcode.co.jp::3f1d3d7e-bb9c-4d8e-a4ec-49da71ed2c5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6CF"/>
    <a:srgbClr val="0674BA"/>
    <a:srgbClr val="403DAE"/>
    <a:srgbClr val="BF6900"/>
    <a:srgbClr val="1356CF"/>
    <a:srgbClr val="AA399E"/>
    <a:srgbClr val="D1F2DE"/>
    <a:srgbClr val="ED8670"/>
    <a:srgbClr val="2F2E41"/>
    <a:srgbClr val="0FA4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5FB36F-E0EA-7BCA-5154-982983B7251B}" v="1" dt="2026-07-16T04:13:22.96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テーマ スタイル 1 - アクセント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830" y="48"/>
      </p:cViewPr>
      <p:guideLst>
        <p:guide orient="horz" pos="2336"/>
        <p:guide pos="423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8" Type="http://schemas.openxmlformats.org/officeDocument/2006/relationships/slide" Target="slides/slide56.xml"/><Relationship Id="rId69" Type="http://schemas.openxmlformats.org/officeDocument/2006/relationships/slide" Target="slides/slide57.xml"/><Relationship Id="rId70" Type="http://schemas.openxmlformats.org/officeDocument/2006/relationships/slide" Target="slides/slide58.xml"/><Relationship Id="rId71" Type="http://schemas.openxmlformats.org/officeDocument/2006/relationships/slide" Target="slides/slide59.xml"/><Relationship Id="rId72" Type="http://schemas.openxmlformats.org/officeDocument/2006/relationships/slide" Target="slides/slide60.xml"/><Relationship Id="rId73" Type="http://schemas.openxmlformats.org/officeDocument/2006/relationships/slide" Target="slides/slide61.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 Id="rId89" Type="http://schemas.microsoft.com/office/2016/11/relationships/changesInfo" Target="changesInfos/changesInfo1.xml"/><Relationship Id="rId90" Type="http://schemas.microsoft.com/office/2015/10/relationships/revisionInfo" Target="revisionInfo.xml"/><Relationship Id="rId91"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伊東 千尋" userId="S::cito_cardnet.co.jp#ext#@lowcodecojp.onmicrosoft.com::35527b19-bb60-4cbd-88f7-e76b000149f9" providerId="AD" clId="Web-{57454AF4-2F33-0E2D-9E96-DB343DC314AF}"/>
    <pc:docChg chg="modSld sldOrd">
      <pc:chgData name="伊東 千尋" userId="S::cito_cardnet.co.jp#ext#@lowcodecojp.onmicrosoft.com::35527b19-bb60-4cbd-88f7-e76b000149f9" providerId="AD" clId="Web-{57454AF4-2F33-0E2D-9E96-DB343DC314AF}" dt="2026-07-09T10:58:32.053" v="3"/>
      <pc:docMkLst>
        <pc:docMk/>
      </pc:docMkLst>
      <pc:sldChg chg="modSp">
        <pc:chgData name="伊東 千尋" userId="S::cito_cardnet.co.jp#ext#@lowcodecojp.onmicrosoft.com::35527b19-bb60-4cbd-88f7-e76b000149f9" providerId="AD" clId="Web-{57454AF4-2F33-0E2D-9E96-DB343DC314AF}" dt="2026-07-09T10:52:43.181" v="1" actId="1076"/>
        <pc:sldMkLst>
          <pc:docMk/>
          <pc:sldMk cId="4195799110" sldId="273"/>
        </pc:sldMkLst>
        <pc:spChg chg="mod">
          <ac:chgData name="伊東 千尋" userId="S::cito_cardnet.co.jp#ext#@lowcodecojp.onmicrosoft.com::35527b19-bb60-4cbd-88f7-e76b000149f9" providerId="AD" clId="Web-{57454AF4-2F33-0E2D-9E96-DB343DC314AF}" dt="2026-07-09T10:52:43.181" v="1" actId="1076"/>
          <ac:spMkLst>
            <pc:docMk/>
            <pc:sldMk cId="4195799110" sldId="273"/>
            <ac:spMk id="29" creationId="{C9152791-F537-EAA5-4460-63024FAA0B8F}"/>
          </ac:spMkLst>
        </pc:spChg>
      </pc:sldChg>
      <pc:sldChg chg="ord">
        <pc:chgData name="伊東 千尋" userId="S::cito_cardnet.co.jp#ext#@lowcodecojp.onmicrosoft.com::35527b19-bb60-4cbd-88f7-e76b000149f9" providerId="AD" clId="Web-{57454AF4-2F33-0E2D-9E96-DB343DC314AF}" dt="2026-07-09T10:54:40.170" v="2"/>
        <pc:sldMkLst>
          <pc:docMk/>
          <pc:sldMk cId="281921604" sldId="275"/>
        </pc:sldMkLst>
      </pc:sldChg>
      <pc:sldChg chg="ord">
        <pc:chgData name="伊東 千尋" userId="S::cito_cardnet.co.jp#ext#@lowcodecojp.onmicrosoft.com::35527b19-bb60-4cbd-88f7-e76b000149f9" providerId="AD" clId="Web-{57454AF4-2F33-0E2D-9E96-DB343DC314AF}" dt="2026-07-09T10:58:32.053" v="3"/>
        <pc:sldMkLst>
          <pc:docMk/>
          <pc:sldMk cId="4247146017" sldId="2147483644"/>
        </pc:sldMkLst>
      </pc:sldChg>
    </pc:docChg>
  </pc:docChgLst>
  <pc:docChgLst>
    <pc:chgData name="nakamura takuya" userId="727bb4a0-377a-4a8e-a89d-8efa14875c2f" providerId="ADAL" clId="{7D6FC31F-3357-4373-B706-004F3C0B89A4}"/>
    <pc:docChg chg="delSld modSld modSection">
      <pc:chgData name="nakamura takuya" userId="727bb4a0-377a-4a8e-a89d-8efa14875c2f" providerId="ADAL" clId="{7D6FC31F-3357-4373-B706-004F3C0B89A4}" dt="2026-07-08T07:35:41.779" v="188" actId="14100"/>
      <pc:docMkLst>
        <pc:docMk/>
      </pc:docMkLst>
      <pc:sldChg chg="modSp mod">
        <pc:chgData name="nakamura takuya" userId="727bb4a0-377a-4a8e-a89d-8efa14875c2f" providerId="ADAL" clId="{7D6FC31F-3357-4373-B706-004F3C0B89A4}" dt="2026-07-08T07:27:29.975" v="75" actId="20577"/>
        <pc:sldMkLst>
          <pc:docMk/>
          <pc:sldMk cId="3978759848" sldId="257"/>
        </pc:sldMkLst>
        <pc:spChg chg="mod">
          <ac:chgData name="nakamura takuya" userId="727bb4a0-377a-4a8e-a89d-8efa14875c2f" providerId="ADAL" clId="{7D6FC31F-3357-4373-B706-004F3C0B89A4}" dt="2026-07-08T07:27:29.975" v="75" actId="20577"/>
          <ac:spMkLst>
            <pc:docMk/>
            <pc:sldMk cId="3978759848" sldId="257"/>
            <ac:spMk id="5" creationId="{FBB79653-B9F1-A0CE-21A2-837D8F6A770F}"/>
          </ac:spMkLst>
        </pc:spChg>
      </pc:sldChg>
      <pc:sldChg chg="modSp mod">
        <pc:chgData name="nakamura takuya" userId="727bb4a0-377a-4a8e-a89d-8efa14875c2f" providerId="ADAL" clId="{7D6FC31F-3357-4373-B706-004F3C0B89A4}" dt="2026-07-08T07:28:05.473" v="91" actId="14100"/>
        <pc:sldMkLst>
          <pc:docMk/>
          <pc:sldMk cId="1889299086" sldId="284"/>
        </pc:sldMkLst>
        <pc:spChg chg="mod">
          <ac:chgData name="nakamura takuya" userId="727bb4a0-377a-4a8e-a89d-8efa14875c2f" providerId="ADAL" clId="{7D6FC31F-3357-4373-B706-004F3C0B89A4}" dt="2026-07-08T07:28:05.473" v="91" actId="14100"/>
          <ac:spMkLst>
            <pc:docMk/>
            <pc:sldMk cId="1889299086" sldId="284"/>
            <ac:spMk id="5" creationId="{5BC15884-7C38-082E-DCF6-00EC18E6E719}"/>
          </ac:spMkLst>
        </pc:spChg>
      </pc:sldChg>
      <pc:sldChg chg="addSp mod">
        <pc:chgData name="nakamura takuya" userId="727bb4a0-377a-4a8e-a89d-8efa14875c2f" providerId="ADAL" clId="{7D6FC31F-3357-4373-B706-004F3C0B89A4}" dt="2026-07-08T07:29:10.467" v="157" actId="22"/>
        <pc:sldMkLst>
          <pc:docMk/>
          <pc:sldMk cId="828979641" sldId="285"/>
        </pc:sldMkLst>
        <pc:spChg chg="add">
          <ac:chgData name="nakamura takuya" userId="727bb4a0-377a-4a8e-a89d-8efa14875c2f" providerId="ADAL" clId="{7D6FC31F-3357-4373-B706-004F3C0B89A4}" dt="2026-07-08T07:29:10.467" v="157" actId="22"/>
          <ac:spMkLst>
            <pc:docMk/>
            <pc:sldMk cId="828979641" sldId="285"/>
            <ac:spMk id="12" creationId="{F7F0C924-CE0C-4E1D-DDE1-C03E0EFE4232}"/>
          </ac:spMkLst>
        </pc:spChg>
      </pc:sldChg>
      <pc:sldChg chg="modSp mod">
        <pc:chgData name="nakamura takuya" userId="727bb4a0-377a-4a8e-a89d-8efa14875c2f" providerId="ADAL" clId="{7D6FC31F-3357-4373-B706-004F3C0B89A4}" dt="2026-07-08T07:35:41.779" v="188" actId="14100"/>
        <pc:sldMkLst>
          <pc:docMk/>
          <pc:sldMk cId="461094955" sldId="289"/>
        </pc:sldMkLst>
        <pc:spChg chg="mod">
          <ac:chgData name="nakamura takuya" userId="727bb4a0-377a-4a8e-a89d-8efa14875c2f" providerId="ADAL" clId="{7D6FC31F-3357-4373-B706-004F3C0B89A4}" dt="2026-07-08T07:35:41.779" v="188" actId="14100"/>
          <ac:spMkLst>
            <pc:docMk/>
            <pc:sldMk cId="461094955" sldId="289"/>
            <ac:spMk id="9" creationId="{AD2164AE-11C3-C558-A238-BB8B4162993B}"/>
          </ac:spMkLst>
        </pc:spChg>
        <pc:spChg chg="mod">
          <ac:chgData name="nakamura takuya" userId="727bb4a0-377a-4a8e-a89d-8efa14875c2f" providerId="ADAL" clId="{7D6FC31F-3357-4373-B706-004F3C0B89A4}" dt="2026-07-08T07:26:34.354" v="48" actId="20577"/>
          <ac:spMkLst>
            <pc:docMk/>
            <pc:sldMk cId="461094955" sldId="289"/>
            <ac:spMk id="39" creationId="{E29A8316-9B46-E2FB-CA2C-2DD6C1310603}"/>
          </ac:spMkLst>
        </pc:spChg>
      </pc:sldChg>
      <pc:sldChg chg="modSp mod">
        <pc:chgData name="nakamura takuya" userId="727bb4a0-377a-4a8e-a89d-8efa14875c2f" providerId="ADAL" clId="{7D6FC31F-3357-4373-B706-004F3C0B89A4}" dt="2026-07-08T07:31:25.235" v="176" actId="20577"/>
        <pc:sldMkLst>
          <pc:docMk/>
          <pc:sldMk cId="1282037412" sldId="2147483414"/>
        </pc:sldMkLst>
        <pc:spChg chg="mod">
          <ac:chgData name="nakamura takuya" userId="727bb4a0-377a-4a8e-a89d-8efa14875c2f" providerId="ADAL" clId="{7D6FC31F-3357-4373-B706-004F3C0B89A4}" dt="2026-07-08T07:31:25.235" v="176" actId="20577"/>
          <ac:spMkLst>
            <pc:docMk/>
            <pc:sldMk cId="1282037412" sldId="2147483414"/>
            <ac:spMk id="3" creationId="{9BA3BF88-2A26-4021-9A80-97EA2872AB58}"/>
          </ac:spMkLst>
        </pc:spChg>
      </pc:sldChg>
      <pc:sldChg chg="modSp mod">
        <pc:chgData name="nakamura takuya" userId="727bb4a0-377a-4a8e-a89d-8efa14875c2f" providerId="ADAL" clId="{7D6FC31F-3357-4373-B706-004F3C0B89A4}" dt="2026-07-08T07:31:37.723" v="186" actId="20577"/>
        <pc:sldMkLst>
          <pc:docMk/>
          <pc:sldMk cId="545895450" sldId="2147483463"/>
        </pc:sldMkLst>
        <pc:spChg chg="mod">
          <ac:chgData name="nakamura takuya" userId="727bb4a0-377a-4a8e-a89d-8efa14875c2f" providerId="ADAL" clId="{7D6FC31F-3357-4373-B706-004F3C0B89A4}" dt="2026-07-08T07:31:37.723" v="186" actId="20577"/>
          <ac:spMkLst>
            <pc:docMk/>
            <pc:sldMk cId="545895450" sldId="2147483463"/>
            <ac:spMk id="20" creationId="{D0F78E7B-4139-F202-4FC6-34CFC1BA72DF}"/>
          </ac:spMkLst>
        </pc:spChg>
      </pc:sldChg>
      <pc:sldChg chg="addSp modSp mod">
        <pc:chgData name="nakamura takuya" userId="727bb4a0-377a-4a8e-a89d-8efa14875c2f" providerId="ADAL" clId="{7D6FC31F-3357-4373-B706-004F3C0B89A4}" dt="2026-07-08T07:29:07.868" v="156" actId="1076"/>
        <pc:sldMkLst>
          <pc:docMk/>
          <pc:sldMk cId="1508688980" sldId="2147483557"/>
        </pc:sldMkLst>
        <pc:spChg chg="add mod">
          <ac:chgData name="nakamura takuya" userId="727bb4a0-377a-4a8e-a89d-8efa14875c2f" providerId="ADAL" clId="{7D6FC31F-3357-4373-B706-004F3C0B89A4}" dt="2026-07-08T07:29:07.868" v="156" actId="1076"/>
          <ac:spMkLst>
            <pc:docMk/>
            <pc:sldMk cId="1508688980" sldId="2147483557"/>
            <ac:spMk id="5" creationId="{5D5B3E60-E86F-0CF0-3CB2-96835F7BDBC4}"/>
          </ac:spMkLst>
        </pc:spChg>
      </pc:sldChg>
      <pc:sldChg chg="modSp mod">
        <pc:chgData name="nakamura takuya" userId="727bb4a0-377a-4a8e-a89d-8efa14875c2f" providerId="ADAL" clId="{7D6FC31F-3357-4373-B706-004F3C0B89A4}" dt="2026-07-08T07:29:46.790" v="170" actId="20577"/>
        <pc:sldMkLst>
          <pc:docMk/>
          <pc:sldMk cId="4247146017" sldId="2147483644"/>
        </pc:sldMkLst>
        <pc:spChg chg="mod">
          <ac:chgData name="nakamura takuya" userId="727bb4a0-377a-4a8e-a89d-8efa14875c2f" providerId="ADAL" clId="{7D6FC31F-3357-4373-B706-004F3C0B89A4}" dt="2026-07-08T07:29:46.790" v="170" actId="20577"/>
          <ac:spMkLst>
            <pc:docMk/>
            <pc:sldMk cId="4247146017" sldId="2147483644"/>
            <ac:spMk id="5" creationId="{5DA63169-80E3-4879-7012-7E04D76F23CF}"/>
          </ac:spMkLst>
        </pc:spChg>
      </pc:sldChg>
    </pc:docChg>
  </pc:docChgLst>
  <pc:docChgLst>
    <pc:chgData name="伊東 千尋" userId="S::cito_cardnet.co.jp#ext#@lowcodecojp.onmicrosoft.com::35527b19-bb60-4cbd-88f7-e76b000149f9" providerId="AD" clId="Web-{B96FCF50-0429-1EAE-7CA4-12E9A0E019CA}"/>
    <pc:docChg chg="sldOrd">
      <pc:chgData name="伊東 千尋" userId="S::cito_cardnet.co.jp#ext#@lowcodecojp.onmicrosoft.com::35527b19-bb60-4cbd-88f7-e76b000149f9" providerId="AD" clId="Web-{B96FCF50-0429-1EAE-7CA4-12E9A0E019CA}" dt="2026-07-09T05:44:16.328" v="3"/>
      <pc:docMkLst>
        <pc:docMk/>
      </pc:docMkLst>
      <pc:sldChg chg="ord">
        <pc:chgData name="伊東 千尋" userId="S::cito_cardnet.co.jp#ext#@lowcodecojp.onmicrosoft.com::35527b19-bb60-4cbd-88f7-e76b000149f9" providerId="AD" clId="Web-{B96FCF50-0429-1EAE-7CA4-12E9A0E019CA}" dt="2026-07-09T00:04:59.907" v="0"/>
        <pc:sldMkLst>
          <pc:docMk/>
          <pc:sldMk cId="2217997272" sldId="263"/>
        </pc:sldMkLst>
      </pc:sldChg>
      <pc:sldChg chg="ord">
        <pc:chgData name="伊東 千尋" userId="S::cito_cardnet.co.jp#ext#@lowcodecojp.onmicrosoft.com::35527b19-bb60-4cbd-88f7-e76b000149f9" providerId="AD" clId="Web-{B96FCF50-0429-1EAE-7CA4-12E9A0E019CA}" dt="2026-07-09T00:05:28.564" v="1"/>
        <pc:sldMkLst>
          <pc:docMk/>
          <pc:sldMk cId="281921604" sldId="275"/>
        </pc:sldMkLst>
      </pc:sldChg>
      <pc:sldChg chg="ord">
        <pc:chgData name="伊東 千尋" userId="S::cito_cardnet.co.jp#ext#@lowcodecojp.onmicrosoft.com::35527b19-bb60-4cbd-88f7-e76b000149f9" providerId="AD" clId="Web-{B96FCF50-0429-1EAE-7CA4-12E9A0E019CA}" dt="2026-07-09T05:44:14.860" v="2"/>
        <pc:sldMkLst>
          <pc:docMk/>
          <pc:sldMk cId="1282037412" sldId="2147483414"/>
        </pc:sldMkLst>
      </pc:sldChg>
      <pc:sldChg chg="ord">
        <pc:chgData name="伊東 千尋" userId="S::cito_cardnet.co.jp#ext#@lowcodecojp.onmicrosoft.com::35527b19-bb60-4cbd-88f7-e76b000149f9" providerId="AD" clId="Web-{B96FCF50-0429-1EAE-7CA4-12E9A0E019CA}" dt="2026-07-09T05:44:16.328" v="3"/>
        <pc:sldMkLst>
          <pc:docMk/>
          <pc:sldMk cId="3539835541" sldId="2147483545"/>
        </pc:sldMkLst>
      </pc:sldChg>
    </pc:docChg>
  </pc:docChgLst>
  <pc:docChgLst>
    <pc:chgData name="伊東 千尋" userId="S::cito_cardnet.co.jp#ext#@lowcodecojp.onmicrosoft.com::35527b19-bb60-4cbd-88f7-e76b000149f9" providerId="AD" clId="Web-{B25FB36F-E0EA-7BCA-5154-982983B7251B}"/>
    <pc:docChg chg="modSld">
      <pc:chgData name="伊東 千尋" userId="S::cito_cardnet.co.jp#ext#@lowcodecojp.onmicrosoft.com::35527b19-bb60-4cbd-88f7-e76b000149f9" providerId="AD" clId="Web-{B25FB36F-E0EA-7BCA-5154-982983B7251B}" dt="2026-07-16T04:13:22.965" v="0" actId="1076"/>
      <pc:docMkLst>
        <pc:docMk/>
      </pc:docMkLst>
      <pc:sldChg chg="modSp">
        <pc:chgData name="伊東 千尋" userId="S::cito_cardnet.co.jp#ext#@lowcodecojp.onmicrosoft.com::35527b19-bb60-4cbd-88f7-e76b000149f9" providerId="AD" clId="Web-{B25FB36F-E0EA-7BCA-5154-982983B7251B}" dt="2026-07-16T04:13:22.965" v="0" actId="1076"/>
        <pc:sldMkLst>
          <pc:docMk/>
          <pc:sldMk cId="4195799110" sldId="273"/>
        </pc:sldMkLst>
        <pc:spChg chg="mod">
          <ac:chgData name="伊東 千尋" userId="S::cito_cardnet.co.jp#ext#@lowcodecojp.onmicrosoft.com::35527b19-bb60-4cbd-88f7-e76b000149f9" providerId="AD" clId="Web-{B25FB36F-E0EA-7BCA-5154-982983B7251B}" dt="2026-07-16T04:13:22.965" v="0" actId="1076"/>
          <ac:spMkLst>
            <pc:docMk/>
            <pc:sldMk cId="4195799110" sldId="273"/>
            <ac:spMk id="29" creationId="{C9152791-F537-EAA5-4460-63024FAA0B8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736CE-C0FA-4BF9-B326-72D21D8F0990}" type="datetimeFigureOut">
              <a:rPr kumimoji="1" lang="ja-JP" altLang="en-US" smtClean="0"/>
              <a:t>2026/7/17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AE95F4-FDE3-44B5-9B01-3373404AC718}" type="slidenum">
              <a:rPr kumimoji="1" lang="ja-JP" altLang="en-US" smtClean="0"/>
              <a:t>‹#›</a:t>
            </a:fld>
            <a:endParaRPr kumimoji="1" lang="ja-JP" altLang="en-US"/>
          </a:p>
        </p:txBody>
      </p:sp>
    </p:spTree>
    <p:extLst>
      <p:ext uri="{BB962C8B-B14F-4D97-AF65-F5344CB8AC3E}">
        <p14:creationId xmlns:p14="http://schemas.microsoft.com/office/powerpoint/2010/main" val="17650281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表紙">
    <p:bg>
      <p:bgPr>
        <a:solidFill>
          <a:schemeClr val="bg1"/>
        </a:solidFill>
        <a:effectLst/>
      </p:bgPr>
    </p:bg>
    <p:spTree>
      <p:nvGrpSpPr>
        <p:cNvPr id="1" name=""/>
        <p:cNvGrpSpPr/>
        <p:nvPr/>
      </p:nvGrpSpPr>
      <p:grpSpPr>
        <a:xfrm>
          <a:off x="0" y="0"/>
          <a:ext cx="0" cy="0"/>
          <a:chOff x="0" y="0"/>
          <a:chExt cx="0" cy="0"/>
        </a:xfrm>
      </p:grpSpPr>
      <p:sp>
        <p:nvSpPr>
          <p:cNvPr id="14" name="テキスト プレースホルダー 13">
            <a:extLst>
              <a:ext uri="{FF2B5EF4-FFF2-40B4-BE49-F238E27FC236}">
                <a16:creationId xmlns:a16="http://schemas.microsoft.com/office/drawing/2014/main" id="{5A29DF86-A2DE-CC98-8D90-9053B6FD6938}"/>
              </a:ext>
            </a:extLst>
          </p:cNvPr>
          <p:cNvSpPr>
            <a:spLocks noGrp="1"/>
          </p:cNvSpPr>
          <p:nvPr>
            <p:ph type="body" sz="quarter" idx="12"/>
          </p:nvPr>
        </p:nvSpPr>
        <p:spPr>
          <a:xfrm>
            <a:off x="1266825" y="3704567"/>
            <a:ext cx="10383838" cy="870608"/>
          </a:xfrm>
          <a:prstGeom prst="rect">
            <a:avLst/>
          </a:prstGeom>
        </p:spPr>
        <p:txBody>
          <a:bodyPr anchor="ctr" anchorCtr="0">
            <a:normAutofit/>
          </a:bodyPr>
          <a:lstStyle>
            <a:lvl1pPr marL="0" indent="0">
              <a:buNone/>
              <a:defRPr sz="4800"/>
            </a:lvl1pPr>
          </a:lstStyle>
          <a:p>
            <a:pPr lvl="0"/>
            <a:r>
              <a:rPr kumimoji="1" lang="ja-JP" altLang="en-US"/>
              <a:t>マスター テキストの書式設定</a:t>
            </a:r>
          </a:p>
        </p:txBody>
      </p:sp>
      <p:sp>
        <p:nvSpPr>
          <p:cNvPr id="2" name="Title 1"/>
          <p:cNvSpPr>
            <a:spLocks noGrp="1"/>
          </p:cNvSpPr>
          <p:nvPr>
            <p:ph type="ctrTitle" hasCustomPrompt="1"/>
          </p:nvPr>
        </p:nvSpPr>
        <p:spPr>
          <a:xfrm>
            <a:off x="1267363" y="2635885"/>
            <a:ext cx="10382762" cy="950280"/>
          </a:xfrm>
          <a:prstGeom prst="rect">
            <a:avLst/>
          </a:prstGeom>
        </p:spPr>
        <p:txBody>
          <a:bodyPr lIns="0" tIns="0" rIns="0" bIns="0" anchor="t">
            <a:noAutofit/>
          </a:bodyPr>
          <a:lstStyle>
            <a:lvl1pPr algn="l">
              <a:lnSpc>
                <a:spcPct val="100000"/>
              </a:lnSpc>
              <a:defRPr sz="5400" b="1" cap="none" spc="0">
                <a:ln w="0">
                  <a:noFill/>
                  <a:prstDash val="solid"/>
                </a:ln>
                <a:gradFill>
                  <a:gsLst>
                    <a:gs pos="97000">
                      <a:schemeClr val="accent5">
                        <a:lumMod val="50000"/>
                      </a:schemeClr>
                    </a:gs>
                    <a:gs pos="73000">
                      <a:srgbClr val="3CBACB"/>
                    </a:gs>
                    <a:gs pos="0">
                      <a:schemeClr val="accent5">
                        <a:lumMod val="90000"/>
                      </a:schemeClr>
                    </a:gs>
                  </a:gsLst>
                  <a:lin ang="10800000" scaled="0"/>
                </a:gradFill>
                <a:effectLst/>
                <a:latin typeface="+mn-ea"/>
                <a:ea typeface="+mn-ea"/>
              </a:defRPr>
            </a:lvl1pPr>
          </a:lstStyle>
          <a:p>
            <a:r>
              <a:rPr lang="ja-JP" altLang="en-US"/>
              <a:t>プレゼンテーションテンプレート</a:t>
            </a:r>
            <a:endParaRPr lang="en-US"/>
          </a:p>
        </p:txBody>
      </p:sp>
      <p:sp>
        <p:nvSpPr>
          <p:cNvPr id="3" name="Subtitle 2"/>
          <p:cNvSpPr>
            <a:spLocks noGrp="1"/>
          </p:cNvSpPr>
          <p:nvPr>
            <p:ph type="subTitle" idx="1"/>
          </p:nvPr>
        </p:nvSpPr>
        <p:spPr>
          <a:xfrm>
            <a:off x="1267371" y="2196640"/>
            <a:ext cx="9215912" cy="320843"/>
          </a:xfrm>
          <a:prstGeom prst="rect">
            <a:avLst/>
          </a:prstGeom>
          <a:ln>
            <a:noFill/>
          </a:ln>
        </p:spPr>
        <p:txBody>
          <a:bodyPr lIns="0" tIns="0" rIns="0" bIns="0" anchor="ctr">
            <a:noAutofit/>
          </a:bodyPr>
          <a:lstStyle>
            <a:lvl1pPr marL="0" indent="0" algn="l">
              <a:buNone/>
              <a:defRPr sz="1800" b="0" cap="none" spc="0">
                <a:ln w="0">
                  <a:noFill/>
                  <a:prstDash val="solid"/>
                </a:ln>
                <a:solidFill>
                  <a:schemeClr val="tx2"/>
                </a:solidFill>
                <a:effectLst/>
                <a:latin typeface="+mn-ea"/>
                <a:ea typeface="+mn-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ja-JP" altLang="en-US"/>
              <a:t>マスター サブタイトルの書式設定</a:t>
            </a:r>
            <a:endParaRPr lang="en-US"/>
          </a:p>
        </p:txBody>
      </p:sp>
      <p:sp>
        <p:nvSpPr>
          <p:cNvPr id="8" name="Text Placeholder 3">
            <a:extLst>
              <a:ext uri="{FF2B5EF4-FFF2-40B4-BE49-F238E27FC236}">
                <a16:creationId xmlns:a16="http://schemas.microsoft.com/office/drawing/2014/main" id="{9649C234-A319-4CA8-B571-4E8F7ACF547B}"/>
              </a:ext>
            </a:extLst>
          </p:cNvPr>
          <p:cNvSpPr>
            <a:spLocks noGrp="1"/>
          </p:cNvSpPr>
          <p:nvPr>
            <p:ph type="body" sz="half" idx="2" hasCustomPrompt="1"/>
          </p:nvPr>
        </p:nvSpPr>
        <p:spPr>
          <a:xfrm>
            <a:off x="1267371" y="5043654"/>
            <a:ext cx="1764800" cy="320843"/>
          </a:xfrm>
          <a:prstGeom prst="rect">
            <a:avLst/>
          </a:prstGeom>
          <a:solidFill>
            <a:schemeClr val="accent1"/>
          </a:solidFill>
        </p:spPr>
        <p:txBody>
          <a:bodyPr tIns="18000" bIns="0" anchor="ctr">
            <a:normAutofit/>
          </a:bodyPr>
          <a:lstStyle>
            <a:lvl1pPr marL="0" indent="0" algn="ctr">
              <a:buNone/>
              <a:defRPr sz="1600" spc="100" baseline="0">
                <a:solidFill>
                  <a:schemeClr val="bg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ltLang="ja-JP"/>
              <a:t>2020.10.01</a:t>
            </a:r>
            <a:endParaRPr lang="ja-JP" altLang="en-US"/>
          </a:p>
        </p:txBody>
      </p:sp>
      <p:sp>
        <p:nvSpPr>
          <p:cNvPr id="4" name="正方形/長方形 3">
            <a:extLst>
              <a:ext uri="{FF2B5EF4-FFF2-40B4-BE49-F238E27FC236}">
                <a16:creationId xmlns:a16="http://schemas.microsoft.com/office/drawing/2014/main" id="{1D3A9960-2BBC-1A7F-6AAF-9F051165E927}"/>
              </a:ext>
            </a:extLst>
          </p:cNvPr>
          <p:cNvSpPr/>
          <p:nvPr userDrawn="1"/>
        </p:nvSpPr>
        <p:spPr>
          <a:xfrm>
            <a:off x="838200" y="2012716"/>
            <a:ext cx="230717" cy="3509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pc="110">
              <a:solidFill>
                <a:schemeClr val="tx2"/>
              </a:solidFill>
              <a:latin typeface="+mn-ea"/>
            </a:endParaRPr>
          </a:p>
        </p:txBody>
      </p:sp>
      <p:sp>
        <p:nvSpPr>
          <p:cNvPr id="7" name="テキスト プレースホルダー 9">
            <a:extLst>
              <a:ext uri="{FF2B5EF4-FFF2-40B4-BE49-F238E27FC236}">
                <a16:creationId xmlns:a16="http://schemas.microsoft.com/office/drawing/2014/main" id="{8FB24792-959A-16B7-4899-5AAC1A2D7F79}"/>
              </a:ext>
            </a:extLst>
          </p:cNvPr>
          <p:cNvSpPr>
            <a:spLocks noGrp="1"/>
          </p:cNvSpPr>
          <p:nvPr>
            <p:ph type="body" sz="half" idx="10" hasCustomPrompt="1"/>
          </p:nvPr>
        </p:nvSpPr>
        <p:spPr>
          <a:xfrm>
            <a:off x="1267371" y="5043654"/>
            <a:ext cx="1764800" cy="320843"/>
          </a:xfrm>
          <a:prstGeom prst="rect">
            <a:avLst/>
          </a:prstGeom>
          <a:solidFill>
            <a:schemeClr val="accent1"/>
          </a:solidFill>
        </p:spPr>
        <p:txBody>
          <a:bodyPr anchor="ctr" anchorCtr="0">
            <a:normAutofit/>
          </a:bodyPr>
          <a:lstStyle>
            <a:lvl1pPr marL="0" indent="0" algn="ctr">
              <a:buNone/>
              <a:defRPr sz="1600">
                <a:solidFill>
                  <a:schemeClr val="bg1"/>
                </a:solidFill>
              </a:defRPr>
            </a:lvl1pPr>
          </a:lstStyle>
          <a:p>
            <a:r>
              <a:rPr lang="en-US" altLang="ja-JP" spc="110"/>
              <a:t>2024.07.08</a:t>
            </a:r>
            <a:endParaRPr lang="ja-JP" altLang="en-US" spc="110"/>
          </a:p>
        </p:txBody>
      </p:sp>
    </p:spTree>
    <p:extLst>
      <p:ext uri="{BB962C8B-B14F-4D97-AF65-F5344CB8AC3E}">
        <p14:creationId xmlns:p14="http://schemas.microsoft.com/office/powerpoint/2010/main" val="4249299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目次">
    <p:bg>
      <p:bgPr>
        <a:solidFill>
          <a:schemeClr val="tx2"/>
        </a:solidFill>
        <a:effectLst/>
      </p:bgPr>
    </p:bg>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F72A3028-8B63-5839-5C17-9FEE3D5EEA41}"/>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bg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6EE881AC-9F0B-8A67-2800-BA379A144F6C}"/>
              </a:ext>
            </a:extLst>
          </p:cNvPr>
          <p:cNvSpPr>
            <a:spLocks noGrp="1"/>
          </p:cNvSpPr>
          <p:nvPr>
            <p:ph type="title" hasCustomPrompt="1"/>
          </p:nvPr>
        </p:nvSpPr>
        <p:spPr>
          <a:xfrm>
            <a:off x="814546" y="405063"/>
            <a:ext cx="11810918" cy="402483"/>
          </a:xfrm>
          <a:prstGeom prst="rect">
            <a:avLst/>
          </a:prstGeom>
        </p:spPr>
        <p:txBody>
          <a:bodyPr lIns="0" tIns="0" rIns="0" bIns="0">
            <a:noAutofit/>
          </a:bodyPr>
          <a:lstStyle>
            <a:lvl1pPr>
              <a:defRPr sz="2800" b="0">
                <a:solidFill>
                  <a:schemeClr val="bg1"/>
                </a:solidFill>
                <a:latin typeface="+mj-ea"/>
                <a:ea typeface="+mj-ea"/>
              </a:defRPr>
            </a:lvl1pPr>
          </a:lstStyle>
          <a:p>
            <a:r>
              <a:rPr lang="ja-JP" altLang="en-US"/>
              <a:t>タイトルが入ります</a:t>
            </a:r>
            <a:endParaRPr lang="en-US"/>
          </a:p>
        </p:txBody>
      </p:sp>
      <p:sp>
        <p:nvSpPr>
          <p:cNvPr id="11" name="正方形/長方形 10">
            <a:extLst>
              <a:ext uri="{FF2B5EF4-FFF2-40B4-BE49-F238E27FC236}">
                <a16:creationId xmlns:a16="http://schemas.microsoft.com/office/drawing/2014/main" id="{2E03C316-8F5D-4D06-0CEA-3CBFA4DDAEE5}"/>
              </a:ext>
            </a:extLst>
          </p:cNvPr>
          <p:cNvSpPr/>
          <p:nvPr userDrawn="1"/>
        </p:nvSpPr>
        <p:spPr>
          <a:xfrm flipV="1">
            <a:off x="797689" y="809974"/>
            <a:ext cx="11827398" cy="893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p>
        </p:txBody>
      </p:sp>
      <p:sp>
        <p:nvSpPr>
          <p:cNvPr id="3" name="Text Placeholder 3">
            <a:extLst>
              <a:ext uri="{FF2B5EF4-FFF2-40B4-BE49-F238E27FC236}">
                <a16:creationId xmlns:a16="http://schemas.microsoft.com/office/drawing/2014/main" id="{A75236A4-19FE-66B8-28AB-FE24B4935AA7}"/>
              </a:ext>
            </a:extLst>
          </p:cNvPr>
          <p:cNvSpPr>
            <a:spLocks noGrp="1"/>
          </p:cNvSpPr>
          <p:nvPr>
            <p:ph type="body" sz="half" idx="2" hasCustomPrompt="1"/>
          </p:nvPr>
        </p:nvSpPr>
        <p:spPr>
          <a:xfrm>
            <a:off x="814169" y="991351"/>
            <a:ext cx="11810918" cy="245256"/>
          </a:xfrm>
          <a:prstGeom prst="rect">
            <a:avLst/>
          </a:prstGeom>
        </p:spPr>
        <p:txBody>
          <a:bodyPr lIns="0" tIns="0" rIns="0" bIns="0">
            <a:noAutofit/>
          </a:bodyPr>
          <a:lstStyle>
            <a:lvl1pPr marL="0" indent="0" algn="l">
              <a:buNone/>
              <a:defRPr sz="2000" b="1">
                <a:solidFill>
                  <a:schemeClr val="bg1"/>
                </a:solidFill>
                <a:latin typeface="+mj-ea"/>
                <a:ea typeface="+mj-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Tree>
    <p:extLst>
      <p:ext uri="{BB962C8B-B14F-4D97-AF65-F5344CB8AC3E}">
        <p14:creationId xmlns:p14="http://schemas.microsoft.com/office/powerpoint/2010/main" val="680223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p:bg>
      <p:bgPr>
        <a:solidFill>
          <a:schemeClr val="tx2"/>
        </a:solidFill>
        <a:effectLst/>
      </p:bgPr>
    </p:bg>
    <p:spTree>
      <p:nvGrpSpPr>
        <p:cNvPr id="1" name=""/>
        <p:cNvGrpSpPr/>
        <p:nvPr/>
      </p:nvGrpSpPr>
      <p:grpSpPr>
        <a:xfrm>
          <a:off x="0" y="0"/>
          <a:ext cx="0" cy="0"/>
          <a:chOff x="0" y="0"/>
          <a:chExt cx="0" cy="0"/>
        </a:xfrm>
      </p:grpSpPr>
      <p:sp>
        <p:nvSpPr>
          <p:cNvPr id="13" name="テキスト プレースホルダー 12">
            <a:extLst>
              <a:ext uri="{FF2B5EF4-FFF2-40B4-BE49-F238E27FC236}">
                <a16:creationId xmlns:a16="http://schemas.microsoft.com/office/drawing/2014/main" id="{486585F4-B4A4-7E2B-5A9B-E0D9D6AF55BF}"/>
              </a:ext>
            </a:extLst>
          </p:cNvPr>
          <p:cNvSpPr>
            <a:spLocks noGrp="1"/>
          </p:cNvSpPr>
          <p:nvPr>
            <p:ph type="body" sz="quarter" idx="13" hasCustomPrompt="1"/>
          </p:nvPr>
        </p:nvSpPr>
        <p:spPr>
          <a:xfrm>
            <a:off x="923986" y="3399431"/>
            <a:ext cx="2317978" cy="1640568"/>
          </a:xfrm>
          <a:prstGeom prst="rect">
            <a:avLst/>
          </a:prstGeom>
        </p:spPr>
        <p:txBody>
          <a:bodyPr>
            <a:noAutofit/>
          </a:bodyPr>
          <a:lstStyle>
            <a:lvl1pPr marL="0" indent="0" algn="ctr">
              <a:buNone/>
              <a:defRPr sz="14000" b="1">
                <a:solidFill>
                  <a:schemeClr val="bg1"/>
                </a:solidFill>
                <a:latin typeface="+mn-lt"/>
                <a:ea typeface="+mj-ea"/>
              </a:defRPr>
            </a:lvl1pPr>
          </a:lstStyle>
          <a:p>
            <a:pPr lvl="0"/>
            <a:r>
              <a:rPr kumimoji="1" lang="en-US" altLang="ja-JP"/>
              <a:t>01</a:t>
            </a:r>
            <a:endParaRPr kumimoji="1" lang="ja-JP" altLang="en-US"/>
          </a:p>
        </p:txBody>
      </p:sp>
      <p:sp>
        <p:nvSpPr>
          <p:cNvPr id="6" name="正方形/長方形 5">
            <a:extLst>
              <a:ext uri="{FF2B5EF4-FFF2-40B4-BE49-F238E27FC236}">
                <a16:creationId xmlns:a16="http://schemas.microsoft.com/office/drawing/2014/main" id="{8A26D1C4-164F-4322-A4D6-2E3981258678}"/>
              </a:ext>
            </a:extLst>
          </p:cNvPr>
          <p:cNvSpPr/>
          <p:nvPr userDrawn="1"/>
        </p:nvSpPr>
        <p:spPr>
          <a:xfrm>
            <a:off x="0" y="5039999"/>
            <a:ext cx="13440010" cy="252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7" name="Title 1">
            <a:extLst>
              <a:ext uri="{FF2B5EF4-FFF2-40B4-BE49-F238E27FC236}">
                <a16:creationId xmlns:a16="http://schemas.microsoft.com/office/drawing/2014/main" id="{B79C810F-C10A-4F50-B56E-13AAF759F028}"/>
              </a:ext>
            </a:extLst>
          </p:cNvPr>
          <p:cNvSpPr>
            <a:spLocks noGrp="1"/>
          </p:cNvSpPr>
          <p:nvPr>
            <p:ph type="title" hasCustomPrompt="1"/>
          </p:nvPr>
        </p:nvSpPr>
        <p:spPr>
          <a:xfrm>
            <a:off x="923985" y="5569405"/>
            <a:ext cx="11591806" cy="1461188"/>
          </a:xfrm>
          <a:prstGeom prst="rect">
            <a:avLst/>
          </a:prstGeom>
        </p:spPr>
        <p:txBody>
          <a:bodyPr/>
          <a:lstStyle>
            <a:lvl1pPr>
              <a:defRPr>
                <a:latin typeface="+mn-ea"/>
                <a:ea typeface="+mn-ea"/>
              </a:defRPr>
            </a:lvl1pPr>
          </a:lstStyle>
          <a:p>
            <a:r>
              <a:rPr lang="ja-JP" altLang="en-US"/>
              <a:t>大見出しが入ります</a:t>
            </a:r>
            <a:endParaRPr lang="en-US"/>
          </a:p>
        </p:txBody>
      </p:sp>
    </p:spTree>
    <p:extLst>
      <p:ext uri="{BB962C8B-B14F-4D97-AF65-F5344CB8AC3E}">
        <p14:creationId xmlns:p14="http://schemas.microsoft.com/office/powerpoint/2010/main" val="212208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3999630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見出し">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814546" y="405063"/>
            <a:ext cx="11810918" cy="402483"/>
          </a:xfrm>
          <a:prstGeom prst="rect">
            <a:avLst/>
          </a:prstGeom>
        </p:spPr>
        <p:txBody>
          <a:bodyPr lIns="0" tIns="0" rIns="0" bIns="0">
            <a:noAutofit/>
          </a:bodyPr>
          <a:lstStyle>
            <a:lvl1pPr>
              <a:defRPr sz="280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97689" y="809974"/>
            <a:ext cx="11827398" cy="893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p>
        </p:txBody>
      </p:sp>
      <p:sp>
        <p:nvSpPr>
          <p:cNvPr id="2" name="Text Placeholder 3">
            <a:extLst>
              <a:ext uri="{FF2B5EF4-FFF2-40B4-BE49-F238E27FC236}">
                <a16:creationId xmlns:a16="http://schemas.microsoft.com/office/drawing/2014/main" id="{BB831D4F-A61C-0594-1F98-E06D1279B73C}"/>
              </a:ext>
            </a:extLst>
          </p:cNvPr>
          <p:cNvSpPr>
            <a:spLocks noGrp="1"/>
          </p:cNvSpPr>
          <p:nvPr>
            <p:ph type="body" sz="half" idx="2" hasCustomPrompt="1"/>
          </p:nvPr>
        </p:nvSpPr>
        <p:spPr>
          <a:xfrm>
            <a:off x="814169" y="991351"/>
            <a:ext cx="11810918" cy="245256"/>
          </a:xfrm>
          <a:prstGeom prst="rect">
            <a:avLst/>
          </a:prstGeom>
        </p:spPr>
        <p:txBody>
          <a:bodyPr lIns="0" tIns="0" rIns="0" bIns="0">
            <a:noAutofit/>
          </a:bodyPr>
          <a:lstStyle>
            <a:lvl1pPr marL="0" indent="0" algn="l">
              <a:buNone/>
              <a:defRPr sz="2000" b="0">
                <a:solidFill>
                  <a:schemeClr val="tx1"/>
                </a:solidFill>
                <a:latin typeface="+mn-ea"/>
                <a:ea typeface="+mn-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Tree>
    <p:extLst>
      <p:ext uri="{BB962C8B-B14F-4D97-AF65-F5344CB8AC3E}">
        <p14:creationId xmlns:p14="http://schemas.microsoft.com/office/powerpoint/2010/main" val="2234054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のみ">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FED6513D-B164-9627-4FBA-BCB69AC1E336}"/>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6" name="Title 1">
            <a:extLst>
              <a:ext uri="{FF2B5EF4-FFF2-40B4-BE49-F238E27FC236}">
                <a16:creationId xmlns:a16="http://schemas.microsoft.com/office/drawing/2014/main" id="{A02682AC-E391-C374-89BC-EDEDD41FC5E5}"/>
              </a:ext>
            </a:extLst>
          </p:cNvPr>
          <p:cNvSpPr>
            <a:spLocks noGrp="1"/>
          </p:cNvSpPr>
          <p:nvPr>
            <p:ph type="title" hasCustomPrompt="1"/>
          </p:nvPr>
        </p:nvSpPr>
        <p:spPr>
          <a:xfrm>
            <a:off x="814546" y="405063"/>
            <a:ext cx="11810918" cy="402483"/>
          </a:xfrm>
          <a:prstGeom prst="rect">
            <a:avLst/>
          </a:prstGeom>
        </p:spPr>
        <p:txBody>
          <a:bodyPr lIns="0" tIns="0" rIns="0" bIns="0">
            <a:noAutofit/>
          </a:bodyPr>
          <a:lstStyle>
            <a:lvl1pPr>
              <a:defRPr sz="2800" b="1">
                <a:latin typeface="+mn-ea"/>
                <a:ea typeface="+mn-ea"/>
              </a:defRPr>
            </a:lvl1pPr>
          </a:lstStyle>
          <a:p>
            <a:r>
              <a:rPr lang="ja-JP" altLang="en-US"/>
              <a:t>タイトルが入ります</a:t>
            </a:r>
            <a:endParaRPr lang="en-US"/>
          </a:p>
        </p:txBody>
      </p:sp>
      <p:sp>
        <p:nvSpPr>
          <p:cNvPr id="8" name="正方形/長方形 7">
            <a:extLst>
              <a:ext uri="{FF2B5EF4-FFF2-40B4-BE49-F238E27FC236}">
                <a16:creationId xmlns:a16="http://schemas.microsoft.com/office/drawing/2014/main" id="{0AE20DFC-9366-8C56-B793-DBA408D3EE89}"/>
              </a:ext>
            </a:extLst>
          </p:cNvPr>
          <p:cNvSpPr/>
          <p:nvPr userDrawn="1"/>
        </p:nvSpPr>
        <p:spPr>
          <a:xfrm flipV="1">
            <a:off x="797689" y="809974"/>
            <a:ext cx="11827398" cy="893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p>
        </p:txBody>
      </p:sp>
    </p:spTree>
    <p:extLst>
      <p:ext uri="{BB962C8B-B14F-4D97-AF65-F5344CB8AC3E}">
        <p14:creationId xmlns:p14="http://schemas.microsoft.com/office/powerpoint/2010/main" val="3263033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タイトル＋見出し＋本文">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814169" y="1040244"/>
            <a:ext cx="11810918" cy="760462"/>
          </a:xfrm>
          <a:prstGeom prst="rect">
            <a:avLst/>
          </a:prstGeom>
        </p:spPr>
        <p:txBody>
          <a:bodyPr lIns="0" tIns="0" rIns="0" bIns="0">
            <a:noAutofit/>
          </a:bodyPr>
          <a:lstStyle>
            <a:lvl1pPr algn="ctr">
              <a:defRPr sz="4400" b="1">
                <a:solidFill>
                  <a:schemeClr val="bg2">
                    <a:lumMod val="50000"/>
                  </a:schemeClr>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2" name="Text Placeholder 3">
            <a:extLst>
              <a:ext uri="{FF2B5EF4-FFF2-40B4-BE49-F238E27FC236}">
                <a16:creationId xmlns:a16="http://schemas.microsoft.com/office/drawing/2014/main" id="{6DD37CF5-7C7F-3337-6675-B8C0883DE6AE}"/>
              </a:ext>
            </a:extLst>
          </p:cNvPr>
          <p:cNvSpPr>
            <a:spLocks noGrp="1"/>
          </p:cNvSpPr>
          <p:nvPr>
            <p:ph type="body" sz="half" idx="13" hasCustomPrompt="1"/>
          </p:nvPr>
        </p:nvSpPr>
        <p:spPr>
          <a:xfrm>
            <a:off x="813792" y="586695"/>
            <a:ext cx="11810918" cy="245256"/>
          </a:xfrm>
          <a:prstGeom prst="rect">
            <a:avLst/>
          </a:prstGeom>
        </p:spPr>
        <p:txBody>
          <a:bodyPr lIns="0" tIns="0" rIns="0" bIns="0">
            <a:noAutofit/>
          </a:bodyPr>
          <a:lstStyle>
            <a:lvl1pPr marL="0" indent="0" algn="l">
              <a:buNone/>
              <a:defRPr sz="2000" b="0">
                <a:solidFill>
                  <a:schemeClr val="tx1"/>
                </a:solidFill>
                <a:latin typeface="+mn-ea"/>
                <a:ea typeface="+mn-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
        <p:nvSpPr>
          <p:cNvPr id="5" name="Text Placeholder 3">
            <a:extLst>
              <a:ext uri="{FF2B5EF4-FFF2-40B4-BE49-F238E27FC236}">
                <a16:creationId xmlns:a16="http://schemas.microsoft.com/office/drawing/2014/main" id="{A6F2A11C-217B-3933-B175-8675779FAA7D}"/>
              </a:ext>
            </a:extLst>
          </p:cNvPr>
          <p:cNvSpPr>
            <a:spLocks noGrp="1"/>
          </p:cNvSpPr>
          <p:nvPr>
            <p:ph type="body" sz="half" idx="14" hasCustomPrompt="1"/>
          </p:nvPr>
        </p:nvSpPr>
        <p:spPr>
          <a:xfrm>
            <a:off x="814169" y="1980000"/>
            <a:ext cx="11810918" cy="1052382"/>
          </a:xfrm>
          <a:prstGeom prst="rect">
            <a:avLst/>
          </a:prstGeom>
        </p:spPr>
        <p:txBody>
          <a:bodyPr lIns="0" tIns="0" rIns="0" bIns="0">
            <a:noAutofit/>
          </a:bodyPr>
          <a:lstStyle>
            <a:lvl1pPr marL="0" marR="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sz="1800" b="0">
                <a:solidFill>
                  <a:schemeClr val="tx1"/>
                </a:solidFill>
                <a:latin typeface="+mn-ea"/>
                <a:ea typeface="+mn-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Tree>
    <p:extLst>
      <p:ext uri="{BB962C8B-B14F-4D97-AF65-F5344CB8AC3E}">
        <p14:creationId xmlns:p14="http://schemas.microsoft.com/office/powerpoint/2010/main" val="1003982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大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814169" y="1040244"/>
            <a:ext cx="11810918" cy="760462"/>
          </a:xfrm>
          <a:prstGeom prst="rect">
            <a:avLst/>
          </a:prstGeom>
        </p:spPr>
        <p:txBody>
          <a:bodyPr lIns="0" tIns="0" rIns="0" bIns="0">
            <a:noAutofit/>
          </a:bodyPr>
          <a:lstStyle>
            <a:lvl1pPr algn="ctr">
              <a:defRPr sz="4400" b="1">
                <a:solidFill>
                  <a:schemeClr val="bg2">
                    <a:lumMod val="50000"/>
                  </a:schemeClr>
                </a:solidFill>
                <a:latin typeface="+mn-ea"/>
                <a:ea typeface="+mn-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Tree>
    <p:extLst>
      <p:ext uri="{BB962C8B-B14F-4D97-AF65-F5344CB8AC3E}">
        <p14:creationId xmlns:p14="http://schemas.microsoft.com/office/powerpoint/2010/main" val="987044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D1D760C-6008-4A07-AAB4-99803CDB1CF8}"/>
              </a:ext>
            </a:extLst>
          </p:cNvPr>
          <p:cNvSpPr>
            <a:spLocks noGrp="1"/>
          </p:cNvSpPr>
          <p:nvPr>
            <p:ph type="title" hasCustomPrompt="1"/>
          </p:nvPr>
        </p:nvSpPr>
        <p:spPr>
          <a:xfrm>
            <a:off x="814546" y="287207"/>
            <a:ext cx="11810918" cy="402483"/>
          </a:xfrm>
          <a:prstGeom prst="rect">
            <a:avLst/>
          </a:prstGeom>
        </p:spPr>
        <p:txBody>
          <a:bodyPr lIns="0" tIns="0" rIns="0" bIns="0">
            <a:noAutofit/>
          </a:bodyPr>
          <a:lstStyle>
            <a:lvl1pPr>
              <a:defRPr sz="2800" b="0">
                <a:latin typeface="+mj-ea"/>
                <a:ea typeface="+mj-ea"/>
              </a:defRPr>
            </a:lvl1pPr>
          </a:lstStyle>
          <a:p>
            <a:r>
              <a:rPr lang="ja-JP" altLang="en-US"/>
              <a:t>タイトルが入ります</a:t>
            </a:r>
            <a:endParaRPr lang="en-US"/>
          </a:p>
        </p:txBody>
      </p:sp>
      <p:sp>
        <p:nvSpPr>
          <p:cNvPr id="10" name="Slide Number Placeholder 4">
            <a:extLst>
              <a:ext uri="{FF2B5EF4-FFF2-40B4-BE49-F238E27FC236}">
                <a16:creationId xmlns:a16="http://schemas.microsoft.com/office/drawing/2014/main" id="{AC302CC4-961B-832E-C28E-5376BAE2AEED}"/>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7" name="Text Placeholder 3">
            <a:extLst>
              <a:ext uri="{FF2B5EF4-FFF2-40B4-BE49-F238E27FC236}">
                <a16:creationId xmlns:a16="http://schemas.microsoft.com/office/drawing/2014/main" id="{82F3A894-26DD-135E-5E9C-9F62E01F9C79}"/>
              </a:ext>
            </a:extLst>
          </p:cNvPr>
          <p:cNvSpPr>
            <a:spLocks noGrp="1"/>
          </p:cNvSpPr>
          <p:nvPr>
            <p:ph type="body" sz="half" idx="2" hasCustomPrompt="1"/>
          </p:nvPr>
        </p:nvSpPr>
        <p:spPr>
          <a:xfrm>
            <a:off x="814169" y="991351"/>
            <a:ext cx="11810918" cy="245256"/>
          </a:xfrm>
          <a:prstGeom prst="rect">
            <a:avLst/>
          </a:prstGeom>
        </p:spPr>
        <p:txBody>
          <a:bodyPr lIns="0" tIns="0" rIns="0" bIns="0">
            <a:noAutofit/>
          </a:bodyPr>
          <a:lstStyle>
            <a:lvl1pPr marL="0" indent="0" algn="l">
              <a:buNone/>
              <a:defRPr sz="2000" b="1">
                <a:solidFill>
                  <a:schemeClr val="tx1"/>
                </a:solidFill>
                <a:latin typeface="+mj-ea"/>
                <a:ea typeface="+mj-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Tree>
    <p:extLst>
      <p:ext uri="{BB962C8B-B14F-4D97-AF65-F5344CB8AC3E}">
        <p14:creationId xmlns:p14="http://schemas.microsoft.com/office/powerpoint/2010/main" val="413075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2131146"/>
            <a:ext cx="13440010" cy="3297382"/>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2130425"/>
            <a:ext cx="8737600" cy="3298825"/>
          </a:xfrm>
          <a:prstGeom prst="rect">
            <a:avLst/>
          </a:prstGeom>
        </p:spPr>
        <p:txBody>
          <a:bodyPr anchor="ctr"/>
          <a:lstStyle>
            <a:lvl1pPr marL="0" indent="0" algn="l">
              <a:lnSpc>
                <a:spcPct val="110000"/>
              </a:lnSpc>
              <a:buNone/>
              <a:defRPr sz="3600"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646020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8868412" y="2443151"/>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5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5920268" y="2445852"/>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5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2937012" y="2446844"/>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4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999291" y="3252427"/>
            <a:ext cx="1222399"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grpSp>
        <p:nvGrpSpPr>
          <p:cNvPr id="84" name="グループ化 83">
            <a:extLst>
              <a:ext uri="{FF2B5EF4-FFF2-40B4-BE49-F238E27FC236}">
                <a16:creationId xmlns:a16="http://schemas.microsoft.com/office/drawing/2014/main" id="{F1BCF46B-65B4-214A-25C4-A4B14A484C6A}"/>
              </a:ext>
            </a:extLst>
          </p:cNvPr>
          <p:cNvGrpSpPr/>
          <p:nvPr userDrawn="1"/>
        </p:nvGrpSpPr>
        <p:grpSpPr>
          <a:xfrm>
            <a:off x="9728825" y="2446844"/>
            <a:ext cx="209591" cy="4355394"/>
            <a:chOff x="3779235" y="2382999"/>
            <a:chExt cx="209591" cy="4378192"/>
          </a:xfrm>
        </p:grpSpPr>
        <p:grpSp>
          <p:nvGrpSpPr>
            <p:cNvPr id="85" name="グループ化 84">
              <a:extLst>
                <a:ext uri="{FF2B5EF4-FFF2-40B4-BE49-F238E27FC236}">
                  <a16:creationId xmlns:a16="http://schemas.microsoft.com/office/drawing/2014/main" id="{792DEC4C-0FB0-19E3-5AB2-2BCF152EB512}"/>
                </a:ext>
              </a:extLst>
            </p:cNvPr>
            <p:cNvGrpSpPr/>
            <p:nvPr userDrawn="1"/>
          </p:nvGrpSpPr>
          <p:grpSpPr>
            <a:xfrm>
              <a:off x="3779235" y="2382999"/>
              <a:ext cx="209107" cy="2184968"/>
              <a:chOff x="919218" y="2399232"/>
              <a:chExt cx="206847" cy="2167379"/>
            </a:xfrm>
          </p:grpSpPr>
          <p:cxnSp>
            <p:nvCxnSpPr>
              <p:cNvPr id="88" name="直線コネクタ 87">
                <a:extLst>
                  <a:ext uri="{FF2B5EF4-FFF2-40B4-BE49-F238E27FC236}">
                    <a16:creationId xmlns:a16="http://schemas.microsoft.com/office/drawing/2014/main" id="{C8625060-6C63-6F9F-2FF3-C68399D69F8A}"/>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9" name="直線コネクタ 88">
                <a:extLst>
                  <a:ext uri="{FF2B5EF4-FFF2-40B4-BE49-F238E27FC236}">
                    <a16:creationId xmlns:a16="http://schemas.microsoft.com/office/drawing/2014/main" id="{198C3B02-FFBA-B4D0-D449-DB73FECE5BEE}"/>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6" name="直線コネクタ 85">
              <a:extLst>
                <a:ext uri="{FF2B5EF4-FFF2-40B4-BE49-F238E27FC236}">
                  <a16:creationId xmlns:a16="http://schemas.microsoft.com/office/drawing/2014/main" id="{672CB4A5-3AD3-B0D6-D823-5BC5E863D436}"/>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7" name="直線コネクタ 86">
              <a:extLst>
                <a:ext uri="{FF2B5EF4-FFF2-40B4-BE49-F238E27FC236}">
                  <a16:creationId xmlns:a16="http://schemas.microsoft.com/office/drawing/2014/main" id="{A0DD468B-01C0-2F4F-4825-F6A8AD1D02AE}"/>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6717904" y="2394307"/>
            <a:ext cx="209591" cy="435539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78025" y="2394307"/>
            <a:ext cx="0" cy="4360878"/>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p:nvPr userDrawn="1"/>
        </p:nvCxnSpPr>
        <p:spPr>
          <a:xfrm>
            <a:off x="12664004" y="2407926"/>
            <a:ext cx="0" cy="4360878"/>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3745187" y="2436729"/>
            <a:ext cx="209591" cy="435539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998697" y="3784985"/>
            <a:ext cx="2654608"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3974786" y="3797494"/>
            <a:ext cx="2654608"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6971806" y="3784985"/>
            <a:ext cx="2654608"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5" name="Text Placeholder 3">
            <a:extLst>
              <a:ext uri="{FF2B5EF4-FFF2-40B4-BE49-F238E27FC236}">
                <a16:creationId xmlns:a16="http://schemas.microsoft.com/office/drawing/2014/main" id="{5DC40CB0-CF89-06B0-15F2-001456AED622}"/>
              </a:ext>
            </a:extLst>
          </p:cNvPr>
          <p:cNvSpPr>
            <a:spLocks noGrp="1"/>
          </p:cNvSpPr>
          <p:nvPr>
            <p:ph type="body" sz="half" idx="16" hasCustomPrompt="1"/>
          </p:nvPr>
        </p:nvSpPr>
        <p:spPr>
          <a:xfrm>
            <a:off x="9921889" y="3784985"/>
            <a:ext cx="2654608"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10" name="Title 1">
            <a:extLst>
              <a:ext uri="{FF2B5EF4-FFF2-40B4-BE49-F238E27FC236}">
                <a16:creationId xmlns:a16="http://schemas.microsoft.com/office/drawing/2014/main" id="{EA17699E-E28A-A32E-64EF-819E35538314}"/>
              </a:ext>
            </a:extLst>
          </p:cNvPr>
          <p:cNvSpPr>
            <a:spLocks noGrp="1"/>
          </p:cNvSpPr>
          <p:nvPr>
            <p:ph type="title" hasCustomPrompt="1"/>
          </p:nvPr>
        </p:nvSpPr>
        <p:spPr>
          <a:xfrm>
            <a:off x="814546" y="405063"/>
            <a:ext cx="11810918" cy="402483"/>
          </a:xfrm>
          <a:prstGeom prst="rect">
            <a:avLst/>
          </a:prstGeom>
        </p:spPr>
        <p:txBody>
          <a:bodyPr lIns="0" tIns="0" rIns="0" bIns="0">
            <a:noAutofit/>
          </a:bodyPr>
          <a:lstStyle>
            <a:lvl1pPr>
              <a:defRPr sz="2800" b="0">
                <a:latin typeface="+mj-ea"/>
                <a:ea typeface="+mj-ea"/>
              </a:defRPr>
            </a:lvl1pPr>
          </a:lstStyle>
          <a:p>
            <a:r>
              <a:rPr lang="ja-JP" altLang="en-US"/>
              <a:t>タイトルが入ります</a:t>
            </a:r>
            <a:endParaRPr lang="en-US"/>
          </a:p>
        </p:txBody>
      </p:sp>
      <p:sp>
        <p:nvSpPr>
          <p:cNvPr id="111" name="正方形/長方形 110">
            <a:extLst>
              <a:ext uri="{FF2B5EF4-FFF2-40B4-BE49-F238E27FC236}">
                <a16:creationId xmlns:a16="http://schemas.microsoft.com/office/drawing/2014/main" id="{D9354407-8F6B-98CD-0219-8ECFBEC0C56D}"/>
              </a:ext>
            </a:extLst>
          </p:cNvPr>
          <p:cNvSpPr/>
          <p:nvPr userDrawn="1"/>
        </p:nvSpPr>
        <p:spPr>
          <a:xfrm flipV="1">
            <a:off x="797689" y="809974"/>
            <a:ext cx="11827398" cy="893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p>
        </p:txBody>
      </p:sp>
      <p:sp>
        <p:nvSpPr>
          <p:cNvPr id="2" name="Text Placeholder 3">
            <a:extLst>
              <a:ext uri="{FF2B5EF4-FFF2-40B4-BE49-F238E27FC236}">
                <a16:creationId xmlns:a16="http://schemas.microsoft.com/office/drawing/2014/main" id="{8E1F175E-5ECB-471A-1E2D-8D505757BC59}"/>
              </a:ext>
            </a:extLst>
          </p:cNvPr>
          <p:cNvSpPr>
            <a:spLocks noGrp="1"/>
          </p:cNvSpPr>
          <p:nvPr>
            <p:ph type="body" sz="half" idx="2" hasCustomPrompt="1"/>
          </p:nvPr>
        </p:nvSpPr>
        <p:spPr>
          <a:xfrm>
            <a:off x="814169" y="991351"/>
            <a:ext cx="11810918" cy="245256"/>
          </a:xfrm>
          <a:prstGeom prst="rect">
            <a:avLst/>
          </a:prstGeom>
        </p:spPr>
        <p:txBody>
          <a:bodyPr lIns="0" tIns="0" rIns="0" bIns="0">
            <a:noAutofit/>
          </a:bodyPr>
          <a:lstStyle>
            <a:lvl1pPr marL="0" indent="0" algn="l">
              <a:buNone/>
              <a:defRPr sz="2000" b="1">
                <a:solidFill>
                  <a:schemeClr val="tx1"/>
                </a:solidFill>
                <a:latin typeface="+mj-ea"/>
                <a:ea typeface="+mj-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3974786" y="3296055"/>
            <a:ext cx="1222399"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6964546" y="3267869"/>
            <a:ext cx="1222399"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sp>
        <p:nvSpPr>
          <p:cNvPr id="6" name="Text Placeholder 3">
            <a:extLst>
              <a:ext uri="{FF2B5EF4-FFF2-40B4-BE49-F238E27FC236}">
                <a16:creationId xmlns:a16="http://schemas.microsoft.com/office/drawing/2014/main" id="{F9581288-422D-8EE3-EF12-2FF43008D0D6}"/>
              </a:ext>
            </a:extLst>
          </p:cNvPr>
          <p:cNvSpPr>
            <a:spLocks noGrp="1"/>
          </p:cNvSpPr>
          <p:nvPr>
            <p:ph type="body" sz="half" idx="20" hasCustomPrompt="1"/>
          </p:nvPr>
        </p:nvSpPr>
        <p:spPr>
          <a:xfrm>
            <a:off x="9917902" y="3296055"/>
            <a:ext cx="1222399"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sp>
        <p:nvSpPr>
          <p:cNvPr id="10" name="Text Placeholder 3">
            <a:extLst>
              <a:ext uri="{FF2B5EF4-FFF2-40B4-BE49-F238E27FC236}">
                <a16:creationId xmlns:a16="http://schemas.microsoft.com/office/drawing/2014/main" id="{43F98BC1-121C-665C-5E5A-3C2BF34A4CA7}"/>
              </a:ext>
            </a:extLst>
          </p:cNvPr>
          <p:cNvSpPr>
            <a:spLocks noGrp="1"/>
          </p:cNvSpPr>
          <p:nvPr>
            <p:ph type="body" sz="half" idx="24" hasCustomPrompt="1"/>
          </p:nvPr>
        </p:nvSpPr>
        <p:spPr>
          <a:xfrm>
            <a:off x="11841231" y="2443151"/>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5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4</a:t>
            </a:r>
            <a:endParaRPr kumimoji="1" lang="ja-JP" altLang="en-US"/>
          </a:p>
        </p:txBody>
      </p:sp>
    </p:spTree>
    <p:extLst>
      <p:ext uri="{BB962C8B-B14F-4D97-AF65-F5344CB8AC3E}">
        <p14:creationId xmlns:p14="http://schemas.microsoft.com/office/powerpoint/2010/main" val="339934971"/>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423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5E2D3D2-2274-E408-BE20-FFD2DD9DC589}"/>
              </a:ext>
            </a:extLst>
          </p:cNvPr>
          <p:cNvSpPr>
            <a:spLocks noGrp="1"/>
          </p:cNvSpPr>
          <p:nvPr>
            <p:ph type="body" sz="half" idx="23" hasCustomPrompt="1"/>
          </p:nvPr>
        </p:nvSpPr>
        <p:spPr>
          <a:xfrm>
            <a:off x="11714391" y="2443151"/>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5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3</a:t>
            </a:r>
            <a:endParaRPr kumimoji="1" lang="ja-JP" altLang="en-US"/>
          </a:p>
        </p:txBody>
      </p:sp>
      <p:sp>
        <p:nvSpPr>
          <p:cNvPr id="8" name="Text Placeholder 3">
            <a:extLst>
              <a:ext uri="{FF2B5EF4-FFF2-40B4-BE49-F238E27FC236}">
                <a16:creationId xmlns:a16="http://schemas.microsoft.com/office/drawing/2014/main" id="{86697598-81C6-D556-9ADC-4E90B5091447}"/>
              </a:ext>
            </a:extLst>
          </p:cNvPr>
          <p:cNvSpPr>
            <a:spLocks noGrp="1"/>
          </p:cNvSpPr>
          <p:nvPr>
            <p:ph type="body" sz="half" idx="22" hasCustomPrompt="1"/>
          </p:nvPr>
        </p:nvSpPr>
        <p:spPr>
          <a:xfrm>
            <a:off x="7682426" y="2445852"/>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5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2</a:t>
            </a:r>
            <a:endParaRPr kumimoji="1" lang="ja-JP" altLang="en-US"/>
          </a:p>
        </p:txBody>
      </p:sp>
      <p:sp>
        <p:nvSpPr>
          <p:cNvPr id="7" name="Text Placeholder 3">
            <a:extLst>
              <a:ext uri="{FF2B5EF4-FFF2-40B4-BE49-F238E27FC236}">
                <a16:creationId xmlns:a16="http://schemas.microsoft.com/office/drawing/2014/main" id="{6482A0C8-D5C3-9AAF-6EE0-EDDAD5D45103}"/>
              </a:ext>
            </a:extLst>
          </p:cNvPr>
          <p:cNvSpPr>
            <a:spLocks noGrp="1"/>
          </p:cNvSpPr>
          <p:nvPr>
            <p:ph type="body" sz="half" idx="21" hasCustomPrompt="1"/>
          </p:nvPr>
        </p:nvSpPr>
        <p:spPr>
          <a:xfrm>
            <a:off x="3650569" y="2446844"/>
            <a:ext cx="660438" cy="1477328"/>
          </a:xfrm>
          <a:prstGeom prst="rect">
            <a:avLst/>
          </a:prstGeom>
          <a:noFill/>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9600" b="1" spc="115" baseline="0">
                <a:gradFill>
                  <a:gsLst>
                    <a:gs pos="94000">
                      <a:schemeClr val="bg2">
                        <a:lumMod val="50000"/>
                      </a:schemeClr>
                    </a:gs>
                    <a:gs pos="0">
                      <a:schemeClr val="accent1">
                        <a:lumMod val="20000"/>
                        <a:lumOff val="80000"/>
                      </a:schemeClr>
                    </a:gs>
                  </a:gsLst>
                  <a:lin ang="14400000" scaled="0"/>
                </a:gradFill>
                <a:latin typeface="+mj-lt"/>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en-US" altLang="ja-JP"/>
              <a:t>1</a:t>
            </a:r>
            <a:endParaRPr kumimoji="1" lang="ja-JP" altLang="en-US"/>
          </a:p>
        </p:txBody>
      </p:sp>
      <p:sp>
        <p:nvSpPr>
          <p:cNvPr id="3" name="Text Placeholder 3">
            <a:extLst>
              <a:ext uri="{FF2B5EF4-FFF2-40B4-BE49-F238E27FC236}">
                <a16:creationId xmlns:a16="http://schemas.microsoft.com/office/drawing/2014/main" id="{81770D32-DE95-2AB1-672B-637E4C000F01}"/>
              </a:ext>
            </a:extLst>
          </p:cNvPr>
          <p:cNvSpPr>
            <a:spLocks noGrp="1"/>
          </p:cNvSpPr>
          <p:nvPr>
            <p:ph type="body" sz="half" idx="17" hasCustomPrompt="1"/>
          </p:nvPr>
        </p:nvSpPr>
        <p:spPr>
          <a:xfrm>
            <a:off x="1071651" y="3252427"/>
            <a:ext cx="2403065"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grpSp>
        <p:nvGrpSpPr>
          <p:cNvPr id="78" name="グループ化 77">
            <a:extLst>
              <a:ext uri="{FF2B5EF4-FFF2-40B4-BE49-F238E27FC236}">
                <a16:creationId xmlns:a16="http://schemas.microsoft.com/office/drawing/2014/main" id="{2E82FF43-F3CB-38AA-29FD-E80A93A10A7C}"/>
              </a:ext>
            </a:extLst>
          </p:cNvPr>
          <p:cNvGrpSpPr/>
          <p:nvPr userDrawn="1"/>
        </p:nvGrpSpPr>
        <p:grpSpPr>
          <a:xfrm>
            <a:off x="8632148" y="2415518"/>
            <a:ext cx="209591" cy="4355394"/>
            <a:chOff x="3779235" y="2382999"/>
            <a:chExt cx="209591" cy="4378192"/>
          </a:xfrm>
        </p:grpSpPr>
        <p:grpSp>
          <p:nvGrpSpPr>
            <p:cNvPr id="79" name="グループ化 78">
              <a:extLst>
                <a:ext uri="{FF2B5EF4-FFF2-40B4-BE49-F238E27FC236}">
                  <a16:creationId xmlns:a16="http://schemas.microsoft.com/office/drawing/2014/main" id="{B29E3EE1-17E5-6CDC-A15D-A638DE2DD3A8}"/>
                </a:ext>
              </a:extLst>
            </p:cNvPr>
            <p:cNvGrpSpPr/>
            <p:nvPr userDrawn="1"/>
          </p:nvGrpSpPr>
          <p:grpSpPr>
            <a:xfrm>
              <a:off x="3779235" y="2382999"/>
              <a:ext cx="209107" cy="2184968"/>
              <a:chOff x="919218" y="2399232"/>
              <a:chExt cx="206847" cy="2167379"/>
            </a:xfrm>
          </p:grpSpPr>
          <p:cxnSp>
            <p:nvCxnSpPr>
              <p:cNvPr id="82" name="直線コネクタ 81">
                <a:extLst>
                  <a:ext uri="{FF2B5EF4-FFF2-40B4-BE49-F238E27FC236}">
                    <a16:creationId xmlns:a16="http://schemas.microsoft.com/office/drawing/2014/main" id="{E666A0CA-C7BC-155B-AD63-BE899A087B0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3" name="直線コネクタ 82">
                <a:extLst>
                  <a:ext uri="{FF2B5EF4-FFF2-40B4-BE49-F238E27FC236}">
                    <a16:creationId xmlns:a16="http://schemas.microsoft.com/office/drawing/2014/main" id="{D06A146E-9034-0DB8-C1C9-94A226B11C40}"/>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80" name="直線コネクタ 79">
              <a:extLst>
                <a:ext uri="{FF2B5EF4-FFF2-40B4-BE49-F238E27FC236}">
                  <a16:creationId xmlns:a16="http://schemas.microsoft.com/office/drawing/2014/main" id="{B49D55DF-5E3D-578C-A264-0C583FEF4AFA}"/>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81" name="直線コネクタ 80">
              <a:extLst>
                <a:ext uri="{FF2B5EF4-FFF2-40B4-BE49-F238E27FC236}">
                  <a16:creationId xmlns:a16="http://schemas.microsoft.com/office/drawing/2014/main" id="{8EAE4729-DBDB-5A6B-F71E-CD6B2BD13701}"/>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20" name="直線コネクタ 19">
            <a:extLst>
              <a:ext uri="{FF2B5EF4-FFF2-40B4-BE49-F238E27FC236}">
                <a16:creationId xmlns:a16="http://schemas.microsoft.com/office/drawing/2014/main" id="{F9D783DC-4B69-92A9-E4DE-D16643ECF07B}"/>
              </a:ext>
            </a:extLst>
          </p:cNvPr>
          <p:cNvCxnSpPr>
            <a:cxnSpLocks/>
          </p:cNvCxnSpPr>
          <p:nvPr userDrawn="1"/>
        </p:nvCxnSpPr>
        <p:spPr>
          <a:xfrm>
            <a:off x="778025" y="2412776"/>
            <a:ext cx="0" cy="4360878"/>
          </a:xfrm>
          <a:prstGeom prst="line">
            <a:avLst/>
          </a:prstGeom>
        </p:spPr>
        <p:style>
          <a:lnRef idx="2">
            <a:schemeClr val="dk1"/>
          </a:lnRef>
          <a:fillRef idx="0">
            <a:schemeClr val="dk1"/>
          </a:fillRef>
          <a:effectRef idx="1">
            <a:schemeClr val="dk1"/>
          </a:effectRef>
          <a:fontRef idx="minor">
            <a:schemeClr val="tx1"/>
          </a:fontRef>
        </p:style>
      </p:cxnSp>
      <p:cxnSp>
        <p:nvCxnSpPr>
          <p:cNvPr id="23" name="直線コネクタ 22">
            <a:extLst>
              <a:ext uri="{FF2B5EF4-FFF2-40B4-BE49-F238E27FC236}">
                <a16:creationId xmlns:a16="http://schemas.microsoft.com/office/drawing/2014/main" id="{C5CEEA35-9195-6E8D-4719-50F07FB25C34}"/>
              </a:ext>
            </a:extLst>
          </p:cNvPr>
          <p:cNvCxnSpPr>
            <a:cxnSpLocks/>
          </p:cNvCxnSpPr>
          <p:nvPr userDrawn="1"/>
        </p:nvCxnSpPr>
        <p:spPr>
          <a:xfrm>
            <a:off x="12664004" y="2412776"/>
            <a:ext cx="0" cy="4360878"/>
          </a:xfrm>
          <a:prstGeom prst="line">
            <a:avLst/>
          </a:prstGeom>
        </p:spPr>
        <p:style>
          <a:lnRef idx="2">
            <a:schemeClr val="dk1"/>
          </a:lnRef>
          <a:fillRef idx="0">
            <a:schemeClr val="dk1"/>
          </a:fillRef>
          <a:effectRef idx="1">
            <a:schemeClr val="dk1"/>
          </a:effectRef>
          <a:fontRef idx="minor">
            <a:schemeClr val="tx1"/>
          </a:fontRef>
        </p:style>
      </p:cxnSp>
      <p:grpSp>
        <p:nvGrpSpPr>
          <p:cNvPr id="77" name="グループ化 76">
            <a:extLst>
              <a:ext uri="{FF2B5EF4-FFF2-40B4-BE49-F238E27FC236}">
                <a16:creationId xmlns:a16="http://schemas.microsoft.com/office/drawing/2014/main" id="{23D633D8-6538-1A44-0B9E-E93F252F9DE2}"/>
              </a:ext>
            </a:extLst>
          </p:cNvPr>
          <p:cNvGrpSpPr/>
          <p:nvPr userDrawn="1"/>
        </p:nvGrpSpPr>
        <p:grpSpPr>
          <a:xfrm>
            <a:off x="4600291" y="2415518"/>
            <a:ext cx="209591" cy="4355394"/>
            <a:chOff x="3779235" y="2382999"/>
            <a:chExt cx="209591" cy="4378192"/>
          </a:xfrm>
        </p:grpSpPr>
        <p:grpSp>
          <p:nvGrpSpPr>
            <p:cNvPr id="48" name="グループ化 47">
              <a:extLst>
                <a:ext uri="{FF2B5EF4-FFF2-40B4-BE49-F238E27FC236}">
                  <a16:creationId xmlns:a16="http://schemas.microsoft.com/office/drawing/2014/main" id="{CA8A8A81-A972-7D20-0745-5C5380CE77BF}"/>
                </a:ext>
              </a:extLst>
            </p:cNvPr>
            <p:cNvGrpSpPr/>
            <p:nvPr userDrawn="1"/>
          </p:nvGrpSpPr>
          <p:grpSpPr>
            <a:xfrm>
              <a:off x="3779235" y="2382999"/>
              <a:ext cx="209107" cy="2184968"/>
              <a:chOff x="919218" y="2399232"/>
              <a:chExt cx="206847" cy="2167379"/>
            </a:xfrm>
          </p:grpSpPr>
          <p:cxnSp>
            <p:nvCxnSpPr>
              <p:cNvPr id="32" name="直線コネクタ 31">
                <a:extLst>
                  <a:ext uri="{FF2B5EF4-FFF2-40B4-BE49-F238E27FC236}">
                    <a16:creationId xmlns:a16="http://schemas.microsoft.com/office/drawing/2014/main" id="{EFCDFDCB-8E60-9D06-18B7-CCBB86354F6F}"/>
                  </a:ext>
                </a:extLst>
              </p:cNvPr>
              <p:cNvCxnSpPr>
                <a:cxnSpLocks/>
              </p:cNvCxnSpPr>
              <p:nvPr userDrawn="1"/>
            </p:nvCxnSpPr>
            <p:spPr>
              <a:xfrm>
                <a:off x="921207" y="4394243"/>
                <a:ext cx="204858" cy="172368"/>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46" name="直線コネクタ 45">
                <a:extLst>
                  <a:ext uri="{FF2B5EF4-FFF2-40B4-BE49-F238E27FC236}">
                    <a16:creationId xmlns:a16="http://schemas.microsoft.com/office/drawing/2014/main" id="{D1003E30-9D21-E52F-15E7-4C3D9BFE104C}"/>
                  </a:ext>
                </a:extLst>
              </p:cNvPr>
              <p:cNvCxnSpPr>
                <a:cxnSpLocks/>
              </p:cNvCxnSpPr>
              <p:nvPr userDrawn="1"/>
            </p:nvCxnSpPr>
            <p:spPr>
              <a:xfrm>
                <a:off x="919218" y="2399232"/>
                <a:ext cx="0" cy="199501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cxnSp>
          <p:nvCxnSpPr>
            <p:cNvPr id="74" name="直線コネクタ 73">
              <a:extLst>
                <a:ext uri="{FF2B5EF4-FFF2-40B4-BE49-F238E27FC236}">
                  <a16:creationId xmlns:a16="http://schemas.microsoft.com/office/drawing/2014/main" id="{6E779CC7-6FA4-C10D-CFFA-7CB88DE2DF18}"/>
                </a:ext>
              </a:extLst>
            </p:cNvPr>
            <p:cNvCxnSpPr>
              <a:cxnSpLocks/>
            </p:cNvCxnSpPr>
            <p:nvPr userDrawn="1"/>
          </p:nvCxnSpPr>
          <p:spPr>
            <a:xfrm flipH="1">
              <a:off x="3781730" y="4573507"/>
              <a:ext cx="207096" cy="173767"/>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cxnSp>
          <p:nvCxnSpPr>
            <p:cNvPr id="76" name="直線コネクタ 75">
              <a:extLst>
                <a:ext uri="{FF2B5EF4-FFF2-40B4-BE49-F238E27FC236}">
                  <a16:creationId xmlns:a16="http://schemas.microsoft.com/office/drawing/2014/main" id="{ACC6F3F9-BCBB-C7B7-50AE-9AC938DE757D}"/>
                </a:ext>
              </a:extLst>
            </p:cNvPr>
            <p:cNvCxnSpPr>
              <a:cxnSpLocks/>
            </p:cNvCxnSpPr>
            <p:nvPr userDrawn="1"/>
          </p:nvCxnSpPr>
          <p:spPr>
            <a:xfrm>
              <a:off x="3781861" y="4749989"/>
              <a:ext cx="0" cy="2011202"/>
            </a:xfrm>
            <a:prstGeom prst="line">
              <a:avLst/>
            </a:prstGeom>
            <a:ln cap="rnd">
              <a:solidFill>
                <a:schemeClr val="tx1"/>
              </a:solidFill>
              <a:round/>
            </a:ln>
          </p:spPr>
          <p:style>
            <a:lnRef idx="2">
              <a:schemeClr val="dk1"/>
            </a:lnRef>
            <a:fillRef idx="0">
              <a:schemeClr val="dk1"/>
            </a:fillRef>
            <a:effectRef idx="1">
              <a:schemeClr val="dk1"/>
            </a:effectRef>
            <a:fontRef idx="minor">
              <a:schemeClr val="tx1"/>
            </a:fontRef>
          </p:style>
        </p:cxnSp>
      </p:grpSp>
      <p:sp>
        <p:nvSpPr>
          <p:cNvPr id="99" name="Text Placeholder 3">
            <a:extLst>
              <a:ext uri="{FF2B5EF4-FFF2-40B4-BE49-F238E27FC236}">
                <a16:creationId xmlns:a16="http://schemas.microsoft.com/office/drawing/2014/main" id="{C0647203-DCBB-F2C5-E8F6-4B1AB939D36F}"/>
              </a:ext>
            </a:extLst>
          </p:cNvPr>
          <p:cNvSpPr>
            <a:spLocks noGrp="1"/>
          </p:cNvSpPr>
          <p:nvPr>
            <p:ph type="body" sz="half" idx="13" hasCustomPrompt="1"/>
          </p:nvPr>
        </p:nvSpPr>
        <p:spPr>
          <a:xfrm>
            <a:off x="1071056" y="3945853"/>
            <a:ext cx="3239949"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3" name="Text Placeholder 3">
            <a:extLst>
              <a:ext uri="{FF2B5EF4-FFF2-40B4-BE49-F238E27FC236}">
                <a16:creationId xmlns:a16="http://schemas.microsoft.com/office/drawing/2014/main" id="{1055DA69-2BDB-321C-1D09-8ADFC6E93110}"/>
              </a:ext>
            </a:extLst>
          </p:cNvPr>
          <p:cNvSpPr>
            <a:spLocks noGrp="1"/>
          </p:cNvSpPr>
          <p:nvPr>
            <p:ph type="body" sz="half" idx="14" hasCustomPrompt="1"/>
          </p:nvPr>
        </p:nvSpPr>
        <p:spPr>
          <a:xfrm>
            <a:off x="4896352" y="3958362"/>
            <a:ext cx="3446508"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4" name="Text Placeholder 3">
            <a:extLst>
              <a:ext uri="{FF2B5EF4-FFF2-40B4-BE49-F238E27FC236}">
                <a16:creationId xmlns:a16="http://schemas.microsoft.com/office/drawing/2014/main" id="{2113153F-751A-1AF2-A374-56161C3D2816}"/>
              </a:ext>
            </a:extLst>
          </p:cNvPr>
          <p:cNvSpPr>
            <a:spLocks noGrp="1"/>
          </p:cNvSpPr>
          <p:nvPr>
            <p:ph type="body" sz="half" idx="15" hasCustomPrompt="1"/>
          </p:nvPr>
        </p:nvSpPr>
        <p:spPr>
          <a:xfrm>
            <a:off x="8928692" y="3945853"/>
            <a:ext cx="3446505" cy="2751592"/>
          </a:xfrm>
          <a:prstGeom prst="rect">
            <a:avLst/>
          </a:prstGeom>
        </p:spPr>
        <p:txBody>
          <a:bodyPr lIns="0" tIns="0" rIns="0" bIns="0">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600" b="0"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a:t>
            </a:r>
          </a:p>
        </p:txBody>
      </p:sp>
      <p:sp>
        <p:nvSpPr>
          <p:cNvPr id="109" name="Slide Number Placeholder 4">
            <a:extLst>
              <a:ext uri="{FF2B5EF4-FFF2-40B4-BE49-F238E27FC236}">
                <a16:creationId xmlns:a16="http://schemas.microsoft.com/office/drawing/2014/main" id="{1C5970DD-41BF-271E-6202-A4E285A4FB2C}"/>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4" name="Text Placeholder 3">
            <a:extLst>
              <a:ext uri="{FF2B5EF4-FFF2-40B4-BE49-F238E27FC236}">
                <a16:creationId xmlns:a16="http://schemas.microsoft.com/office/drawing/2014/main" id="{730183C0-6A77-0AEE-05D3-5764D1E5C155}"/>
              </a:ext>
            </a:extLst>
          </p:cNvPr>
          <p:cNvSpPr>
            <a:spLocks noGrp="1"/>
          </p:cNvSpPr>
          <p:nvPr>
            <p:ph type="body" sz="half" idx="18" hasCustomPrompt="1"/>
          </p:nvPr>
        </p:nvSpPr>
        <p:spPr>
          <a:xfrm>
            <a:off x="4896352" y="3296055"/>
            <a:ext cx="2607589"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sp>
        <p:nvSpPr>
          <p:cNvPr id="5" name="Text Placeholder 3">
            <a:extLst>
              <a:ext uri="{FF2B5EF4-FFF2-40B4-BE49-F238E27FC236}">
                <a16:creationId xmlns:a16="http://schemas.microsoft.com/office/drawing/2014/main" id="{E5FE3D3D-1FA5-E3B5-0A11-8B90030109D2}"/>
              </a:ext>
            </a:extLst>
          </p:cNvPr>
          <p:cNvSpPr>
            <a:spLocks noGrp="1"/>
          </p:cNvSpPr>
          <p:nvPr>
            <p:ph type="body" sz="half" idx="19" hasCustomPrompt="1"/>
          </p:nvPr>
        </p:nvSpPr>
        <p:spPr>
          <a:xfrm>
            <a:off x="8921433" y="3267869"/>
            <a:ext cx="2503558" cy="369332"/>
          </a:xfrm>
          <a:prstGeom prst="rect">
            <a:avLst/>
          </a:prstGeom>
        </p:spPr>
        <p:txBody>
          <a:bodyPr lIns="0" tIns="0" rIns="0" bIns="0" anchor="ctr">
            <a:noAutofit/>
          </a:bodyPr>
          <a:lstStyle>
            <a:lvl1pPr marL="0" marR="0" indent="0" algn="just" defTabSz="1007943" rtl="0" eaLnBrk="1" fontAlgn="auto" latinLnBrk="0" hangingPunct="1">
              <a:lnSpc>
                <a:spcPct val="110000"/>
              </a:lnSpc>
              <a:spcBef>
                <a:spcPts val="1102"/>
              </a:spcBef>
              <a:spcAft>
                <a:spcPts val="0"/>
              </a:spcAft>
              <a:buClrTx/>
              <a:buSzTx/>
              <a:buFont typeface="Arial" panose="020B0604020202020204" pitchFamily="34" charset="0"/>
              <a:buNone/>
              <a:tabLst/>
              <a:defRPr sz="1800" b="1" spc="115" baseline="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タイトル</a:t>
            </a:r>
          </a:p>
        </p:txBody>
      </p:sp>
      <p:sp>
        <p:nvSpPr>
          <p:cNvPr id="11" name="Title 1">
            <a:extLst>
              <a:ext uri="{FF2B5EF4-FFF2-40B4-BE49-F238E27FC236}">
                <a16:creationId xmlns:a16="http://schemas.microsoft.com/office/drawing/2014/main" id="{D771318B-6A52-C879-20C9-001B5F4C0137}"/>
              </a:ext>
            </a:extLst>
          </p:cNvPr>
          <p:cNvSpPr>
            <a:spLocks noGrp="1"/>
          </p:cNvSpPr>
          <p:nvPr>
            <p:ph type="title" hasCustomPrompt="1"/>
          </p:nvPr>
        </p:nvSpPr>
        <p:spPr>
          <a:xfrm>
            <a:off x="814169" y="869329"/>
            <a:ext cx="11810918" cy="760462"/>
          </a:xfrm>
          <a:prstGeom prst="rect">
            <a:avLst/>
          </a:prstGeom>
        </p:spPr>
        <p:txBody>
          <a:bodyPr lIns="0" tIns="0" rIns="0" bIns="0">
            <a:noAutofit/>
          </a:bodyPr>
          <a:lstStyle>
            <a:lvl1pPr algn="ctr">
              <a:defRPr sz="4400" b="1">
                <a:solidFill>
                  <a:schemeClr val="bg2">
                    <a:lumMod val="50000"/>
                  </a:schemeClr>
                </a:solidFill>
                <a:latin typeface="+mn-ea"/>
                <a:ea typeface="+mn-ea"/>
              </a:defRPr>
            </a:lvl1pPr>
          </a:lstStyle>
          <a:p>
            <a:r>
              <a:rPr lang="ja-JP" altLang="en-US"/>
              <a:t>タイトルが入ります</a:t>
            </a:r>
            <a:endParaRPr lang="en-US"/>
          </a:p>
        </p:txBody>
      </p:sp>
      <p:sp>
        <p:nvSpPr>
          <p:cNvPr id="12" name="Text Placeholder 3">
            <a:extLst>
              <a:ext uri="{FF2B5EF4-FFF2-40B4-BE49-F238E27FC236}">
                <a16:creationId xmlns:a16="http://schemas.microsoft.com/office/drawing/2014/main" id="{2C7FCACB-61D6-0A4A-592D-E89D26182D9C}"/>
              </a:ext>
            </a:extLst>
          </p:cNvPr>
          <p:cNvSpPr>
            <a:spLocks noGrp="1"/>
          </p:cNvSpPr>
          <p:nvPr>
            <p:ph type="body" sz="half" idx="25" hasCustomPrompt="1"/>
          </p:nvPr>
        </p:nvSpPr>
        <p:spPr>
          <a:xfrm>
            <a:off x="813792" y="415780"/>
            <a:ext cx="11810918" cy="245256"/>
          </a:xfrm>
          <a:prstGeom prst="rect">
            <a:avLst/>
          </a:prstGeom>
        </p:spPr>
        <p:txBody>
          <a:bodyPr lIns="0" tIns="0" rIns="0" bIns="0">
            <a:noAutofit/>
          </a:bodyPr>
          <a:lstStyle>
            <a:lvl1pPr marL="0" indent="0" algn="l">
              <a:buNone/>
              <a:defRPr sz="2000" b="1">
                <a:solidFill>
                  <a:schemeClr val="tx2"/>
                </a:solidFill>
                <a:latin typeface="+mj-ea"/>
                <a:ea typeface="+mj-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Tree>
    <p:extLst>
      <p:ext uri="{BB962C8B-B14F-4D97-AF65-F5344CB8AC3E}">
        <p14:creationId xmlns:p14="http://schemas.microsoft.com/office/powerpoint/2010/main" val="1098013097"/>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423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B9DD1BC7-3980-0C96-2751-31697F7F4867}"/>
              </a:ext>
            </a:extLst>
          </p:cNvPr>
          <p:cNvGrpSpPr/>
          <p:nvPr userDrawn="1"/>
        </p:nvGrpSpPr>
        <p:grpSpPr>
          <a:xfrm>
            <a:off x="9385918" y="2101699"/>
            <a:ext cx="3387055" cy="532426"/>
            <a:chOff x="9638795" y="2160001"/>
            <a:chExt cx="3387055" cy="3077019"/>
          </a:xfrm>
          <a:solidFill>
            <a:schemeClr val="accent1"/>
          </a:solidFill>
          <a:effectLst/>
        </p:grpSpPr>
        <p:sp>
          <p:nvSpPr>
            <p:cNvPr id="9" name="正方形/長方形 8">
              <a:extLst>
                <a:ext uri="{FF2B5EF4-FFF2-40B4-BE49-F238E27FC236}">
                  <a16:creationId xmlns:a16="http://schemas.microsoft.com/office/drawing/2014/main" id="{5B4B8025-F3FB-4423-A09F-29504390EA20}"/>
                </a:ext>
              </a:extLst>
            </p:cNvPr>
            <p:cNvSpPr/>
            <p:nvPr userDrawn="1"/>
          </p:nvSpPr>
          <p:spPr>
            <a:xfrm>
              <a:off x="9638795"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二等辺三角形 11">
              <a:extLst>
                <a:ext uri="{FF2B5EF4-FFF2-40B4-BE49-F238E27FC236}">
                  <a16:creationId xmlns:a16="http://schemas.microsoft.com/office/drawing/2014/main" id="{5170295F-A81D-48B3-AD2B-AE78494A83A6}"/>
                </a:ext>
              </a:extLst>
            </p:cNvPr>
            <p:cNvSpPr/>
            <p:nvPr userDrawn="1"/>
          </p:nvSpPr>
          <p:spPr>
            <a:xfrm rot="5400000">
              <a:off x="11261869" y="3473040"/>
              <a:ext cx="3077019" cy="450942"/>
            </a:xfrm>
            <a:prstGeom prst="triangle">
              <a:avLst/>
            </a:prstGeom>
            <a:grpFill/>
            <a:ln>
              <a:noFill/>
            </a:ln>
            <a:effectLst>
              <a:outerShdw blurRad="50800" dist="381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sp>
        <p:nvSpPr>
          <p:cNvPr id="28" name="二等辺三角形 10">
            <a:extLst>
              <a:ext uri="{FF2B5EF4-FFF2-40B4-BE49-F238E27FC236}">
                <a16:creationId xmlns:a16="http://schemas.microsoft.com/office/drawing/2014/main" id="{7E812083-83F7-B2C2-81AC-BF8D56D23646}"/>
              </a:ext>
            </a:extLst>
          </p:cNvPr>
          <p:cNvSpPr/>
          <p:nvPr userDrawn="1"/>
        </p:nvSpPr>
        <p:spPr>
          <a:xfrm rot="5400000">
            <a:off x="9313265" y="2097547"/>
            <a:ext cx="634798" cy="537644"/>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800"/>
              <a:t>C</a:t>
            </a:r>
            <a:endParaRPr kumimoji="1" lang="ja-JP" altLang="en-US" sz="1800"/>
          </a:p>
        </p:txBody>
      </p:sp>
      <p:grpSp>
        <p:nvGrpSpPr>
          <p:cNvPr id="22" name="グループ化 21">
            <a:extLst>
              <a:ext uri="{FF2B5EF4-FFF2-40B4-BE49-F238E27FC236}">
                <a16:creationId xmlns:a16="http://schemas.microsoft.com/office/drawing/2014/main" id="{D05F8747-21CD-50CD-6E50-56D00AB8B3AA}"/>
              </a:ext>
            </a:extLst>
          </p:cNvPr>
          <p:cNvGrpSpPr/>
          <p:nvPr userDrawn="1"/>
        </p:nvGrpSpPr>
        <p:grpSpPr>
          <a:xfrm>
            <a:off x="6444502" y="2101698"/>
            <a:ext cx="3392426" cy="532427"/>
            <a:chOff x="6697379" y="2160001"/>
            <a:chExt cx="3392426" cy="3077023"/>
          </a:xfrm>
          <a:solidFill>
            <a:schemeClr val="accent1"/>
          </a:solidFill>
        </p:grpSpPr>
        <p:sp>
          <p:nvSpPr>
            <p:cNvPr id="8" name="正方形/長方形 7">
              <a:extLst>
                <a:ext uri="{FF2B5EF4-FFF2-40B4-BE49-F238E27FC236}">
                  <a16:creationId xmlns:a16="http://schemas.microsoft.com/office/drawing/2014/main" id="{47A7C1DC-6837-43AB-9B9F-2850EDF1B6E9}"/>
                </a:ext>
              </a:extLst>
            </p:cNvPr>
            <p:cNvSpPr/>
            <p:nvPr userDrawn="1"/>
          </p:nvSpPr>
          <p:spPr>
            <a:xfrm>
              <a:off x="6697379"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二等辺三角形 9">
              <a:extLst>
                <a:ext uri="{FF2B5EF4-FFF2-40B4-BE49-F238E27FC236}">
                  <a16:creationId xmlns:a16="http://schemas.microsoft.com/office/drawing/2014/main" id="{DD857EBF-638D-4B7A-A9BA-ADD063F7F618}"/>
                </a:ext>
              </a:extLst>
            </p:cNvPr>
            <p:cNvSpPr/>
            <p:nvPr userDrawn="1"/>
          </p:nvSpPr>
          <p:spPr>
            <a:xfrm rot="5400000">
              <a:off x="8325824" y="3473042"/>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sp>
        <p:nvSpPr>
          <p:cNvPr id="27" name="二等辺三角形 10">
            <a:extLst>
              <a:ext uri="{FF2B5EF4-FFF2-40B4-BE49-F238E27FC236}">
                <a16:creationId xmlns:a16="http://schemas.microsoft.com/office/drawing/2014/main" id="{EA6D61CE-38AE-2D01-DAF3-8BB8B78516D3}"/>
              </a:ext>
            </a:extLst>
          </p:cNvPr>
          <p:cNvSpPr/>
          <p:nvPr userDrawn="1"/>
        </p:nvSpPr>
        <p:spPr>
          <a:xfrm rot="5400000">
            <a:off x="6372292" y="2097546"/>
            <a:ext cx="634798" cy="537644"/>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800"/>
              <a:t>C</a:t>
            </a:r>
            <a:endParaRPr kumimoji="1" lang="ja-JP" altLang="en-US" sz="1800"/>
          </a:p>
        </p:txBody>
      </p:sp>
      <p:grpSp>
        <p:nvGrpSpPr>
          <p:cNvPr id="20" name="グループ化 19">
            <a:extLst>
              <a:ext uri="{FF2B5EF4-FFF2-40B4-BE49-F238E27FC236}">
                <a16:creationId xmlns:a16="http://schemas.microsoft.com/office/drawing/2014/main" id="{8D8DE07F-8DF4-D9B3-1D45-04483F63B588}"/>
              </a:ext>
            </a:extLst>
          </p:cNvPr>
          <p:cNvGrpSpPr/>
          <p:nvPr userDrawn="1"/>
        </p:nvGrpSpPr>
        <p:grpSpPr>
          <a:xfrm>
            <a:off x="3503085" y="2101698"/>
            <a:ext cx="3392359" cy="532427"/>
            <a:chOff x="3755962" y="2160001"/>
            <a:chExt cx="3392359" cy="3077022"/>
          </a:xfrm>
          <a:solidFill>
            <a:schemeClr val="accent1"/>
          </a:solidFill>
        </p:grpSpPr>
        <p:sp>
          <p:nvSpPr>
            <p:cNvPr id="6" name="正方形/長方形 5">
              <a:extLst>
                <a:ext uri="{FF2B5EF4-FFF2-40B4-BE49-F238E27FC236}">
                  <a16:creationId xmlns:a16="http://schemas.microsoft.com/office/drawing/2014/main" id="{7F866882-3358-4B1C-B9BB-23453510852A}"/>
                </a:ext>
              </a:extLst>
            </p:cNvPr>
            <p:cNvSpPr/>
            <p:nvPr userDrawn="1"/>
          </p:nvSpPr>
          <p:spPr>
            <a:xfrm>
              <a:off x="3755962"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a:extLst>
                <a:ext uri="{FF2B5EF4-FFF2-40B4-BE49-F238E27FC236}">
                  <a16:creationId xmlns:a16="http://schemas.microsoft.com/office/drawing/2014/main" id="{E12EFBD9-B0DB-467D-8EA7-95A95923D774}"/>
                </a:ext>
              </a:extLst>
            </p:cNvPr>
            <p:cNvSpPr/>
            <p:nvPr userDrawn="1"/>
          </p:nvSpPr>
          <p:spPr>
            <a:xfrm rot="5400000">
              <a:off x="5384340" y="3473041"/>
              <a:ext cx="3077020" cy="45094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sp>
        <p:nvSpPr>
          <p:cNvPr id="24" name="二等辺三角形 10">
            <a:extLst>
              <a:ext uri="{FF2B5EF4-FFF2-40B4-BE49-F238E27FC236}">
                <a16:creationId xmlns:a16="http://schemas.microsoft.com/office/drawing/2014/main" id="{BD8C0228-5963-C28B-1010-9AB04B993B68}"/>
              </a:ext>
            </a:extLst>
          </p:cNvPr>
          <p:cNvSpPr/>
          <p:nvPr userDrawn="1"/>
        </p:nvSpPr>
        <p:spPr>
          <a:xfrm rot="5400000">
            <a:off x="3431319" y="2097545"/>
            <a:ext cx="634796" cy="537644"/>
          </a:xfrm>
          <a:prstGeom prst="triangl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800" err="1"/>
              <a:t>Cz</a:t>
            </a:r>
            <a:endParaRPr kumimoji="1" lang="ja-JP" altLang="en-US" sz="1800"/>
          </a:p>
        </p:txBody>
      </p:sp>
      <p:grpSp>
        <p:nvGrpSpPr>
          <p:cNvPr id="21" name="グループ化 20">
            <a:extLst>
              <a:ext uri="{FF2B5EF4-FFF2-40B4-BE49-F238E27FC236}">
                <a16:creationId xmlns:a16="http://schemas.microsoft.com/office/drawing/2014/main" id="{48256F1F-06F9-C3BB-40CB-BF4A3CBCDC96}"/>
              </a:ext>
            </a:extLst>
          </p:cNvPr>
          <p:cNvGrpSpPr/>
          <p:nvPr userDrawn="1"/>
        </p:nvGrpSpPr>
        <p:grpSpPr>
          <a:xfrm>
            <a:off x="561669" y="2101699"/>
            <a:ext cx="3391918" cy="532426"/>
            <a:chOff x="814546" y="2160001"/>
            <a:chExt cx="3391918" cy="3077021"/>
          </a:xfrm>
          <a:solidFill>
            <a:schemeClr val="accent1"/>
          </a:solidFill>
        </p:grpSpPr>
        <p:sp>
          <p:nvSpPr>
            <p:cNvPr id="3" name="正方形/長方形 2">
              <a:extLst>
                <a:ext uri="{FF2B5EF4-FFF2-40B4-BE49-F238E27FC236}">
                  <a16:creationId xmlns:a16="http://schemas.microsoft.com/office/drawing/2014/main" id="{E9AC23DF-6E82-48A5-AA8E-A4275CE6481B}"/>
                </a:ext>
              </a:extLst>
            </p:cNvPr>
            <p:cNvSpPr/>
            <p:nvPr userDrawn="1"/>
          </p:nvSpPr>
          <p:spPr>
            <a:xfrm>
              <a:off x="814546" y="2160001"/>
              <a:ext cx="2941416" cy="307701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a:extLst>
                <a:ext uri="{FF2B5EF4-FFF2-40B4-BE49-F238E27FC236}">
                  <a16:creationId xmlns:a16="http://schemas.microsoft.com/office/drawing/2014/main" id="{F4FAD457-5C19-A5E1-2E3A-04CC1C8EF011}"/>
                </a:ext>
              </a:extLst>
            </p:cNvPr>
            <p:cNvSpPr/>
            <p:nvPr userDrawn="1"/>
          </p:nvSpPr>
          <p:spPr>
            <a:xfrm rot="5400000">
              <a:off x="2442483" y="3473040"/>
              <a:ext cx="3077020" cy="450943"/>
            </a:xfrm>
            <a:prstGeom prst="triangl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sp>
        <p:nvSpPr>
          <p:cNvPr id="15" name="テキスト ボックス 14">
            <a:extLst>
              <a:ext uri="{FF2B5EF4-FFF2-40B4-BE49-F238E27FC236}">
                <a16:creationId xmlns:a16="http://schemas.microsoft.com/office/drawing/2014/main" id="{48643049-3CAD-4B94-980D-41666905C702}"/>
              </a:ext>
            </a:extLst>
          </p:cNvPr>
          <p:cNvSpPr txBox="1"/>
          <p:nvPr userDrawn="1"/>
        </p:nvSpPr>
        <p:spPr>
          <a:xfrm>
            <a:off x="1205111" y="2089728"/>
            <a:ext cx="586699" cy="615553"/>
          </a:xfrm>
          <a:prstGeom prst="rect">
            <a:avLst/>
          </a:prstGeom>
          <a:noFill/>
        </p:spPr>
        <p:txBody>
          <a:bodyPr wrap="square" lIns="0" tIns="0" rIns="0" bIns="0" rtlCol="0">
            <a:spAutoFit/>
          </a:bodyPr>
          <a:lstStyle/>
          <a:p>
            <a:r>
              <a:rPr kumimoji="1" lang="en-US" altLang="ja-JP" sz="4000" b="0">
                <a:solidFill>
                  <a:schemeClr val="bg1"/>
                </a:solidFill>
              </a:rPr>
              <a:t>01</a:t>
            </a:r>
            <a:endParaRPr kumimoji="1" lang="ja-JP" altLang="en-US" sz="4000" b="0">
              <a:solidFill>
                <a:schemeClr val="bg1"/>
              </a:solidFill>
            </a:endParaRPr>
          </a:p>
        </p:txBody>
      </p:sp>
      <p:sp>
        <p:nvSpPr>
          <p:cNvPr id="16" name="テキスト ボックス 15">
            <a:extLst>
              <a:ext uri="{FF2B5EF4-FFF2-40B4-BE49-F238E27FC236}">
                <a16:creationId xmlns:a16="http://schemas.microsoft.com/office/drawing/2014/main" id="{0685CF7B-ECA6-492C-B248-CBBDC3A30195}"/>
              </a:ext>
            </a:extLst>
          </p:cNvPr>
          <p:cNvSpPr txBox="1"/>
          <p:nvPr userDrawn="1"/>
        </p:nvSpPr>
        <p:spPr>
          <a:xfrm>
            <a:off x="4138694" y="2089728"/>
            <a:ext cx="586699" cy="615553"/>
          </a:xfrm>
          <a:prstGeom prst="rect">
            <a:avLst/>
          </a:prstGeom>
          <a:noFill/>
        </p:spPr>
        <p:txBody>
          <a:bodyPr wrap="square" lIns="0" tIns="0" rIns="0" bIns="0" rtlCol="0">
            <a:spAutoFit/>
          </a:bodyPr>
          <a:lstStyle/>
          <a:p>
            <a:r>
              <a:rPr kumimoji="1" lang="en-US" altLang="ja-JP" sz="4000" b="0">
                <a:solidFill>
                  <a:schemeClr val="bg1"/>
                </a:solidFill>
              </a:rPr>
              <a:t>02</a:t>
            </a:r>
            <a:endParaRPr kumimoji="1" lang="ja-JP" altLang="en-US" sz="4000" b="0">
              <a:solidFill>
                <a:schemeClr val="bg1"/>
              </a:solidFill>
            </a:endParaRPr>
          </a:p>
        </p:txBody>
      </p:sp>
      <p:sp>
        <p:nvSpPr>
          <p:cNvPr id="17" name="テキスト ボックス 16">
            <a:extLst>
              <a:ext uri="{FF2B5EF4-FFF2-40B4-BE49-F238E27FC236}">
                <a16:creationId xmlns:a16="http://schemas.microsoft.com/office/drawing/2014/main" id="{7FFDB837-CFD6-46AD-8B11-7A65E7C7524C}"/>
              </a:ext>
            </a:extLst>
          </p:cNvPr>
          <p:cNvSpPr txBox="1"/>
          <p:nvPr userDrawn="1"/>
        </p:nvSpPr>
        <p:spPr>
          <a:xfrm>
            <a:off x="7072276" y="2089728"/>
            <a:ext cx="586699" cy="615553"/>
          </a:xfrm>
          <a:prstGeom prst="rect">
            <a:avLst/>
          </a:prstGeom>
          <a:noFill/>
        </p:spPr>
        <p:txBody>
          <a:bodyPr wrap="square" lIns="0" tIns="0" rIns="0" bIns="0" rtlCol="0">
            <a:spAutoFit/>
          </a:bodyPr>
          <a:lstStyle/>
          <a:p>
            <a:r>
              <a:rPr kumimoji="1" lang="en-US" altLang="ja-JP" sz="4000" b="0">
                <a:solidFill>
                  <a:schemeClr val="bg1"/>
                </a:solidFill>
              </a:rPr>
              <a:t>03</a:t>
            </a:r>
            <a:endParaRPr kumimoji="1" lang="ja-JP" altLang="en-US" sz="4000" b="0">
              <a:solidFill>
                <a:schemeClr val="bg1"/>
              </a:solidFill>
            </a:endParaRPr>
          </a:p>
        </p:txBody>
      </p:sp>
      <p:sp>
        <p:nvSpPr>
          <p:cNvPr id="18" name="テキスト ボックス 17">
            <a:extLst>
              <a:ext uri="{FF2B5EF4-FFF2-40B4-BE49-F238E27FC236}">
                <a16:creationId xmlns:a16="http://schemas.microsoft.com/office/drawing/2014/main" id="{47FC57A1-DC1F-4EE5-80FC-18029B5E8DC1}"/>
              </a:ext>
            </a:extLst>
          </p:cNvPr>
          <p:cNvSpPr txBox="1"/>
          <p:nvPr userDrawn="1"/>
        </p:nvSpPr>
        <p:spPr>
          <a:xfrm>
            <a:off x="10047247" y="2089728"/>
            <a:ext cx="586699" cy="615553"/>
          </a:xfrm>
          <a:prstGeom prst="rect">
            <a:avLst/>
          </a:prstGeom>
          <a:noFill/>
        </p:spPr>
        <p:txBody>
          <a:bodyPr wrap="square" lIns="0" tIns="0" rIns="0" bIns="0" rtlCol="0">
            <a:spAutoFit/>
          </a:bodyPr>
          <a:lstStyle/>
          <a:p>
            <a:r>
              <a:rPr kumimoji="1" lang="en-US" altLang="ja-JP" sz="4000" b="0">
                <a:solidFill>
                  <a:schemeClr val="bg1"/>
                </a:solidFill>
              </a:rPr>
              <a:t>04</a:t>
            </a:r>
            <a:endParaRPr kumimoji="1" lang="ja-JP" altLang="en-US" sz="4000" b="0">
              <a:solidFill>
                <a:schemeClr val="bg1"/>
              </a:solidFill>
            </a:endParaRPr>
          </a:p>
        </p:txBody>
      </p:sp>
      <p:sp>
        <p:nvSpPr>
          <p:cNvPr id="30" name="Slide Number Placeholder 4">
            <a:extLst>
              <a:ext uri="{FF2B5EF4-FFF2-40B4-BE49-F238E27FC236}">
                <a16:creationId xmlns:a16="http://schemas.microsoft.com/office/drawing/2014/main" id="{0B99F887-ACB9-5489-BCB6-695B90488626}"/>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34" name="Title 1">
            <a:extLst>
              <a:ext uri="{FF2B5EF4-FFF2-40B4-BE49-F238E27FC236}">
                <a16:creationId xmlns:a16="http://schemas.microsoft.com/office/drawing/2014/main" id="{4E7D2908-BB39-EAE2-72F1-026DD4F5BAA6}"/>
              </a:ext>
            </a:extLst>
          </p:cNvPr>
          <p:cNvSpPr>
            <a:spLocks noGrp="1"/>
          </p:cNvSpPr>
          <p:nvPr>
            <p:ph type="title" hasCustomPrompt="1"/>
          </p:nvPr>
        </p:nvSpPr>
        <p:spPr>
          <a:xfrm>
            <a:off x="814546" y="405063"/>
            <a:ext cx="11810918" cy="402483"/>
          </a:xfrm>
          <a:prstGeom prst="rect">
            <a:avLst/>
          </a:prstGeom>
        </p:spPr>
        <p:txBody>
          <a:bodyPr lIns="0" tIns="0" rIns="0" bIns="0">
            <a:noAutofit/>
          </a:bodyPr>
          <a:lstStyle>
            <a:lvl1pPr>
              <a:defRPr sz="2800" b="0">
                <a:latin typeface="+mj-ea"/>
                <a:ea typeface="+mj-ea"/>
              </a:defRPr>
            </a:lvl1pPr>
          </a:lstStyle>
          <a:p>
            <a:r>
              <a:rPr lang="ja-JP" altLang="en-US"/>
              <a:t>タイトルが入ります</a:t>
            </a:r>
            <a:endParaRPr lang="en-US"/>
          </a:p>
        </p:txBody>
      </p:sp>
      <p:sp>
        <p:nvSpPr>
          <p:cNvPr id="35" name="正方形/長方形 34">
            <a:extLst>
              <a:ext uri="{FF2B5EF4-FFF2-40B4-BE49-F238E27FC236}">
                <a16:creationId xmlns:a16="http://schemas.microsoft.com/office/drawing/2014/main" id="{E221DB00-D6E3-A798-6005-C00682F4E968}"/>
              </a:ext>
            </a:extLst>
          </p:cNvPr>
          <p:cNvSpPr/>
          <p:nvPr userDrawn="1"/>
        </p:nvSpPr>
        <p:spPr>
          <a:xfrm flipV="1">
            <a:off x="797689" y="809974"/>
            <a:ext cx="11827398" cy="893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b="1"/>
          </a:p>
        </p:txBody>
      </p:sp>
      <p:sp>
        <p:nvSpPr>
          <p:cNvPr id="4" name="Text Placeholder 3">
            <a:extLst>
              <a:ext uri="{FF2B5EF4-FFF2-40B4-BE49-F238E27FC236}">
                <a16:creationId xmlns:a16="http://schemas.microsoft.com/office/drawing/2014/main" id="{EE255D7A-1661-E040-D44D-9CB3A7EDF1FF}"/>
              </a:ext>
            </a:extLst>
          </p:cNvPr>
          <p:cNvSpPr>
            <a:spLocks noGrp="1"/>
          </p:cNvSpPr>
          <p:nvPr>
            <p:ph type="body" sz="half" idx="2" hasCustomPrompt="1"/>
          </p:nvPr>
        </p:nvSpPr>
        <p:spPr>
          <a:xfrm>
            <a:off x="814169" y="991351"/>
            <a:ext cx="11810918" cy="245256"/>
          </a:xfrm>
          <a:prstGeom prst="rect">
            <a:avLst/>
          </a:prstGeom>
        </p:spPr>
        <p:txBody>
          <a:bodyPr lIns="0" tIns="0" rIns="0" bIns="0">
            <a:noAutofit/>
          </a:bodyPr>
          <a:lstStyle>
            <a:lvl1pPr marL="0" indent="0" algn="l">
              <a:buNone/>
              <a:defRPr sz="2000" b="1">
                <a:solidFill>
                  <a:schemeClr val="tx1"/>
                </a:solidFill>
                <a:latin typeface="+mj-ea"/>
                <a:ea typeface="+mj-ea"/>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Tree>
    <p:extLst>
      <p:ext uri="{BB962C8B-B14F-4D97-AF65-F5344CB8AC3E}">
        <p14:creationId xmlns:p14="http://schemas.microsoft.com/office/powerpoint/2010/main" val="451436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6719887" y="0"/>
            <a:ext cx="6719888" cy="755967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8" name="Text Placeholder 3">
            <a:extLst>
              <a:ext uri="{FF2B5EF4-FFF2-40B4-BE49-F238E27FC236}">
                <a16:creationId xmlns:a16="http://schemas.microsoft.com/office/drawing/2014/main" id="{834527BA-F12F-4DF3-AC21-D992A929487C}"/>
              </a:ext>
            </a:extLst>
          </p:cNvPr>
          <p:cNvSpPr>
            <a:spLocks noGrp="1"/>
          </p:cNvSpPr>
          <p:nvPr>
            <p:ph type="body" sz="half" idx="2" hasCustomPrompt="1"/>
          </p:nvPr>
        </p:nvSpPr>
        <p:spPr>
          <a:xfrm>
            <a:off x="814546" y="1351532"/>
            <a:ext cx="5703392" cy="869153"/>
          </a:xfrm>
          <a:prstGeom prst="rect">
            <a:avLst/>
          </a:prstGeom>
        </p:spPr>
        <p:txBody>
          <a:bodyPr lIns="0" tIns="0" rIns="0" bIns="0">
            <a:noAutofit/>
          </a:bodyPr>
          <a:lstStyle>
            <a:lvl1pPr marL="0" indent="0" algn="l">
              <a:buNone/>
              <a:defRPr sz="2000" b="0">
                <a:solidFill>
                  <a:schemeClr val="tx2"/>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見出しが入ります</a:t>
            </a:r>
          </a:p>
        </p:txBody>
      </p:sp>
      <p:sp>
        <p:nvSpPr>
          <p:cNvPr id="6" name="図プレースホルダー 9">
            <a:extLst>
              <a:ext uri="{FF2B5EF4-FFF2-40B4-BE49-F238E27FC236}">
                <a16:creationId xmlns:a16="http://schemas.microsoft.com/office/drawing/2014/main" id="{45723AF5-434A-467D-A96A-FC76156FAB7A}"/>
              </a:ext>
            </a:extLst>
          </p:cNvPr>
          <p:cNvSpPr>
            <a:spLocks noGrp="1"/>
          </p:cNvSpPr>
          <p:nvPr>
            <p:ph type="pic" sz="quarter" idx="13"/>
          </p:nvPr>
        </p:nvSpPr>
        <p:spPr>
          <a:xfrm>
            <a:off x="7817203" y="989837"/>
            <a:ext cx="4525256" cy="5580000"/>
          </a:xfrm>
          <a:prstGeom prst="rect">
            <a:avLst/>
          </a:prstGeom>
        </p:spPr>
        <p:txBody>
          <a:bodyPr/>
          <a:lstStyle/>
          <a:p>
            <a:r>
              <a:rPr kumimoji="1" lang="ja-JP" altLang="en-US"/>
              <a:t>アイコンをクリックして図を追加</a:t>
            </a:r>
          </a:p>
        </p:txBody>
      </p:sp>
      <p:sp>
        <p:nvSpPr>
          <p:cNvPr id="4" name="Slide Number Placeholder 4">
            <a:extLst>
              <a:ext uri="{FF2B5EF4-FFF2-40B4-BE49-F238E27FC236}">
                <a16:creationId xmlns:a16="http://schemas.microsoft.com/office/drawing/2014/main" id="{502417FE-7354-5D87-3AE6-241C5A5D482F}"/>
              </a:ext>
            </a:extLst>
          </p:cNvPr>
          <p:cNvSpPr>
            <a:spLocks noGrp="1"/>
          </p:cNvSpPr>
          <p:nvPr>
            <p:ph type="sldNum" sz="quarter" idx="12"/>
          </p:nvPr>
        </p:nvSpPr>
        <p:spPr>
          <a:xfrm>
            <a:off x="12772973" y="7057560"/>
            <a:ext cx="543031" cy="360000"/>
          </a:xfrm>
          <a:prstGeom prst="rect">
            <a:avLst/>
          </a:prstGeom>
          <a:noFill/>
        </p:spPr>
        <p:txBody>
          <a:bodyPr/>
          <a:lstStyle>
            <a:lvl1pPr>
              <a:defRPr>
                <a:solidFill>
                  <a:schemeClr val="tx2"/>
                </a:solidFill>
              </a:defRPr>
            </a:lvl1pPr>
          </a:lstStyle>
          <a:p>
            <a:fld id="{14EC724F-F4C9-4616-8530-5BC5097559BB}" type="slidenum">
              <a:rPr lang="ja-JP" altLang="en-US" smtClean="0"/>
              <a:pPr/>
              <a:t>‹#›</a:t>
            </a:fld>
            <a:endParaRPr lang="ja-JP" altLang="en-US"/>
          </a:p>
        </p:txBody>
      </p:sp>
      <p:sp>
        <p:nvSpPr>
          <p:cNvPr id="10" name="Title 1">
            <a:extLst>
              <a:ext uri="{FF2B5EF4-FFF2-40B4-BE49-F238E27FC236}">
                <a16:creationId xmlns:a16="http://schemas.microsoft.com/office/drawing/2014/main" id="{F98599E3-6686-3BDC-90EB-701469ED3235}"/>
              </a:ext>
            </a:extLst>
          </p:cNvPr>
          <p:cNvSpPr txBox="1">
            <a:spLocks/>
          </p:cNvSpPr>
          <p:nvPr userDrawn="1"/>
        </p:nvSpPr>
        <p:spPr>
          <a:xfrm>
            <a:off x="814546" y="405063"/>
            <a:ext cx="11810918" cy="402483"/>
          </a:xfrm>
          <a:prstGeom prst="rect">
            <a:avLst/>
          </a:prstGeom>
        </p:spPr>
        <p:txBody>
          <a:bodyPr vert="horz" lIns="0" tIns="0" rIns="0" bIns="0" rtlCol="0" anchor="ctr">
            <a:noAutofit/>
          </a:bodyPr>
          <a:lstStyle>
            <a:lvl1pPr algn="l" defTabSz="1007943" rtl="0" eaLnBrk="1" latinLnBrk="0" hangingPunct="1">
              <a:lnSpc>
                <a:spcPct val="90000"/>
              </a:lnSpc>
              <a:spcBef>
                <a:spcPct val="0"/>
              </a:spcBef>
              <a:buNone/>
              <a:defRPr kumimoji="1" sz="2800" b="1" kern="1200" spc="120" baseline="0">
                <a:solidFill>
                  <a:schemeClr val="tx1"/>
                </a:solidFill>
                <a:latin typeface="+mn-ea"/>
                <a:ea typeface="+mn-ea"/>
                <a:cs typeface="+mj-cs"/>
              </a:defRPr>
            </a:lvl1pPr>
          </a:lstStyle>
          <a:p>
            <a:endParaRPr lang="en-US" sz="2800" b="0">
              <a:latin typeface="+mj-ea"/>
              <a:ea typeface="+mj-ea"/>
            </a:endParaRPr>
          </a:p>
        </p:txBody>
      </p:sp>
    </p:spTree>
    <p:extLst>
      <p:ext uri="{BB962C8B-B14F-4D97-AF65-F5344CB8AC3E}">
        <p14:creationId xmlns:p14="http://schemas.microsoft.com/office/powerpoint/2010/main" val="3633875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ABE853A-5F09-4EDF-9FEA-011B54B88AAF}"/>
              </a:ext>
            </a:extLst>
          </p:cNvPr>
          <p:cNvSpPr/>
          <p:nvPr userDrawn="1"/>
        </p:nvSpPr>
        <p:spPr>
          <a:xfrm>
            <a:off x="0" y="0"/>
            <a:ext cx="4480003" cy="3780000"/>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7A433D0C-DB6B-40D3-88D7-776D7D0A69B1}"/>
              </a:ext>
            </a:extLst>
          </p:cNvPr>
          <p:cNvSpPr/>
          <p:nvPr userDrawn="1"/>
        </p:nvSpPr>
        <p:spPr>
          <a:xfrm>
            <a:off x="4479770" y="3779675"/>
            <a:ext cx="4480003" cy="3780000"/>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F06E6178-A6A4-4BFD-9F51-28EF349B5CE8}"/>
              </a:ext>
            </a:extLst>
          </p:cNvPr>
          <p:cNvSpPr/>
          <p:nvPr userDrawn="1"/>
        </p:nvSpPr>
        <p:spPr>
          <a:xfrm>
            <a:off x="8959773" y="-325"/>
            <a:ext cx="4480003" cy="3780000"/>
          </a:xfrm>
          <a:prstGeom prst="rect">
            <a:avLst/>
          </a:prstGeom>
          <a:gradFill flip="none" rotWithShape="1">
            <a:gsLst>
              <a:gs pos="0">
                <a:srgbClr val="DA3392"/>
              </a:gs>
              <a:gs pos="100000">
                <a:srgbClr val="655CD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Text Placeholder 3">
            <a:extLst>
              <a:ext uri="{FF2B5EF4-FFF2-40B4-BE49-F238E27FC236}">
                <a16:creationId xmlns:a16="http://schemas.microsoft.com/office/drawing/2014/main" id="{4556A793-020D-42E0-BA8C-A3348EC3D8AB}"/>
              </a:ext>
            </a:extLst>
          </p:cNvPr>
          <p:cNvSpPr>
            <a:spLocks noGrp="1"/>
          </p:cNvSpPr>
          <p:nvPr>
            <p:ph type="body" sz="half" idx="2" hasCustomPrompt="1"/>
          </p:nvPr>
        </p:nvSpPr>
        <p:spPr>
          <a:xfrm>
            <a:off x="4479770" y="1299351"/>
            <a:ext cx="4480003" cy="266251"/>
          </a:xfrm>
          <a:prstGeom prst="rect">
            <a:avLst/>
          </a:prstGeom>
        </p:spPr>
        <p:txBody>
          <a:bodyPr lIns="180000" tIns="0" rIns="180000" bIns="0">
            <a:noAutofit/>
          </a:bodyPr>
          <a:lstStyle>
            <a:lvl1pPr marL="0" indent="0" algn="ctr">
              <a:buNone/>
              <a:defRPr sz="1600" b="1">
                <a:solidFill>
                  <a:schemeClr val="tx2"/>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タイトルタイトル</a:t>
            </a:r>
          </a:p>
        </p:txBody>
      </p:sp>
      <p:sp>
        <p:nvSpPr>
          <p:cNvPr id="13" name="Text Placeholder 3">
            <a:extLst>
              <a:ext uri="{FF2B5EF4-FFF2-40B4-BE49-F238E27FC236}">
                <a16:creationId xmlns:a16="http://schemas.microsoft.com/office/drawing/2014/main" id="{3204670F-986D-4EBE-9D60-C1DB77CEAF9A}"/>
              </a:ext>
            </a:extLst>
          </p:cNvPr>
          <p:cNvSpPr>
            <a:spLocks noGrp="1"/>
          </p:cNvSpPr>
          <p:nvPr>
            <p:ph type="body" sz="half" idx="10" hasCustomPrompt="1"/>
          </p:nvPr>
        </p:nvSpPr>
        <p:spPr>
          <a:xfrm>
            <a:off x="4479770" y="1681189"/>
            <a:ext cx="4480003" cy="1361521"/>
          </a:xfrm>
          <a:prstGeom prst="rect">
            <a:avLst/>
          </a:prstGeom>
        </p:spPr>
        <p:txBody>
          <a:bodyPr lIns="288000" tIns="0" rIns="288000" bIns="0">
            <a:noAutofit/>
          </a:bodyPr>
          <a:lstStyle>
            <a:lvl1pPr marL="0" marR="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sz="1400" b="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4" name="Text Placeholder 3">
            <a:extLst>
              <a:ext uri="{FF2B5EF4-FFF2-40B4-BE49-F238E27FC236}">
                <a16:creationId xmlns:a16="http://schemas.microsoft.com/office/drawing/2014/main" id="{2A1A9C8B-B8AE-4CAA-81FB-151F06D7EB15}"/>
              </a:ext>
            </a:extLst>
          </p:cNvPr>
          <p:cNvSpPr>
            <a:spLocks noGrp="1"/>
          </p:cNvSpPr>
          <p:nvPr>
            <p:ph type="body" sz="half" idx="11" hasCustomPrompt="1"/>
          </p:nvPr>
        </p:nvSpPr>
        <p:spPr>
          <a:xfrm>
            <a:off x="0" y="5102884"/>
            <a:ext cx="4480003" cy="266251"/>
          </a:xfrm>
          <a:prstGeom prst="rect">
            <a:avLst/>
          </a:prstGeom>
        </p:spPr>
        <p:txBody>
          <a:bodyPr lIns="180000" tIns="0" rIns="180000" bIns="0">
            <a:noAutofit/>
          </a:bodyPr>
          <a:lstStyle>
            <a:lvl1pPr marL="0" indent="0" algn="ctr">
              <a:buNone/>
              <a:defRPr sz="1600" b="1">
                <a:solidFill>
                  <a:schemeClr val="tx2"/>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タイトルタイトル</a:t>
            </a:r>
          </a:p>
        </p:txBody>
      </p:sp>
      <p:sp>
        <p:nvSpPr>
          <p:cNvPr id="15" name="Text Placeholder 3">
            <a:extLst>
              <a:ext uri="{FF2B5EF4-FFF2-40B4-BE49-F238E27FC236}">
                <a16:creationId xmlns:a16="http://schemas.microsoft.com/office/drawing/2014/main" id="{6B2BB5F7-0449-486C-BB83-ACBDAA011BDF}"/>
              </a:ext>
            </a:extLst>
          </p:cNvPr>
          <p:cNvSpPr>
            <a:spLocks noGrp="1"/>
          </p:cNvSpPr>
          <p:nvPr>
            <p:ph type="body" sz="half" idx="12" hasCustomPrompt="1"/>
          </p:nvPr>
        </p:nvSpPr>
        <p:spPr>
          <a:xfrm>
            <a:off x="0" y="5484722"/>
            <a:ext cx="4480003" cy="1361521"/>
          </a:xfrm>
          <a:prstGeom prst="rect">
            <a:avLst/>
          </a:prstGeom>
        </p:spPr>
        <p:txBody>
          <a:bodyPr lIns="288000" tIns="0" rIns="288000" bIns="0">
            <a:noAutofit/>
          </a:bodyPr>
          <a:lstStyle>
            <a:lvl1pPr marL="0" marR="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sz="1400" b="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16" name="Text Placeholder 3">
            <a:extLst>
              <a:ext uri="{FF2B5EF4-FFF2-40B4-BE49-F238E27FC236}">
                <a16:creationId xmlns:a16="http://schemas.microsoft.com/office/drawing/2014/main" id="{5F6BB6E2-329C-47E7-BC67-E4247149DF18}"/>
              </a:ext>
            </a:extLst>
          </p:cNvPr>
          <p:cNvSpPr>
            <a:spLocks noGrp="1"/>
          </p:cNvSpPr>
          <p:nvPr>
            <p:ph type="body" sz="half" idx="13" hasCustomPrompt="1"/>
          </p:nvPr>
        </p:nvSpPr>
        <p:spPr>
          <a:xfrm>
            <a:off x="8959539" y="5102884"/>
            <a:ext cx="4480003" cy="266251"/>
          </a:xfrm>
          <a:prstGeom prst="rect">
            <a:avLst/>
          </a:prstGeom>
        </p:spPr>
        <p:txBody>
          <a:bodyPr lIns="180000" tIns="0" rIns="180000" bIns="0">
            <a:noAutofit/>
          </a:bodyPr>
          <a:lstStyle>
            <a:lvl1pPr marL="0" indent="0" algn="ctr">
              <a:buNone/>
              <a:defRPr sz="1600" b="1">
                <a:solidFill>
                  <a:schemeClr val="tx2"/>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r>
              <a:rPr kumimoji="1" lang="ja-JP" altLang="en-US"/>
              <a:t>タイトルタイトル</a:t>
            </a:r>
          </a:p>
        </p:txBody>
      </p:sp>
      <p:sp>
        <p:nvSpPr>
          <p:cNvPr id="17" name="Text Placeholder 3">
            <a:extLst>
              <a:ext uri="{FF2B5EF4-FFF2-40B4-BE49-F238E27FC236}">
                <a16:creationId xmlns:a16="http://schemas.microsoft.com/office/drawing/2014/main" id="{7889AF89-2EF8-480C-B0F3-915A3EA21C8A}"/>
              </a:ext>
            </a:extLst>
          </p:cNvPr>
          <p:cNvSpPr>
            <a:spLocks noGrp="1"/>
          </p:cNvSpPr>
          <p:nvPr>
            <p:ph type="body" sz="half" idx="14" hasCustomPrompt="1"/>
          </p:nvPr>
        </p:nvSpPr>
        <p:spPr>
          <a:xfrm>
            <a:off x="8959539" y="5484722"/>
            <a:ext cx="4480003" cy="1361521"/>
          </a:xfrm>
          <a:prstGeom prst="rect">
            <a:avLst/>
          </a:prstGeom>
        </p:spPr>
        <p:txBody>
          <a:bodyPr lIns="288000" tIns="0" rIns="288000" bIns="0">
            <a:noAutofit/>
          </a:bodyPr>
          <a:lstStyle>
            <a:lvl1pPr marL="0" marR="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sz="1400" b="0">
                <a:solidFill>
                  <a:schemeClr val="tx1"/>
                </a:solidFill>
              </a:defRPr>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marL="0" marR="0" lvl="0" indent="0" algn="ctr"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r>
              <a:rPr kumimoji="1" lang="ja-JP" altLang="en-US"/>
              <a:t>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テキスト</a:t>
            </a:r>
          </a:p>
        </p:txBody>
      </p:sp>
      <p:sp>
        <p:nvSpPr>
          <p:cNvPr id="4" name="図プレースホルダー 3">
            <a:extLst>
              <a:ext uri="{FF2B5EF4-FFF2-40B4-BE49-F238E27FC236}">
                <a16:creationId xmlns:a16="http://schemas.microsoft.com/office/drawing/2014/main" id="{1D5FA8A4-BE39-45F7-A590-2C9ACDA94BE4}"/>
              </a:ext>
            </a:extLst>
          </p:cNvPr>
          <p:cNvSpPr>
            <a:spLocks noGrp="1"/>
          </p:cNvSpPr>
          <p:nvPr>
            <p:ph type="pic" sz="quarter" idx="15"/>
          </p:nvPr>
        </p:nvSpPr>
        <p:spPr>
          <a:xfrm>
            <a:off x="0" y="0"/>
            <a:ext cx="4479925" cy="3779838"/>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8" name="図プレースホルダー 3">
            <a:extLst>
              <a:ext uri="{FF2B5EF4-FFF2-40B4-BE49-F238E27FC236}">
                <a16:creationId xmlns:a16="http://schemas.microsoft.com/office/drawing/2014/main" id="{F4A02690-8098-4886-A490-6C32CA4E8F11}"/>
              </a:ext>
            </a:extLst>
          </p:cNvPr>
          <p:cNvSpPr>
            <a:spLocks noGrp="1"/>
          </p:cNvSpPr>
          <p:nvPr>
            <p:ph type="pic" sz="quarter" idx="16"/>
          </p:nvPr>
        </p:nvSpPr>
        <p:spPr>
          <a:xfrm>
            <a:off x="8959539" y="0"/>
            <a:ext cx="4479925" cy="3779838"/>
          </a:xfrm>
          <a:prstGeom prst="rect">
            <a:avLst/>
          </a:prstGeom>
          <a:solidFill>
            <a:schemeClr val="accent3">
              <a:lumMod val="20000"/>
              <a:lumOff val="80000"/>
            </a:schemeClr>
          </a:solidFill>
        </p:spPr>
        <p:txBody>
          <a:bodyPr/>
          <a:lstStyle/>
          <a:p>
            <a:r>
              <a:rPr kumimoji="1" lang="ja-JP" altLang="en-US"/>
              <a:t>アイコンをクリックして図を追加</a:t>
            </a:r>
          </a:p>
        </p:txBody>
      </p:sp>
      <p:sp>
        <p:nvSpPr>
          <p:cNvPr id="19" name="図プレースホルダー 3">
            <a:extLst>
              <a:ext uri="{FF2B5EF4-FFF2-40B4-BE49-F238E27FC236}">
                <a16:creationId xmlns:a16="http://schemas.microsoft.com/office/drawing/2014/main" id="{BA7A8847-AA4E-4AB9-AFC6-AEE43199D016}"/>
              </a:ext>
            </a:extLst>
          </p:cNvPr>
          <p:cNvSpPr>
            <a:spLocks noGrp="1"/>
          </p:cNvSpPr>
          <p:nvPr>
            <p:ph type="pic" sz="quarter" idx="17"/>
          </p:nvPr>
        </p:nvSpPr>
        <p:spPr>
          <a:xfrm>
            <a:off x="4479731" y="3779675"/>
            <a:ext cx="4479925" cy="3779838"/>
          </a:xfrm>
          <a:prstGeom prst="rect">
            <a:avLst/>
          </a:prstGeom>
          <a:solidFill>
            <a:schemeClr val="accent3">
              <a:lumMod val="20000"/>
              <a:lumOff val="80000"/>
            </a:schemeClr>
          </a:solidFill>
        </p:spPr>
        <p:txBody>
          <a:bodyPr/>
          <a:lstStyle/>
          <a:p>
            <a:r>
              <a:rPr kumimoji="1" lang="ja-JP" altLang="en-US"/>
              <a:t>アイコンをクリックして図を追加</a:t>
            </a:r>
          </a:p>
        </p:txBody>
      </p:sp>
    </p:spTree>
    <p:extLst>
      <p:ext uri="{BB962C8B-B14F-4D97-AF65-F5344CB8AC3E}">
        <p14:creationId xmlns:p14="http://schemas.microsoft.com/office/powerpoint/2010/main" val="2807512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8C4F0-75BD-691A-CD87-C7FA053DC4B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6DC276A-C988-0EF1-4BB6-6FE85BBAC5E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6368A94-AE53-195B-756F-CF203E6E1E5D}"/>
              </a:ext>
            </a:extLst>
          </p:cNvPr>
          <p:cNvSpPr>
            <a:spLocks noGrp="1"/>
          </p:cNvSpPr>
          <p:nvPr>
            <p:ph type="dt" sz="half" idx="10"/>
          </p:nvPr>
        </p:nvSpPr>
        <p:spPr/>
        <p:txBody>
          <a:bodyPr/>
          <a:lstStyle/>
          <a:p>
            <a:fld id="{8FE4FAD3-9B3C-4337-AC8E-BBD92A71FE40}" type="datetimeFigureOut">
              <a:rPr kumimoji="1" lang="ja-JP" altLang="en-US" smtClean="0"/>
              <a:t>2026/7/17</a:t>
            </a:fld>
            <a:endParaRPr kumimoji="1" lang="ja-JP" altLang="en-US"/>
          </a:p>
        </p:txBody>
      </p:sp>
      <p:sp>
        <p:nvSpPr>
          <p:cNvPr id="5" name="フッター プレースホルダー 4">
            <a:extLst>
              <a:ext uri="{FF2B5EF4-FFF2-40B4-BE49-F238E27FC236}">
                <a16:creationId xmlns:a16="http://schemas.microsoft.com/office/drawing/2014/main" id="{275FD661-0D4F-C84B-0C7E-06CEF02575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93781BA-BE88-D74B-7E23-082C412997D9}"/>
              </a:ext>
            </a:extLst>
          </p:cNvPr>
          <p:cNvSpPr>
            <a:spLocks noGrp="1"/>
          </p:cNvSpPr>
          <p:nvPr>
            <p:ph type="sldNum" sz="quarter" idx="12"/>
          </p:nvPr>
        </p:nvSpPr>
        <p:spPr/>
        <p:txBody>
          <a:bodyPr/>
          <a:lstStyle/>
          <a:p>
            <a:fld id="{30E7563B-3353-4537-A561-167A6F6645BD}" type="slidenum">
              <a:rPr kumimoji="1" lang="ja-JP" altLang="en-US" smtClean="0"/>
              <a:t>‹#›</a:t>
            </a:fld>
            <a:endParaRPr kumimoji="1" lang="ja-JP" altLang="en-US"/>
          </a:p>
        </p:txBody>
      </p:sp>
    </p:spTree>
    <p:extLst>
      <p:ext uri="{BB962C8B-B14F-4D97-AF65-F5344CB8AC3E}">
        <p14:creationId xmlns:p14="http://schemas.microsoft.com/office/powerpoint/2010/main" val="2767308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ABF68-174B-D0BC-2C9B-382D2806A08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AC46FF-E59D-B6E4-C6D1-4C19DA925F0B}"/>
              </a:ext>
            </a:extLst>
          </p:cNvPr>
          <p:cNvSpPr>
            <a:spLocks noGrp="1"/>
          </p:cNvSpPr>
          <p:nvPr>
            <p:ph type="dt" sz="half" idx="10"/>
          </p:nvPr>
        </p:nvSpPr>
        <p:spPr/>
        <p:txBody>
          <a:bodyPr/>
          <a:lstStyle/>
          <a:p>
            <a:fld id="{3143B7D2-E4F8-4918-A8EF-6089D482B342}" type="datetimeFigureOut">
              <a:rPr kumimoji="1" lang="ja-JP" altLang="en-US" smtClean="0"/>
              <a:t>2026/7/17</a:t>
            </a:fld>
            <a:endParaRPr kumimoji="1" lang="ja-JP" altLang="en-US"/>
          </a:p>
        </p:txBody>
      </p:sp>
      <p:sp>
        <p:nvSpPr>
          <p:cNvPr id="4" name="フッター プレースホルダー 3">
            <a:extLst>
              <a:ext uri="{FF2B5EF4-FFF2-40B4-BE49-F238E27FC236}">
                <a16:creationId xmlns:a16="http://schemas.microsoft.com/office/drawing/2014/main" id="{424E412A-5F34-E7DA-1AB0-6B3A199C1E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1E5F8F7-5D40-A2BA-0268-04A5750E67C8}"/>
              </a:ext>
            </a:extLst>
          </p:cNvPr>
          <p:cNvSpPr>
            <a:spLocks noGrp="1"/>
          </p:cNvSpPr>
          <p:nvPr>
            <p:ph type="sldNum" sz="quarter" idx="12"/>
          </p:nvPr>
        </p:nvSpPr>
        <p:spPr/>
        <p:txBody>
          <a:bodyPr/>
          <a:lstStyle/>
          <a:p>
            <a:fld id="{BD39C147-919D-49A3-96FD-470FA1E9E62B}" type="slidenum">
              <a:rPr kumimoji="1" lang="ja-JP" altLang="en-US" smtClean="0"/>
              <a:t>‹#›</a:t>
            </a:fld>
            <a:endParaRPr kumimoji="1" lang="ja-JP" altLang="en-US"/>
          </a:p>
        </p:txBody>
      </p:sp>
    </p:spTree>
    <p:extLst>
      <p:ext uri="{BB962C8B-B14F-4D97-AF65-F5344CB8AC3E}">
        <p14:creationId xmlns:p14="http://schemas.microsoft.com/office/powerpoint/2010/main" val="859559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8047299"/>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タイトルのみ(白紙)">
    <p:bg>
      <p:bgPr>
        <a:solidFill>
          <a:schemeClr val="bg1"/>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AE0389F4-2693-4DD2-9AC4-AD38CDAB2760}"/>
              </a:ext>
            </a:extLst>
          </p:cNvPr>
          <p:cNvSpPr/>
          <p:nvPr userDrawn="1"/>
        </p:nvSpPr>
        <p:spPr>
          <a:xfrm>
            <a:off x="0" y="2131147"/>
            <a:ext cx="13440010" cy="3297382"/>
          </a:xfrm>
          <a:prstGeom prst="rect">
            <a:avLst/>
          </a:prstGeom>
          <a:gradFill flip="none" rotWithShape="1">
            <a:gsLst>
              <a:gs pos="0">
                <a:schemeClr val="accent5">
                  <a:lumMod val="90000"/>
                </a:schemeClr>
              </a:gs>
              <a:gs pos="33000">
                <a:srgbClr val="3CBACB"/>
              </a:gs>
              <a:gs pos="100000">
                <a:srgbClr val="0070C0"/>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6"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8FDFA"/>
              </a:solidFill>
              <a:effectLst/>
              <a:uLnTx/>
              <a:uFillTx/>
              <a:latin typeface="游ゴシック" panose="020F0502020204030204"/>
              <a:ea typeface="游ゴシック" panose="020B0400000000000000" pitchFamily="50" charset="-128"/>
              <a:cs typeface="+mn-cs"/>
            </a:endParaRPr>
          </a:p>
        </p:txBody>
      </p:sp>
      <p:sp>
        <p:nvSpPr>
          <p:cNvPr id="2" name="Slide Number Placeholder 4">
            <a:extLst>
              <a:ext uri="{FF2B5EF4-FFF2-40B4-BE49-F238E27FC236}">
                <a16:creationId xmlns:a16="http://schemas.microsoft.com/office/drawing/2014/main" id="{95ACA8CC-1D43-2551-ADCC-C8E8E84BDC1A}"/>
              </a:ext>
            </a:extLst>
          </p:cNvPr>
          <p:cNvSpPr>
            <a:spLocks noGrp="1"/>
          </p:cNvSpPr>
          <p:nvPr>
            <p:ph type="sldNum" sz="quarter" idx="12"/>
          </p:nvPr>
        </p:nvSpPr>
        <p:spPr>
          <a:xfrm>
            <a:off x="12772974" y="7057561"/>
            <a:ext cx="543031" cy="359999"/>
          </a:xfrm>
          <a:prstGeom prst="rect">
            <a:avLst/>
          </a:prstGeom>
          <a:noFill/>
        </p:spPr>
        <p:txBody>
          <a:bodyPr/>
          <a:lstStyle>
            <a:lvl1pPr>
              <a:defRPr>
                <a:solidFill>
                  <a:schemeClr val="tx2"/>
                </a:solidFill>
              </a:defRPr>
            </a:lvl1pPr>
          </a:lstStyle>
          <a:p>
            <a:pPr defTabSz="914406"/>
            <a:fld id="{14EC724F-F4C9-4616-8530-5BC5097559BB}" type="slidenum">
              <a:rPr lang="ja-JP" altLang="en-US" smtClean="0">
                <a:solidFill>
                  <a:srgbClr val="1B5C80"/>
                </a:solidFill>
              </a:rPr>
              <a:pPr defTabSz="914406"/>
              <a:t>‹#›</a:t>
            </a:fld>
            <a:endParaRPr lang="ja-JP" altLang="en-US">
              <a:solidFill>
                <a:srgbClr val="1B5C80"/>
              </a:solidFill>
            </a:endParaRPr>
          </a:p>
        </p:txBody>
      </p:sp>
      <p:sp>
        <p:nvSpPr>
          <p:cNvPr id="4" name="テキスト プレースホルダー 3">
            <a:extLst>
              <a:ext uri="{FF2B5EF4-FFF2-40B4-BE49-F238E27FC236}">
                <a16:creationId xmlns:a16="http://schemas.microsoft.com/office/drawing/2014/main" id="{8B30B518-6AE0-61F2-C4EA-DED785410EC1}"/>
              </a:ext>
            </a:extLst>
          </p:cNvPr>
          <p:cNvSpPr>
            <a:spLocks noGrp="1"/>
          </p:cNvSpPr>
          <p:nvPr>
            <p:ph type="body" sz="quarter" idx="13" hasCustomPrompt="1"/>
          </p:nvPr>
        </p:nvSpPr>
        <p:spPr>
          <a:xfrm>
            <a:off x="1" y="2130425"/>
            <a:ext cx="8737600" cy="3298825"/>
          </a:xfrm>
          <a:prstGeom prst="rect">
            <a:avLst/>
          </a:prstGeom>
        </p:spPr>
        <p:txBody>
          <a:bodyPr anchor="ctr"/>
          <a:lstStyle>
            <a:lvl1pPr marL="0" indent="0" algn="l">
              <a:lnSpc>
                <a:spcPct val="110000"/>
              </a:lnSpc>
              <a:buNone/>
              <a:defRPr sz="3600" b="1">
                <a:solidFill>
                  <a:schemeClr val="bg1"/>
                </a:solidFill>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a:t>タイトルが入ります</a:t>
            </a:r>
          </a:p>
        </p:txBody>
      </p:sp>
    </p:spTree>
    <p:extLst>
      <p:ext uri="{BB962C8B-B14F-4D97-AF65-F5344CB8AC3E}">
        <p14:creationId xmlns:p14="http://schemas.microsoft.com/office/powerpoint/2010/main" val="26462499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19C6891-072C-5674-D9E7-180163AA9C7A}"/>
              </a:ext>
            </a:extLst>
          </p:cNvPr>
          <p:cNvSpPr txBox="1"/>
          <p:nvPr userDrawn="1"/>
        </p:nvSpPr>
        <p:spPr>
          <a:xfrm>
            <a:off x="0" y="7298065"/>
            <a:ext cx="3345200" cy="261610"/>
          </a:xfrm>
          <a:prstGeom prst="rect">
            <a:avLst/>
          </a:prstGeom>
          <a:noFill/>
        </p:spPr>
        <p:txBody>
          <a:bodyPr wrap="square">
            <a:spAutoFit/>
          </a:bodyPr>
          <a:lstStyle/>
          <a:p>
            <a:r>
              <a:rPr lang="en-US" altLang="ja-JP" sz="1050" dirty="0">
                <a:solidFill>
                  <a:schemeClr val="tx1">
                    <a:lumMod val="50000"/>
                    <a:lumOff val="50000"/>
                  </a:schemeClr>
                </a:solidFill>
              </a:rPr>
              <a:t>© 2026 Low Code Inc. All rights reserved.</a:t>
            </a:r>
            <a:endParaRPr lang="ja-JP" altLang="en-US" sz="1050" dirty="0">
              <a:solidFill>
                <a:schemeClr val="tx1">
                  <a:lumMod val="50000"/>
                  <a:lumOff val="50000"/>
                </a:schemeClr>
              </a:solidFill>
            </a:endParaRPr>
          </a:p>
        </p:txBody>
      </p:sp>
    </p:spTree>
    <p:extLst>
      <p:ext uri="{BB962C8B-B14F-4D97-AF65-F5344CB8AC3E}">
        <p14:creationId xmlns:p14="http://schemas.microsoft.com/office/powerpoint/2010/main" val="2821829546"/>
      </p:ext>
    </p:extLst>
  </p:cSld>
  <p:clrMap bg1="lt1" tx1="dk1" bg2="lt2" tx2="dk2" accent1="accent1" accent2="accent2" accent3="accent3" accent4="accent4" accent5="accent5" accent6="accent6" hlink="hlink" folHlink="folHlink"/>
  <p:sldLayoutIdLst>
    <p:sldLayoutId id="2147483661" r:id="rId1"/>
    <p:sldLayoutId id="2147483693" r:id="rId2"/>
    <p:sldLayoutId id="2147483700" r:id="rId3"/>
    <p:sldLayoutId id="2147483698" r:id="rId4"/>
    <p:sldLayoutId id="2147483708" r:id="rId5"/>
    <p:sldLayoutId id="2147483706" r:id="rId6"/>
    <p:sldLayoutId id="2147483704" r:id="rId7"/>
    <p:sldLayoutId id="2147483707" r:id="rId8"/>
    <p:sldLayoutId id="2147483703" r:id="rId9"/>
    <p:sldLayoutId id="2147483684" r:id="rId10"/>
    <p:sldLayoutId id="2147483677" r:id="rId11"/>
    <p:sldLayoutId id="2147483705" r:id="rId12"/>
    <p:sldLayoutId id="2147483683" r:id="rId13"/>
    <p:sldLayoutId id="2147483678" r:id="rId14"/>
    <p:sldLayoutId id="2147483679" r:id="rId15"/>
    <p:sldLayoutId id="2147483722" r:id="rId16"/>
    <p:sldLayoutId id="2147483723" r:id="rId17"/>
    <p:sldLayoutId id="2147483724" r:id="rId18"/>
    <p:sldLayoutId id="2147483726" r:id="rId19"/>
  </p:sldLayoutIdLst>
  <p:hf hdr="0" ftr="0" dt="0"/>
  <p:txStyles>
    <p:titleStyle>
      <a:lvl1pPr algn="l" defTabSz="1007943" rtl="0" eaLnBrk="1" latinLnBrk="0" hangingPunct="1">
        <a:lnSpc>
          <a:spcPct val="90000"/>
        </a:lnSpc>
        <a:spcBef>
          <a:spcPct val="0"/>
        </a:spcBef>
        <a:buNone/>
        <a:defRPr kumimoji="1" sz="4850" kern="1200" spc="120" baseline="0">
          <a:solidFill>
            <a:schemeClr val="tx1"/>
          </a:solidFill>
          <a:latin typeface="+mn-ea"/>
          <a:ea typeface="+mn-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spc="120" baseline="0">
          <a:solidFill>
            <a:schemeClr val="tx1"/>
          </a:solidFill>
          <a:latin typeface="+mn-ea"/>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spc="120" baseline="0">
          <a:solidFill>
            <a:schemeClr val="tx1"/>
          </a:solidFill>
          <a:latin typeface="+mn-ea"/>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spc="120" baseline="0">
          <a:solidFill>
            <a:schemeClr val="tx1"/>
          </a:solidFill>
          <a:latin typeface="+mn-ea"/>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spc="120" baseline="0">
          <a:solidFill>
            <a:schemeClr val="tx1"/>
          </a:solidFill>
          <a:latin typeface="+mn-ea"/>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spc="120" baseline="0">
          <a:solidFill>
            <a:schemeClr val="tx1"/>
          </a:solidFill>
          <a:latin typeface="+mn-ea"/>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latin typeface="游ゴシック"/>
              </a:rPr>
              <a:t>対象：従業員 100〜1,000 名／国内・日本語テナント／Microsoft 365 E3 主体</a:t>
            </a:r>
          </a:p>
        </p:txBody>
      </p:sp>
      <p:sp>
        <p:nvSpPr>
          <p:cNvPr id="3" name="Title 2"/>
          <p:cNvSpPr>
            <a:spLocks noGrp="1"/>
          </p:cNvSpPr>
          <p:nvPr>
            <p:ph type="ctrTitle"/>
          </p:nvPr>
        </p:nvSpPr>
        <p:spPr/>
        <p:txBody>
          <a:bodyPr/>
          <a:lstStyle/>
          <a:p>
            <a:r>
              <a:rPr>
                <a:latin typeface="游ゴシック"/>
              </a:rPr>
              <a:t>Microsoft 365 モダンワークプレイス移行・活用ガイド</a:t>
            </a:r>
          </a:p>
        </p:txBody>
      </p:sp>
      <p:sp>
        <p:nvSpPr>
          <p:cNvPr id="4" name="Subtitle 3"/>
          <p:cNvSpPr>
            <a:spLocks noGrp="1"/>
          </p:cNvSpPr>
          <p:nvPr>
            <p:ph type="subTitle" idx="1"/>
          </p:nvPr>
        </p:nvSpPr>
        <p:spPr/>
        <p:txBody>
          <a:bodyPr/>
          <a:lstStyle/>
          <a:p>
            <a:r>
              <a:rPr>
                <a:latin typeface="游ゴシック"/>
              </a:rPr>
              <a:t>― フェーズ1〜4 全体版（基礎・セキュリティ・ガバナンス・活用）―</a:t>
            </a:r>
          </a:p>
        </p:txBody>
      </p:sp>
      <p:sp>
        <p:nvSpPr>
          <p:cNvPr id="5" name="Text Placeholder 4"/>
          <p:cNvSpPr>
            <a:spLocks noGrp="1"/>
          </p:cNvSpPr>
          <p:nvPr>
            <p:ph type="body" idx="2" sz="half"/>
          </p:nvPr>
        </p:nvSpPr>
        <p:spPr/>
        <p:txBody>
          <a:bodyPr/>
          <a:lstStyle/>
          <a:p>
            <a:r>
              <a:rPr sz="1100">
                <a:latin typeface="游ゴシック"/>
              </a:rPr>
              <a:t>版 1.0（2026-07-15）</a:t>
            </a:r>
          </a:p>
        </p:txBody>
      </p:sp>
      <p:sp>
        <p:nvSpPr>
          <p:cNvPr id="6" name="Text Placeholder 5"/>
          <p:cNvSpPr>
            <a:spLocks noGrp="1"/>
          </p:cNvSpPr>
          <p:nvPr>
            <p:ph type="body" idx="10" sz="half"/>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本資料について</a:t>
            </a:r>
          </a:p>
        </p:txBody>
      </p:sp>
      <p:sp>
        <p:nvSpPr>
          <p:cNvPr id="3" name="TextBox 2"/>
          <p:cNvSpPr txBox="1"/>
          <p:nvPr/>
        </p:nvSpPr>
        <p:spPr>
          <a:xfrm>
            <a:off x="822960" y="1143000"/>
            <a:ext cx="11793855" cy="2743200"/>
          </a:xfrm>
          <a:prstGeom prst="rect">
            <a:avLst/>
          </a:prstGeom>
          <a:noFill/>
        </p:spPr>
        <p:txBody>
          <a:bodyPr wrap="square" lIns="0" rIns="0" tIns="0" bIns="0">
            <a:spAutoFit/>
          </a:bodyPr>
          <a:lstStyle/>
          <a:p>
            <a:pPr>
              <a:lnSpc>
                <a:spcPct val="112000"/>
              </a:lnSpc>
              <a:spcAft>
                <a:spcPts val="13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目的：</a:t>
            </a:r>
            <a:r>
              <a:rPr sz="1600" b="0">
                <a:solidFill>
                  <a:srgbClr val="232323"/>
                </a:solidFill>
                <a:latin typeface="游ゴシック"/>
                <a:ea typeface="游ゴシック"/>
                <a:cs typeface="游ゴシック"/>
              </a:rPr>
              <a:t>M365 を活用し、脱ファイルサーバーと推奨構成への移行を段階的に進めるための汎用ガイド</a:t>
            </a:r>
          </a:p>
          <a:p>
            <a:pPr>
              <a:lnSpc>
                <a:spcPct val="112000"/>
              </a:lnSpc>
              <a:spcAft>
                <a:spcPts val="13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対象読者：</a:t>
            </a:r>
            <a:r>
              <a:rPr sz="1600" b="0">
                <a:solidFill>
                  <a:srgbClr val="232323"/>
                </a:solidFill>
                <a:latin typeface="游ゴシック"/>
                <a:ea typeface="游ゴシック"/>
                <a:cs typeface="游ゴシック"/>
              </a:rPr>
              <a:t>情報システム／IT 担当（SharePoint 初学者にも配慮）。冒頭は意思決定者向け要約</a:t>
            </a:r>
          </a:p>
          <a:p>
            <a:pPr>
              <a:lnSpc>
                <a:spcPct val="112000"/>
              </a:lnSpc>
              <a:spcAft>
                <a:spcPts val="13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前提：</a:t>
            </a:r>
            <a:r>
              <a:rPr sz="1600" b="0">
                <a:solidFill>
                  <a:srgbClr val="232323"/>
                </a:solidFill>
                <a:latin typeface="游ゴシック"/>
                <a:ea typeface="游ゴシック"/>
                <a:cs typeface="游ゴシック"/>
              </a:rPr>
              <a:t>従業員 100〜1,000 名・国内テナント・日本語・Microsoft 365 E3 主体</a:t>
            </a:r>
          </a:p>
          <a:p>
            <a:pPr>
              <a:lnSpc>
                <a:spcPct val="112000"/>
              </a:lnSpc>
              <a:spcAft>
                <a:spcPts val="13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進め方：</a:t>
            </a:r>
            <a:r>
              <a:rPr sz="1600" b="0">
                <a:solidFill>
                  <a:srgbClr val="232323"/>
                </a:solidFill>
                <a:latin typeface="游ゴシック"/>
                <a:ea typeface="游ゴシック"/>
                <a:cs typeface="游ゴシック"/>
              </a:rPr>
              <a:t>一度に完璧を目指さず、フェーズ1→4 で段階的に成熟させる</a:t>
            </a:r>
          </a:p>
          <a:p>
            <a:pPr>
              <a:lnSpc>
                <a:spcPct val="112000"/>
              </a:lnSpc>
              <a:spcAft>
                <a:spcPts val="13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出典：</a:t>
            </a:r>
            <a:r>
              <a:rPr sz="1600" b="0">
                <a:solidFill>
                  <a:srgbClr val="232323"/>
                </a:solidFill>
                <a:latin typeface="游ゴシック"/>
                <a:ea typeface="游ゴシック"/>
                <a:cs typeface="游ゴシック"/>
              </a:rPr>
              <a:t>各説明に Microsoft 公式ドキュメント等の出典番号〔S◯〕を付与（末尾に一覧）</a:t>
            </a:r>
          </a:p>
        </p:txBody>
      </p:sp>
      <p:sp>
        <p:nvSpPr>
          <p:cNvPr id="4" name="Rounded Rectangle 3"/>
          <p:cNvSpPr/>
          <p:nvPr/>
        </p:nvSpPr>
        <p:spPr>
          <a:xfrm>
            <a:off x="822960" y="5120640"/>
            <a:ext cx="11793855" cy="1188720"/>
          </a:xfrm>
          <a:prstGeom prst="roundRect">
            <a:avLst>
              <a:gd name="adj" fmla="val 6000"/>
            </a:avLst>
          </a:prstGeom>
          <a:solidFill>
            <a:srgbClr val="E7E8F8"/>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230368"/>
            <a:ext cx="11391519" cy="969264"/>
          </a:xfrm>
          <a:prstGeom prst="rect">
            <a:avLst/>
          </a:prstGeom>
          <a:noFill/>
        </p:spPr>
        <p:txBody>
          <a:bodyPr wrap="square" anchor="ctr" lIns="0" rIns="0" tIns="0" bIns="0">
            <a:spAutoFit/>
          </a:bodyPr>
          <a:lstStyle/>
          <a:p>
            <a:pPr algn="l">
              <a:lnSpc>
                <a:spcPct val="120000"/>
              </a:lnSpc>
            </a:pPr>
            <a:r>
              <a:rPr sz="1400" b="1">
                <a:solidFill>
                  <a:srgbClr val="1B5C80"/>
                </a:solidFill>
                <a:latin typeface="游ゴシック"/>
                <a:ea typeface="游ゴシック"/>
                <a:cs typeface="游ゴシック"/>
              </a:rPr>
              <a:t>ライセンスの考え方　</a:t>
            </a:r>
            <a:r>
              <a:rPr sz="1400" b="0">
                <a:solidFill>
                  <a:srgbClr val="232323"/>
                </a:solidFill>
                <a:latin typeface="游ゴシック"/>
                <a:ea typeface="游ゴシック"/>
                <a:cs typeface="游ゴシック"/>
              </a:rPr>
              <a:t>フェーズ1は概ね E3 の範囲で実現可能。フェーズ2以降は E5／Entra ID P2／SharePoint Advanced Management／Copilot 等の追加ライセンスを要する施策が増えます。各章に［E3標準］／［要追加ライセンス］を明示します。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目次</a:t>
            </a:r>
          </a:p>
        </p:txBody>
      </p:sp>
      <p:sp>
        <p:nvSpPr>
          <p:cNvPr id="3" name="TextBox 2"/>
          <p:cNvSpPr txBox="1"/>
          <p:nvPr/>
        </p:nvSpPr>
        <p:spPr>
          <a:xfrm>
            <a:off x="822960" y="1143000"/>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00</a:t>
            </a:r>
          </a:p>
        </p:txBody>
      </p:sp>
      <p:sp>
        <p:nvSpPr>
          <p:cNvPr id="4" name="TextBox 3"/>
          <p:cNvSpPr txBox="1"/>
          <p:nvPr/>
        </p:nvSpPr>
        <p:spPr>
          <a:xfrm>
            <a:off x="1874520" y="1188720"/>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はじめに／エグゼクティブサマリ</a:t>
            </a:r>
          </a:p>
        </p:txBody>
      </p:sp>
      <p:sp>
        <p:nvSpPr>
          <p:cNvPr id="5" name="TextBox 4"/>
          <p:cNvSpPr txBox="1"/>
          <p:nvPr/>
        </p:nvSpPr>
        <p:spPr>
          <a:xfrm>
            <a:off x="822960" y="2075688"/>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01</a:t>
            </a:r>
          </a:p>
        </p:txBody>
      </p:sp>
      <p:sp>
        <p:nvSpPr>
          <p:cNvPr id="6" name="TextBox 5"/>
          <p:cNvSpPr txBox="1"/>
          <p:nvPr/>
        </p:nvSpPr>
        <p:spPr>
          <a:xfrm>
            <a:off x="1874520" y="2121408"/>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全体アーキテクチャと棲み分け</a:t>
            </a:r>
          </a:p>
        </p:txBody>
      </p:sp>
      <p:sp>
        <p:nvSpPr>
          <p:cNvPr id="7" name="TextBox 6"/>
          <p:cNvSpPr txBox="1"/>
          <p:nvPr/>
        </p:nvSpPr>
        <p:spPr>
          <a:xfrm>
            <a:off x="822960" y="3008376"/>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02</a:t>
            </a:r>
          </a:p>
        </p:txBody>
      </p:sp>
      <p:sp>
        <p:nvSpPr>
          <p:cNvPr id="8" name="TextBox 7"/>
          <p:cNvSpPr txBox="1"/>
          <p:nvPr/>
        </p:nvSpPr>
        <p:spPr>
          <a:xfrm>
            <a:off x="1874520" y="3054096"/>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サイトの種類と Teams の使い分け</a:t>
            </a:r>
          </a:p>
        </p:txBody>
      </p:sp>
      <p:sp>
        <p:nvSpPr>
          <p:cNvPr id="9" name="TextBox 8"/>
          <p:cNvSpPr txBox="1"/>
          <p:nvPr/>
        </p:nvSpPr>
        <p:spPr>
          <a:xfrm>
            <a:off x="822960" y="3941064"/>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03</a:t>
            </a:r>
          </a:p>
        </p:txBody>
      </p:sp>
      <p:sp>
        <p:nvSpPr>
          <p:cNvPr id="10" name="TextBox 9"/>
          <p:cNvSpPr txBox="1"/>
          <p:nvPr/>
        </p:nvSpPr>
        <p:spPr>
          <a:xfrm>
            <a:off x="1874520" y="3986784"/>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情報アーキテクチャとグループ・権限設計</a:t>
            </a:r>
          </a:p>
        </p:txBody>
      </p:sp>
      <p:sp>
        <p:nvSpPr>
          <p:cNvPr id="11" name="TextBox 10"/>
          <p:cNvSpPr txBox="1"/>
          <p:nvPr/>
        </p:nvSpPr>
        <p:spPr>
          <a:xfrm>
            <a:off x="822960" y="4873752"/>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04</a:t>
            </a:r>
          </a:p>
        </p:txBody>
      </p:sp>
      <p:sp>
        <p:nvSpPr>
          <p:cNvPr id="12" name="TextBox 11"/>
          <p:cNvSpPr txBox="1"/>
          <p:nvPr/>
        </p:nvSpPr>
        <p:spPr>
          <a:xfrm>
            <a:off x="1874520" y="4919472"/>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クラシック→モダン移行と移行ツール</a:t>
            </a:r>
          </a:p>
        </p:txBody>
      </p:sp>
      <p:sp>
        <p:nvSpPr>
          <p:cNvPr id="13" name="TextBox 12"/>
          <p:cNvSpPr txBox="1"/>
          <p:nvPr/>
        </p:nvSpPr>
        <p:spPr>
          <a:xfrm>
            <a:off x="6812280" y="1143000"/>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10</a:t>
            </a:r>
          </a:p>
        </p:txBody>
      </p:sp>
      <p:sp>
        <p:nvSpPr>
          <p:cNvPr id="14" name="TextBox 13"/>
          <p:cNvSpPr txBox="1"/>
          <p:nvPr/>
        </p:nvSpPr>
        <p:spPr>
          <a:xfrm>
            <a:off x="7863840" y="1188720"/>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フェーズ2：セキュリティ</a:t>
            </a:r>
          </a:p>
        </p:txBody>
      </p:sp>
      <p:sp>
        <p:nvSpPr>
          <p:cNvPr id="15" name="TextBox 14"/>
          <p:cNvSpPr txBox="1"/>
          <p:nvPr/>
        </p:nvSpPr>
        <p:spPr>
          <a:xfrm>
            <a:off x="6812280" y="2075688"/>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20</a:t>
            </a:r>
          </a:p>
        </p:txBody>
      </p:sp>
      <p:sp>
        <p:nvSpPr>
          <p:cNvPr id="16" name="TextBox 15"/>
          <p:cNvSpPr txBox="1"/>
          <p:nvPr/>
        </p:nvSpPr>
        <p:spPr>
          <a:xfrm>
            <a:off x="7863840" y="2121408"/>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フェーズ3：ガバナンス・運用</a:t>
            </a:r>
          </a:p>
        </p:txBody>
      </p:sp>
      <p:sp>
        <p:nvSpPr>
          <p:cNvPr id="17" name="TextBox 16"/>
          <p:cNvSpPr txBox="1"/>
          <p:nvPr/>
        </p:nvSpPr>
        <p:spPr>
          <a:xfrm>
            <a:off x="6812280" y="3008376"/>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30</a:t>
            </a:r>
          </a:p>
        </p:txBody>
      </p:sp>
      <p:sp>
        <p:nvSpPr>
          <p:cNvPr id="18" name="TextBox 17"/>
          <p:cNvSpPr txBox="1"/>
          <p:nvPr/>
        </p:nvSpPr>
        <p:spPr>
          <a:xfrm>
            <a:off x="7863840" y="3054096"/>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フェーズ4：高度化・活用</a:t>
            </a:r>
          </a:p>
        </p:txBody>
      </p:sp>
      <p:sp>
        <p:nvSpPr>
          <p:cNvPr id="19" name="TextBox 18"/>
          <p:cNvSpPr txBox="1"/>
          <p:nvPr/>
        </p:nvSpPr>
        <p:spPr>
          <a:xfrm>
            <a:off x="6812280" y="3941064"/>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a:t>
            </a:r>
          </a:p>
        </p:txBody>
      </p:sp>
      <p:sp>
        <p:nvSpPr>
          <p:cNvPr id="20" name="TextBox 19"/>
          <p:cNvSpPr txBox="1"/>
          <p:nvPr/>
        </p:nvSpPr>
        <p:spPr>
          <a:xfrm>
            <a:off x="7863840" y="3986784"/>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導入ロードマップ</a:t>
            </a:r>
          </a:p>
        </p:txBody>
      </p:sp>
      <p:sp>
        <p:nvSpPr>
          <p:cNvPr id="21" name="TextBox 20"/>
          <p:cNvSpPr txBox="1"/>
          <p:nvPr/>
        </p:nvSpPr>
        <p:spPr>
          <a:xfrm>
            <a:off x="6812280" y="4873752"/>
            <a:ext cx="1005840" cy="548640"/>
          </a:xfrm>
          <a:prstGeom prst="rect">
            <a:avLst/>
          </a:prstGeom>
          <a:noFill/>
        </p:spPr>
        <p:txBody>
          <a:bodyPr wrap="square" anchor="t" lIns="0" rIns="0" tIns="0" bIns="0">
            <a:spAutoFit/>
          </a:bodyPr>
          <a:lstStyle/>
          <a:p>
            <a:pPr algn="l">
              <a:lnSpc>
                <a:spcPct val="108000"/>
              </a:lnSpc>
              <a:spcBef>
                <a:spcPts val="0"/>
              </a:spcBef>
              <a:spcAft>
                <a:spcPts val="300"/>
              </a:spcAft>
            </a:pPr>
            <a:r>
              <a:rPr sz="2000" b="1">
                <a:solidFill>
                  <a:srgbClr val="0FA4CC"/>
                </a:solidFill>
                <a:latin typeface="游ゴシック"/>
                <a:ea typeface="游ゴシック"/>
                <a:cs typeface="游ゴシック"/>
              </a:rPr>
              <a:t>90/99</a:t>
            </a:r>
          </a:p>
        </p:txBody>
      </p:sp>
      <p:sp>
        <p:nvSpPr>
          <p:cNvPr id="22" name="TextBox 21"/>
          <p:cNvSpPr txBox="1"/>
          <p:nvPr/>
        </p:nvSpPr>
        <p:spPr>
          <a:xfrm>
            <a:off x="7863840" y="4919472"/>
            <a:ext cx="4663440" cy="640080"/>
          </a:xfrm>
          <a:prstGeom prst="rect">
            <a:avLst/>
          </a:prstGeom>
          <a:noFill/>
        </p:spPr>
        <p:txBody>
          <a:bodyPr wrap="square" anchor="ctr" lIns="0" rIns="0" tIns="0" bIns="0">
            <a:spAutoFit/>
          </a:bodyPr>
          <a:lstStyle/>
          <a:p>
            <a:pPr algn="l">
              <a:lnSpc>
                <a:spcPct val="108000"/>
              </a:lnSpc>
              <a:spcBef>
                <a:spcPts val="0"/>
              </a:spcBef>
              <a:spcAft>
                <a:spcPts val="300"/>
              </a:spcAft>
            </a:pPr>
            <a:r>
              <a:rPr sz="1500" b="0">
                <a:solidFill>
                  <a:srgbClr val="232323"/>
                </a:solidFill>
                <a:latin typeface="游ゴシック"/>
                <a:ea typeface="游ゴシック"/>
                <a:cs typeface="游ゴシック"/>
              </a:rPr>
              <a:t>出典一覧・用語集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フェーズの全体像</a:t>
            </a:r>
          </a:p>
        </p:txBody>
      </p:sp>
      <p:sp>
        <p:nvSpPr>
          <p:cNvPr id="3" name="Rounded Rectangle 2"/>
          <p:cNvSpPr/>
          <p:nvPr/>
        </p:nvSpPr>
        <p:spPr>
          <a:xfrm>
            <a:off x="822960" y="1417320"/>
            <a:ext cx="2816352" cy="3108960"/>
          </a:xfrm>
          <a:prstGeom prst="roundRect">
            <a:avLst>
              <a:gd name="adj" fmla="val 6000"/>
            </a:avLst>
          </a:prstGeom>
          <a:solidFill>
            <a:srgbClr val="FFFFFF"/>
          </a:solidFill>
          <a:ln w="12700">
            <a:solidFill>
              <a:srgbClr val="C7D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417320"/>
            <a:ext cx="2816352" cy="566928"/>
          </a:xfrm>
          <a:prstGeom prst="roundRect">
            <a:avLst>
              <a:gd name="adj" fmla="val 6000"/>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90472"/>
            <a:ext cx="2816352" cy="420624"/>
          </a:xfrm>
          <a:prstGeom prst="rect">
            <a:avLst/>
          </a:prstGeom>
          <a:noFill/>
        </p:spPr>
        <p:txBody>
          <a:bodyPr wrap="square" anchor="ctr" lIns="0" rIns="0" tIns="0" bIns="0">
            <a:spAutoFit/>
          </a:bodyPr>
          <a:lstStyle/>
          <a:p>
            <a:pPr algn="ctr">
              <a:lnSpc>
                <a:spcPct val="108000"/>
              </a:lnSpc>
              <a:spcBef>
                <a:spcPts val="0"/>
              </a:spcBef>
              <a:spcAft>
                <a:spcPts val="300"/>
              </a:spcAft>
            </a:pPr>
            <a:r>
              <a:rPr sz="1500" b="1">
                <a:solidFill>
                  <a:srgbClr val="FFFFFF"/>
                </a:solidFill>
                <a:latin typeface="游ゴシック"/>
                <a:ea typeface="游ゴシック"/>
                <a:cs typeface="游ゴシック"/>
              </a:rPr>
              <a:t>Phase 1</a:t>
            </a:r>
          </a:p>
        </p:txBody>
      </p:sp>
      <p:sp>
        <p:nvSpPr>
          <p:cNvPr id="6" name="TextBox 5"/>
          <p:cNvSpPr txBox="1"/>
          <p:nvPr/>
        </p:nvSpPr>
        <p:spPr>
          <a:xfrm>
            <a:off x="969264" y="2167128"/>
            <a:ext cx="2523744" cy="640080"/>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232323"/>
                </a:solidFill>
                <a:latin typeface="游ゴシック"/>
                <a:ea typeface="游ゴシック"/>
                <a:cs typeface="游ゴシック"/>
              </a:rPr>
              <a:t>基礎</a:t>
            </a:r>
          </a:p>
        </p:txBody>
      </p:sp>
      <p:sp>
        <p:nvSpPr>
          <p:cNvPr id="7" name="TextBox 6"/>
          <p:cNvSpPr txBox="1"/>
          <p:nvPr/>
        </p:nvSpPr>
        <p:spPr>
          <a:xfrm>
            <a:off x="1005840" y="2880360"/>
            <a:ext cx="2450592" cy="1371600"/>
          </a:xfrm>
          <a:prstGeom prst="rect">
            <a:avLst/>
          </a:prstGeom>
          <a:noFill/>
        </p:spPr>
        <p:txBody>
          <a:bodyPr wrap="square" anchor="t" lIns="0" rIns="0" tIns="0" bIns="0">
            <a:spAutoFit/>
          </a:bodyPr>
          <a:lstStyle/>
          <a:p>
            <a:pPr algn="ctr">
              <a:lnSpc>
                <a:spcPct val="120000"/>
              </a:lnSpc>
              <a:spcBef>
                <a:spcPts val="0"/>
              </a:spcBef>
              <a:spcAft>
                <a:spcPts val="300"/>
              </a:spcAft>
            </a:pPr>
            <a:r>
              <a:rPr sz="1300" b="0">
                <a:solidFill>
                  <a:srgbClr val="5C636A"/>
                </a:solidFill>
                <a:latin typeface="游ゴシック"/>
                <a:ea typeface="游ゴシック"/>
                <a:cs typeface="游ゴシック"/>
              </a:rPr>
              <a:t>構成・棲み分け・サイト選定・権限・移行</a:t>
            </a:r>
          </a:p>
        </p:txBody>
      </p:sp>
      <p:sp>
        <p:nvSpPr>
          <p:cNvPr id="8" name="Rounded Rectangle 7"/>
          <p:cNvSpPr/>
          <p:nvPr/>
        </p:nvSpPr>
        <p:spPr>
          <a:xfrm>
            <a:off x="3785616" y="1417320"/>
            <a:ext cx="2816352" cy="3108960"/>
          </a:xfrm>
          <a:prstGeom prst="roundRect">
            <a:avLst>
              <a:gd name="adj" fmla="val 6000"/>
            </a:avLst>
          </a:prstGeom>
          <a:solidFill>
            <a:srgbClr val="FFFFFF"/>
          </a:solidFill>
          <a:ln w="12700">
            <a:solidFill>
              <a:srgbClr val="C7D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5616" y="1417320"/>
            <a:ext cx="2816352" cy="566928"/>
          </a:xfrm>
          <a:prstGeom prst="roundRect">
            <a:avLst>
              <a:gd name="adj" fmla="val 6000"/>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85616" y="1490472"/>
            <a:ext cx="2816352" cy="420624"/>
          </a:xfrm>
          <a:prstGeom prst="rect">
            <a:avLst/>
          </a:prstGeom>
          <a:noFill/>
        </p:spPr>
        <p:txBody>
          <a:bodyPr wrap="square" anchor="ctr" lIns="0" rIns="0" tIns="0" bIns="0">
            <a:spAutoFit/>
          </a:bodyPr>
          <a:lstStyle/>
          <a:p>
            <a:pPr algn="ctr">
              <a:lnSpc>
                <a:spcPct val="108000"/>
              </a:lnSpc>
              <a:spcBef>
                <a:spcPts val="0"/>
              </a:spcBef>
              <a:spcAft>
                <a:spcPts val="300"/>
              </a:spcAft>
            </a:pPr>
            <a:r>
              <a:rPr sz="1500" b="1">
                <a:solidFill>
                  <a:srgbClr val="FFFFFF"/>
                </a:solidFill>
                <a:latin typeface="游ゴシック"/>
                <a:ea typeface="游ゴシック"/>
                <a:cs typeface="游ゴシック"/>
              </a:rPr>
              <a:t>Phase 2</a:t>
            </a:r>
          </a:p>
        </p:txBody>
      </p:sp>
      <p:sp>
        <p:nvSpPr>
          <p:cNvPr id="11" name="TextBox 10"/>
          <p:cNvSpPr txBox="1"/>
          <p:nvPr/>
        </p:nvSpPr>
        <p:spPr>
          <a:xfrm>
            <a:off x="3931920" y="2167128"/>
            <a:ext cx="2523744" cy="640080"/>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232323"/>
                </a:solidFill>
                <a:latin typeface="游ゴシック"/>
                <a:ea typeface="游ゴシック"/>
                <a:cs typeface="游ゴシック"/>
              </a:rPr>
              <a:t>セキュリティ</a:t>
            </a:r>
          </a:p>
        </p:txBody>
      </p:sp>
      <p:sp>
        <p:nvSpPr>
          <p:cNvPr id="12" name="TextBox 11"/>
          <p:cNvSpPr txBox="1"/>
          <p:nvPr/>
        </p:nvSpPr>
        <p:spPr>
          <a:xfrm>
            <a:off x="3968496" y="2880360"/>
            <a:ext cx="2450592" cy="1371600"/>
          </a:xfrm>
          <a:prstGeom prst="rect">
            <a:avLst/>
          </a:prstGeom>
          <a:noFill/>
        </p:spPr>
        <p:txBody>
          <a:bodyPr wrap="square" anchor="t" lIns="0" rIns="0" tIns="0" bIns="0">
            <a:spAutoFit/>
          </a:bodyPr>
          <a:lstStyle/>
          <a:p>
            <a:pPr algn="ctr">
              <a:lnSpc>
                <a:spcPct val="120000"/>
              </a:lnSpc>
              <a:spcBef>
                <a:spcPts val="0"/>
              </a:spcBef>
              <a:spcAft>
                <a:spcPts val="300"/>
              </a:spcAft>
            </a:pPr>
            <a:r>
              <a:rPr sz="1300" b="0">
                <a:solidFill>
                  <a:srgbClr val="5C636A"/>
                </a:solidFill>
                <a:latin typeface="游ゴシック"/>
                <a:ea typeface="游ゴシック"/>
                <a:cs typeface="游ゴシック"/>
              </a:rPr>
              <a:t>秘密度ラベル・DLP・監査・条件付きアクセス</a:t>
            </a:r>
          </a:p>
        </p:txBody>
      </p:sp>
      <p:sp>
        <p:nvSpPr>
          <p:cNvPr id="13" name="Rounded Rectangle 12"/>
          <p:cNvSpPr/>
          <p:nvPr/>
        </p:nvSpPr>
        <p:spPr>
          <a:xfrm>
            <a:off x="6748272" y="1417320"/>
            <a:ext cx="2816352" cy="3108960"/>
          </a:xfrm>
          <a:prstGeom prst="roundRect">
            <a:avLst>
              <a:gd name="adj" fmla="val 6000"/>
            </a:avLst>
          </a:prstGeom>
          <a:solidFill>
            <a:srgbClr val="FFFFFF"/>
          </a:solidFill>
          <a:ln w="12700">
            <a:solidFill>
              <a:srgbClr val="C7D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48272" y="1417320"/>
            <a:ext cx="2816352" cy="566928"/>
          </a:xfrm>
          <a:prstGeom prst="roundRect">
            <a:avLst>
              <a:gd name="adj" fmla="val 6000"/>
            </a:avLst>
          </a:prstGeom>
          <a:solidFill>
            <a:srgbClr val="2A8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2" y="1490472"/>
            <a:ext cx="2816352" cy="420624"/>
          </a:xfrm>
          <a:prstGeom prst="rect">
            <a:avLst/>
          </a:prstGeom>
          <a:noFill/>
        </p:spPr>
        <p:txBody>
          <a:bodyPr wrap="square" anchor="ctr" lIns="0" rIns="0" tIns="0" bIns="0">
            <a:spAutoFit/>
          </a:bodyPr>
          <a:lstStyle/>
          <a:p>
            <a:pPr algn="ctr">
              <a:lnSpc>
                <a:spcPct val="108000"/>
              </a:lnSpc>
              <a:spcBef>
                <a:spcPts val="0"/>
              </a:spcBef>
              <a:spcAft>
                <a:spcPts val="300"/>
              </a:spcAft>
            </a:pPr>
            <a:r>
              <a:rPr sz="1500" b="1">
                <a:solidFill>
                  <a:srgbClr val="FFFFFF"/>
                </a:solidFill>
                <a:latin typeface="游ゴシック"/>
                <a:ea typeface="游ゴシック"/>
                <a:cs typeface="游ゴシック"/>
              </a:rPr>
              <a:t>Phase 3</a:t>
            </a:r>
          </a:p>
        </p:txBody>
      </p:sp>
      <p:sp>
        <p:nvSpPr>
          <p:cNvPr id="16" name="TextBox 15"/>
          <p:cNvSpPr txBox="1"/>
          <p:nvPr/>
        </p:nvSpPr>
        <p:spPr>
          <a:xfrm>
            <a:off x="6894576" y="2167128"/>
            <a:ext cx="2523744" cy="640080"/>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232323"/>
                </a:solidFill>
                <a:latin typeface="游ゴシック"/>
                <a:ea typeface="游ゴシック"/>
                <a:cs typeface="游ゴシック"/>
              </a:rPr>
              <a:t>ガバナンス・運用</a:t>
            </a:r>
          </a:p>
        </p:txBody>
      </p:sp>
      <p:sp>
        <p:nvSpPr>
          <p:cNvPr id="17" name="TextBox 16"/>
          <p:cNvSpPr txBox="1"/>
          <p:nvPr/>
        </p:nvSpPr>
        <p:spPr>
          <a:xfrm>
            <a:off x="6931152" y="2880360"/>
            <a:ext cx="2450592" cy="1371600"/>
          </a:xfrm>
          <a:prstGeom prst="rect">
            <a:avLst/>
          </a:prstGeom>
          <a:noFill/>
        </p:spPr>
        <p:txBody>
          <a:bodyPr wrap="square" anchor="t" lIns="0" rIns="0" tIns="0" bIns="0">
            <a:spAutoFit/>
          </a:bodyPr>
          <a:lstStyle/>
          <a:p>
            <a:pPr algn="ctr">
              <a:lnSpc>
                <a:spcPct val="120000"/>
              </a:lnSpc>
              <a:spcBef>
                <a:spcPts val="0"/>
              </a:spcBef>
              <a:spcAft>
                <a:spcPts val="300"/>
              </a:spcAft>
            </a:pPr>
            <a:r>
              <a:rPr sz="1300" b="0">
                <a:solidFill>
                  <a:srgbClr val="5C636A"/>
                </a:solidFill>
                <a:latin typeface="游ゴシック"/>
                <a:ea typeface="游ゴシック"/>
                <a:cs typeface="游ゴシック"/>
              </a:rPr>
              <a:t>作成統制・ライフサイクル・棚卸し・体制</a:t>
            </a:r>
          </a:p>
        </p:txBody>
      </p:sp>
      <p:sp>
        <p:nvSpPr>
          <p:cNvPr id="18" name="Rounded Rectangle 17"/>
          <p:cNvSpPr/>
          <p:nvPr/>
        </p:nvSpPr>
        <p:spPr>
          <a:xfrm>
            <a:off x="9710928" y="1417320"/>
            <a:ext cx="2816352" cy="3108960"/>
          </a:xfrm>
          <a:prstGeom prst="roundRect">
            <a:avLst>
              <a:gd name="adj" fmla="val 6000"/>
            </a:avLst>
          </a:prstGeom>
          <a:solidFill>
            <a:srgbClr val="FFFFFF"/>
          </a:solidFill>
          <a:ln w="12700">
            <a:solidFill>
              <a:srgbClr val="C7D6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10928" y="1417320"/>
            <a:ext cx="2816352" cy="566928"/>
          </a:xfrm>
          <a:prstGeom prst="roundRect">
            <a:avLst>
              <a:gd name="adj" fmla="val 6000"/>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0928" y="1490472"/>
            <a:ext cx="2816352" cy="420624"/>
          </a:xfrm>
          <a:prstGeom prst="rect">
            <a:avLst/>
          </a:prstGeom>
          <a:noFill/>
        </p:spPr>
        <p:txBody>
          <a:bodyPr wrap="square" anchor="ctr" lIns="0" rIns="0" tIns="0" bIns="0">
            <a:spAutoFit/>
          </a:bodyPr>
          <a:lstStyle/>
          <a:p>
            <a:pPr algn="ctr">
              <a:lnSpc>
                <a:spcPct val="108000"/>
              </a:lnSpc>
              <a:spcBef>
                <a:spcPts val="0"/>
              </a:spcBef>
              <a:spcAft>
                <a:spcPts val="300"/>
              </a:spcAft>
            </a:pPr>
            <a:r>
              <a:rPr sz="1500" b="1">
                <a:solidFill>
                  <a:srgbClr val="FFFFFF"/>
                </a:solidFill>
                <a:latin typeface="游ゴシック"/>
                <a:ea typeface="游ゴシック"/>
                <a:cs typeface="游ゴシック"/>
              </a:rPr>
              <a:t>Phase 4</a:t>
            </a:r>
          </a:p>
        </p:txBody>
      </p:sp>
      <p:sp>
        <p:nvSpPr>
          <p:cNvPr id="21" name="TextBox 20"/>
          <p:cNvSpPr txBox="1"/>
          <p:nvPr/>
        </p:nvSpPr>
        <p:spPr>
          <a:xfrm>
            <a:off x="9857232" y="2167128"/>
            <a:ext cx="2523744" cy="640080"/>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232323"/>
                </a:solidFill>
                <a:latin typeface="游ゴシック"/>
                <a:ea typeface="游ゴシック"/>
                <a:cs typeface="游ゴシック"/>
              </a:rPr>
              <a:t>高度化・活用（任意）</a:t>
            </a:r>
          </a:p>
        </p:txBody>
      </p:sp>
      <p:sp>
        <p:nvSpPr>
          <p:cNvPr id="22" name="TextBox 21"/>
          <p:cNvSpPr txBox="1"/>
          <p:nvPr/>
        </p:nvSpPr>
        <p:spPr>
          <a:xfrm>
            <a:off x="9893808" y="2880360"/>
            <a:ext cx="2450592" cy="1371600"/>
          </a:xfrm>
          <a:prstGeom prst="rect">
            <a:avLst/>
          </a:prstGeom>
          <a:noFill/>
        </p:spPr>
        <p:txBody>
          <a:bodyPr wrap="square" anchor="t" lIns="0" rIns="0" tIns="0" bIns="0">
            <a:spAutoFit/>
          </a:bodyPr>
          <a:lstStyle/>
          <a:p>
            <a:pPr algn="ctr">
              <a:lnSpc>
                <a:spcPct val="120000"/>
              </a:lnSpc>
              <a:spcBef>
                <a:spcPts val="0"/>
              </a:spcBef>
              <a:spcAft>
                <a:spcPts val="300"/>
              </a:spcAft>
            </a:pPr>
            <a:r>
              <a:rPr sz="1300" b="0">
                <a:solidFill>
                  <a:srgbClr val="5C636A"/>
                </a:solidFill>
                <a:latin typeface="游ゴシック"/>
                <a:ea typeface="游ゴシック"/>
                <a:cs typeface="游ゴシック"/>
              </a:rPr>
              <a:t>Copilot・Power Platform 連携</a:t>
            </a:r>
          </a:p>
        </p:txBody>
      </p:sp>
      <p:sp>
        <p:nvSpPr>
          <p:cNvPr id="23" name="Rounded Rectangle 22"/>
          <p:cNvSpPr/>
          <p:nvPr/>
        </p:nvSpPr>
        <p:spPr>
          <a:xfrm>
            <a:off x="822960" y="4937760"/>
            <a:ext cx="11793855" cy="105156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5047488"/>
            <a:ext cx="11391519" cy="832104"/>
          </a:xfrm>
          <a:prstGeom prst="rect">
            <a:avLst/>
          </a:prstGeom>
          <a:noFill/>
        </p:spPr>
        <p:txBody>
          <a:bodyPr wrap="square" anchor="ctr" lIns="0" rIns="0" tIns="0" bIns="0">
            <a:spAutoFit/>
          </a:bodyPr>
          <a:lstStyle/>
          <a:p>
            <a:pPr algn="l">
              <a:lnSpc>
                <a:spcPct val="120000"/>
              </a:lnSpc>
            </a:pPr>
            <a:r>
              <a:rPr sz="1350" b="1">
                <a:solidFill>
                  <a:srgbClr val="B0432B"/>
                </a:solidFill>
                <a:latin typeface="游ゴシック"/>
                <a:ea typeface="游ゴシック"/>
                <a:cs typeface="游ゴシック"/>
              </a:rPr>
              <a:t>重要　</a:t>
            </a:r>
            <a:r>
              <a:rPr sz="1350" b="0">
                <a:solidFill>
                  <a:srgbClr val="232323"/>
                </a:solidFill>
                <a:latin typeface="游ゴシック"/>
                <a:ea typeface="游ゴシック"/>
                <a:cs typeface="游ゴシック"/>
              </a:rPr>
              <a:t>フェーズ2以降は追加ライセンスを要する施策が増えます。まず E3 でできることから着手し、追加投資は段階的に判断してください。順番に進めるのが原則（フェーズ4 は任意）。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rPr>
                <a:latin typeface="游ゴシック"/>
              </a:rPr>
              <a:t>Phase 1 ｜ 基礎：構成・棲み分けと権限設計</a:t>
            </a:r>
          </a:p>
        </p:txBody>
      </p:sp>
      <p:sp>
        <p:nvSpPr>
          <p:cNvPr id="4" name="TextBox 3"/>
          <p:cNvSpPr txBox="1"/>
          <p:nvPr/>
        </p:nvSpPr>
        <p:spPr>
          <a:xfrm>
            <a:off x="1097280" y="5138928"/>
            <a:ext cx="11247120" cy="384048"/>
          </a:xfrm>
          <a:prstGeom prst="rect">
            <a:avLst/>
          </a:prstGeom>
          <a:noFill/>
        </p:spPr>
        <p:txBody>
          <a:bodyPr wrap="square" anchor="ctr" lIns="0" rIns="0" tIns="0" bIns="0">
            <a:spAutoFit/>
          </a:bodyPr>
          <a:lstStyle/>
          <a:p>
            <a:pPr algn="l">
              <a:lnSpc>
                <a:spcPct val="108000"/>
              </a:lnSpc>
              <a:spcBef>
                <a:spcPts val="0"/>
              </a:spcBef>
              <a:spcAft>
                <a:spcPts val="300"/>
              </a:spcAft>
            </a:pPr>
            <a:r>
              <a:rPr sz="1550" b="0">
                <a:solidFill>
                  <a:srgbClr val="1B5C80"/>
                </a:solidFill>
                <a:latin typeface="游ゴシック"/>
                <a:ea typeface="游ゴシック"/>
                <a:cs typeface="游ゴシック"/>
              </a:rPr>
              <a:t>どこに何を置くか／サイトの選び方／グループ・権限設計・移行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エグゼクティブサマリ①：課題と目指す姿</a:t>
            </a:r>
          </a:p>
        </p:txBody>
      </p:sp>
      <p:sp>
        <p:nvSpPr>
          <p:cNvPr id="3" name="Rounded Rectangle 2"/>
          <p:cNvSpPr/>
          <p:nvPr/>
        </p:nvSpPr>
        <p:spPr>
          <a:xfrm>
            <a:off x="822960" y="1143000"/>
            <a:ext cx="11793855" cy="155448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400" b="1">
                <a:solidFill>
                  <a:srgbClr val="B0432B"/>
                </a:solidFill>
                <a:latin typeface="游ゴシック"/>
                <a:ea typeface="游ゴシック"/>
                <a:cs typeface="游ゴシック"/>
              </a:rPr>
              <a:t>課題（オンプレファイルサーバー）</a:t>
            </a:r>
          </a:p>
        </p:txBody>
      </p:sp>
      <p:sp>
        <p:nvSpPr>
          <p:cNvPr id="5" name="TextBox 4"/>
          <p:cNvSpPr txBox="1"/>
          <p:nvPr/>
        </p:nvSpPr>
        <p:spPr>
          <a:xfrm>
            <a:off x="1078992" y="1600200"/>
            <a:ext cx="11336655" cy="1005840"/>
          </a:xfrm>
          <a:prstGeom prst="rect">
            <a:avLst/>
          </a:prstGeom>
          <a:noFill/>
        </p:spPr>
        <p:txBody>
          <a:bodyPr wrap="square" lIns="0" rIns="0" tIns="0" bIns="0">
            <a:spAutoFit/>
          </a:bodyPr>
          <a:lstStyle/>
          <a:p>
            <a:pPr>
              <a:lnSpc>
                <a:spcPct val="112000"/>
              </a:lnSpc>
              <a:spcAft>
                <a:spcPts val="500"/>
              </a:spcAft>
            </a:pPr>
            <a:r>
              <a:rPr sz="1400" b="1">
                <a:solidFill>
                  <a:srgbClr val="1B5C80"/>
                </a:solidFill>
                <a:latin typeface="游ゴシック"/>
                <a:ea typeface="游ゴシック"/>
                <a:cs typeface="游ゴシック"/>
              </a:rPr>
              <a:t>■ </a:t>
            </a:r>
            <a:r>
              <a:rPr sz="1400" b="0">
                <a:solidFill>
                  <a:srgbClr val="232323"/>
                </a:solidFill>
                <a:latin typeface="游ゴシック"/>
                <a:ea typeface="游ゴシック"/>
                <a:cs typeface="游ゴシック"/>
              </a:rPr>
              <a:t>社外アクセス（VPN依存）・同時編集不可・検索性・事故耐性の弱さ</a:t>
            </a:r>
          </a:p>
          <a:p>
            <a:pPr>
              <a:lnSpc>
                <a:spcPct val="112000"/>
              </a:lnSpc>
              <a:spcAft>
                <a:spcPts val="500"/>
              </a:spcAft>
            </a:pPr>
            <a:r>
              <a:rPr sz="1400" b="1">
                <a:solidFill>
                  <a:srgbClr val="1B5C80"/>
                </a:solidFill>
                <a:latin typeface="游ゴシック"/>
                <a:ea typeface="游ゴシック"/>
                <a:cs typeface="游ゴシック"/>
              </a:rPr>
              <a:t>■ </a:t>
            </a:r>
            <a:r>
              <a:rPr sz="1400" b="0">
                <a:solidFill>
                  <a:srgbClr val="232323"/>
                </a:solidFill>
                <a:latin typeface="游ゴシック"/>
                <a:ea typeface="游ゴシック"/>
                <a:cs typeface="游ゴシック"/>
              </a:rPr>
              <a:t>M365 契約済みなのに機能が重複＝二重投資</a:t>
            </a:r>
          </a:p>
        </p:txBody>
      </p:sp>
      <p:sp>
        <p:nvSpPr>
          <p:cNvPr id="6" name="Rounded Rectangle 5"/>
          <p:cNvSpPr/>
          <p:nvPr/>
        </p:nvSpPr>
        <p:spPr>
          <a:xfrm>
            <a:off x="822960" y="2880360"/>
            <a:ext cx="11793855" cy="164592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99008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400" b="1">
                <a:solidFill>
                  <a:srgbClr val="1B5C80"/>
                </a:solidFill>
                <a:latin typeface="游ゴシック"/>
                <a:ea typeface="游ゴシック"/>
                <a:cs typeface="游ゴシック"/>
              </a:rPr>
              <a:t>目指す姿（Microsoft 推奨の棲み分け）</a:t>
            </a:r>
          </a:p>
        </p:txBody>
      </p:sp>
      <p:sp>
        <p:nvSpPr>
          <p:cNvPr id="8" name="TextBox 7"/>
          <p:cNvSpPr txBox="1"/>
          <p:nvPr/>
        </p:nvSpPr>
        <p:spPr>
          <a:xfrm>
            <a:off x="1078992" y="3337560"/>
            <a:ext cx="11336655" cy="1097280"/>
          </a:xfrm>
          <a:prstGeom prst="rect">
            <a:avLst/>
          </a:prstGeom>
          <a:noFill/>
        </p:spPr>
        <p:txBody>
          <a:bodyPr wrap="square" lIns="0" rIns="0" tIns="0" bIns="0">
            <a:spAutoFit/>
          </a:bodyPr>
          <a:lstStyle/>
          <a:p>
            <a:pPr>
              <a:lnSpc>
                <a:spcPct val="112000"/>
              </a:lnSpc>
              <a:spcAft>
                <a:spcPts val="500"/>
              </a:spcAft>
            </a:pPr>
            <a:r>
              <a:rPr sz="1400" b="1">
                <a:solidFill>
                  <a:srgbClr val="1B5C80"/>
                </a:solidFill>
                <a:latin typeface="游ゴシック"/>
                <a:ea typeface="游ゴシック"/>
                <a:cs typeface="游ゴシック"/>
              </a:rPr>
              <a:t>■ </a:t>
            </a:r>
            <a:r>
              <a:rPr sz="1400" b="1">
                <a:solidFill>
                  <a:srgbClr val="1B5C80"/>
                </a:solidFill>
                <a:latin typeface="游ゴシック"/>
                <a:ea typeface="游ゴシック"/>
                <a:cs typeface="游ゴシック"/>
              </a:rPr>
              <a:t>個人＝OneDrive</a:t>
            </a:r>
            <a:r>
              <a:rPr sz="1400" b="0">
                <a:solidFill>
                  <a:srgbClr val="232323"/>
                </a:solidFill>
                <a:latin typeface="游ゴシック"/>
                <a:ea typeface="游ゴシック"/>
                <a:cs typeface="游ゴシック"/>
              </a:rPr>
              <a:t>／</a:t>
            </a:r>
            <a:r>
              <a:rPr sz="1400" b="1">
                <a:solidFill>
                  <a:srgbClr val="1B5C80"/>
                </a:solidFill>
                <a:latin typeface="游ゴシック"/>
                <a:ea typeface="游ゴシック"/>
                <a:cs typeface="游ゴシック"/>
              </a:rPr>
              <a:t>チーム共有＝SharePoint チームサイト</a:t>
            </a:r>
            <a:r>
              <a:rPr sz="1400" b="0">
                <a:solidFill>
                  <a:srgbClr val="232323"/>
                </a:solidFill>
                <a:latin typeface="游ゴシック"/>
                <a:ea typeface="游ゴシック"/>
                <a:cs typeface="游ゴシック"/>
              </a:rPr>
              <a:t>／</a:t>
            </a:r>
            <a:r>
              <a:rPr sz="1400" b="1">
                <a:solidFill>
                  <a:srgbClr val="1B5C80"/>
                </a:solidFill>
                <a:latin typeface="游ゴシック"/>
                <a:ea typeface="游ゴシック"/>
                <a:cs typeface="游ゴシック"/>
              </a:rPr>
              <a:t>全社発信＝コミュニケーションサイト</a:t>
            </a:r>
          </a:p>
          <a:p>
            <a:pPr>
              <a:lnSpc>
                <a:spcPct val="112000"/>
              </a:lnSpc>
              <a:spcAft>
                <a:spcPts val="500"/>
              </a:spcAft>
            </a:pPr>
            <a:r>
              <a:rPr sz="1400" b="1">
                <a:solidFill>
                  <a:srgbClr val="1B5C80"/>
                </a:solidFill>
                <a:latin typeface="游ゴシック"/>
                <a:ea typeface="游ゴシック"/>
                <a:cs typeface="游ゴシック"/>
              </a:rPr>
              <a:t>■ </a:t>
            </a:r>
            <a:r>
              <a:rPr sz="1400" b="0">
                <a:solidFill>
                  <a:srgbClr val="232323"/>
                </a:solidFill>
                <a:latin typeface="游ゴシック"/>
                <a:ea typeface="游ゴシック"/>
                <a:cs typeface="游ゴシック"/>
              </a:rPr>
              <a:t>モダンでフラットな構成に移行し、アクセス性・検索性・共同編集・ガバナンスを底上げ</a:t>
            </a:r>
          </a:p>
        </p:txBody>
      </p:sp>
      <p:sp>
        <p:nvSpPr>
          <p:cNvPr id="9" name="TextBox 8"/>
          <p:cNvSpPr txBox="1"/>
          <p:nvPr/>
        </p:nvSpPr>
        <p:spPr>
          <a:xfrm>
            <a:off x="822960" y="4754880"/>
            <a:ext cx="11793855" cy="457200"/>
          </a:xfrm>
          <a:prstGeom prst="rect">
            <a:avLst/>
          </a:prstGeom>
          <a:noFill/>
        </p:spPr>
        <p:txBody>
          <a:bodyPr wrap="square" anchor="t" lIns="0" rIns="0" tIns="0" bIns="0">
            <a:spAutoFit/>
          </a:bodyPr>
          <a:lstStyle/>
          <a:p>
            <a:pPr algn="l">
              <a:lnSpc>
                <a:spcPct val="108000"/>
              </a:lnSpc>
              <a:spcBef>
                <a:spcPts val="0"/>
              </a:spcBef>
              <a:spcAft>
                <a:spcPts val="300"/>
              </a:spcAft>
            </a:pPr>
            <a:r>
              <a:rPr sz="1350" b="0">
                <a:solidFill>
                  <a:srgbClr val="232323"/>
                </a:solidFill>
                <a:latin typeface="游ゴシック"/>
                <a:ea typeface="游ゴシック"/>
                <a:cs typeface="游ゴシック"/>
              </a:rPr>
              <a:t>進め方：フェーズ1（基礎）→2（セキュリティ）→3（ガバナンス）→4（活用・任意）で段階的に成熟。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エグゼクティブサマリ②：フェーズ1の結論</a:t>
            </a:r>
          </a:p>
        </p:txBody>
      </p:sp>
      <p:sp>
        <p:nvSpPr>
          <p:cNvPr id="3" name="TextBox 2"/>
          <p:cNvSpPr txBox="1"/>
          <p:nvPr/>
        </p:nvSpPr>
        <p:spPr>
          <a:xfrm>
            <a:off x="822960" y="1143000"/>
            <a:ext cx="11793855" cy="3840480"/>
          </a:xfrm>
          <a:prstGeom prst="rect">
            <a:avLst/>
          </a:prstGeom>
          <a:noFill/>
        </p:spPr>
        <p:txBody>
          <a:bodyPr wrap="square" lIns="0" rIns="0" tIns="0" bIns="0">
            <a:spAutoFit/>
          </a:bodyPr>
          <a:lstStyle/>
          <a:p>
            <a:pPr>
              <a:lnSpc>
                <a:spcPct val="112000"/>
              </a:lnSpc>
              <a:spcAft>
                <a:spcPts val="1800"/>
              </a:spcAft>
            </a:pPr>
            <a:r>
              <a:rPr sz="1700" b="1">
                <a:solidFill>
                  <a:srgbClr val="1B5C80"/>
                </a:solidFill>
                <a:latin typeface="游ゴシック"/>
                <a:ea typeface="游ゴシック"/>
                <a:cs typeface="游ゴシック"/>
              </a:rPr>
              <a:t>■ </a:t>
            </a:r>
            <a:r>
              <a:rPr sz="1700" b="1">
                <a:solidFill>
                  <a:srgbClr val="1B5C80"/>
                </a:solidFill>
                <a:latin typeface="游ゴシック"/>
                <a:ea typeface="游ゴシック"/>
                <a:cs typeface="游ゴシック"/>
              </a:rPr>
              <a:t>① 棲み分けを先に決める：</a:t>
            </a:r>
            <a:r>
              <a:rPr sz="1700" b="0">
                <a:solidFill>
                  <a:srgbClr val="232323"/>
                </a:solidFill>
                <a:latin typeface="游ゴシック"/>
                <a:ea typeface="游ゴシック"/>
                <a:cs typeface="游ゴシック"/>
              </a:rPr>
              <a:t>「どこに何を置くか」を全社で共有してから移行する</a:t>
            </a:r>
          </a:p>
          <a:p>
            <a:pPr>
              <a:lnSpc>
                <a:spcPct val="112000"/>
              </a:lnSpc>
              <a:spcAft>
                <a:spcPts val="1800"/>
              </a:spcAft>
            </a:pPr>
            <a:r>
              <a:rPr sz="1700" b="1">
                <a:solidFill>
                  <a:srgbClr val="1B5C80"/>
                </a:solidFill>
                <a:latin typeface="游ゴシック"/>
                <a:ea typeface="游ゴシック"/>
                <a:cs typeface="游ゴシック"/>
              </a:rPr>
              <a:t>■ </a:t>
            </a:r>
            <a:r>
              <a:rPr sz="1700" b="1">
                <a:solidFill>
                  <a:srgbClr val="1B5C80"/>
                </a:solidFill>
                <a:latin typeface="游ゴシック"/>
                <a:ea typeface="游ゴシック"/>
                <a:cs typeface="游ゴシック"/>
              </a:rPr>
              <a:t>② サイトは基本2択：</a:t>
            </a:r>
            <a:r>
              <a:rPr sz="1700" b="0">
                <a:solidFill>
                  <a:srgbClr val="232323"/>
                </a:solidFill>
                <a:latin typeface="游ゴシック"/>
                <a:ea typeface="游ゴシック"/>
                <a:cs typeface="游ゴシック"/>
              </a:rPr>
              <a:t>Teams チーム か コミュニケーションサイト。クラシック・サブサイトは作らない</a:t>
            </a:r>
          </a:p>
          <a:p>
            <a:pPr>
              <a:lnSpc>
                <a:spcPct val="112000"/>
              </a:lnSpc>
              <a:spcAft>
                <a:spcPts val="1800"/>
              </a:spcAft>
            </a:pPr>
            <a:r>
              <a:rPr sz="1700" b="1">
                <a:solidFill>
                  <a:srgbClr val="1B5C80"/>
                </a:solidFill>
                <a:latin typeface="游ゴシック"/>
                <a:ea typeface="游ゴシック"/>
                <a:cs typeface="游ゴシック"/>
              </a:rPr>
              <a:t>■ </a:t>
            </a:r>
            <a:r>
              <a:rPr sz="1700" b="1">
                <a:solidFill>
                  <a:srgbClr val="1B5C80"/>
                </a:solidFill>
                <a:latin typeface="游ゴシック"/>
                <a:ea typeface="游ゴシック"/>
                <a:cs typeface="游ゴシック"/>
              </a:rPr>
              <a:t>③ 権限はグループで束ねる：</a:t>
            </a:r>
            <a:r>
              <a:rPr sz="1700" b="0">
                <a:solidFill>
                  <a:srgbClr val="232323"/>
                </a:solidFill>
                <a:latin typeface="游ゴシック"/>
                <a:ea typeface="游ゴシック"/>
                <a:cs typeface="游ゴシック"/>
              </a:rPr>
              <a:t>個人単位で付けず、境界はサイトで切る</a:t>
            </a:r>
          </a:p>
          <a:p>
            <a:pPr>
              <a:lnSpc>
                <a:spcPct val="112000"/>
              </a:lnSpc>
              <a:spcAft>
                <a:spcPts val="1800"/>
              </a:spcAft>
            </a:pPr>
            <a:r>
              <a:rPr sz="1700" b="1">
                <a:solidFill>
                  <a:srgbClr val="1B5C80"/>
                </a:solidFill>
                <a:latin typeface="游ゴシック"/>
                <a:ea typeface="游ゴシック"/>
                <a:cs typeface="游ゴシック"/>
              </a:rPr>
              <a:t>■ </a:t>
            </a:r>
            <a:r>
              <a:rPr sz="1700" b="1">
                <a:solidFill>
                  <a:srgbClr val="1B5C80"/>
                </a:solidFill>
                <a:latin typeface="游ゴシック"/>
                <a:ea typeface="游ゴシック"/>
                <a:cs typeface="游ゴシック"/>
              </a:rPr>
              <a:t>④ 移行は影響調査を先に：</a:t>
            </a:r>
            <a:r>
              <a:rPr sz="1700" b="0">
                <a:solidFill>
                  <a:srgbClr val="232323"/>
                </a:solidFill>
                <a:latin typeface="游ゴシック"/>
                <a:ea typeface="游ゴシック"/>
                <a:cs typeface="游ゴシック"/>
              </a:rPr>
              <a:t>無償の SPMT／Migration Manager を基本に、規模・要件で有償を検討</a:t>
            </a:r>
          </a:p>
          <a:p>
            <a:pPr>
              <a:lnSpc>
                <a:spcPct val="112000"/>
              </a:lnSpc>
              <a:spcAft>
                <a:spcPts val="1800"/>
              </a:spcAft>
            </a:pPr>
            <a:r>
              <a:rPr sz="1700" b="1">
                <a:solidFill>
                  <a:srgbClr val="1B5C80"/>
                </a:solidFill>
                <a:latin typeface="游ゴシック"/>
                <a:ea typeface="游ゴシック"/>
                <a:cs typeface="游ゴシック"/>
              </a:rPr>
              <a:t>■ </a:t>
            </a:r>
            <a:r>
              <a:rPr sz="1700" b="1">
                <a:solidFill>
                  <a:srgbClr val="1B5C80"/>
                </a:solidFill>
                <a:latin typeface="游ゴシック"/>
                <a:ea typeface="游ゴシック"/>
                <a:cs typeface="游ゴシック"/>
              </a:rPr>
              <a:t>フェーズ1 の内容は Microsoft 365 E3 の範囲でほぼ実現可能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なぜ今、脱ファイルサーバーなのか</a:t>
            </a:r>
          </a:p>
        </p:txBody>
      </p:sp>
      <p:graphicFrame>
        <p:nvGraphicFramePr>
          <p:cNvPr id="3" name="Table 2"/>
          <p:cNvGraphicFramePr>
            <a:graphicFrameLocks noGrp="1"/>
          </p:cNvGraphicFramePr>
          <p:nvPr/>
        </p:nvGraphicFramePr>
        <p:xfrm>
          <a:off x="822960" y="1143000"/>
          <a:ext cx="11793855" cy="3931920"/>
        </p:xfrm>
        <a:graphic>
          <a:graphicData uri="http://schemas.openxmlformats.org/drawingml/2006/table">
            <a:tbl>
              <a:tblPr firstRow="1">
                <a:tableStyleId>{5C22544A-7EE6-4342-B048-85BDC9FD1C3A}</a:tableStyleId>
              </a:tblPr>
              <a:tblGrid>
                <a:gridCol w="4717542"/>
                <a:gridCol w="7076313"/>
              </a:tblGrid>
              <a:tr h="420624">
                <a:tc>
                  <a:txBody>
                    <a:bodyPr wrap="square"/>
                    <a:lstStyle/>
                    <a:p>
                      <a:pPr>
                        <a:lnSpc>
                          <a:spcPct val="100000"/>
                        </a:lnSpc>
                      </a:pPr>
                      <a:r>
                        <a:rPr sz="1400" b="1">
                          <a:solidFill>
                            <a:srgbClr val="FFFFFF"/>
                          </a:solidFill>
                          <a:latin typeface="游ゴシック"/>
                          <a:ea typeface="游ゴシック"/>
                          <a:cs typeface="游ゴシック"/>
                        </a:rPr>
                        <a:t>観点</a:t>
                      </a:r>
                    </a:p>
                  </a:txBody>
                  <a:tcPr marL="64008" marR="45720" marT="13716" marB="13716" anchor="ctr">
                    <a:solidFill>
                      <a:srgbClr val="1B5C80"/>
                    </a:solidFill>
                  </a:tcPr>
                </a:tc>
                <a:tc>
                  <a:txBody>
                    <a:bodyPr wrap="square"/>
                    <a:lstStyle/>
                    <a:p>
                      <a:pPr>
                        <a:lnSpc>
                          <a:spcPct val="100000"/>
                        </a:lnSpc>
                      </a:pPr>
                      <a:r>
                        <a:rPr sz="1400" b="1">
                          <a:solidFill>
                            <a:srgbClr val="FFFFFF"/>
                          </a:solidFill>
                          <a:latin typeface="游ゴシック"/>
                          <a:ea typeface="游ゴシック"/>
                          <a:cs typeface="游ゴシック"/>
                        </a:rPr>
                        <a:t>オンプレファイルサーバーの課題</a:t>
                      </a:r>
                    </a:p>
                  </a:txBody>
                  <a:tcPr marL="64008" marR="45720" marT="13716" marB="13716" anchor="ctr">
                    <a:solidFill>
                      <a:srgbClr val="1B5C80"/>
                    </a:solidFill>
                  </a:tcPr>
                </a:tc>
              </a:tr>
              <a:tr h="585216">
                <a:tc>
                  <a:txBody>
                    <a:bodyPr wrap="square"/>
                    <a:lstStyle/>
                    <a:p>
                      <a:pPr>
                        <a:lnSpc>
                          <a:spcPct val="100000"/>
                        </a:lnSpc>
                      </a:pPr>
                      <a:r>
                        <a:rPr sz="1400" b="0">
                          <a:solidFill>
                            <a:srgbClr val="232323"/>
                          </a:solidFill>
                          <a:latin typeface="游ゴシック"/>
                          <a:ea typeface="游ゴシック"/>
                          <a:cs typeface="游ゴシック"/>
                        </a:rPr>
                        <a:t>社外アクセス</a:t>
                      </a:r>
                    </a:p>
                  </a:txBody>
                  <a:tcPr marL="64008" marR="45720" marT="13716" marB="13716" anchor="ctr">
                    <a:solidFill>
                      <a:srgbClr val="FFFFFF"/>
                    </a:solidFill>
                  </a:tcPr>
                </a:tc>
                <a:tc>
                  <a:txBody>
                    <a:bodyPr wrap="square"/>
                    <a:lstStyle/>
                    <a:p>
                      <a:pPr>
                        <a:lnSpc>
                          <a:spcPct val="100000"/>
                        </a:lnSpc>
                      </a:pPr>
                      <a:r>
                        <a:rPr sz="1400" b="0">
                          <a:solidFill>
                            <a:srgbClr val="232323"/>
                          </a:solidFill>
                          <a:latin typeface="游ゴシック"/>
                          <a:ea typeface="游ゴシック"/>
                          <a:cs typeface="游ゴシック"/>
                        </a:rPr>
                        <a:t>VPN 依存でテレワーク・モバイルに不向き、集中による遅延</a:t>
                      </a:r>
                    </a:p>
                  </a:txBody>
                  <a:tcPr marL="64008" marR="45720" marT="13716" marB="13716" anchor="ctr">
                    <a:solidFill>
                      <a:srgbClr val="FFFFFF"/>
                    </a:solidFill>
                  </a:tcPr>
                </a:tc>
              </a:tr>
              <a:tr h="585216">
                <a:tc>
                  <a:txBody>
                    <a:bodyPr wrap="square"/>
                    <a:lstStyle/>
                    <a:p>
                      <a:pPr>
                        <a:lnSpc>
                          <a:spcPct val="100000"/>
                        </a:lnSpc>
                      </a:pPr>
                      <a:r>
                        <a:rPr sz="1400" b="0">
                          <a:solidFill>
                            <a:srgbClr val="232323"/>
                          </a:solidFill>
                          <a:latin typeface="游ゴシック"/>
                          <a:ea typeface="游ゴシック"/>
                          <a:cs typeface="游ゴシック"/>
                        </a:rPr>
                        <a:t>共同作業</a:t>
                      </a:r>
                    </a:p>
                  </a:txBody>
                  <a:tcPr marL="64008" marR="45720" marT="13716" marB="13716" anchor="ctr">
                    <a:solidFill>
                      <a:srgbClr val="F3F9FB"/>
                    </a:solidFill>
                  </a:tcPr>
                </a:tc>
                <a:tc>
                  <a:txBody>
                    <a:bodyPr wrap="square"/>
                    <a:lstStyle/>
                    <a:p>
                      <a:pPr>
                        <a:lnSpc>
                          <a:spcPct val="100000"/>
                        </a:lnSpc>
                      </a:pPr>
                      <a:r>
                        <a:rPr sz="1400" b="0">
                          <a:solidFill>
                            <a:srgbClr val="232323"/>
                          </a:solidFill>
                          <a:latin typeface="游ゴシック"/>
                          <a:ea typeface="游ゴシック"/>
                          <a:cs typeface="游ゴシック"/>
                        </a:rPr>
                        <a:t>同時編集できず「最新_v3_確定版」の重複・世代混乱</a:t>
                      </a:r>
                    </a:p>
                  </a:txBody>
                  <a:tcPr marL="64008" marR="45720" marT="13716" marB="13716" anchor="ctr">
                    <a:solidFill>
                      <a:srgbClr val="F3F9FB"/>
                    </a:solidFill>
                  </a:tcPr>
                </a:tc>
              </a:tr>
              <a:tr h="585216">
                <a:tc>
                  <a:txBody>
                    <a:bodyPr wrap="square"/>
                    <a:lstStyle/>
                    <a:p>
                      <a:pPr>
                        <a:lnSpc>
                          <a:spcPct val="100000"/>
                        </a:lnSpc>
                      </a:pPr>
                      <a:r>
                        <a:rPr sz="1400" b="0">
                          <a:solidFill>
                            <a:srgbClr val="232323"/>
                          </a:solidFill>
                          <a:latin typeface="游ゴシック"/>
                          <a:ea typeface="游ゴシック"/>
                          <a:cs typeface="游ゴシック"/>
                        </a:rPr>
                        <a:t>検索性</a:t>
                      </a:r>
                    </a:p>
                  </a:txBody>
                  <a:tcPr marL="64008" marR="45720" marT="13716" marB="13716" anchor="ctr">
                    <a:solidFill>
                      <a:srgbClr val="FFFFFF"/>
                    </a:solidFill>
                  </a:tcPr>
                </a:tc>
                <a:tc>
                  <a:txBody>
                    <a:bodyPr wrap="square"/>
                    <a:lstStyle/>
                    <a:p>
                      <a:pPr>
                        <a:lnSpc>
                          <a:spcPct val="100000"/>
                        </a:lnSpc>
                      </a:pPr>
                      <a:r>
                        <a:rPr sz="1400" b="0">
                          <a:solidFill>
                            <a:srgbClr val="232323"/>
                          </a:solidFill>
                          <a:latin typeface="游ゴシック"/>
                          <a:ea typeface="游ゴシック"/>
                          <a:cs typeface="游ゴシック"/>
                        </a:rPr>
                        <a:t>全文検索が弱く目的のファイルに辿り着けない</a:t>
                      </a:r>
                    </a:p>
                  </a:txBody>
                  <a:tcPr marL="64008" marR="45720" marT="13716" marB="13716" anchor="ctr">
                    <a:solidFill>
                      <a:srgbClr val="FFFFFF"/>
                    </a:solidFill>
                  </a:tcPr>
                </a:tc>
              </a:tr>
              <a:tr h="585216">
                <a:tc>
                  <a:txBody>
                    <a:bodyPr wrap="square"/>
                    <a:lstStyle/>
                    <a:p>
                      <a:pPr>
                        <a:lnSpc>
                          <a:spcPct val="100000"/>
                        </a:lnSpc>
                      </a:pPr>
                      <a:r>
                        <a:rPr sz="1400" b="0">
                          <a:solidFill>
                            <a:srgbClr val="232323"/>
                          </a:solidFill>
                          <a:latin typeface="游ゴシック"/>
                          <a:ea typeface="游ゴシック"/>
                          <a:cs typeface="游ゴシック"/>
                        </a:rPr>
                        <a:t>事故耐性</a:t>
                      </a:r>
                    </a:p>
                  </a:txBody>
                  <a:tcPr marL="64008" marR="45720" marT="13716" marB="13716" anchor="ctr">
                    <a:solidFill>
                      <a:srgbClr val="F3F9FB"/>
                    </a:solidFill>
                  </a:tcPr>
                </a:tc>
                <a:tc>
                  <a:txBody>
                    <a:bodyPr wrap="square"/>
                    <a:lstStyle/>
                    <a:p>
                      <a:pPr>
                        <a:lnSpc>
                          <a:spcPct val="100000"/>
                        </a:lnSpc>
                      </a:pPr>
                      <a:r>
                        <a:rPr sz="1400" b="0">
                          <a:solidFill>
                            <a:srgbClr val="232323"/>
                          </a:solidFill>
                          <a:latin typeface="游ゴシック"/>
                          <a:ea typeface="游ゴシック"/>
                          <a:cs typeface="游ゴシック"/>
                        </a:rPr>
                        <a:t>誤削除・上書きの復旧が運用頼み、ランサムの標的</a:t>
                      </a:r>
                    </a:p>
                  </a:txBody>
                  <a:tcPr marL="64008" marR="45720" marT="13716" marB="13716" anchor="ctr">
                    <a:solidFill>
                      <a:srgbClr val="F3F9FB"/>
                    </a:solidFill>
                  </a:tcPr>
                </a:tc>
              </a:tr>
              <a:tr h="585216">
                <a:tc>
                  <a:txBody>
                    <a:bodyPr wrap="square"/>
                    <a:lstStyle/>
                    <a:p>
                      <a:pPr>
                        <a:lnSpc>
                          <a:spcPct val="100000"/>
                        </a:lnSpc>
                      </a:pPr>
                      <a:r>
                        <a:rPr sz="1400" b="0">
                          <a:solidFill>
                            <a:srgbClr val="232323"/>
                          </a:solidFill>
                          <a:latin typeface="游ゴシック"/>
                          <a:ea typeface="游ゴシック"/>
                          <a:cs typeface="游ゴシック"/>
                        </a:rPr>
                        <a:t>権限管理</a:t>
                      </a:r>
                    </a:p>
                  </a:txBody>
                  <a:tcPr marL="64008" marR="45720" marT="13716" marB="13716" anchor="ctr">
                    <a:solidFill>
                      <a:srgbClr val="FFFFFF"/>
                    </a:solidFill>
                  </a:tcPr>
                </a:tc>
                <a:tc>
                  <a:txBody>
                    <a:bodyPr wrap="square"/>
                    <a:lstStyle/>
                    <a:p>
                      <a:pPr>
                        <a:lnSpc>
                          <a:spcPct val="100000"/>
                        </a:lnSpc>
                      </a:pPr>
                      <a:r>
                        <a:rPr sz="1400" b="0">
                          <a:solidFill>
                            <a:srgbClr val="232323"/>
                          </a:solidFill>
                          <a:latin typeface="游ゴシック"/>
                          <a:ea typeface="游ゴシック"/>
                          <a:cs typeface="游ゴシック"/>
                        </a:rPr>
                        <a:t>深いフォルダ＋個別 ACL で誰が何にアクセスできるか不透明</a:t>
                      </a:r>
                    </a:p>
                  </a:txBody>
                  <a:tcPr marL="64008" marR="45720" marT="13716" marB="13716" anchor="ctr">
                    <a:solidFill>
                      <a:srgbClr val="FFFFFF"/>
                    </a:solidFill>
                  </a:tcPr>
                </a:tc>
              </a:tr>
              <a:tr h="585216">
                <a:tc>
                  <a:txBody>
                    <a:bodyPr wrap="square"/>
                    <a:lstStyle/>
                    <a:p>
                      <a:pPr>
                        <a:lnSpc>
                          <a:spcPct val="100000"/>
                        </a:lnSpc>
                      </a:pPr>
                      <a:r>
                        <a:rPr sz="1400" b="0">
                          <a:solidFill>
                            <a:srgbClr val="232323"/>
                          </a:solidFill>
                          <a:latin typeface="游ゴシック"/>
                          <a:ea typeface="游ゴシック"/>
                          <a:cs typeface="游ゴシック"/>
                        </a:rPr>
                        <a:t>コスト</a:t>
                      </a:r>
                    </a:p>
                  </a:txBody>
                  <a:tcPr marL="64008" marR="45720" marT="13716" marB="13716" anchor="ctr">
                    <a:solidFill>
                      <a:srgbClr val="F3F9FB"/>
                    </a:solidFill>
                  </a:tcPr>
                </a:tc>
                <a:tc>
                  <a:txBody>
                    <a:bodyPr wrap="square"/>
                    <a:lstStyle/>
                    <a:p>
                      <a:pPr>
                        <a:lnSpc>
                          <a:spcPct val="100000"/>
                        </a:lnSpc>
                      </a:pPr>
                      <a:r>
                        <a:rPr sz="1400" b="0">
                          <a:solidFill>
                            <a:srgbClr val="232323"/>
                          </a:solidFill>
                          <a:latin typeface="游ゴシック"/>
                          <a:ea typeface="游ゴシック"/>
                          <a:cs typeface="游ゴシック"/>
                        </a:rPr>
                        <a:t>機器更改・保守の継続費用、M365 との二重投資</a:t>
                      </a:r>
                    </a:p>
                  </a:txBody>
                  <a:tcPr marL="64008" marR="45720" marT="13716" marB="13716" anchor="ctr">
                    <a:solidFill>
                      <a:srgbClr val="F3F9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目指す姿：ファイルの置き場所を3つに整理</a:t>
            </a:r>
          </a:p>
        </p:txBody>
      </p:sp>
      <p:pic>
        <p:nvPicPr>
          <p:cNvPr id="3" name="Picture 2" descr="places.png"/>
          <p:cNvPicPr>
            <a:picLocks noChangeAspect="1"/>
          </p:cNvPicPr>
          <p:nvPr/>
        </p:nvPicPr>
        <p:blipFill>
          <a:blip r:embed="rId2"/>
          <a:stretch>
            <a:fillRect/>
          </a:stretch>
        </p:blipFill>
        <p:spPr>
          <a:xfrm>
            <a:off x="3128778" y="1143000"/>
            <a:ext cx="7182219" cy="3383280"/>
          </a:xfrm>
          <a:prstGeom prst="rect">
            <a:avLst/>
          </a:prstGeom>
        </p:spPr>
      </p:pic>
      <p:sp>
        <p:nvSpPr>
          <p:cNvPr id="4" name="TextBox 3"/>
          <p:cNvSpPr txBox="1"/>
          <p:nvPr/>
        </p:nvSpPr>
        <p:spPr>
          <a:xfrm>
            <a:off x="822960" y="5212080"/>
            <a:ext cx="11793855" cy="548640"/>
          </a:xfrm>
          <a:prstGeom prst="rect">
            <a:avLst/>
          </a:prstGeom>
          <a:noFill/>
        </p:spPr>
        <p:txBody>
          <a:bodyPr wrap="square" anchor="t" lIns="0" rIns="0" tIns="0" bIns="0">
            <a:spAutoFit/>
          </a:bodyPr>
          <a:lstStyle/>
          <a:p>
            <a:pPr algn="ctr">
              <a:lnSpc>
                <a:spcPct val="108000"/>
              </a:lnSpc>
              <a:spcBef>
                <a:spcPts val="0"/>
              </a:spcBef>
              <a:spcAft>
                <a:spcPts val="300"/>
              </a:spcAft>
            </a:pPr>
            <a:r>
              <a:rPr sz="1500" b="0">
                <a:solidFill>
                  <a:srgbClr val="232323"/>
                </a:solidFill>
                <a:latin typeface="游ゴシック"/>
                <a:ea typeface="游ゴシック"/>
                <a:cs typeface="游ゴシック"/>
              </a:rPr>
              <a:t>「個人＝OneDrive／チーム共有＝SharePoint チームサイト／全社発信＝コミュニケーションサイト」を全社の共通言語に。</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各サービスの役割分担</a:t>
            </a:r>
          </a:p>
        </p:txBody>
      </p:sp>
      <p:graphicFrame>
        <p:nvGraphicFramePr>
          <p:cNvPr id="3" name="Table 2"/>
          <p:cNvGraphicFramePr>
            <a:graphicFrameLocks noGrp="1"/>
          </p:cNvGraphicFramePr>
          <p:nvPr/>
        </p:nvGraphicFramePr>
        <p:xfrm>
          <a:off x="822960" y="1143000"/>
          <a:ext cx="11793854" cy="3328416"/>
        </p:xfrm>
        <a:graphic>
          <a:graphicData uri="http://schemas.openxmlformats.org/drawingml/2006/table">
            <a:tbl>
              <a:tblPr firstRow="1">
                <a:tableStyleId>{5C22544A-7EE6-4342-B048-85BDC9FD1C3A}</a:tableStyleId>
              </a:tblPr>
              <a:tblGrid>
                <a:gridCol w="3538156"/>
                <a:gridCol w="5189296"/>
                <a:gridCol w="3066402"/>
              </a:tblGrid>
              <a:tr h="402336">
                <a:tc>
                  <a:txBody>
                    <a:bodyPr wrap="square"/>
                    <a:lstStyle/>
                    <a:p>
                      <a:pPr>
                        <a:lnSpc>
                          <a:spcPct val="100000"/>
                        </a:lnSpc>
                      </a:pPr>
                      <a:r>
                        <a:rPr sz="1300" b="1">
                          <a:solidFill>
                            <a:srgbClr val="FFFFFF"/>
                          </a:solidFill>
                          <a:latin typeface="游ゴシック"/>
                          <a:ea typeface="游ゴシック"/>
                          <a:cs typeface="游ゴシック"/>
                        </a:rPr>
                        <a:t>サービス</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主な役割</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ひとこと</a:t>
                      </a:r>
                    </a:p>
                  </a:txBody>
                  <a:tcPr marL="64008" marR="45720" marT="13716" marB="13716" anchor="ctr">
                    <a:solidFill>
                      <a:srgbClr val="1B5C80"/>
                    </a:solidFill>
                  </a:tcPr>
                </a:tc>
              </a:tr>
              <a:tr h="585216">
                <a:tc>
                  <a:txBody>
                    <a:bodyPr wrap="square"/>
                    <a:lstStyle/>
                    <a:p>
                      <a:pPr>
                        <a:lnSpc>
                          <a:spcPct val="100000"/>
                        </a:lnSpc>
                      </a:pPr>
                      <a:r>
                        <a:rPr sz="1300" b="0">
                          <a:solidFill>
                            <a:srgbClr val="232323"/>
                          </a:solidFill>
                          <a:latin typeface="游ゴシック"/>
                          <a:ea typeface="游ゴシック"/>
                          <a:cs typeface="游ゴシック"/>
                        </a:rPr>
                        <a:t>OneDrive for Business</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個人の作業ファイル・下書き。共有はしても“貸し出す”感覚</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自分の引き出し</a:t>
                      </a:r>
                    </a:p>
                  </a:txBody>
                  <a:tcPr marL="64008" marR="45720" marT="13716" marB="13716" anchor="ctr">
                    <a:solidFill>
                      <a:srgbClr val="FFFFFF"/>
                    </a:solidFill>
                  </a:tcPr>
                </a:tc>
              </a:tr>
              <a:tr h="585216">
                <a:tc>
                  <a:txBody>
                    <a:bodyPr wrap="square"/>
                    <a:lstStyle/>
                    <a:p>
                      <a:pPr>
                        <a:lnSpc>
                          <a:spcPct val="100000"/>
                        </a:lnSpc>
                      </a:pPr>
                      <a:r>
                        <a:rPr sz="1300" b="0">
                          <a:solidFill>
                            <a:srgbClr val="232323"/>
                          </a:solidFill>
                          <a:latin typeface="游ゴシック"/>
                          <a:ea typeface="游ゴシック"/>
                          <a:cs typeface="游ゴシック"/>
                        </a:rPr>
                        <a:t>SharePoint（チームサイト）</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チーム・部門で共有し共同編集する正式なファイル</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チームの書庫</a:t>
                      </a:r>
                    </a:p>
                  </a:txBody>
                  <a:tcPr marL="64008" marR="45720" marT="13716" marB="13716" anchor="ctr">
                    <a:solidFill>
                      <a:srgbClr val="F3F9FB"/>
                    </a:solidFill>
                  </a:tcPr>
                </a:tc>
              </a:tr>
              <a:tr h="585216">
                <a:tc>
                  <a:txBody>
                    <a:bodyPr wrap="square"/>
                    <a:lstStyle/>
                    <a:p>
                      <a:pPr>
                        <a:lnSpc>
                          <a:spcPct val="100000"/>
                        </a:lnSpc>
                      </a:pPr>
                      <a:r>
                        <a:rPr sz="1300" b="0">
                          <a:solidFill>
                            <a:srgbClr val="232323"/>
                          </a:solidFill>
                          <a:latin typeface="游ゴシック"/>
                          <a:ea typeface="游ゴシック"/>
                          <a:cs typeface="游ゴシック"/>
                        </a:rPr>
                        <a:t>SharePoint（コミュニケーション）</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全社・部門へ広く発信・閲覧させる情報</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社内Web・掲示板</a:t>
                      </a:r>
                    </a:p>
                  </a:txBody>
                  <a:tcPr marL="64008" marR="45720" marT="13716" marB="13716" anchor="ctr">
                    <a:solidFill>
                      <a:srgbClr val="FFFFFF"/>
                    </a:solidFill>
                  </a:tcPr>
                </a:tc>
              </a:tr>
              <a:tr h="585216">
                <a:tc>
                  <a:txBody>
                    <a:bodyPr wrap="square"/>
                    <a:lstStyle/>
                    <a:p>
                      <a:pPr>
                        <a:lnSpc>
                          <a:spcPct val="100000"/>
                        </a:lnSpc>
                      </a:pPr>
                      <a:r>
                        <a:rPr sz="1300" b="0">
                          <a:solidFill>
                            <a:srgbClr val="232323"/>
                          </a:solidFill>
                          <a:latin typeface="游ゴシック"/>
                          <a:ea typeface="游ゴシック"/>
                          <a:cs typeface="游ゴシック"/>
                        </a:rPr>
                        <a:t>Microsoft Teams</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会話・会議を軸に上記と束ねる作業ハブ</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チームの作業部屋</a:t>
                      </a:r>
                    </a:p>
                  </a:txBody>
                  <a:tcPr marL="64008" marR="45720" marT="13716" marB="13716" anchor="ctr">
                    <a:solidFill>
                      <a:srgbClr val="F3F9FB"/>
                    </a:solidFill>
                  </a:tcPr>
                </a:tc>
              </a:tr>
              <a:tr h="585216">
                <a:tc>
                  <a:txBody>
                    <a:bodyPr wrap="square"/>
                    <a:lstStyle/>
                    <a:p>
                      <a:pPr>
                        <a:lnSpc>
                          <a:spcPct val="100000"/>
                        </a:lnSpc>
                      </a:pPr>
                      <a:r>
                        <a:rPr sz="1300" b="0">
                          <a:solidFill>
                            <a:srgbClr val="232323"/>
                          </a:solidFill>
                          <a:latin typeface="游ゴシック"/>
                          <a:ea typeface="游ゴシック"/>
                          <a:cs typeface="游ゴシック"/>
                        </a:rPr>
                        <a:t>Planner / Lists / Loop / Forms</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タスク・簡易DB・共同メモ・アンケート</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専用道具</a:t>
                      </a:r>
                    </a:p>
                  </a:txBody>
                  <a:tcPr marL="64008" marR="45720" marT="13716" marB="13716" anchor="ctr">
                    <a:solidFill>
                      <a:srgbClr val="FFFFFF"/>
                    </a:solidFill>
                  </a:tcPr>
                </a:tc>
              </a:tr>
            </a:tbl>
          </a:graphicData>
        </a:graphic>
      </p:graphicFrame>
      <p:sp>
        <p:nvSpPr>
          <p:cNvPr id="4" name="Rounded Rectangle 3"/>
          <p:cNvSpPr/>
          <p:nvPr/>
        </p:nvSpPr>
        <p:spPr>
          <a:xfrm>
            <a:off x="822960" y="5349240"/>
            <a:ext cx="11793855" cy="86868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458968"/>
            <a:ext cx="11391519" cy="64922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補足：ファイルの実体はすべて SharePoint　</a:t>
            </a:r>
            <a:r>
              <a:rPr sz="1300" b="0">
                <a:solidFill>
                  <a:srgbClr val="232323"/>
                </a:solidFill>
                <a:latin typeface="游ゴシック"/>
                <a:ea typeface="游ゴシック"/>
                <a:cs typeface="游ゴシック"/>
              </a:rPr>
              <a:t>OneDrive も実体は「1人が所有者の SharePoint サイト」。Teams のファイルも裏の SharePoint に保存されます。違いは“所有者が組織か個人か”だけ。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どこに何を置くか（棲み分けの原則）</a:t>
            </a:r>
          </a:p>
        </p:txBody>
      </p:sp>
      <p:graphicFrame>
        <p:nvGraphicFramePr>
          <p:cNvPr id="3" name="Table 2"/>
          <p:cNvGraphicFramePr>
            <a:graphicFrameLocks noGrp="1"/>
          </p:cNvGraphicFramePr>
          <p:nvPr/>
        </p:nvGraphicFramePr>
        <p:xfrm>
          <a:off x="822960" y="1143000"/>
          <a:ext cx="11793855" cy="3584448"/>
        </p:xfrm>
        <a:graphic>
          <a:graphicData uri="http://schemas.openxmlformats.org/drawingml/2006/table">
            <a:tbl>
              <a:tblPr firstRow="1">
                <a:tableStyleId>{5C22544A-7EE6-4342-B048-85BDC9FD1C3A}</a:tableStyleId>
              </a:tblPr>
              <a:tblGrid>
                <a:gridCol w="4717542"/>
                <a:gridCol w="7076313"/>
              </a:tblGrid>
              <a:tr h="402336">
                <a:tc>
                  <a:txBody>
                    <a:bodyPr wrap="square"/>
                    <a:lstStyle/>
                    <a:p>
                      <a:pPr>
                        <a:lnSpc>
                          <a:spcPct val="100000"/>
                        </a:lnSpc>
                      </a:pPr>
                      <a:r>
                        <a:rPr sz="1350" b="1">
                          <a:solidFill>
                            <a:srgbClr val="FFFFFF"/>
                          </a:solidFill>
                          <a:latin typeface="游ゴシック"/>
                          <a:ea typeface="游ゴシック"/>
                          <a:cs typeface="游ゴシック"/>
                        </a:rPr>
                        <a:t>情報の性質</a:t>
                      </a:r>
                    </a:p>
                  </a:txBody>
                  <a:tcPr marL="64008" marR="45720" marT="13716" marB="13716" anchor="ctr">
                    <a:solidFill>
                      <a:srgbClr val="1B5C80"/>
                    </a:solidFill>
                  </a:tcPr>
                </a:tc>
                <a:tc>
                  <a:txBody>
                    <a:bodyPr wrap="square"/>
                    <a:lstStyle/>
                    <a:p>
                      <a:pPr>
                        <a:lnSpc>
                          <a:spcPct val="100000"/>
                        </a:lnSpc>
                      </a:pPr>
                      <a:r>
                        <a:rPr sz="1350" b="1">
                          <a:solidFill>
                            <a:srgbClr val="FFFFFF"/>
                          </a:solidFill>
                          <a:latin typeface="游ゴシック"/>
                          <a:ea typeface="游ゴシック"/>
                          <a:cs typeface="游ゴシック"/>
                        </a:rPr>
                        <a:t>置き場所</a:t>
                      </a:r>
                    </a:p>
                  </a:txBody>
                  <a:tcPr marL="64008" marR="45720" marT="13716" marB="13716" anchor="ctr">
                    <a:solidFill>
                      <a:srgbClr val="1B5C80"/>
                    </a:solidFill>
                  </a:tcPr>
                </a:tc>
              </a:tr>
              <a:tr h="530352">
                <a:tc>
                  <a:txBody>
                    <a:bodyPr wrap="square"/>
                    <a:lstStyle/>
                    <a:p>
                      <a:pPr>
                        <a:lnSpc>
                          <a:spcPct val="100000"/>
                        </a:lnSpc>
                      </a:pPr>
                      <a:r>
                        <a:rPr sz="1350" b="0">
                          <a:solidFill>
                            <a:srgbClr val="232323"/>
                          </a:solidFill>
                          <a:latin typeface="游ゴシック"/>
                          <a:ea typeface="游ゴシック"/>
                          <a:cs typeface="游ゴシック"/>
                        </a:rPr>
                        <a:t>自分だけの下書き・一時ファイル</a:t>
                      </a:r>
                    </a:p>
                  </a:txBody>
                  <a:tcPr marL="64008" marR="45720" marT="13716" marB="13716" anchor="ctr">
                    <a:solidFill>
                      <a:srgbClr val="FFFFFF"/>
                    </a:solidFill>
                  </a:tcPr>
                </a:tc>
                <a:tc>
                  <a:txBody>
                    <a:bodyPr wrap="square"/>
                    <a:lstStyle/>
                    <a:p>
                      <a:pPr>
                        <a:lnSpc>
                          <a:spcPct val="100000"/>
                        </a:lnSpc>
                      </a:pPr>
                      <a:r>
                        <a:rPr sz="1350" b="0">
                          <a:solidFill>
                            <a:srgbClr val="232323"/>
                          </a:solidFill>
                          <a:latin typeface="游ゴシック"/>
                          <a:ea typeface="游ゴシック"/>
                          <a:cs typeface="游ゴシック"/>
                        </a:rPr>
                        <a:t>OneDrive</a:t>
                      </a:r>
                    </a:p>
                  </a:txBody>
                  <a:tcPr marL="64008" marR="45720" marT="13716" marB="13716" anchor="ctr">
                    <a:solidFill>
                      <a:srgbClr val="FFFFFF"/>
                    </a:solidFill>
                  </a:tcPr>
                </a:tc>
              </a:tr>
              <a:tr h="530352">
                <a:tc>
                  <a:txBody>
                    <a:bodyPr wrap="square"/>
                    <a:lstStyle/>
                    <a:p>
                      <a:pPr>
                        <a:lnSpc>
                          <a:spcPct val="100000"/>
                        </a:lnSpc>
                      </a:pPr>
                      <a:r>
                        <a:rPr sz="1350" b="0">
                          <a:solidFill>
                            <a:srgbClr val="232323"/>
                          </a:solidFill>
                          <a:latin typeface="游ゴシック"/>
                          <a:ea typeface="游ゴシック"/>
                          <a:cs typeface="游ゴシック"/>
                        </a:rPr>
                        <a:t>特定の相手に一時的に渡す個人ファイル</a:t>
                      </a:r>
                    </a:p>
                  </a:txBody>
                  <a:tcPr marL="64008" marR="45720" marT="13716" marB="13716" anchor="ctr">
                    <a:solidFill>
                      <a:srgbClr val="F3F9FB"/>
                    </a:solidFill>
                  </a:tcPr>
                </a:tc>
                <a:tc>
                  <a:txBody>
                    <a:bodyPr wrap="square"/>
                    <a:lstStyle/>
                    <a:p>
                      <a:pPr>
                        <a:lnSpc>
                          <a:spcPct val="100000"/>
                        </a:lnSpc>
                      </a:pPr>
                      <a:r>
                        <a:rPr sz="1350" b="0">
                          <a:solidFill>
                            <a:srgbClr val="232323"/>
                          </a:solidFill>
                          <a:latin typeface="游ゴシック"/>
                          <a:ea typeface="游ゴシック"/>
                          <a:cs typeface="游ゴシック"/>
                        </a:rPr>
                        <a:t>OneDrive（共有リンク）</a:t>
                      </a:r>
                    </a:p>
                  </a:txBody>
                  <a:tcPr marL="64008" marR="45720" marT="13716" marB="13716" anchor="ctr">
                    <a:solidFill>
                      <a:srgbClr val="F3F9FB"/>
                    </a:solidFill>
                  </a:tcPr>
                </a:tc>
              </a:tr>
              <a:tr h="530352">
                <a:tc>
                  <a:txBody>
                    <a:bodyPr wrap="square"/>
                    <a:lstStyle/>
                    <a:p>
                      <a:pPr>
                        <a:lnSpc>
                          <a:spcPct val="100000"/>
                        </a:lnSpc>
                      </a:pPr>
                      <a:r>
                        <a:rPr sz="1350" b="0">
                          <a:solidFill>
                            <a:srgbClr val="232323"/>
                          </a:solidFill>
                          <a:latin typeface="游ゴシック"/>
                          <a:ea typeface="游ゴシック"/>
                          <a:cs typeface="游ゴシック"/>
                        </a:rPr>
                        <a:t>チーム・部門で共同編集する業務ファイル</a:t>
                      </a:r>
                    </a:p>
                  </a:txBody>
                  <a:tcPr marL="64008" marR="45720" marT="13716" marB="13716" anchor="ctr">
                    <a:solidFill>
                      <a:srgbClr val="FFFFFF"/>
                    </a:solidFill>
                  </a:tcPr>
                </a:tc>
                <a:tc>
                  <a:txBody>
                    <a:bodyPr wrap="square"/>
                    <a:lstStyle/>
                    <a:p>
                      <a:pPr>
                        <a:lnSpc>
                          <a:spcPct val="100000"/>
                        </a:lnSpc>
                      </a:pPr>
                      <a:r>
                        <a:rPr sz="1350" b="0">
                          <a:solidFill>
                            <a:srgbClr val="232323"/>
                          </a:solidFill>
                          <a:latin typeface="游ゴシック"/>
                          <a:ea typeface="游ゴシック"/>
                          <a:cs typeface="游ゴシック"/>
                        </a:rPr>
                        <a:t>SharePoint チームサイト（多くは Teams 経由）</a:t>
                      </a:r>
                    </a:p>
                  </a:txBody>
                  <a:tcPr marL="64008" marR="45720" marT="13716" marB="13716" anchor="ctr">
                    <a:solidFill>
                      <a:srgbClr val="FFFFFF"/>
                    </a:solidFill>
                  </a:tcPr>
                </a:tc>
              </a:tr>
              <a:tr h="530352">
                <a:tc>
                  <a:txBody>
                    <a:bodyPr wrap="square"/>
                    <a:lstStyle/>
                    <a:p>
                      <a:pPr>
                        <a:lnSpc>
                          <a:spcPct val="100000"/>
                        </a:lnSpc>
                      </a:pPr>
                      <a:r>
                        <a:rPr sz="1350" b="0">
                          <a:solidFill>
                            <a:srgbClr val="232323"/>
                          </a:solidFill>
                          <a:latin typeface="游ゴシック"/>
                          <a:ea typeface="游ゴシック"/>
                          <a:cs typeface="游ゴシック"/>
                        </a:rPr>
                        <a:t>全社規程・ポータル・お知らせ</a:t>
                      </a:r>
                    </a:p>
                  </a:txBody>
                  <a:tcPr marL="64008" marR="45720" marT="13716" marB="13716" anchor="ctr">
                    <a:solidFill>
                      <a:srgbClr val="F3F9FB"/>
                    </a:solidFill>
                  </a:tcPr>
                </a:tc>
                <a:tc>
                  <a:txBody>
                    <a:bodyPr wrap="square"/>
                    <a:lstStyle/>
                    <a:p>
                      <a:pPr>
                        <a:lnSpc>
                          <a:spcPct val="100000"/>
                        </a:lnSpc>
                      </a:pPr>
                      <a:r>
                        <a:rPr sz="1350" b="0">
                          <a:solidFill>
                            <a:srgbClr val="232323"/>
                          </a:solidFill>
                          <a:latin typeface="游ゴシック"/>
                          <a:ea typeface="游ゴシック"/>
                          <a:cs typeface="游ゴシック"/>
                        </a:rPr>
                        <a:t>コミュニケーションサイト／ホームサイト</a:t>
                      </a:r>
                    </a:p>
                  </a:txBody>
                  <a:tcPr marL="64008" marR="45720" marT="13716" marB="13716" anchor="ctr">
                    <a:solidFill>
                      <a:srgbClr val="F3F9FB"/>
                    </a:solidFill>
                  </a:tcPr>
                </a:tc>
              </a:tr>
              <a:tr h="530352">
                <a:tc>
                  <a:txBody>
                    <a:bodyPr wrap="square"/>
                    <a:lstStyle/>
                    <a:p>
                      <a:pPr>
                        <a:lnSpc>
                          <a:spcPct val="100000"/>
                        </a:lnSpc>
                      </a:pPr>
                      <a:r>
                        <a:rPr sz="1350" b="0">
                          <a:solidFill>
                            <a:srgbClr val="232323"/>
                          </a:solidFill>
                          <a:latin typeface="游ゴシック"/>
                          <a:ea typeface="游ゴシック"/>
                          <a:cs typeface="游ゴシック"/>
                        </a:rPr>
                        <a:t>部門内の一部だけの機密ファイル</a:t>
                      </a:r>
                    </a:p>
                  </a:txBody>
                  <a:tcPr marL="64008" marR="45720" marT="13716" marB="13716" anchor="ctr">
                    <a:solidFill>
                      <a:srgbClr val="FFFFFF"/>
                    </a:solidFill>
                  </a:tcPr>
                </a:tc>
                <a:tc>
                  <a:txBody>
                    <a:bodyPr wrap="square"/>
                    <a:lstStyle/>
                    <a:p>
                      <a:pPr>
                        <a:lnSpc>
                          <a:spcPct val="100000"/>
                        </a:lnSpc>
                      </a:pPr>
                      <a:r>
                        <a:rPr sz="1350" b="0">
                          <a:solidFill>
                            <a:srgbClr val="232323"/>
                          </a:solidFill>
                          <a:latin typeface="游ゴシック"/>
                          <a:ea typeface="游ゴシック"/>
                          <a:cs typeface="游ゴシック"/>
                        </a:rPr>
                        <a:t>プライベートチャネル／専用サイト</a:t>
                      </a:r>
                    </a:p>
                  </a:txBody>
                  <a:tcPr marL="64008" marR="45720" marT="13716" marB="13716" anchor="ctr">
                    <a:solidFill>
                      <a:srgbClr val="FFFFFF"/>
                    </a:solidFill>
                  </a:tcPr>
                </a:tc>
              </a:tr>
              <a:tr h="530352">
                <a:tc>
                  <a:txBody>
                    <a:bodyPr wrap="square"/>
                    <a:lstStyle/>
                    <a:p>
                      <a:pPr>
                        <a:lnSpc>
                          <a:spcPct val="100000"/>
                        </a:lnSpc>
                      </a:pPr>
                      <a:r>
                        <a:rPr sz="1350" b="0">
                          <a:solidFill>
                            <a:srgbClr val="232323"/>
                          </a:solidFill>
                          <a:latin typeface="游ゴシック"/>
                          <a:ea typeface="游ゴシック"/>
                          <a:cs typeface="游ゴシック"/>
                        </a:rPr>
                        <a:t>社外パートナーと共同編集</a:t>
                      </a:r>
                    </a:p>
                  </a:txBody>
                  <a:tcPr marL="64008" marR="45720" marT="13716" marB="13716" anchor="ctr">
                    <a:solidFill>
                      <a:srgbClr val="F3F9FB"/>
                    </a:solidFill>
                  </a:tcPr>
                </a:tc>
                <a:tc>
                  <a:txBody>
                    <a:bodyPr wrap="square"/>
                    <a:lstStyle/>
                    <a:p>
                      <a:pPr>
                        <a:lnSpc>
                          <a:spcPct val="100000"/>
                        </a:lnSpc>
                      </a:pPr>
                      <a:r>
                        <a:rPr sz="1350" b="0">
                          <a:solidFill>
                            <a:srgbClr val="232323"/>
                          </a:solidFill>
                          <a:latin typeface="游ゴシック"/>
                          <a:ea typeface="游ゴシック"/>
                          <a:cs typeface="游ゴシック"/>
                        </a:rPr>
                        <a:t>共有チャネル／外部共有を許可した専用サイト</a:t>
                      </a:r>
                    </a:p>
                  </a:txBody>
                  <a:tcPr marL="64008" marR="45720" marT="13716" marB="13716" anchor="ctr">
                    <a:solidFill>
                      <a:srgbClr val="F3F9FB"/>
                    </a:solidFill>
                  </a:tcPr>
                </a:tc>
              </a:tr>
            </a:tbl>
          </a:graphicData>
        </a:graphic>
      </p:graphicFrame>
      <p:sp>
        <p:nvSpPr>
          <p:cNvPr id="4" name="Rounded Rectangle 3"/>
          <p:cNvSpPr/>
          <p:nvPr/>
        </p:nvSpPr>
        <p:spPr>
          <a:xfrm>
            <a:off x="822960" y="5349240"/>
            <a:ext cx="11793855" cy="77724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458968"/>
            <a:ext cx="11391519" cy="557784"/>
          </a:xfrm>
          <a:prstGeom prst="rect">
            <a:avLst/>
          </a:prstGeom>
          <a:noFill/>
        </p:spPr>
        <p:txBody>
          <a:bodyPr wrap="square" anchor="ctr" lIns="0" rIns="0" tIns="0" bIns="0">
            <a:spAutoFit/>
          </a:bodyPr>
          <a:lstStyle/>
          <a:p>
            <a:pPr algn="l">
              <a:lnSpc>
                <a:spcPct val="120000"/>
              </a:lnSpc>
            </a:pPr>
            <a:r>
              <a:rPr sz="1300" b="1">
                <a:solidFill>
                  <a:srgbClr val="B0432B"/>
                </a:solidFill>
                <a:latin typeface="游ゴシック"/>
                <a:ea typeface="游ゴシック"/>
                <a:cs typeface="游ゴシック"/>
              </a:rPr>
              <a:t>アンチパターン　</a:t>
            </a:r>
            <a:r>
              <a:rPr sz="1300" b="0">
                <a:solidFill>
                  <a:srgbClr val="232323"/>
                </a:solidFill>
                <a:latin typeface="游ゴシック"/>
                <a:ea typeface="游ゴシック"/>
                <a:cs typeface="游ゴシック"/>
              </a:rPr>
              <a:t>OneDrive をチーム共有に使う（退職で消える）／巨大1サイトに詰め込む（権限複雑化）／深いフォルダをそのまま移植（モダンの利点を活かせない）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OneDrive・KFM と外部共有の初期方針</a:t>
            </a:r>
          </a:p>
        </p:txBody>
      </p:sp>
      <p:sp>
        <p:nvSpPr>
          <p:cNvPr id="3" name="Rounded Rectangle 2"/>
          <p:cNvSpPr/>
          <p:nvPr/>
        </p:nvSpPr>
        <p:spPr>
          <a:xfrm>
            <a:off x="822960" y="1143000"/>
            <a:ext cx="11793855" cy="19659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a:solidFill>
                  <a:srgbClr val="1B5C80"/>
                </a:solidFill>
                <a:latin typeface="游ゴシック"/>
                <a:ea typeface="游ゴシック"/>
                <a:cs typeface="游ゴシック"/>
              </a:rPr>
              <a:t>OneDrive／KFM（既知フォルダ移動）</a:t>
            </a:r>
          </a:p>
        </p:txBody>
      </p:sp>
      <p:sp>
        <p:nvSpPr>
          <p:cNvPr id="5" name="TextBox 4"/>
          <p:cNvSpPr txBox="1"/>
          <p:nvPr/>
        </p:nvSpPr>
        <p:spPr>
          <a:xfrm>
            <a:off x="1078992" y="1600200"/>
            <a:ext cx="11336655" cy="1417320"/>
          </a:xfrm>
          <a:prstGeom prst="rect">
            <a:avLst/>
          </a:prstGeom>
          <a:noFill/>
        </p:spPr>
        <p:txBody>
          <a:bodyPr wrap="square" lIns="0" rIns="0" tIns="0" bIns="0">
            <a:spAutoFit/>
          </a:bodyPr>
          <a:lstStyle/>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デスクトップ／ドキュメント／ピクチャを OneDrive へ自動同期・バックアップ</a:t>
            </a:r>
          </a:p>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PC 故障・入替でも個人ファイルを失わない。ポリシーで一括有効化</a:t>
            </a:r>
          </a:p>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KFM＝個人ファイルの保護。共有フォルダは SharePoint へ、と経路を分ける</a:t>
            </a:r>
          </a:p>
        </p:txBody>
      </p:sp>
      <p:sp>
        <p:nvSpPr>
          <p:cNvPr id="6" name="Rounded Rectangle 5"/>
          <p:cNvSpPr/>
          <p:nvPr/>
        </p:nvSpPr>
        <p:spPr>
          <a:xfrm>
            <a:off x="822960" y="3383280"/>
            <a:ext cx="11793855" cy="192024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49300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a:solidFill>
                  <a:srgbClr val="B0432B"/>
                </a:solidFill>
                <a:latin typeface="游ゴシック"/>
                <a:ea typeface="游ゴシック"/>
                <a:cs typeface="游ゴシック"/>
              </a:rPr>
              <a:t>外部共有の基本方針（フェーズ1）</a:t>
            </a:r>
          </a:p>
        </p:txBody>
      </p:sp>
      <p:sp>
        <p:nvSpPr>
          <p:cNvPr id="8" name="TextBox 7"/>
          <p:cNvSpPr txBox="1"/>
          <p:nvPr/>
        </p:nvSpPr>
        <p:spPr>
          <a:xfrm>
            <a:off x="1078992" y="3840480"/>
            <a:ext cx="11336655" cy="1371600"/>
          </a:xfrm>
          <a:prstGeom prst="rect">
            <a:avLst/>
          </a:prstGeom>
          <a:noFill/>
        </p:spPr>
        <p:txBody>
          <a:bodyPr wrap="square" lIns="0" rIns="0" tIns="0" bIns="0">
            <a:spAutoFit/>
          </a:bodyPr>
          <a:lstStyle/>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テナントとサイトの二段構え。サイトはテナント上限を超えられない（厳しい方が適用）</a:t>
            </a:r>
          </a:p>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初期はテナント既定を絞り（匿名リンクは原則オフ）、必要なサイトだけ緩める</a:t>
            </a:r>
          </a:p>
          <a:p>
            <a:pPr>
              <a:lnSpc>
                <a:spcPct val="112000"/>
              </a:lnSpc>
              <a:spcAft>
                <a:spcPts val="500"/>
              </a:spcAft>
            </a:pPr>
            <a:r>
              <a:rPr sz="1350" b="1">
                <a:solidFill>
                  <a:srgbClr val="1B5C80"/>
                </a:solidFill>
                <a:latin typeface="游ゴシック"/>
                <a:ea typeface="游ゴシック"/>
                <a:cs typeface="游ゴシック"/>
              </a:rPr>
              <a:t>■ </a:t>
            </a:r>
            <a:r>
              <a:rPr sz="1350" b="0">
                <a:solidFill>
                  <a:srgbClr val="232323"/>
                </a:solidFill>
                <a:latin typeface="游ゴシック"/>
                <a:ea typeface="游ゴシック"/>
                <a:cs typeface="游ゴシック"/>
              </a:rPr>
              <a:t>厳格な統制はフェーズ2/3。まず“ザルにしない初期値”まで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SharePoint サイトの種類と選び方</a:t>
            </a:r>
          </a:p>
        </p:txBody>
      </p:sp>
      <p:graphicFrame>
        <p:nvGraphicFramePr>
          <p:cNvPr id="3" name="Table 2"/>
          <p:cNvGraphicFramePr>
            <a:graphicFrameLocks noGrp="1"/>
          </p:cNvGraphicFramePr>
          <p:nvPr/>
        </p:nvGraphicFramePr>
        <p:xfrm>
          <a:off x="822960" y="1143000"/>
          <a:ext cx="11793854" cy="3054096"/>
        </p:xfrm>
        <a:graphic>
          <a:graphicData uri="http://schemas.openxmlformats.org/drawingml/2006/table">
            <a:tbl>
              <a:tblPr firstRow="1">
                <a:tableStyleId>{5C22544A-7EE6-4342-B048-85BDC9FD1C3A}</a:tableStyleId>
              </a:tblPr>
              <a:tblGrid>
                <a:gridCol w="2358771"/>
                <a:gridCol w="2830525"/>
                <a:gridCol w="4717542"/>
                <a:gridCol w="1887016"/>
              </a:tblGrid>
              <a:tr h="402336">
                <a:tc>
                  <a:txBody>
                    <a:bodyPr wrap="square"/>
                    <a:lstStyle/>
                    <a:p>
                      <a:pPr>
                        <a:lnSpc>
                          <a:spcPct val="100000"/>
                        </a:lnSpc>
                      </a:pPr>
                      <a:r>
                        <a:rPr sz="1300" b="1">
                          <a:solidFill>
                            <a:srgbClr val="FFFFFF"/>
                          </a:solidFill>
                          <a:latin typeface="游ゴシック"/>
                          <a:ea typeface="游ゴシック"/>
                          <a:cs typeface="游ゴシック"/>
                        </a:rPr>
                        <a:t>種類</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M365グループ</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主な用途</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新規作成</a:t>
                      </a:r>
                    </a:p>
                  </a:txBody>
                  <a:tcPr marL="64008" marR="45720" marT="13716" marB="13716" anchor="ctr">
                    <a:solidFill>
                      <a:srgbClr val="1B5C80"/>
                    </a:solidFill>
                  </a:tcPr>
                </a:tc>
              </a:tr>
              <a:tr h="530352">
                <a:tc>
                  <a:txBody>
                    <a:bodyPr wrap="square"/>
                    <a:lstStyle/>
                    <a:p>
                      <a:pPr>
                        <a:lnSpc>
                          <a:spcPct val="100000"/>
                        </a:lnSpc>
                      </a:pPr>
                      <a:r>
                        <a:rPr sz="1300" b="0">
                          <a:solidFill>
                            <a:srgbClr val="232323"/>
                          </a:solidFill>
                          <a:latin typeface="游ゴシック"/>
                          <a:ea typeface="游ゴシック"/>
                          <a:cs typeface="游ゴシック"/>
                        </a:rPr>
                        <a:t>チームサイト（グループ連携）</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あり</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チーム・部門の共同作業</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 標準</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コミュニケーションサイト</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なし</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全社・部門への発信・閲覧</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 標準</a:t>
                      </a:r>
                    </a:p>
                  </a:txBody>
                  <a:tcPr marL="64008" marR="45720" marT="13716" marB="13716" anchor="ctr">
                    <a:solidFill>
                      <a:srgbClr val="F3F9FB"/>
                    </a:solidFill>
                  </a:tcPr>
                </a:tc>
              </a:tr>
              <a:tr h="530352">
                <a:tc>
                  <a:txBody>
                    <a:bodyPr wrap="square"/>
                    <a:lstStyle/>
                    <a:p>
                      <a:pPr>
                        <a:lnSpc>
                          <a:spcPct val="100000"/>
                        </a:lnSpc>
                      </a:pPr>
                      <a:r>
                        <a:rPr sz="1300" b="0">
                          <a:solidFill>
                            <a:srgbClr val="232323"/>
                          </a:solidFill>
                          <a:latin typeface="游ゴシック"/>
                          <a:ea typeface="游ゴシック"/>
                          <a:cs typeface="游ゴシック"/>
                        </a:rPr>
                        <a:t>ホームサイト</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なし</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全社の玄関口・公式ニュース源</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 全社に1つ</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チームサイト（グループなし）</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なし</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グループ連携が不要な共同作業</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 限定的</a:t>
                      </a:r>
                    </a:p>
                  </a:txBody>
                  <a:tcPr marL="64008" marR="45720" marT="13716" marB="13716" anchor="ctr">
                    <a:solidFill>
                      <a:srgbClr val="F3F9FB"/>
                    </a:solidFill>
                  </a:tcPr>
                </a:tc>
              </a:tr>
              <a:tr h="530352">
                <a:tc>
                  <a:txBody>
                    <a:bodyPr wrap="square"/>
                    <a:lstStyle/>
                    <a:p>
                      <a:pPr>
                        <a:lnSpc>
                          <a:spcPct val="100000"/>
                        </a:lnSpc>
                      </a:pPr>
                      <a:r>
                        <a:rPr sz="1300" b="0">
                          <a:solidFill>
                            <a:srgbClr val="232323"/>
                          </a:solidFill>
                          <a:latin typeface="游ゴシック"/>
                          <a:ea typeface="游ゴシック"/>
                          <a:cs typeface="游ゴシック"/>
                        </a:rPr>
                        <a:t>クラシックサイト</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旧来のUI・機能</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 作らない</a:t>
                      </a:r>
                    </a:p>
                  </a:txBody>
                  <a:tcPr marL="64008" marR="45720" marT="13716" marB="13716" anchor="ctr">
                    <a:solidFill>
                      <a:srgbClr val="FFFFFF"/>
                    </a:solidFill>
                  </a:tcPr>
                </a:tc>
              </a:tr>
            </a:tbl>
          </a:graphicData>
        </a:graphic>
      </p:graphicFrame>
      <p:sp>
        <p:nvSpPr>
          <p:cNvPr id="4" name="Rounded Rectangle 3"/>
          <p:cNvSpPr/>
          <p:nvPr/>
        </p:nvSpPr>
        <p:spPr>
          <a:xfrm>
            <a:off x="822960" y="5349240"/>
            <a:ext cx="11793855" cy="77724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458968"/>
            <a:ext cx="11391519" cy="55778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迷ったら　</a:t>
            </a:r>
            <a:r>
              <a:rPr sz="1300" b="0">
                <a:solidFill>
                  <a:srgbClr val="232323"/>
                </a:solidFill>
                <a:latin typeface="游ゴシック"/>
                <a:ea typeface="游ゴシック"/>
                <a:cs typeface="游ゴシック"/>
              </a:rPr>
              <a:t>少人数で編集し合う→チームサイト／多数に読ませる（編集は少数）→コミュニケーションサイト。ハブサイトは種類ではなく“束ね役”。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Teams チームの裏には SharePoint サイトがある</a:t>
            </a:r>
          </a:p>
        </p:txBody>
      </p:sp>
      <p:pic>
        <p:nvPicPr>
          <p:cNvPr id="3" name="Picture 2" descr="teams.png"/>
          <p:cNvPicPr>
            <a:picLocks noChangeAspect="1"/>
          </p:cNvPicPr>
          <p:nvPr/>
        </p:nvPicPr>
        <p:blipFill>
          <a:blip r:embed="rId2"/>
          <a:stretch>
            <a:fillRect/>
          </a:stretch>
        </p:blipFill>
        <p:spPr>
          <a:xfrm>
            <a:off x="822960" y="1143000"/>
            <a:ext cx="11793855" cy="2873248"/>
          </a:xfrm>
          <a:prstGeom prst="rect">
            <a:avLst/>
          </a:prstGeom>
        </p:spPr>
      </p:pic>
      <p:sp>
        <p:nvSpPr>
          <p:cNvPr id="4" name="TextBox 3"/>
          <p:cNvSpPr txBox="1"/>
          <p:nvPr/>
        </p:nvSpPr>
        <p:spPr>
          <a:xfrm>
            <a:off x="822960" y="5623560"/>
            <a:ext cx="11793855" cy="457200"/>
          </a:xfrm>
          <a:prstGeom prst="rect">
            <a:avLst/>
          </a:prstGeom>
          <a:noFill/>
        </p:spPr>
        <p:txBody>
          <a:bodyPr wrap="square" anchor="t" lIns="0" rIns="0" tIns="0" bIns="0">
            <a:spAutoFit/>
          </a:bodyPr>
          <a:lstStyle/>
          <a:p>
            <a:pPr algn="ctr">
              <a:lnSpc>
                <a:spcPct val="108000"/>
              </a:lnSpc>
              <a:spcBef>
                <a:spcPts val="0"/>
              </a:spcBef>
              <a:spcAft>
                <a:spcPts val="300"/>
              </a:spcAft>
            </a:pPr>
            <a:r>
              <a:rPr sz="1400" b="1">
                <a:solidFill>
                  <a:srgbClr val="232323"/>
                </a:solidFill>
                <a:latin typeface="游ゴシック"/>
                <a:ea typeface="游ゴシック"/>
                <a:cs typeface="游ゴシック"/>
              </a:rPr>
              <a:t>標準チャネル＝親サイトのフォルダ／プライベート・共有チャネル＝別サイト（別サイトコレクション）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チャネルの種類と裏の SharePoint 構造</a:t>
            </a:r>
          </a:p>
        </p:txBody>
      </p:sp>
      <p:graphicFrame>
        <p:nvGraphicFramePr>
          <p:cNvPr id="3" name="Table 2"/>
          <p:cNvGraphicFramePr>
            <a:graphicFrameLocks noGrp="1"/>
          </p:cNvGraphicFramePr>
          <p:nvPr/>
        </p:nvGraphicFramePr>
        <p:xfrm>
          <a:off x="822960" y="1143000"/>
          <a:ext cx="11793854" cy="2267712"/>
        </p:xfrm>
        <a:graphic>
          <a:graphicData uri="http://schemas.openxmlformats.org/drawingml/2006/table">
            <a:tbl>
              <a:tblPr firstRow="1">
                <a:tableStyleId>{5C22544A-7EE6-4342-B048-85BDC9FD1C3A}</a:tableStyleId>
              </a:tblPr>
              <a:tblGrid>
                <a:gridCol w="2358771"/>
                <a:gridCol w="2830525"/>
                <a:gridCol w="4717542"/>
                <a:gridCol w="1887016"/>
              </a:tblGrid>
              <a:tr h="402336">
                <a:tc>
                  <a:txBody>
                    <a:bodyPr wrap="square"/>
                    <a:lstStyle/>
                    <a:p>
                      <a:pPr>
                        <a:lnSpc>
                          <a:spcPct val="100000"/>
                        </a:lnSpc>
                      </a:pPr>
                      <a:r>
                        <a:rPr sz="1300" b="1">
                          <a:solidFill>
                            <a:srgbClr val="FFFFFF"/>
                          </a:solidFill>
                          <a:latin typeface="游ゴシック"/>
                          <a:ea typeface="游ゴシック"/>
                          <a:cs typeface="游ゴシック"/>
                        </a:rPr>
                        <a:t>チャネル</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見える範囲</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裏の SharePoint</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用途</a:t>
                      </a:r>
                    </a:p>
                  </a:txBody>
                  <a:tcPr marL="64008" marR="45720" marT="13716" marB="13716" anchor="ctr">
                    <a:solidFill>
                      <a:srgbClr val="1B5C80"/>
                    </a:solidFill>
                  </a:tcPr>
                </a:tc>
              </a:tr>
              <a:tr h="621792">
                <a:tc>
                  <a:txBody>
                    <a:bodyPr wrap="square"/>
                    <a:lstStyle/>
                    <a:p>
                      <a:pPr>
                        <a:lnSpc>
                          <a:spcPct val="100000"/>
                        </a:lnSpc>
                      </a:pPr>
                      <a:r>
                        <a:rPr sz="1300" b="0">
                          <a:solidFill>
                            <a:srgbClr val="232323"/>
                          </a:solidFill>
                          <a:latin typeface="游ゴシック"/>
                          <a:ea typeface="游ゴシック"/>
                          <a:cs typeface="游ゴシック"/>
                        </a:rPr>
                        <a:t>標準</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チーム全員</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親サイト内のフォルダ</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通常の作業</a:t>
                      </a:r>
                    </a:p>
                  </a:txBody>
                  <a:tcPr marL="64008" marR="45720" marT="13716" marB="13716" anchor="ctr">
                    <a:solidFill>
                      <a:srgbClr val="FFFFFF"/>
                    </a:solidFill>
                  </a:tcPr>
                </a:tc>
              </a:tr>
              <a:tr h="621792">
                <a:tc>
                  <a:txBody>
                    <a:bodyPr wrap="square"/>
                    <a:lstStyle/>
                    <a:p>
                      <a:pPr>
                        <a:lnSpc>
                          <a:spcPct val="100000"/>
                        </a:lnSpc>
                      </a:pPr>
                      <a:r>
                        <a:rPr sz="1300" b="0">
                          <a:solidFill>
                            <a:srgbClr val="232323"/>
                          </a:solidFill>
                          <a:latin typeface="游ゴシック"/>
                          <a:ea typeface="游ゴシック"/>
                          <a:cs typeface="游ゴシック"/>
                        </a:rPr>
                        <a:t>プライベート</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指定メンバーのみ</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専用の別サイト（別コレクション）</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一部だけの機微情報</a:t>
                      </a:r>
                    </a:p>
                  </a:txBody>
                  <a:tcPr marL="64008" marR="45720" marT="13716" marB="13716" anchor="ctr">
                    <a:solidFill>
                      <a:srgbClr val="F3F9FB"/>
                    </a:solidFill>
                  </a:tcPr>
                </a:tc>
              </a:tr>
              <a:tr h="621792">
                <a:tc>
                  <a:txBody>
                    <a:bodyPr wrap="square"/>
                    <a:lstStyle/>
                    <a:p>
                      <a:pPr>
                        <a:lnSpc>
                          <a:spcPct val="100000"/>
                        </a:lnSpc>
                      </a:pPr>
                      <a:r>
                        <a:rPr sz="1300" b="0">
                          <a:solidFill>
                            <a:srgbClr val="232323"/>
                          </a:solidFill>
                          <a:latin typeface="游ゴシック"/>
                          <a:ea typeface="游ゴシック"/>
                          <a:cs typeface="游ゴシック"/>
                        </a:rPr>
                        <a:t>共有</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チーム＋招いた社外/他チーム</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専用の別サイト（別コレクション）</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社外・別部門と共同作業</a:t>
                      </a:r>
                    </a:p>
                  </a:txBody>
                  <a:tcPr marL="64008" marR="45720" marT="13716" marB="13716" anchor="ctr">
                    <a:solidFill>
                      <a:srgbClr val="FFFFFF"/>
                    </a:solidFill>
                  </a:tcPr>
                </a:tc>
              </a:tr>
            </a:tbl>
          </a:graphicData>
        </a:graphic>
      </p:graphicFrame>
      <p:sp>
        <p:nvSpPr>
          <p:cNvPr id="4" name="Rounded Rectangle 3"/>
          <p:cNvSpPr/>
          <p:nvPr/>
        </p:nvSpPr>
        <p:spPr>
          <a:xfrm>
            <a:off x="822960" y="4343400"/>
            <a:ext cx="11793855" cy="10515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453128"/>
            <a:ext cx="11391519" cy="83210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なぜ別サイトか　</a:t>
            </a:r>
            <a:r>
              <a:rPr sz="1300" b="0">
                <a:solidFill>
                  <a:srgbClr val="232323"/>
                </a:solidFill>
                <a:latin typeface="游ゴシック"/>
                <a:ea typeface="游ゴシック"/>
                <a:cs typeface="游ゴシック"/>
              </a:rPr>
              <a:t>標準チャネルは親サイトのフォルダ共有＝チーム全員が見える。一部限定・社外を含む場合は権限を分けるため独立サイトになる。プライベートチャネルの作りすぎは棚卸しを煩雑にするので注意。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判断フロー：Teams チーム vs 純サイト</a:t>
            </a:r>
          </a:p>
        </p:txBody>
      </p:sp>
      <p:pic>
        <p:nvPicPr>
          <p:cNvPr id="3" name="Picture 2" descr="decision.png"/>
          <p:cNvPicPr>
            <a:picLocks noChangeAspect="1"/>
          </p:cNvPicPr>
          <p:nvPr/>
        </p:nvPicPr>
        <p:blipFill>
          <a:blip r:embed="rId2"/>
          <a:stretch>
            <a:fillRect/>
          </a:stretch>
        </p:blipFill>
        <p:spPr>
          <a:xfrm>
            <a:off x="4962129" y="1143000"/>
            <a:ext cx="3515516" cy="46634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判断の指針とよくある誤解</a:t>
            </a:r>
          </a:p>
        </p:txBody>
      </p:sp>
      <p:graphicFrame>
        <p:nvGraphicFramePr>
          <p:cNvPr id="3" name="Table 2"/>
          <p:cNvGraphicFramePr>
            <a:graphicFrameLocks noGrp="1"/>
          </p:cNvGraphicFramePr>
          <p:nvPr/>
        </p:nvGraphicFramePr>
        <p:xfrm>
          <a:off x="822960" y="1143000"/>
          <a:ext cx="5532120" cy="2944368"/>
        </p:xfrm>
        <a:graphic>
          <a:graphicData uri="http://schemas.openxmlformats.org/drawingml/2006/table">
            <a:tbl>
              <a:tblPr firstRow="1">
                <a:tableStyleId>{5C22544A-7EE6-4342-B048-85BDC9FD1C3A}</a:tableStyleId>
              </a:tblPr>
              <a:tblGrid>
                <a:gridCol w="2212848"/>
                <a:gridCol w="3319272"/>
              </a:tblGrid>
              <a:tr h="384048">
                <a:tc>
                  <a:txBody>
                    <a:bodyPr wrap="square"/>
                    <a:lstStyle/>
                    <a:p>
                      <a:pPr>
                        <a:lnSpc>
                          <a:spcPct val="100000"/>
                        </a:lnSpc>
                      </a:pPr>
                      <a:r>
                        <a:rPr sz="1250" b="1">
                          <a:solidFill>
                            <a:srgbClr val="FFFFFF"/>
                          </a:solidFill>
                          <a:latin typeface="游ゴシック"/>
                          <a:ea typeface="游ゴシック"/>
                          <a:cs typeface="游ゴシック"/>
                        </a:rPr>
                        <a:t>状況</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推奨</a:t>
                      </a:r>
                    </a:p>
                  </a:txBody>
                  <a:tcPr marL="64008" marR="45720" marT="13716" marB="13716" anchor="ctr">
                    <a:solidFill>
                      <a:srgbClr val="1B5C80"/>
                    </a:solidFill>
                  </a:tcPr>
                </a:tc>
              </a:tr>
              <a:tr h="512064">
                <a:tc>
                  <a:txBody>
                    <a:bodyPr wrap="square"/>
                    <a:lstStyle/>
                    <a:p>
                      <a:pPr>
                        <a:lnSpc>
                          <a:spcPct val="100000"/>
                        </a:lnSpc>
                      </a:pPr>
                      <a:r>
                        <a:rPr sz="1250" b="0">
                          <a:solidFill>
                            <a:srgbClr val="232323"/>
                          </a:solidFill>
                          <a:latin typeface="游ゴシック"/>
                          <a:ea typeface="游ゴシック"/>
                          <a:cs typeface="游ゴシック"/>
                        </a:rPr>
                        <a:t>会話しながら共同作業</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Teams チーム</a:t>
                      </a:r>
                    </a:p>
                  </a:txBody>
                  <a:tcPr marL="64008" marR="45720" marT="13716" marB="13716" anchor="ctr">
                    <a:solidFill>
                      <a:srgbClr val="FFFFFF"/>
                    </a:solidFill>
                  </a:tcPr>
                </a:tc>
              </a:tr>
              <a:tr h="512064">
                <a:tc>
                  <a:txBody>
                    <a:bodyPr wrap="square"/>
                    <a:lstStyle/>
                    <a:p>
                      <a:pPr>
                        <a:lnSpc>
                          <a:spcPct val="100000"/>
                        </a:lnSpc>
                      </a:pPr>
                      <a:r>
                        <a:rPr sz="1250" b="0">
                          <a:solidFill>
                            <a:srgbClr val="232323"/>
                          </a:solidFill>
                          <a:latin typeface="游ゴシック"/>
                          <a:ea typeface="游ゴシック"/>
                          <a:cs typeface="游ゴシック"/>
                        </a:rPr>
                        <a:t>全社に読ませるポータル・規程</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コミュニケーションサイト単独</a:t>
                      </a:r>
                    </a:p>
                  </a:txBody>
                  <a:tcPr marL="64008" marR="45720" marT="13716" marB="13716" anchor="ctr">
                    <a:solidFill>
                      <a:srgbClr val="F3F9FB"/>
                    </a:solidFill>
                  </a:tcPr>
                </a:tc>
              </a:tr>
              <a:tr h="512064">
                <a:tc>
                  <a:txBody>
                    <a:bodyPr wrap="square"/>
                    <a:lstStyle/>
                    <a:p>
                      <a:pPr>
                        <a:lnSpc>
                          <a:spcPct val="100000"/>
                        </a:lnSpc>
                      </a:pPr>
                      <a:r>
                        <a:rPr sz="1250" b="0">
                          <a:solidFill>
                            <a:srgbClr val="232323"/>
                          </a:solidFill>
                          <a:latin typeface="游ゴシック"/>
                          <a:ea typeface="游ゴシック"/>
                          <a:cs typeface="游ゴシック"/>
                        </a:rPr>
                        <a:t>会話は不要だがリスト/Planner 共有</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グループ連携チームサイト</a:t>
                      </a:r>
                    </a:p>
                  </a:txBody>
                  <a:tcPr marL="64008" marR="45720" marT="13716" marB="13716" anchor="ctr">
                    <a:solidFill>
                      <a:srgbClr val="FFFFFF"/>
                    </a:solidFill>
                  </a:tcPr>
                </a:tc>
              </a:tr>
              <a:tr h="512064">
                <a:tc>
                  <a:txBody>
                    <a:bodyPr wrap="square"/>
                    <a:lstStyle/>
                    <a:p>
                      <a:pPr>
                        <a:lnSpc>
                          <a:spcPct val="100000"/>
                        </a:lnSpc>
                      </a:pPr>
                      <a:r>
                        <a:rPr sz="1250" b="0">
                          <a:solidFill>
                            <a:srgbClr val="232323"/>
                          </a:solidFill>
                          <a:latin typeface="游ゴシック"/>
                          <a:ea typeface="游ゴシック"/>
                          <a:cs typeface="游ゴシック"/>
                        </a:rPr>
                        <a:t>既存チーム内の一部だけ機微情報</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プライベートチャネル</a:t>
                      </a:r>
                    </a:p>
                  </a:txBody>
                  <a:tcPr marL="64008" marR="45720" marT="13716" marB="13716" anchor="ctr">
                    <a:solidFill>
                      <a:srgbClr val="F3F9FB"/>
                    </a:solidFill>
                  </a:tcPr>
                </a:tc>
              </a:tr>
              <a:tr h="512064">
                <a:tc>
                  <a:txBody>
                    <a:bodyPr wrap="square"/>
                    <a:lstStyle/>
                    <a:p>
                      <a:pPr>
                        <a:lnSpc>
                          <a:spcPct val="100000"/>
                        </a:lnSpc>
                      </a:pPr>
                      <a:r>
                        <a:rPr sz="1250" b="0">
                          <a:solidFill>
                            <a:srgbClr val="232323"/>
                          </a:solidFill>
                          <a:latin typeface="游ゴシック"/>
                          <a:ea typeface="游ゴシック"/>
                          <a:cs typeface="游ゴシック"/>
                        </a:rPr>
                        <a:t>社外・別部門と対等に共同作業</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共有チャネル</a:t>
                      </a:r>
                    </a:p>
                  </a:txBody>
                  <a:tcPr marL="64008" marR="45720" marT="13716" marB="13716" anchor="ctr">
                    <a:solidFill>
                      <a:srgbClr val="FFFFFF"/>
                    </a:solidFill>
                  </a:tcPr>
                </a:tc>
              </a:tr>
            </a:tbl>
          </a:graphicData>
        </a:graphic>
      </p:graphicFrame>
      <p:graphicFrame>
        <p:nvGraphicFramePr>
          <p:cNvPr id="4" name="Table 3"/>
          <p:cNvGraphicFramePr>
            <a:graphicFrameLocks noGrp="1"/>
          </p:cNvGraphicFramePr>
          <p:nvPr/>
        </p:nvGraphicFramePr>
        <p:xfrm>
          <a:off x="6812280" y="1143000"/>
          <a:ext cx="5532120" cy="2432304"/>
        </p:xfrm>
        <a:graphic>
          <a:graphicData uri="http://schemas.openxmlformats.org/drawingml/2006/table">
            <a:tbl>
              <a:tblPr firstRow="1">
                <a:tableStyleId>{5C22544A-7EE6-4342-B048-85BDC9FD1C3A}</a:tableStyleId>
              </a:tblPr>
              <a:tblGrid>
                <a:gridCol w="2212848"/>
                <a:gridCol w="3319272"/>
              </a:tblGrid>
              <a:tr h="384048">
                <a:tc>
                  <a:txBody>
                    <a:bodyPr wrap="square"/>
                    <a:lstStyle/>
                    <a:p>
                      <a:pPr>
                        <a:lnSpc>
                          <a:spcPct val="100000"/>
                        </a:lnSpc>
                      </a:pPr>
                      <a:r>
                        <a:rPr sz="1250" b="1">
                          <a:solidFill>
                            <a:srgbClr val="FFFFFF"/>
                          </a:solidFill>
                          <a:latin typeface="游ゴシック"/>
                          <a:ea typeface="游ゴシック"/>
                          <a:cs typeface="游ゴシック"/>
                        </a:rPr>
                        <a:t>誤解</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正しい理解</a:t>
                      </a:r>
                    </a:p>
                  </a:txBody>
                  <a:tcPr marL="64008" marR="45720" marT="13716" marB="13716" anchor="ctr">
                    <a:solidFill>
                      <a:srgbClr val="1B5C80"/>
                    </a:solidFill>
                  </a:tcPr>
                </a:tc>
              </a:tr>
              <a:tr h="512064">
                <a:tc>
                  <a:txBody>
                    <a:bodyPr wrap="square"/>
                    <a:lstStyle/>
                    <a:p>
                      <a:pPr>
                        <a:lnSpc>
                          <a:spcPct val="100000"/>
                        </a:lnSpc>
                      </a:pPr>
                      <a:r>
                        <a:rPr sz="1250" b="0">
                          <a:solidFill>
                            <a:srgbClr val="232323"/>
                          </a:solidFill>
                          <a:latin typeface="游ゴシック"/>
                          <a:ea typeface="游ゴシック"/>
                          <a:cs typeface="游ゴシック"/>
                        </a:rPr>
                        <a:t>Teams のファイルは Teams 内</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実体は裏の SharePoint</a:t>
                      </a:r>
                    </a:p>
                  </a:txBody>
                  <a:tcPr marL="64008" marR="45720" marT="13716" marB="13716" anchor="ctr">
                    <a:solidFill>
                      <a:srgbClr val="FFFFFF"/>
                    </a:solidFill>
                  </a:tcPr>
                </a:tc>
              </a:tr>
              <a:tr h="512064">
                <a:tc>
                  <a:txBody>
                    <a:bodyPr wrap="square"/>
                    <a:lstStyle/>
                    <a:p>
                      <a:pPr>
                        <a:lnSpc>
                          <a:spcPct val="100000"/>
                        </a:lnSpc>
                      </a:pPr>
                      <a:r>
                        <a:rPr sz="1250" b="0">
                          <a:solidFill>
                            <a:srgbClr val="232323"/>
                          </a:solidFill>
                          <a:latin typeface="游ゴシック"/>
                          <a:ea typeface="游ゴシック"/>
                          <a:cs typeface="游ゴシック"/>
                        </a:rPr>
                        <a:t>プライベートチャネル＝親の中</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別サイト（別コレクション）</a:t>
                      </a:r>
                    </a:p>
                  </a:txBody>
                  <a:tcPr marL="64008" marR="45720" marT="13716" marB="13716" anchor="ctr">
                    <a:solidFill>
                      <a:srgbClr val="F3F9FB"/>
                    </a:solidFill>
                  </a:tcPr>
                </a:tc>
              </a:tr>
              <a:tr h="512064">
                <a:tc>
                  <a:txBody>
                    <a:bodyPr wrap="square"/>
                    <a:lstStyle/>
                    <a:p>
                      <a:pPr>
                        <a:lnSpc>
                          <a:spcPct val="100000"/>
                        </a:lnSpc>
                      </a:pPr>
                      <a:r>
                        <a:rPr sz="1250" b="0">
                          <a:solidFill>
                            <a:srgbClr val="232323"/>
                          </a:solidFill>
                          <a:latin typeface="游ゴシック"/>
                          <a:ea typeface="游ゴシック"/>
                          <a:cs typeface="游ゴシック"/>
                        </a:rPr>
                        <a:t>何でもチームサイトでよい</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発信はコミュニケーションサイト</a:t>
                      </a:r>
                    </a:p>
                  </a:txBody>
                  <a:tcPr marL="64008" marR="45720" marT="13716" marB="13716" anchor="ctr">
                    <a:solidFill>
                      <a:srgbClr val="FFFFFF"/>
                    </a:solidFill>
                  </a:tcPr>
                </a:tc>
              </a:tr>
              <a:tr h="512064">
                <a:tc>
                  <a:txBody>
                    <a:bodyPr wrap="square"/>
                    <a:lstStyle/>
                    <a:p>
                      <a:pPr>
                        <a:lnSpc>
                          <a:spcPct val="100000"/>
                        </a:lnSpc>
                      </a:pPr>
                      <a:r>
                        <a:rPr sz="1250" b="0">
                          <a:solidFill>
                            <a:srgbClr val="232323"/>
                          </a:solidFill>
                          <a:latin typeface="游ゴシック"/>
                          <a:ea typeface="游ゴシック"/>
                          <a:cs typeface="游ゴシック"/>
                        </a:rPr>
                        <a:t>サブサイトで整理</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フラット＋ハブ</a:t>
                      </a:r>
                    </a:p>
                  </a:txBody>
                  <a:tcPr marL="64008" marR="45720" marT="13716" marB="13716" anchor="ctr">
                    <a:solidFill>
                      <a:srgbClr val="F3F9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情報アーキテクチャ：フラット＋ハブ</a:t>
            </a:r>
          </a:p>
        </p:txBody>
      </p:sp>
      <p:pic>
        <p:nvPicPr>
          <p:cNvPr id="3" name="Picture 2" descr="hub.png"/>
          <p:cNvPicPr>
            <a:picLocks noChangeAspect="1"/>
          </p:cNvPicPr>
          <p:nvPr/>
        </p:nvPicPr>
        <p:blipFill>
          <a:blip r:embed="rId2"/>
          <a:stretch>
            <a:fillRect/>
          </a:stretch>
        </p:blipFill>
        <p:spPr>
          <a:xfrm>
            <a:off x="822960" y="1143000"/>
            <a:ext cx="7680960" cy="2037806"/>
          </a:xfrm>
          <a:prstGeom prst="rect">
            <a:avLst/>
          </a:prstGeom>
        </p:spPr>
      </p:pic>
      <p:sp>
        <p:nvSpPr>
          <p:cNvPr id="4" name="TextBox 3"/>
          <p:cNvSpPr txBox="1"/>
          <p:nvPr/>
        </p:nvSpPr>
        <p:spPr>
          <a:xfrm>
            <a:off x="8686800" y="1463040"/>
            <a:ext cx="3017520" cy="3657600"/>
          </a:xfrm>
          <a:prstGeom prst="rect">
            <a:avLst/>
          </a:prstGeom>
          <a:noFill/>
        </p:spPr>
        <p:txBody>
          <a:bodyPr wrap="square" lIns="0" rIns="0" tIns="0" bIns="0">
            <a:spAutoFit/>
          </a:bodyPr>
          <a:lstStyle/>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サブサイトを作らない</a:t>
            </a:r>
          </a:p>
          <a:p>
            <a:pPr lvl="1">
              <a:lnSpc>
                <a:spcPct val="112000"/>
              </a:lnSpc>
              <a:spcAft>
                <a:spcPts val="800"/>
              </a:spcAft>
            </a:pPr>
            <a:r>
              <a:rPr sz="1350" b="1">
                <a:solidFill>
                  <a:srgbClr val="0FA4CC"/>
                </a:solidFill>
                <a:latin typeface="游ゴシック"/>
                <a:ea typeface="游ゴシック"/>
                <a:cs typeface="游ゴシック"/>
              </a:rPr>
              <a:t>－ </a:t>
            </a:r>
            <a:r>
              <a:rPr sz="1350" b="0">
                <a:solidFill>
                  <a:srgbClr val="5C636A"/>
                </a:solidFill>
                <a:latin typeface="游ゴシック"/>
                <a:ea typeface="游ゴシック"/>
                <a:cs typeface="游ゴシック"/>
              </a:rPr>
              <a:t>組織変更に弱く権限も複雑化</a:t>
            </a:r>
          </a:p>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各チームは独立サイトで平らに作る</a:t>
            </a:r>
          </a:p>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ハブサイトで論理的に束ねる</a:t>
            </a:r>
          </a:p>
          <a:p>
            <a:pPr lvl="1">
              <a:lnSpc>
                <a:spcPct val="112000"/>
              </a:lnSpc>
              <a:spcAft>
                <a:spcPts val="800"/>
              </a:spcAft>
            </a:pPr>
            <a:r>
              <a:rPr sz="1350" b="1">
                <a:solidFill>
                  <a:srgbClr val="0FA4CC"/>
                </a:solidFill>
                <a:latin typeface="游ゴシック"/>
                <a:ea typeface="游ゴシック"/>
                <a:cs typeface="游ゴシック"/>
              </a:rPr>
              <a:t>－ </a:t>
            </a:r>
            <a:r>
              <a:rPr sz="1350" b="0">
                <a:solidFill>
                  <a:srgbClr val="5C636A"/>
                </a:solidFill>
                <a:latin typeface="游ゴシック"/>
                <a:ea typeface="游ゴシック"/>
                <a:cs typeface="游ゴシック"/>
              </a:rPr>
              <a:t>付け替え容易で組織変更に追随</a:t>
            </a:r>
          </a:p>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分類はフォルダ→メタデータへ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フォルダ vs メタデータ／グループの種類</a:t>
            </a:r>
          </a:p>
        </p:txBody>
      </p:sp>
      <p:graphicFrame>
        <p:nvGraphicFramePr>
          <p:cNvPr id="3" name="Table 2"/>
          <p:cNvGraphicFramePr>
            <a:graphicFrameLocks noGrp="1"/>
          </p:cNvGraphicFramePr>
          <p:nvPr/>
        </p:nvGraphicFramePr>
        <p:xfrm>
          <a:off x="822960" y="1143000"/>
          <a:ext cx="11793855" cy="1755648"/>
        </p:xfrm>
        <a:graphic>
          <a:graphicData uri="http://schemas.openxmlformats.org/drawingml/2006/table">
            <a:tbl>
              <a:tblPr firstRow="1">
                <a:tableStyleId>{5C22544A-7EE6-4342-B048-85BDC9FD1C3A}</a:tableStyleId>
              </a:tblPr>
              <a:tblGrid>
                <a:gridCol w="4717542"/>
                <a:gridCol w="7076313"/>
              </a:tblGrid>
              <a:tr h="384048">
                <a:tc>
                  <a:txBody>
                    <a:bodyPr wrap="square"/>
                    <a:lstStyle/>
                    <a:p>
                      <a:pPr>
                        <a:lnSpc>
                          <a:spcPct val="100000"/>
                        </a:lnSpc>
                      </a:pPr>
                      <a:r>
                        <a:rPr sz="1300" b="1">
                          <a:solidFill>
                            <a:srgbClr val="FFFFFF"/>
                          </a:solidFill>
                          <a:latin typeface="游ゴシック"/>
                          <a:ea typeface="游ゴシック"/>
                          <a:cs typeface="游ゴシック"/>
                        </a:rPr>
                        <a:t>従来（ファイルサーバー）</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モダン（推奨）</a:t>
                      </a:r>
                    </a:p>
                  </a:txBody>
                  <a:tcPr marL="64008" marR="45720" marT="13716" marB="13716" anchor="ctr">
                    <a:solidFill>
                      <a:srgbClr val="1B5C80"/>
                    </a:solidFill>
                  </a:tcPr>
                </a:tc>
              </a:tr>
              <a:tr h="457200">
                <a:tc>
                  <a:txBody>
                    <a:bodyPr wrap="square"/>
                    <a:lstStyle/>
                    <a:p>
                      <a:pPr>
                        <a:lnSpc>
                          <a:spcPct val="100000"/>
                        </a:lnSpc>
                      </a:pPr>
                      <a:r>
                        <a:rPr sz="1300" b="0">
                          <a:solidFill>
                            <a:srgbClr val="232323"/>
                          </a:solidFill>
                          <a:latin typeface="游ゴシック"/>
                          <a:ea typeface="游ゴシック"/>
                          <a:cs typeface="游ゴシック"/>
                        </a:rPr>
                        <a:t>深いフォルダ階層で分類</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浅いフォルダ＋メタデータ（列）で分類</a:t>
                      </a:r>
                    </a:p>
                  </a:txBody>
                  <a:tcPr marL="64008" marR="45720" marT="13716" marB="13716" anchor="ctr">
                    <a:solidFill>
                      <a:srgbClr val="FFFFFF"/>
                    </a:solidFill>
                  </a:tcPr>
                </a:tc>
              </a:tr>
              <a:tr h="457200">
                <a:tc>
                  <a:txBody>
                    <a:bodyPr wrap="square"/>
                    <a:lstStyle/>
                    <a:p>
                      <a:pPr>
                        <a:lnSpc>
                          <a:spcPct val="100000"/>
                        </a:lnSpc>
                      </a:pPr>
                      <a:r>
                        <a:rPr sz="1300" b="0">
                          <a:solidFill>
                            <a:srgbClr val="232323"/>
                          </a:solidFill>
                          <a:latin typeface="游ゴシック"/>
                          <a:ea typeface="游ゴシック"/>
                          <a:cs typeface="游ゴシック"/>
                        </a:rPr>
                        <a:t>1つの分類軸のみ</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年度・種別・顧客など複数軸で絞込・検索</a:t>
                      </a:r>
                    </a:p>
                  </a:txBody>
                  <a:tcPr marL="64008" marR="45720" marT="13716" marB="13716" anchor="ctr">
                    <a:solidFill>
                      <a:srgbClr val="F3F9FB"/>
                    </a:solidFill>
                  </a:tcPr>
                </a:tc>
              </a:tr>
              <a:tr h="457200">
                <a:tc>
                  <a:txBody>
                    <a:bodyPr wrap="square"/>
                    <a:lstStyle/>
                    <a:p>
                      <a:pPr>
                        <a:lnSpc>
                          <a:spcPct val="100000"/>
                        </a:lnSpc>
                      </a:pPr>
                      <a:r>
                        <a:rPr sz="1300" b="0">
                          <a:solidFill>
                            <a:srgbClr val="232323"/>
                          </a:solidFill>
                          <a:latin typeface="游ゴシック"/>
                          <a:ea typeface="游ゴシック"/>
                          <a:cs typeface="游ゴシック"/>
                        </a:rPr>
                        <a:t>移動すると場所が変わる</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メタデータは場所を変えず再分類</a:t>
                      </a:r>
                    </a:p>
                  </a:txBody>
                  <a:tcPr marL="64008" marR="45720" marT="13716" marB="13716" anchor="ctr">
                    <a:solidFill>
                      <a:srgbClr val="FFFFFF"/>
                    </a:solidFill>
                  </a:tcPr>
                </a:tc>
              </a:tr>
            </a:tbl>
          </a:graphicData>
        </a:graphic>
      </p:graphicFrame>
      <p:graphicFrame>
        <p:nvGraphicFramePr>
          <p:cNvPr id="4" name="Table 3"/>
          <p:cNvGraphicFramePr>
            <a:graphicFrameLocks noGrp="1"/>
          </p:cNvGraphicFramePr>
          <p:nvPr/>
        </p:nvGraphicFramePr>
        <p:xfrm>
          <a:off x="822960" y="3520440"/>
          <a:ext cx="11793855" cy="1755648"/>
        </p:xfrm>
        <a:graphic>
          <a:graphicData uri="http://schemas.openxmlformats.org/drawingml/2006/table">
            <a:tbl>
              <a:tblPr firstRow="1">
                <a:tableStyleId>{5C22544A-7EE6-4342-B048-85BDC9FD1C3A}</a:tableStyleId>
              </a:tblPr>
              <a:tblGrid>
                <a:gridCol w="4717542"/>
                <a:gridCol w="7076313"/>
              </a:tblGrid>
              <a:tr h="384048">
                <a:tc>
                  <a:txBody>
                    <a:bodyPr wrap="square"/>
                    <a:lstStyle/>
                    <a:p>
                      <a:pPr>
                        <a:lnSpc>
                          <a:spcPct val="100000"/>
                        </a:lnSpc>
                      </a:pPr>
                      <a:r>
                        <a:rPr sz="1300" b="1">
                          <a:solidFill>
                            <a:srgbClr val="FFFFFF"/>
                          </a:solidFill>
                          <a:latin typeface="游ゴシック"/>
                          <a:ea typeface="游ゴシック"/>
                          <a:cs typeface="游ゴシック"/>
                        </a:rPr>
                        <a:t>グループの種類</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主な目的／使いどころ</a:t>
                      </a:r>
                    </a:p>
                  </a:txBody>
                  <a:tcPr marL="64008" marR="45720" marT="13716" marB="13716" anchor="ctr">
                    <a:solidFill>
                      <a:srgbClr val="1B5C80"/>
                    </a:solidFill>
                  </a:tcPr>
                </a:tc>
              </a:tr>
              <a:tr h="457200">
                <a:tc>
                  <a:txBody>
                    <a:bodyPr wrap="square"/>
                    <a:lstStyle/>
                    <a:p>
                      <a:pPr>
                        <a:lnSpc>
                          <a:spcPct val="100000"/>
                        </a:lnSpc>
                      </a:pPr>
                      <a:r>
                        <a:rPr sz="1300" b="0">
                          <a:solidFill>
                            <a:srgbClr val="232323"/>
                          </a:solidFill>
                          <a:latin typeface="游ゴシック"/>
                          <a:ea typeface="游ゴシック"/>
                          <a:cs typeface="游ゴシック"/>
                        </a:rPr>
                        <a:t>Microsoft 365 グループ</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共同作業。SharePoint・Teams・Planner 等が一式（チームの“場”）</a:t>
                      </a:r>
                    </a:p>
                  </a:txBody>
                  <a:tcPr marL="64008" marR="45720" marT="13716" marB="13716" anchor="ctr">
                    <a:solidFill>
                      <a:srgbClr val="FFFFFF"/>
                    </a:solidFill>
                  </a:tcPr>
                </a:tc>
              </a:tr>
              <a:tr h="457200">
                <a:tc>
                  <a:txBody>
                    <a:bodyPr wrap="square"/>
                    <a:lstStyle/>
                    <a:p>
                      <a:pPr>
                        <a:lnSpc>
                          <a:spcPct val="100000"/>
                        </a:lnSpc>
                      </a:pPr>
                      <a:r>
                        <a:rPr sz="1300" b="0">
                          <a:solidFill>
                            <a:srgbClr val="232323"/>
                          </a:solidFill>
                          <a:latin typeface="游ゴシック"/>
                          <a:ea typeface="游ゴシック"/>
                          <a:cs typeface="游ゴシック"/>
                        </a:rPr>
                        <a:t>セキュリティグループ</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アクセス許可付与用の“人の束”。部署横断の権限付与に</a:t>
                      </a:r>
                    </a:p>
                  </a:txBody>
                  <a:tcPr marL="64008" marR="45720" marT="13716" marB="13716" anchor="ctr">
                    <a:solidFill>
                      <a:srgbClr val="F3F9FB"/>
                    </a:solidFill>
                  </a:tcPr>
                </a:tc>
              </a:tr>
              <a:tr h="457200">
                <a:tc>
                  <a:txBody>
                    <a:bodyPr wrap="square"/>
                    <a:lstStyle/>
                    <a:p>
                      <a:pPr>
                        <a:lnSpc>
                          <a:spcPct val="100000"/>
                        </a:lnSpc>
                      </a:pPr>
                      <a:r>
                        <a:rPr sz="1300" b="0">
                          <a:solidFill>
                            <a:srgbClr val="232323"/>
                          </a:solidFill>
                          <a:latin typeface="游ゴシック"/>
                          <a:ea typeface="游ゴシック"/>
                          <a:cs typeface="游ゴシック"/>
                        </a:rPr>
                        <a:t>配布リスト</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メール一斉配信用</a:t>
                      </a:r>
                    </a:p>
                  </a:txBody>
                  <a:tcPr marL="64008" marR="45720" marT="13716" marB="13716"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権限設計：ロールと3つの原則</a:t>
            </a:r>
          </a:p>
        </p:txBody>
      </p:sp>
      <p:pic>
        <p:nvPicPr>
          <p:cNvPr id="3" name="Picture 2" descr="perm.png"/>
          <p:cNvPicPr>
            <a:picLocks noChangeAspect="1"/>
          </p:cNvPicPr>
          <p:nvPr/>
        </p:nvPicPr>
        <p:blipFill>
          <a:blip r:embed="rId2"/>
          <a:stretch>
            <a:fillRect/>
          </a:stretch>
        </p:blipFill>
        <p:spPr>
          <a:xfrm>
            <a:off x="822960" y="1143000"/>
            <a:ext cx="5605393" cy="3017520"/>
          </a:xfrm>
          <a:prstGeom prst="rect">
            <a:avLst/>
          </a:prstGeom>
        </p:spPr>
      </p:pic>
      <p:sp>
        <p:nvSpPr>
          <p:cNvPr id="4" name="TextBox 3"/>
          <p:cNvSpPr txBox="1"/>
          <p:nvPr/>
        </p:nvSpPr>
        <p:spPr>
          <a:xfrm>
            <a:off x="7406640" y="1417320"/>
            <a:ext cx="4297680" cy="3108960"/>
          </a:xfrm>
          <a:prstGeom prst="rect">
            <a:avLst/>
          </a:prstGeom>
          <a:noFill/>
        </p:spPr>
        <p:txBody>
          <a:bodyPr wrap="square" lIns="0" rIns="0" tIns="0" bIns="0">
            <a:spAutoFit/>
          </a:bodyPr>
          <a:lstStyle/>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① 権限は“個人”でなく“グループ”に</a:t>
            </a:r>
          </a:p>
          <a:p>
            <a:pPr lvl="1">
              <a:lnSpc>
                <a:spcPct val="112000"/>
              </a:lnSpc>
              <a:spcAft>
                <a:spcPts val="800"/>
              </a:spcAft>
            </a:pPr>
            <a:r>
              <a:rPr sz="1350" b="1">
                <a:solidFill>
                  <a:srgbClr val="0FA4CC"/>
                </a:solidFill>
                <a:latin typeface="游ゴシック"/>
                <a:ea typeface="游ゴシック"/>
                <a:cs typeface="游ゴシック"/>
              </a:rPr>
              <a:t>－ </a:t>
            </a:r>
            <a:r>
              <a:rPr sz="1350" b="0">
                <a:solidFill>
                  <a:srgbClr val="5C636A"/>
                </a:solidFill>
                <a:latin typeface="游ゴシック"/>
                <a:ea typeface="游ゴシック"/>
                <a:cs typeface="游ゴシック"/>
              </a:rPr>
              <a:t>異動・退職はグループ管理で吸収</a:t>
            </a:r>
          </a:p>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② 権限の境界は“サイト”で切る</a:t>
            </a:r>
          </a:p>
          <a:p>
            <a:pPr lvl="1">
              <a:lnSpc>
                <a:spcPct val="112000"/>
              </a:lnSpc>
              <a:spcAft>
                <a:spcPts val="800"/>
              </a:spcAft>
            </a:pPr>
            <a:r>
              <a:rPr sz="1350" b="1">
                <a:solidFill>
                  <a:srgbClr val="0FA4CC"/>
                </a:solidFill>
                <a:latin typeface="游ゴシック"/>
                <a:ea typeface="游ゴシック"/>
                <a:cs typeface="游ゴシック"/>
              </a:rPr>
              <a:t>－ </a:t>
            </a:r>
            <a:r>
              <a:rPr sz="1350" b="0">
                <a:solidFill>
                  <a:srgbClr val="5C636A"/>
                </a:solidFill>
                <a:latin typeface="游ゴシック"/>
                <a:ea typeface="游ゴシック"/>
                <a:cs typeface="游ゴシック"/>
              </a:rPr>
              <a:t>一部限定は別サイト/プライベートチャネル</a:t>
            </a:r>
          </a:p>
          <a:p>
            <a:pPr>
              <a:lnSpc>
                <a:spcPct val="112000"/>
              </a:lnSpc>
              <a:spcAft>
                <a:spcPts val="800"/>
              </a:spcAft>
            </a:pPr>
            <a:r>
              <a:rPr sz="1350" b="1">
                <a:solidFill>
                  <a:srgbClr val="1B5C80"/>
                </a:solidFill>
                <a:latin typeface="游ゴシック"/>
                <a:ea typeface="游ゴシック"/>
                <a:cs typeface="游ゴシック"/>
              </a:rPr>
              <a:t>■ </a:t>
            </a:r>
            <a:r>
              <a:rPr sz="1350" b="1">
                <a:solidFill>
                  <a:srgbClr val="1B5C80"/>
                </a:solidFill>
                <a:latin typeface="游ゴシック"/>
                <a:ea typeface="游ゴシック"/>
                <a:cs typeface="游ゴシック"/>
              </a:rPr>
              <a:t>③ 権限の継承を壊さない</a:t>
            </a:r>
          </a:p>
          <a:p>
            <a:pPr lvl="1">
              <a:lnSpc>
                <a:spcPct val="112000"/>
              </a:lnSpc>
              <a:spcAft>
                <a:spcPts val="800"/>
              </a:spcAft>
            </a:pPr>
            <a:r>
              <a:rPr sz="1350" b="1">
                <a:solidFill>
                  <a:srgbClr val="0FA4CC"/>
                </a:solidFill>
                <a:latin typeface="游ゴシック"/>
                <a:ea typeface="游ゴシック"/>
                <a:cs typeface="游ゴシック"/>
              </a:rPr>
              <a:t>－ </a:t>
            </a:r>
            <a:r>
              <a:rPr sz="1350" b="0">
                <a:solidFill>
                  <a:srgbClr val="5C636A"/>
                </a:solidFill>
                <a:latin typeface="游ゴシック"/>
                <a:ea typeface="游ゴシック"/>
                <a:cs typeface="游ゴシック"/>
              </a:rPr>
              <a:t>フォルダ個別ACLは最後の手段</a:t>
            </a:r>
          </a:p>
        </p:txBody>
      </p:sp>
      <p:sp>
        <p:nvSpPr>
          <p:cNvPr id="5" name="Rounded Rectangle 4"/>
          <p:cNvSpPr/>
          <p:nvPr/>
        </p:nvSpPr>
        <p:spPr>
          <a:xfrm>
            <a:off x="822960" y="5120640"/>
            <a:ext cx="11793855" cy="86868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5230368"/>
            <a:ext cx="11391519" cy="649224"/>
          </a:xfrm>
          <a:prstGeom prst="rect">
            <a:avLst/>
          </a:prstGeom>
          <a:noFill/>
        </p:spPr>
        <p:txBody>
          <a:bodyPr wrap="square" anchor="ctr" lIns="0" rIns="0" tIns="0" bIns="0">
            <a:spAutoFit/>
          </a:bodyPr>
          <a:lstStyle/>
          <a:p>
            <a:pPr algn="l">
              <a:lnSpc>
                <a:spcPct val="120000"/>
              </a:lnSpc>
            </a:pPr>
            <a:r>
              <a:rPr sz="1250" b="1">
                <a:solidFill>
                  <a:srgbClr val="B0432B"/>
                </a:solidFill>
                <a:latin typeface="游ゴシック"/>
                <a:ea typeface="游ゴシック"/>
                <a:cs typeface="游ゴシック"/>
              </a:rPr>
              <a:t>最大の要点　</a:t>
            </a:r>
            <a:r>
              <a:rPr sz="1250" b="0">
                <a:solidFill>
                  <a:srgbClr val="232323"/>
                </a:solidFill>
                <a:latin typeface="游ゴシック"/>
                <a:ea typeface="游ゴシック"/>
                <a:cs typeface="游ゴシック"/>
              </a:rPr>
              <a:t>所有者は必ず2名以上（退職・異動による孤児化を防ぐ）。コミュニケーションサイト等グループ非連携は SharePoint グループへ直接（推奨はセキュリティグループ）割り当て。</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共有リンクの基礎と権限設計チェックリスト</a:t>
            </a:r>
          </a:p>
        </p:txBody>
      </p:sp>
      <p:graphicFrame>
        <p:nvGraphicFramePr>
          <p:cNvPr id="3" name="Table 2"/>
          <p:cNvGraphicFramePr>
            <a:graphicFrameLocks noGrp="1"/>
          </p:cNvGraphicFramePr>
          <p:nvPr/>
        </p:nvGraphicFramePr>
        <p:xfrm>
          <a:off x="822960" y="1143000"/>
          <a:ext cx="5806439" cy="1920240"/>
        </p:xfrm>
        <a:graphic>
          <a:graphicData uri="http://schemas.openxmlformats.org/drawingml/2006/table">
            <a:tbl>
              <a:tblPr firstRow="1">
                <a:tableStyleId>{5C22544A-7EE6-4342-B048-85BDC9FD1C3A}</a:tableStyleId>
              </a:tblPr>
              <a:tblGrid>
                <a:gridCol w="1741932"/>
                <a:gridCol w="2554833"/>
                <a:gridCol w="1509674"/>
              </a:tblGrid>
              <a:tr h="384048">
                <a:tc>
                  <a:txBody>
                    <a:bodyPr wrap="square"/>
                    <a:lstStyle/>
                    <a:p>
                      <a:pPr>
                        <a:lnSpc>
                          <a:spcPct val="100000"/>
                        </a:lnSpc>
                      </a:pPr>
                      <a:r>
                        <a:rPr sz="1250" b="1">
                          <a:solidFill>
                            <a:srgbClr val="FFFFFF"/>
                          </a:solidFill>
                          <a:latin typeface="游ゴシック"/>
                          <a:ea typeface="游ゴシック"/>
                          <a:cs typeface="游ゴシック"/>
                        </a:rPr>
                        <a:t>共有リンク種類</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渡せる相手</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フェーズ1既定</a:t>
                      </a:r>
                    </a:p>
                  </a:txBody>
                  <a:tcPr marL="64008" marR="45720" marT="13716" marB="13716" anchor="ctr">
                    <a:solidFill>
                      <a:srgbClr val="1B5C80"/>
                    </a:solidFill>
                  </a:tcPr>
                </a:tc>
              </a:tr>
              <a:tr h="512064">
                <a:tc>
                  <a:txBody>
                    <a:bodyPr wrap="square"/>
                    <a:lstStyle/>
                    <a:p>
                      <a:pPr>
                        <a:lnSpc>
                          <a:spcPct val="100000"/>
                        </a:lnSpc>
                      </a:pPr>
                      <a:r>
                        <a:rPr sz="1250" b="0">
                          <a:solidFill>
                            <a:srgbClr val="232323"/>
                          </a:solidFill>
                          <a:latin typeface="游ゴシック"/>
                          <a:ea typeface="游ゴシック"/>
                          <a:cs typeface="游ゴシック"/>
                        </a:rPr>
                        <a:t>組織内のリンク</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社内の誰でも</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用途に応じ可</a:t>
                      </a:r>
                    </a:p>
                  </a:txBody>
                  <a:tcPr marL="64008" marR="45720" marT="13716" marB="13716" anchor="ctr">
                    <a:solidFill>
                      <a:srgbClr val="FFFFFF"/>
                    </a:solidFill>
                  </a:tcPr>
                </a:tc>
              </a:tr>
              <a:tr h="512064">
                <a:tc>
                  <a:txBody>
                    <a:bodyPr wrap="square"/>
                    <a:lstStyle/>
                    <a:p>
                      <a:pPr>
                        <a:lnSpc>
                          <a:spcPct val="100000"/>
                        </a:lnSpc>
                      </a:pPr>
                      <a:r>
                        <a:rPr sz="1250" b="0">
                          <a:solidFill>
                            <a:srgbClr val="232323"/>
                          </a:solidFill>
                          <a:latin typeface="游ゴシック"/>
                          <a:ea typeface="游ゴシック"/>
                          <a:cs typeface="游ゴシック"/>
                        </a:rPr>
                        <a:t>特定のユーザー</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指定した人だけ</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最も安全（既定推奨）</a:t>
                      </a:r>
                    </a:p>
                  </a:txBody>
                  <a:tcPr marL="64008" marR="45720" marT="13716" marB="13716" anchor="ctr">
                    <a:solidFill>
                      <a:srgbClr val="F3F9FB"/>
                    </a:solidFill>
                  </a:tcPr>
                </a:tc>
              </a:tr>
              <a:tr h="512064">
                <a:tc>
                  <a:txBody>
                    <a:bodyPr wrap="square"/>
                    <a:lstStyle/>
                    <a:p>
                      <a:pPr>
                        <a:lnSpc>
                          <a:spcPct val="100000"/>
                        </a:lnSpc>
                      </a:pPr>
                      <a:r>
                        <a:rPr sz="1250" b="0">
                          <a:solidFill>
                            <a:srgbClr val="232323"/>
                          </a:solidFill>
                          <a:latin typeface="游ゴシック"/>
                          <a:ea typeface="游ゴシック"/>
                          <a:cs typeface="游ゴシック"/>
                        </a:rPr>
                        <a:t>リンクを知っている全員（匿名）</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社外含む誰でも</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原則オフ</a:t>
                      </a:r>
                    </a:p>
                  </a:txBody>
                  <a:tcPr marL="64008" marR="45720" marT="13716" marB="13716" anchor="ctr">
                    <a:solidFill>
                      <a:srgbClr val="FFFFFF"/>
                    </a:solidFill>
                  </a:tcPr>
                </a:tc>
              </a:tr>
            </a:tbl>
          </a:graphicData>
        </a:graphic>
      </p:graphicFrame>
      <p:sp>
        <p:nvSpPr>
          <p:cNvPr id="4" name="Rounded Rectangle 3"/>
          <p:cNvSpPr/>
          <p:nvPr/>
        </p:nvSpPr>
        <p:spPr>
          <a:xfrm>
            <a:off x="6812280" y="1143000"/>
            <a:ext cx="5532120" cy="35661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13448" y="1252728"/>
            <a:ext cx="5129784" cy="292608"/>
          </a:xfrm>
          <a:prstGeom prst="rect">
            <a:avLst/>
          </a:prstGeom>
          <a:noFill/>
        </p:spPr>
        <p:txBody>
          <a:bodyPr wrap="square" anchor="t" lIns="0" rIns="0" tIns="0" bIns="0">
            <a:spAutoFit/>
          </a:bodyPr>
          <a:lstStyle/>
          <a:p>
            <a:pPr algn="l">
              <a:lnSpc>
                <a:spcPct val="108000"/>
              </a:lnSpc>
              <a:spcBef>
                <a:spcPts val="0"/>
              </a:spcBef>
              <a:spcAft>
                <a:spcPts val="300"/>
              </a:spcAft>
            </a:pPr>
            <a:r>
              <a:rPr sz="1250" b="1">
                <a:solidFill>
                  <a:srgbClr val="1B5C80"/>
                </a:solidFill>
                <a:latin typeface="游ゴシック"/>
                <a:ea typeface="游ゴシック"/>
                <a:cs typeface="游ゴシック"/>
              </a:rPr>
              <a:t>チェックリスト</a:t>
            </a:r>
          </a:p>
        </p:txBody>
      </p:sp>
      <p:sp>
        <p:nvSpPr>
          <p:cNvPr id="6" name="TextBox 5"/>
          <p:cNvSpPr txBox="1"/>
          <p:nvPr/>
        </p:nvSpPr>
        <p:spPr>
          <a:xfrm>
            <a:off x="7068312" y="1600200"/>
            <a:ext cx="5074920" cy="3017520"/>
          </a:xfrm>
          <a:prstGeom prst="rect">
            <a:avLst/>
          </a:prstGeom>
          <a:noFill/>
        </p:spPr>
        <p:txBody>
          <a:bodyPr wrap="square" lIns="0" rIns="0" tIns="0" bIns="0">
            <a:spAutoFit/>
          </a:bodyPr>
          <a:lstStyle/>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所有者2名以上／権限はグループで</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一部限定はサイト/チャネル分離</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継承を維持・固有権限は最小</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既定共有リンクは「特定のユーザー」</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外部共有はテナント上限を絞る</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サブサイト・深いフォルダを作らない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クラシックとモダンの違い</a:t>
            </a:r>
          </a:p>
        </p:txBody>
      </p:sp>
      <p:graphicFrame>
        <p:nvGraphicFramePr>
          <p:cNvPr id="3" name="Table 2"/>
          <p:cNvGraphicFramePr>
            <a:graphicFrameLocks noGrp="1"/>
          </p:cNvGraphicFramePr>
          <p:nvPr/>
        </p:nvGraphicFramePr>
        <p:xfrm>
          <a:off x="822960" y="1143000"/>
          <a:ext cx="11793854" cy="2523744"/>
        </p:xfrm>
        <a:graphic>
          <a:graphicData uri="http://schemas.openxmlformats.org/drawingml/2006/table">
            <a:tbl>
              <a:tblPr firstRow="1">
                <a:tableStyleId>{5C22544A-7EE6-4342-B048-85BDC9FD1C3A}</a:tableStyleId>
              </a:tblPr>
              <a:tblGrid>
                <a:gridCol w="3538156"/>
                <a:gridCol w="5189296"/>
                <a:gridCol w="3066402"/>
              </a:tblGrid>
              <a:tr h="402336">
                <a:tc>
                  <a:txBody>
                    <a:bodyPr wrap="square"/>
                    <a:lstStyle/>
                    <a:p>
                      <a:pPr>
                        <a:lnSpc>
                          <a:spcPct val="100000"/>
                        </a:lnSpc>
                      </a:pPr>
                      <a:r>
                        <a:rPr sz="1300" b="1">
                          <a:solidFill>
                            <a:srgbClr val="FFFFFF"/>
                          </a:solidFill>
                          <a:latin typeface="游ゴシック"/>
                          <a:ea typeface="游ゴシック"/>
                          <a:cs typeface="游ゴシック"/>
                        </a:rPr>
                        <a:t>観点</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クラシック体験</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モダン体験</a:t>
                      </a:r>
                    </a:p>
                  </a:txBody>
                  <a:tcPr marL="64008" marR="45720" marT="13716" marB="13716" anchor="ctr">
                    <a:solidFill>
                      <a:srgbClr val="1B5C80"/>
                    </a:solidFill>
                  </a:tcPr>
                </a:tc>
              </a:tr>
              <a:tr h="530352">
                <a:tc>
                  <a:txBody>
                    <a:bodyPr wrap="square"/>
                    <a:lstStyle/>
                    <a:p>
                      <a:pPr>
                        <a:lnSpc>
                          <a:spcPct val="100000"/>
                        </a:lnSpc>
                      </a:pPr>
                      <a:r>
                        <a:rPr sz="1300" b="0">
                          <a:solidFill>
                            <a:srgbClr val="232323"/>
                          </a:solidFill>
                          <a:latin typeface="游ゴシック"/>
                          <a:ea typeface="游ゴシック"/>
                          <a:cs typeface="游ゴシック"/>
                        </a:rPr>
                        <a:t>UI</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旧来のツールバー中心</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レスポンシブ・モバイル対応・Webパーツ</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連携</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単体サイト中心</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M365グループ・Teams・ハブと連動</a:t>
                      </a:r>
                    </a:p>
                  </a:txBody>
                  <a:tcPr marL="64008" marR="45720" marT="13716" marB="13716" anchor="ctr">
                    <a:solidFill>
                      <a:srgbClr val="F3F9FB"/>
                    </a:solidFill>
                  </a:tcPr>
                </a:tc>
              </a:tr>
              <a:tr h="530352">
                <a:tc>
                  <a:txBody>
                    <a:bodyPr wrap="square"/>
                    <a:lstStyle/>
                    <a:p>
                      <a:pPr>
                        <a:lnSpc>
                          <a:spcPct val="100000"/>
                        </a:lnSpc>
                      </a:pPr>
                      <a:r>
                        <a:rPr sz="1300" b="0">
                          <a:solidFill>
                            <a:srgbClr val="232323"/>
                          </a:solidFill>
                          <a:latin typeface="游ゴシック"/>
                          <a:ea typeface="游ゴシック"/>
                          <a:cs typeface="游ゴシック"/>
                        </a:rPr>
                        <a:t>ページ</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クラシックページ</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モダンページ（セクション＋Webパーツ）</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拡張</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サーバーサイド/旧カスタマイズ</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SPFx（SharePoint Framework）</a:t>
                      </a:r>
                    </a:p>
                  </a:txBody>
                  <a:tcPr marL="64008" marR="45720" marT="13716" marB="13716" anchor="ctr">
                    <a:solidFill>
                      <a:srgbClr val="F3F9FB"/>
                    </a:solidFill>
                  </a:tcPr>
                </a:tc>
              </a:tr>
            </a:tbl>
          </a:graphicData>
        </a:graphic>
      </p:graphicFrame>
      <p:sp>
        <p:nvSpPr>
          <p:cNvPr id="4" name="Rounded Rectangle 3"/>
          <p:cNvSpPr/>
          <p:nvPr/>
        </p:nvSpPr>
        <p:spPr>
          <a:xfrm>
            <a:off x="822960" y="5120640"/>
            <a:ext cx="11793855" cy="822960"/>
          </a:xfrm>
          <a:prstGeom prst="roundRect">
            <a:avLst>
              <a:gd name="adj" fmla="val 6000"/>
            </a:avLst>
          </a:prstGeom>
          <a:solidFill>
            <a:srgbClr val="E7E8F8"/>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230368"/>
            <a:ext cx="11391519" cy="60350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方針　</a:t>
            </a:r>
            <a:r>
              <a:rPr sz="1300" b="0">
                <a:solidFill>
                  <a:srgbClr val="232323"/>
                </a:solidFill>
                <a:latin typeface="游ゴシック"/>
                <a:ea typeface="游ゴシック"/>
                <a:cs typeface="游ゴシック"/>
              </a:rPr>
              <a:t>Microsoft は即時「廃止」はしていないが、モダン体験への移行・変換を一貫して推奨。新規はモダンで作り、既存クラシックは計画的にモダン化。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移行前に必ず確認：廃止・非推奨の機能</a:t>
            </a:r>
          </a:p>
        </p:txBody>
      </p:sp>
      <p:graphicFrame>
        <p:nvGraphicFramePr>
          <p:cNvPr id="3" name="Table 2"/>
          <p:cNvGraphicFramePr>
            <a:graphicFrameLocks noGrp="1"/>
          </p:cNvGraphicFramePr>
          <p:nvPr/>
        </p:nvGraphicFramePr>
        <p:xfrm>
          <a:off x="822960" y="1143000"/>
          <a:ext cx="11793854" cy="2523744"/>
        </p:xfrm>
        <a:graphic>
          <a:graphicData uri="http://schemas.openxmlformats.org/drawingml/2006/table">
            <a:tbl>
              <a:tblPr firstRow="1">
                <a:tableStyleId>{5C22544A-7EE6-4342-B048-85BDC9FD1C3A}</a:tableStyleId>
              </a:tblPr>
              <a:tblGrid>
                <a:gridCol w="3538156"/>
                <a:gridCol w="5189296"/>
                <a:gridCol w="3066402"/>
              </a:tblGrid>
              <a:tr h="402336">
                <a:tc>
                  <a:txBody>
                    <a:bodyPr wrap="square"/>
                    <a:lstStyle/>
                    <a:p>
                      <a:pPr>
                        <a:lnSpc>
                          <a:spcPct val="100000"/>
                        </a:lnSpc>
                      </a:pPr>
                      <a:r>
                        <a:rPr sz="130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状況</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移行先</a:t>
                      </a:r>
                    </a:p>
                  </a:txBody>
                  <a:tcPr marL="64008" marR="45720" marT="13716" marB="13716" anchor="ctr">
                    <a:solidFill>
                      <a:srgbClr val="1B5C80"/>
                    </a:solidFill>
                  </a:tcPr>
                </a:tc>
              </a:tr>
              <a:tr h="530352">
                <a:tc>
                  <a:txBody>
                    <a:bodyPr wrap="square"/>
                    <a:lstStyle/>
                    <a:p>
                      <a:pPr>
                        <a:lnSpc>
                          <a:spcPct val="100000"/>
                        </a:lnSpc>
                      </a:pPr>
                      <a:r>
                        <a:rPr sz="1300" b="0">
                          <a:solidFill>
                            <a:srgbClr val="232323"/>
                          </a:solidFill>
                          <a:latin typeface="游ゴシック"/>
                          <a:ea typeface="游ゴシック"/>
                          <a:cs typeface="游ゴシック"/>
                        </a:rPr>
                        <a:t>SharePoint 2010 ワークフロー</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廃止済み</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Power Automate</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SharePoint 2013 ワークフロー</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2026年4月以降 順次削除中</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Power Automate</a:t>
                      </a:r>
                    </a:p>
                  </a:txBody>
                  <a:tcPr marL="64008" marR="45720" marT="13716" marB="13716" anchor="ctr">
                    <a:solidFill>
                      <a:srgbClr val="F3F9FB"/>
                    </a:solidFill>
                  </a:tcPr>
                </a:tc>
              </a:tr>
              <a:tr h="530352">
                <a:tc>
                  <a:txBody>
                    <a:bodyPr wrap="square"/>
                    <a:lstStyle/>
                    <a:p>
                      <a:pPr>
                        <a:lnSpc>
                          <a:spcPct val="100000"/>
                        </a:lnSpc>
                      </a:pPr>
                      <a:r>
                        <a:rPr sz="1300" b="0">
                          <a:solidFill>
                            <a:srgbClr val="232323"/>
                          </a:solidFill>
                          <a:latin typeface="游ゴシック"/>
                          <a:ea typeface="游ゴシック"/>
                          <a:cs typeface="游ゴシック"/>
                        </a:rPr>
                        <a:t>InfoPath フォーム</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2026年7月14日 サポート終了</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Power Apps／Forms</a:t>
                      </a:r>
                    </a:p>
                  </a:txBody>
                  <a:tcPr marL="64008" marR="45720" marT="13716" marB="13716" anchor="ctr">
                    <a:solidFill>
                      <a:srgbClr val="FFFFFF"/>
                    </a:solidFill>
                  </a:tcPr>
                </a:tc>
              </a:tr>
              <a:tr h="530352">
                <a:tc>
                  <a:txBody>
                    <a:bodyPr wrap="square"/>
                    <a:lstStyle/>
                    <a:p>
                      <a:pPr>
                        <a:lnSpc>
                          <a:spcPct val="100000"/>
                        </a:lnSpc>
                      </a:pPr>
                      <a:r>
                        <a:rPr sz="1300" b="0">
                          <a:solidFill>
                            <a:srgbClr val="232323"/>
                          </a:solidFill>
                          <a:latin typeface="游ゴシック"/>
                          <a:ea typeface="游ゴシック"/>
                          <a:cs typeface="游ゴシック"/>
                        </a:rPr>
                        <a:t>クラシック Web パーツ／旧カスタマイズ</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モダンで非対応が多い</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SPFx／モダン部品／Power Platform</a:t>
                      </a:r>
                    </a:p>
                  </a:txBody>
                  <a:tcPr marL="64008" marR="45720" marT="13716" marB="13716" anchor="ctr">
                    <a:solidFill>
                      <a:srgbClr val="F3F9FB"/>
                    </a:solidFill>
                  </a:tcPr>
                </a:tc>
              </a:tr>
            </a:tbl>
          </a:graphicData>
        </a:graphic>
      </p:graphicFrame>
      <p:sp>
        <p:nvSpPr>
          <p:cNvPr id="4" name="Rounded Rectangle 3"/>
          <p:cNvSpPr/>
          <p:nvPr/>
        </p:nvSpPr>
        <p:spPr>
          <a:xfrm>
            <a:off x="822960" y="4937760"/>
            <a:ext cx="11793855" cy="91440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047488"/>
            <a:ext cx="11391519" cy="694944"/>
          </a:xfrm>
          <a:prstGeom prst="rect">
            <a:avLst/>
          </a:prstGeom>
          <a:noFill/>
        </p:spPr>
        <p:txBody>
          <a:bodyPr wrap="square" anchor="ctr" lIns="0" rIns="0" tIns="0" bIns="0">
            <a:spAutoFit/>
          </a:bodyPr>
          <a:lstStyle/>
          <a:p>
            <a:pPr algn="l">
              <a:lnSpc>
                <a:spcPct val="120000"/>
              </a:lnSpc>
            </a:pPr>
            <a:r>
              <a:rPr sz="1300" b="1">
                <a:solidFill>
                  <a:srgbClr val="B0432B"/>
                </a:solidFill>
                <a:latin typeface="游ゴシック"/>
                <a:ea typeface="游ゴシック"/>
                <a:cs typeface="游ゴシック"/>
              </a:rPr>
              <a:t>最優先　</a:t>
            </a:r>
            <a:r>
              <a:rPr sz="1300" b="0">
                <a:solidFill>
                  <a:srgbClr val="232323"/>
                </a:solidFill>
                <a:latin typeface="游ゴシック"/>
                <a:ea typeface="游ゴシック"/>
                <a:cs typeface="游ゴシック"/>
              </a:rPr>
              <a:t>業務を回す 2013 ワークフロー・InfoPath は移行後に動かなくなる（2026年に到来済み）。「ファイルを移せば終わり」ではない。現行環境で何が動いているかの棚卸しを移行計画の最初に。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モダン化の進め方（選択肢）</a:t>
            </a:r>
          </a:p>
        </p:txBody>
      </p:sp>
      <p:graphicFrame>
        <p:nvGraphicFramePr>
          <p:cNvPr id="3" name="Table 2"/>
          <p:cNvGraphicFramePr>
            <a:graphicFrameLocks noGrp="1"/>
          </p:cNvGraphicFramePr>
          <p:nvPr/>
        </p:nvGraphicFramePr>
        <p:xfrm>
          <a:off x="822960" y="1143000"/>
          <a:ext cx="11793854" cy="2157984"/>
        </p:xfrm>
        <a:graphic>
          <a:graphicData uri="http://schemas.openxmlformats.org/drawingml/2006/table">
            <a:tbl>
              <a:tblPr firstRow="1">
                <a:tableStyleId>{5C22544A-7EE6-4342-B048-85BDC9FD1C3A}</a:tableStyleId>
              </a:tblPr>
              <a:tblGrid>
                <a:gridCol w="3538156"/>
                <a:gridCol w="5189296"/>
                <a:gridCol w="3066402"/>
              </a:tblGrid>
              <a:tr h="402336">
                <a:tc>
                  <a:txBody>
                    <a:bodyPr wrap="square"/>
                    <a:lstStyle/>
                    <a:p>
                      <a:pPr>
                        <a:lnSpc>
                          <a:spcPct val="100000"/>
                        </a:lnSpc>
                      </a:pPr>
                      <a:r>
                        <a:rPr sz="1300" b="1">
                          <a:solidFill>
                            <a:srgbClr val="FFFFFF"/>
                          </a:solidFill>
                          <a:latin typeface="游ゴシック"/>
                          <a:ea typeface="游ゴシック"/>
                          <a:cs typeface="游ゴシック"/>
                        </a:rPr>
                        <a:t>アプローチ</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向くケース</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概要</a:t>
                      </a:r>
                    </a:p>
                  </a:txBody>
                  <a:tcPr marL="64008" marR="45720" marT="13716" marB="13716" anchor="ctr">
                    <a:solidFill>
                      <a:srgbClr val="1B5C80"/>
                    </a:solidFill>
                  </a:tcPr>
                </a:tc>
              </a:tr>
              <a:tr h="585216">
                <a:tc>
                  <a:txBody>
                    <a:bodyPr wrap="square"/>
                    <a:lstStyle/>
                    <a:p>
                      <a:pPr>
                        <a:lnSpc>
                          <a:spcPct val="100000"/>
                        </a:lnSpc>
                      </a:pPr>
                      <a:r>
                        <a:rPr sz="1300" b="0">
                          <a:solidFill>
                            <a:srgbClr val="232323"/>
                          </a:solidFill>
                          <a:latin typeface="游ゴシック"/>
                          <a:ea typeface="游ゴシック"/>
                          <a:cs typeface="游ゴシック"/>
                        </a:rPr>
                        <a:t>作り直し（多くの場合・推奨）</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構造を見直したい／クラシック依存が強い</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モダンサイトを新設しコンテンツを移す</a:t>
                      </a:r>
                    </a:p>
                  </a:txBody>
                  <a:tcPr marL="64008" marR="45720" marT="13716" marB="13716" anchor="ctr">
                    <a:solidFill>
                      <a:srgbClr val="FFFFFF"/>
                    </a:solidFill>
                  </a:tcPr>
                </a:tc>
              </a:tr>
              <a:tr h="585216">
                <a:tc>
                  <a:txBody>
                    <a:bodyPr wrap="square"/>
                    <a:lstStyle/>
                    <a:p>
                      <a:pPr>
                        <a:lnSpc>
                          <a:spcPct val="100000"/>
                        </a:lnSpc>
                      </a:pPr>
                      <a:r>
                        <a:rPr sz="1300" b="0">
                          <a:solidFill>
                            <a:srgbClr val="232323"/>
                          </a:solidFill>
                          <a:latin typeface="游ゴシック"/>
                          <a:ea typeface="游ゴシック"/>
                          <a:cs typeface="游ゴシック"/>
                        </a:rPr>
                        <a:t>ページのモダン化</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サイトは活かしページだけ古い</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クラシックページをモダンページへ変換</a:t>
                      </a:r>
                    </a:p>
                  </a:txBody>
                  <a:tcPr marL="64008" marR="45720" marT="13716" marB="13716" anchor="ctr">
                    <a:solidFill>
                      <a:srgbClr val="F3F9FB"/>
                    </a:solidFill>
                  </a:tcPr>
                </a:tc>
              </a:tr>
              <a:tr h="585216">
                <a:tc>
                  <a:txBody>
                    <a:bodyPr wrap="square"/>
                    <a:lstStyle/>
                    <a:p>
                      <a:pPr>
                        <a:lnSpc>
                          <a:spcPct val="100000"/>
                        </a:lnSpc>
                      </a:pPr>
                      <a:r>
                        <a:rPr sz="1300" b="0">
                          <a:solidFill>
                            <a:srgbClr val="232323"/>
                          </a:solidFill>
                          <a:latin typeface="游ゴシック"/>
                          <a:ea typeface="游ゴシック"/>
                          <a:cs typeface="游ゴシック"/>
                        </a:rPr>
                        <a:t>段階的併存</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一度に切り替えられない</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モダン新設＋一定期間クラシック残置（恒久併存は避ける）</a:t>
                      </a:r>
                    </a:p>
                  </a:txBody>
                  <a:tcPr marL="64008" marR="45720" marT="13716" marB="13716" anchor="ctr">
                    <a:solidFill>
                      <a:srgbClr val="FFFFFF"/>
                    </a:solidFill>
                  </a:tcPr>
                </a:tc>
              </a:tr>
            </a:tbl>
          </a:graphicData>
        </a:graphic>
      </p:graphicFrame>
      <p:sp>
        <p:nvSpPr>
          <p:cNvPr id="4" name="TextBox 3"/>
          <p:cNvSpPr txBox="1"/>
          <p:nvPr/>
        </p:nvSpPr>
        <p:spPr>
          <a:xfrm>
            <a:off x="822960" y="5120640"/>
            <a:ext cx="11793855" cy="548640"/>
          </a:xfrm>
          <a:prstGeom prst="rect">
            <a:avLst/>
          </a:prstGeom>
          <a:noFill/>
        </p:spPr>
        <p:txBody>
          <a:bodyPr wrap="square" anchor="t" lIns="0" rIns="0" tIns="0" bIns="0">
            <a:spAutoFit/>
          </a:bodyPr>
          <a:lstStyle/>
          <a:p>
            <a:pPr algn="l">
              <a:lnSpc>
                <a:spcPct val="108000"/>
              </a:lnSpc>
              <a:spcBef>
                <a:spcPts val="0"/>
              </a:spcBef>
              <a:spcAft>
                <a:spcPts val="300"/>
              </a:spcAft>
            </a:pPr>
            <a:r>
              <a:rPr sz="1350" b="0">
                <a:solidFill>
                  <a:srgbClr val="232323"/>
                </a:solidFill>
                <a:latin typeface="游ゴシック"/>
                <a:ea typeface="游ゴシック"/>
                <a:cs typeface="游ゴシック"/>
              </a:rPr>
              <a:t>移行を機に、旧来の深いフォルダ・独自権限を持ち込まず、棲み分け・フラット構造・グループ権限に再設計する。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移行ツール：無償（Microsoft 純正）</a:t>
            </a:r>
          </a:p>
        </p:txBody>
      </p:sp>
      <p:sp>
        <p:nvSpPr>
          <p:cNvPr id="3" name="Rounded Rectangle 2"/>
          <p:cNvSpPr/>
          <p:nvPr/>
        </p:nvSpPr>
        <p:spPr>
          <a:xfrm>
            <a:off x="822960" y="1143000"/>
            <a:ext cx="11793855" cy="19659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00" b="1">
                <a:solidFill>
                  <a:srgbClr val="1B5C80"/>
                </a:solidFill>
                <a:latin typeface="游ゴシック"/>
                <a:ea typeface="游ゴシック"/>
                <a:cs typeface="游ゴシック"/>
              </a:rPr>
              <a:t>SharePoint Migration Tool（SPMT）― 無償</a:t>
            </a:r>
          </a:p>
        </p:txBody>
      </p:sp>
      <p:sp>
        <p:nvSpPr>
          <p:cNvPr id="5" name="TextBox 4"/>
          <p:cNvSpPr txBox="1"/>
          <p:nvPr/>
        </p:nvSpPr>
        <p:spPr>
          <a:xfrm>
            <a:off x="1078992" y="1600200"/>
            <a:ext cx="11336655" cy="1417320"/>
          </a:xfrm>
          <a:prstGeom prst="rect">
            <a:avLst/>
          </a:prstGeom>
          <a:noFill/>
        </p:spPr>
        <p:txBody>
          <a:bodyPr wrap="square" lIns="0" rIns="0" tIns="0" bIns="0">
            <a:spAutoFit/>
          </a:bodyPr>
          <a:lstStyle/>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対応：ファイル共有、SharePoint Server 2010–2019 → SPO/OneDrive</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メリット：無料、モダン構造へ変換可、メタデータ・履歴移行、CSV/JSON一括</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デメリット：一元管理ダッシュボードがなく各ジョブを個別監視（大規模/多拠点は手間）</a:t>
            </a:r>
          </a:p>
        </p:txBody>
      </p:sp>
      <p:sp>
        <p:nvSpPr>
          <p:cNvPr id="6" name="Rounded Rectangle 5"/>
          <p:cNvSpPr/>
          <p:nvPr/>
        </p:nvSpPr>
        <p:spPr>
          <a:xfrm>
            <a:off x="822960" y="3520440"/>
            <a:ext cx="11793855" cy="19659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63016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00" b="1">
                <a:solidFill>
                  <a:srgbClr val="1B5C80"/>
                </a:solidFill>
                <a:latin typeface="游ゴシック"/>
                <a:ea typeface="游ゴシック"/>
                <a:cs typeface="游ゴシック"/>
              </a:rPr>
              <a:t>Migration Manager（管理センター）― 無償</a:t>
            </a:r>
          </a:p>
        </p:txBody>
      </p:sp>
      <p:sp>
        <p:nvSpPr>
          <p:cNvPr id="8" name="TextBox 7"/>
          <p:cNvSpPr txBox="1"/>
          <p:nvPr/>
        </p:nvSpPr>
        <p:spPr>
          <a:xfrm>
            <a:off x="1078992" y="3977640"/>
            <a:ext cx="11336655" cy="1417320"/>
          </a:xfrm>
          <a:prstGeom prst="rect">
            <a:avLst/>
          </a:prstGeom>
          <a:noFill/>
        </p:spPr>
        <p:txBody>
          <a:bodyPr wrap="square" lIns="0" rIns="0" tIns="0" bIns="0">
            <a:spAutoFit/>
          </a:bodyPr>
          <a:lstStyle/>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対応：ファイル共有・オンプレSP・各種クラウド。エージェント型</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メリット：複数エージェントで並列分散＋一元ダッシュボード。大規模の現実解</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デメリット：権限マッピング等の柔軟性はサードパーティに劣る面</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移行ツール：有償（第三者製）</a:t>
            </a:r>
          </a:p>
        </p:txBody>
      </p:sp>
      <p:graphicFrame>
        <p:nvGraphicFramePr>
          <p:cNvPr id="3" name="Table 2"/>
          <p:cNvGraphicFramePr>
            <a:graphicFrameLocks noGrp="1"/>
          </p:cNvGraphicFramePr>
          <p:nvPr/>
        </p:nvGraphicFramePr>
        <p:xfrm>
          <a:off x="822960" y="1143000"/>
          <a:ext cx="11793854" cy="2212848"/>
        </p:xfrm>
        <a:graphic>
          <a:graphicData uri="http://schemas.openxmlformats.org/drawingml/2006/table">
            <a:tbl>
              <a:tblPr firstRow="1">
                <a:tableStyleId>{5C22544A-7EE6-4342-B048-85BDC9FD1C3A}</a:tableStyleId>
              </a:tblPr>
              <a:tblGrid>
                <a:gridCol w="3538156"/>
                <a:gridCol w="5189296"/>
                <a:gridCol w="3066402"/>
              </a:tblGrid>
              <a:tr h="402336">
                <a:tc>
                  <a:txBody>
                    <a:bodyPr wrap="square"/>
                    <a:lstStyle/>
                    <a:p>
                      <a:pPr>
                        <a:lnSpc>
                          <a:spcPct val="100000"/>
                        </a:lnSpc>
                      </a:pPr>
                      <a:r>
                        <a:rPr sz="1250" b="1">
                          <a:solidFill>
                            <a:srgbClr val="FFFFFF"/>
                          </a:solidFill>
                          <a:latin typeface="游ゴシック"/>
                          <a:ea typeface="游ゴシック"/>
                          <a:cs typeface="游ゴシック"/>
                        </a:rPr>
                        <a:t>ツール</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費用（参考・変動）</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主な強み／弱み</a:t>
                      </a:r>
                    </a:p>
                  </a:txBody>
                  <a:tcPr marL="64008" marR="45720" marT="13716" marB="13716" anchor="ctr">
                    <a:solidFill>
                      <a:srgbClr val="1B5C80"/>
                    </a:solidFill>
                  </a:tcPr>
                </a:tc>
              </a:tr>
              <a:tr h="603504">
                <a:tc>
                  <a:txBody>
                    <a:bodyPr wrap="square"/>
                    <a:lstStyle/>
                    <a:p>
                      <a:pPr>
                        <a:lnSpc>
                          <a:spcPct val="100000"/>
                        </a:lnSpc>
                      </a:pPr>
                      <a:r>
                        <a:rPr sz="1250" b="0">
                          <a:solidFill>
                            <a:srgbClr val="232323"/>
                          </a:solidFill>
                          <a:latin typeface="游ゴシック"/>
                          <a:ea typeface="游ゴシック"/>
                          <a:cs typeface="游ゴシック"/>
                        </a:rPr>
                        <a:t>ShareGate</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$5,995〜$17,995/年</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高速・精緻な権限/メタデータ移行、UI良好／超大規模はバッチ分割前提</a:t>
                      </a:r>
                    </a:p>
                  </a:txBody>
                  <a:tcPr marL="64008" marR="45720" marT="13716" marB="13716" anchor="ctr">
                    <a:solidFill>
                      <a:srgbClr val="FFFFFF"/>
                    </a:solidFill>
                  </a:tcPr>
                </a:tc>
              </a:tr>
              <a:tr h="603504">
                <a:tc>
                  <a:txBody>
                    <a:bodyPr wrap="square"/>
                    <a:lstStyle/>
                    <a:p>
                      <a:pPr>
                        <a:lnSpc>
                          <a:spcPct val="100000"/>
                        </a:lnSpc>
                      </a:pPr>
                      <a:r>
                        <a:rPr sz="1250" b="0">
                          <a:solidFill>
                            <a:srgbClr val="232323"/>
                          </a:solidFill>
                          <a:latin typeface="游ゴシック"/>
                          <a:ea typeface="游ゴシック"/>
                          <a:cs typeface="游ゴシック"/>
                        </a:rPr>
                        <a:t>AvePoint Fly</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非公開・要見積もり</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高忠実度・大容量・ガバナンス機能／導入が複雑</a:t>
                      </a:r>
                    </a:p>
                  </a:txBody>
                  <a:tcPr marL="64008" marR="45720" marT="13716" marB="13716" anchor="ctr">
                    <a:solidFill>
                      <a:srgbClr val="F3F9FB"/>
                    </a:solidFill>
                  </a:tcPr>
                </a:tc>
              </a:tr>
              <a:tr h="603504">
                <a:tc>
                  <a:txBody>
                    <a:bodyPr wrap="square"/>
                    <a:lstStyle/>
                    <a:p>
                      <a:pPr>
                        <a:lnSpc>
                          <a:spcPct val="100000"/>
                        </a:lnSpc>
                      </a:pPr>
                      <a:r>
                        <a:rPr sz="1250" b="0">
                          <a:solidFill>
                            <a:srgbClr val="232323"/>
                          </a:solidFill>
                          <a:latin typeface="游ゴシック"/>
                          <a:ea typeface="游ゴシック"/>
                          <a:cs typeface="游ゴシック"/>
                        </a:rPr>
                        <a:t>Quest Content Matrix</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非公開・要見積もり</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複雑・大規模・ゼロダウンタイム／学習曲線が高い</a:t>
                      </a:r>
                    </a:p>
                  </a:txBody>
                  <a:tcPr marL="64008" marR="45720" marT="13716" marB="13716" anchor="ctr">
                    <a:solidFill>
                      <a:srgbClr val="FFFFFF"/>
                    </a:solidFill>
                  </a:tcPr>
                </a:tc>
              </a:tr>
            </a:tbl>
          </a:graphicData>
        </a:graphic>
      </p:graphicFrame>
      <p:sp>
        <p:nvSpPr>
          <p:cNvPr id="4" name="Rounded Rectangle 3"/>
          <p:cNvSpPr/>
          <p:nvPr/>
        </p:nvSpPr>
        <p:spPr>
          <a:xfrm>
            <a:off x="822960" y="4297680"/>
            <a:ext cx="11793855" cy="91440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407408"/>
            <a:ext cx="11391519" cy="694944"/>
          </a:xfrm>
          <a:prstGeom prst="rect">
            <a:avLst/>
          </a:prstGeom>
          <a:noFill/>
        </p:spPr>
        <p:txBody>
          <a:bodyPr wrap="square" anchor="ctr" lIns="0" rIns="0" tIns="0" bIns="0">
            <a:spAutoFit/>
          </a:bodyPr>
          <a:lstStyle/>
          <a:p>
            <a:pPr algn="l">
              <a:lnSpc>
                <a:spcPct val="120000"/>
              </a:lnSpc>
            </a:pPr>
            <a:r>
              <a:rPr sz="1250" b="1">
                <a:solidFill>
                  <a:srgbClr val="B0432B"/>
                </a:solidFill>
                <a:latin typeface="游ゴシック"/>
                <a:ea typeface="游ゴシック"/>
                <a:cs typeface="游ゴシック"/>
              </a:rPr>
              <a:t>費用の注意　</a:t>
            </a:r>
            <a:r>
              <a:rPr sz="1250" b="0">
                <a:solidFill>
                  <a:srgbClr val="232323"/>
                </a:solidFill>
                <a:latin typeface="游ゴシック"/>
                <a:ea typeface="游ゴシック"/>
                <a:cs typeface="游ゴシック"/>
              </a:rPr>
              <a:t>有償ツールは変動が大きく多くが要見積もり。金額は調査時点の参考値。正式額は各ベンダー／国内代理店の見積もりで確認を。Mover は Migration Manager に統合済み。</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移行ツール選定の考え方</a:t>
            </a:r>
          </a:p>
        </p:txBody>
      </p:sp>
      <p:pic>
        <p:nvPicPr>
          <p:cNvPr id="3" name="Picture 2" descr="mig.png"/>
          <p:cNvPicPr>
            <a:picLocks noChangeAspect="1"/>
          </p:cNvPicPr>
          <p:nvPr/>
        </p:nvPicPr>
        <p:blipFill>
          <a:blip r:embed="rId2"/>
          <a:stretch>
            <a:fillRect/>
          </a:stretch>
        </p:blipFill>
        <p:spPr>
          <a:xfrm>
            <a:off x="3972014" y="1143000"/>
            <a:ext cx="5495746" cy="4114800"/>
          </a:xfrm>
          <a:prstGeom prst="rect">
            <a:avLst/>
          </a:prstGeom>
        </p:spPr>
      </p:pic>
      <p:sp>
        <p:nvSpPr>
          <p:cNvPr id="4" name="Rounded Rectangle 3"/>
          <p:cNvSpPr/>
          <p:nvPr/>
        </p:nvSpPr>
        <p:spPr>
          <a:xfrm>
            <a:off x="822960" y="5532120"/>
            <a:ext cx="11793855" cy="82296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5641848"/>
            <a:ext cx="11391519" cy="60350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進め方　</a:t>
            </a:r>
            <a:r>
              <a:rPr sz="1300" b="0">
                <a:solidFill>
                  <a:srgbClr val="232323"/>
                </a:solidFill>
                <a:latin typeface="游ゴシック"/>
                <a:ea typeface="游ゴシック"/>
                <a:cs typeface="游ゴシック"/>
              </a:rPr>
              <a:t>「棚卸し→クレンジング→PoC→本移行」。まず無償ツールで小さく試す。不要データを削れば時間もライセンス費用も圧縮できる。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フェーズ1 まとめ</a:t>
            </a:r>
          </a:p>
        </p:txBody>
      </p:sp>
      <p:sp>
        <p:nvSpPr>
          <p:cNvPr id="3" name="TextBox 2"/>
          <p:cNvSpPr txBox="1"/>
          <p:nvPr/>
        </p:nvSpPr>
        <p:spPr>
          <a:xfrm>
            <a:off x="822960" y="1143000"/>
            <a:ext cx="11793855" cy="3931920"/>
          </a:xfrm>
          <a:prstGeom prst="rect">
            <a:avLst/>
          </a:prstGeom>
          <a:noFill/>
        </p:spPr>
        <p:txBody>
          <a:bodyPr wrap="square" lIns="0" rIns="0" tIns="0" bIns="0">
            <a:spAutoFit/>
          </a:bodyPr>
          <a:lstStyle/>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棲み分けを先に決める：</a:t>
            </a:r>
            <a:r>
              <a:rPr sz="1600" b="0">
                <a:solidFill>
                  <a:srgbClr val="232323"/>
                </a:solidFill>
                <a:latin typeface="游ゴシック"/>
                <a:ea typeface="游ゴシック"/>
                <a:cs typeface="游ゴシック"/>
              </a:rPr>
              <a:t>個人=OneDrive／チーム共有=チームサイト／全社発信=コミュニケーションサイト</a:t>
            </a:r>
          </a:p>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サイトは基本2択：</a:t>
            </a:r>
            <a:r>
              <a:rPr sz="1600" b="0">
                <a:solidFill>
                  <a:srgbClr val="232323"/>
                </a:solidFill>
                <a:latin typeface="游ゴシック"/>
                <a:ea typeface="游ゴシック"/>
                <a:cs typeface="游ゴシック"/>
              </a:rPr>
              <a:t>Teams チーム か コミュニケーションサイト。クラシック・サブサイトは作らない</a:t>
            </a:r>
          </a:p>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権限はグループで：</a:t>
            </a:r>
            <a:r>
              <a:rPr sz="1600" b="0">
                <a:solidFill>
                  <a:srgbClr val="232323"/>
                </a:solidFill>
                <a:latin typeface="游ゴシック"/>
                <a:ea typeface="游ゴシック"/>
                <a:cs typeface="游ゴシック"/>
              </a:rPr>
              <a:t>個人直付けを避け、境界はサイトで切り、継承は壊さない</a:t>
            </a:r>
          </a:p>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移行は影響調査を先に：</a:t>
            </a:r>
            <a:r>
              <a:rPr sz="1600" b="0">
                <a:solidFill>
                  <a:srgbClr val="232323"/>
                </a:solidFill>
                <a:latin typeface="游ゴシック"/>
                <a:ea typeface="游ゴシック"/>
                <a:cs typeface="游ゴシック"/>
              </a:rPr>
              <a:t>2013WF・InfoPath を棚卸し。無償の SPMT／Migration Manager を基本に</a:t>
            </a:r>
          </a:p>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フェーズ1 は概ね E3 の範囲で実現可能</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rPr>
                <a:latin typeface="游ゴシック"/>
              </a:rPr>
              <a:t>Phase 2 ｜ セキュリティ：ラベル・監査・情報保護</a:t>
            </a:r>
          </a:p>
        </p:txBody>
      </p:sp>
      <p:sp>
        <p:nvSpPr>
          <p:cNvPr id="4" name="TextBox 3"/>
          <p:cNvSpPr txBox="1"/>
          <p:nvPr/>
        </p:nvSpPr>
        <p:spPr>
          <a:xfrm>
            <a:off x="1097280" y="5138928"/>
            <a:ext cx="11247120" cy="384048"/>
          </a:xfrm>
          <a:prstGeom prst="rect">
            <a:avLst/>
          </a:prstGeom>
          <a:noFill/>
        </p:spPr>
        <p:txBody>
          <a:bodyPr wrap="square" anchor="ctr" lIns="0" rIns="0" tIns="0" bIns="0">
            <a:spAutoFit/>
          </a:bodyPr>
          <a:lstStyle/>
          <a:p>
            <a:pPr algn="l">
              <a:lnSpc>
                <a:spcPct val="108000"/>
              </a:lnSpc>
              <a:spcBef>
                <a:spcPts val="0"/>
              </a:spcBef>
              <a:spcAft>
                <a:spcPts val="300"/>
              </a:spcAft>
            </a:pPr>
            <a:r>
              <a:rPr sz="1550" b="0">
                <a:solidFill>
                  <a:srgbClr val="1B5C80"/>
                </a:solidFill>
                <a:latin typeface="游ゴシック"/>
                <a:ea typeface="游ゴシック"/>
                <a:cs typeface="游ゴシック"/>
              </a:rPr>
              <a:t>秘密度ラベル・DLP・監査・条件付きアクセス（E3で着手／E5で拡張）</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フェーズ2 でできることの全体像</a:t>
            </a:r>
          </a:p>
        </p:txBody>
      </p:sp>
      <p:sp>
        <p:nvSpPr>
          <p:cNvPr id="3" name="Rounded Rectangle 2"/>
          <p:cNvSpPr/>
          <p:nvPr/>
        </p:nvSpPr>
        <p:spPr>
          <a:xfrm>
            <a:off x="822960" y="1051560"/>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51560"/>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51560"/>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51560"/>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pic>
        <p:nvPicPr>
          <p:cNvPr id="7" name="Picture 6" descr="p2map.png"/>
          <p:cNvPicPr>
            <a:picLocks noChangeAspect="1"/>
          </p:cNvPicPr>
          <p:nvPr/>
        </p:nvPicPr>
        <p:blipFill>
          <a:blip r:embed="rId2"/>
          <a:stretch>
            <a:fillRect/>
          </a:stretch>
        </p:blipFill>
        <p:spPr>
          <a:xfrm>
            <a:off x="4735278" y="1554480"/>
            <a:ext cx="3969219" cy="448056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追加費用の要否ひとめ表（フェーズ2）</a:t>
            </a:r>
          </a:p>
        </p:txBody>
      </p:sp>
      <p:sp>
        <p:nvSpPr>
          <p:cNvPr id="3" name="Rounded Rectangle 2"/>
          <p:cNvSpPr/>
          <p:nvPr/>
        </p:nvSpPr>
        <p:spPr>
          <a:xfrm>
            <a:off x="822960" y="1024128"/>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24128"/>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24128"/>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24128"/>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graphicFrame>
        <p:nvGraphicFramePr>
          <p:cNvPr id="7" name="Table 6"/>
          <p:cNvGraphicFramePr>
            <a:graphicFrameLocks noGrp="1"/>
          </p:cNvGraphicFramePr>
          <p:nvPr/>
        </p:nvGraphicFramePr>
        <p:xfrm>
          <a:off x="822960" y="1463040"/>
          <a:ext cx="11793854" cy="4910328"/>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できること</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追加費用</a:t>
                      </a:r>
                    </a:p>
                  </a:txBody>
                  <a:tcPr marL="64008" marR="45720" marT="13716" marB="13716" anchor="ctr">
                    <a:solidFill>
                      <a:srgbClr val="1B5C80"/>
                    </a:solidFill>
                  </a:tcPr>
                </a:tc>
              </a:tr>
              <a:tr h="502920">
                <a:tc>
                  <a:txBody>
                    <a:bodyPr wrap="square"/>
                    <a:lstStyle/>
                    <a:p>
                      <a:pPr>
                        <a:lnSpc>
                          <a:spcPct val="100000"/>
                        </a:lnSpc>
                      </a:pPr>
                      <a:r>
                        <a:rPr sz="1250" b="0">
                          <a:solidFill>
                            <a:srgbClr val="232323"/>
                          </a:solidFill>
                          <a:latin typeface="游ゴシック"/>
                          <a:ea typeface="游ゴシック"/>
                          <a:cs typeface="游ゴシック"/>
                        </a:rPr>
                        <a:t>監査ログ（Standard・180日）</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操作の記録を残し調査</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秘密度ラベル（手動・暗号化）</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ファイルに社外秘を付け守る</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DLP（SPO/OneDrive/Exchange）</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機微情報の外部共有をブロック</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条件付きアクセス（基本）／MFA</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入口を固める（Entra P1 内包）</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保持（手動・場所ベース）</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規程に沿って保持・自動削除</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秘密度ラベルの自動付与</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中身を判定し自動でラベル</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要追加（E5）</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DLP（Teamsチャット本文）／エンドポイントDLP</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チャット・PC操作の制御</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要追加（E5）</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監査ログ Premium／保持の自動適用／eDiscovery Premium</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長期保持・内容ベース自動化</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要追加（E5系）</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リスクベースCA／アクセスレビュー</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動的制御・ゲスト自動棚卸し</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要追加（E5＝P2）</a:t>
                      </a:r>
                    </a:p>
                  </a:txBody>
                  <a:tcPr marL="64008" marR="45720" marT="13716" marB="13716" anchor="ctr">
                    <a:solidFill>
                      <a:srgbClr val="FAE5E3"/>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情報保護の全体像：可視化→分類→保護</a:t>
            </a:r>
          </a:p>
        </p:txBody>
      </p:sp>
      <p:pic>
        <p:nvPicPr>
          <p:cNvPr id="3" name="Picture 2" descr="protect3.png"/>
          <p:cNvPicPr>
            <a:picLocks noChangeAspect="1"/>
          </p:cNvPicPr>
          <p:nvPr/>
        </p:nvPicPr>
        <p:blipFill>
          <a:blip r:embed="rId2"/>
          <a:stretch>
            <a:fillRect/>
          </a:stretch>
        </p:blipFill>
        <p:spPr>
          <a:xfrm>
            <a:off x="862045" y="1143000"/>
            <a:ext cx="11715684" cy="3108960"/>
          </a:xfrm>
          <a:prstGeom prst="rect">
            <a:avLst/>
          </a:prstGeom>
        </p:spPr>
      </p:pic>
      <p:sp>
        <p:nvSpPr>
          <p:cNvPr id="4" name="TextBox 3"/>
          <p:cNvSpPr txBox="1"/>
          <p:nvPr/>
        </p:nvSpPr>
        <p:spPr>
          <a:xfrm>
            <a:off x="822960" y="4846320"/>
            <a:ext cx="11793855" cy="548640"/>
          </a:xfrm>
          <a:prstGeom prst="rect">
            <a:avLst/>
          </a:prstGeom>
          <a:noFill/>
        </p:spPr>
        <p:txBody>
          <a:bodyPr wrap="square" anchor="t" lIns="0" rIns="0" tIns="0" bIns="0">
            <a:spAutoFit/>
          </a:bodyPr>
          <a:lstStyle/>
          <a:p>
            <a:pPr algn="ctr">
              <a:lnSpc>
                <a:spcPct val="108000"/>
              </a:lnSpc>
              <a:spcBef>
                <a:spcPts val="0"/>
              </a:spcBef>
              <a:spcAft>
                <a:spcPts val="300"/>
              </a:spcAft>
            </a:pPr>
            <a:r>
              <a:rPr sz="1400" b="0">
                <a:solidFill>
                  <a:srgbClr val="232323"/>
                </a:solidFill>
                <a:latin typeface="游ゴシック"/>
                <a:ea typeface="游ゴシック"/>
                <a:cs typeface="游ゴシック"/>
              </a:rPr>
              <a:t>緩い制御から始めて反復的に精度を上げる。①可視化・②手動分類・③基本DLP までは E3 で着手可能。</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秘密度ラベル：社外秘・極秘のタグ付け</a:t>
            </a:r>
          </a:p>
        </p:txBody>
      </p:sp>
      <p:sp>
        <p:nvSpPr>
          <p:cNvPr id="3" name="Rounded Rectangle 2"/>
          <p:cNvSpPr/>
          <p:nvPr/>
        </p:nvSpPr>
        <p:spPr>
          <a:xfrm>
            <a:off x="822960" y="1143000"/>
            <a:ext cx="11793855" cy="9144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69494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ラベルと権限の違い　</a:t>
            </a:r>
            <a:r>
              <a:rPr sz="1300" b="0">
                <a:solidFill>
                  <a:srgbClr val="232323"/>
                </a:solidFill>
                <a:latin typeface="游ゴシック"/>
                <a:ea typeface="游ゴシック"/>
                <a:cs typeface="游ゴシック"/>
              </a:rPr>
              <a:t>権限＝“その置き場所に誰が入れるか”。秘密度ラベル＝“ファイル自体”に保護を付与し、持ち出し後も暗号化・制御が効き続ける。両者は補完関係。</a:t>
            </a:r>
          </a:p>
        </p:txBody>
      </p:sp>
      <p:graphicFrame>
        <p:nvGraphicFramePr>
          <p:cNvPr id="5" name="Table 4"/>
          <p:cNvGraphicFramePr>
            <a:graphicFrameLocks noGrp="1"/>
          </p:cNvGraphicFramePr>
          <p:nvPr/>
        </p:nvGraphicFramePr>
        <p:xfrm>
          <a:off x="822960" y="2286000"/>
          <a:ext cx="11793854" cy="2432304"/>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300" b="1">
                          <a:solidFill>
                            <a:srgbClr val="FFFFFF"/>
                          </a:solidFill>
                          <a:latin typeface="游ゴシック"/>
                          <a:ea typeface="游ゴシック"/>
                          <a:cs typeface="游ゴシック"/>
                        </a:rPr>
                        <a:t>ラベル</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想定</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保護の例</a:t>
                      </a:r>
                    </a:p>
                  </a:txBody>
                  <a:tcPr marL="64008" marR="45720" marT="13716" marB="13716" anchor="ctr">
                    <a:solidFill>
                      <a:srgbClr val="1B5C80"/>
                    </a:solidFill>
                  </a:tcPr>
                </a:tc>
              </a:tr>
              <a:tr h="512064">
                <a:tc>
                  <a:txBody>
                    <a:bodyPr wrap="square"/>
                    <a:lstStyle/>
                    <a:p>
                      <a:pPr>
                        <a:lnSpc>
                          <a:spcPct val="100000"/>
                        </a:lnSpc>
                      </a:pPr>
                      <a:r>
                        <a:rPr sz="1300" b="0">
                          <a:solidFill>
                            <a:srgbClr val="232323"/>
                          </a:solidFill>
                          <a:latin typeface="游ゴシック"/>
                          <a:ea typeface="游ゴシック"/>
                          <a:cs typeface="游ゴシック"/>
                        </a:rPr>
                        <a:t>公開</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対外公開してよい</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保護なし</a:t>
                      </a:r>
                    </a:p>
                  </a:txBody>
                  <a:tcPr marL="64008" marR="45720" marT="13716" marB="13716" anchor="ctr">
                    <a:solidFill>
                      <a:srgbClr val="FFFFFF"/>
                    </a:solidFill>
                  </a:tcPr>
                </a:tc>
              </a:tr>
              <a:tr h="512064">
                <a:tc>
                  <a:txBody>
                    <a:bodyPr wrap="square"/>
                    <a:lstStyle/>
                    <a:p>
                      <a:pPr>
                        <a:lnSpc>
                          <a:spcPct val="100000"/>
                        </a:lnSpc>
                      </a:pPr>
                      <a:r>
                        <a:rPr sz="1300" b="0">
                          <a:solidFill>
                            <a:srgbClr val="232323"/>
                          </a:solidFill>
                          <a:latin typeface="游ゴシック"/>
                          <a:ea typeface="游ゴシック"/>
                          <a:cs typeface="游ゴシック"/>
                        </a:rPr>
                        <a:t>社内限り</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社員なら閲覧可</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外部共有を警告／制限</a:t>
                      </a:r>
                    </a:p>
                  </a:txBody>
                  <a:tcPr marL="64008" marR="45720" marT="13716" marB="13716" anchor="ctr">
                    <a:solidFill>
                      <a:srgbClr val="F3F9FB"/>
                    </a:solidFill>
                  </a:tcPr>
                </a:tc>
              </a:tr>
              <a:tr h="512064">
                <a:tc>
                  <a:txBody>
                    <a:bodyPr wrap="square"/>
                    <a:lstStyle/>
                    <a:p>
                      <a:pPr>
                        <a:lnSpc>
                          <a:spcPct val="100000"/>
                        </a:lnSpc>
                      </a:pPr>
                      <a:r>
                        <a:rPr sz="1300" b="0">
                          <a:solidFill>
                            <a:srgbClr val="232323"/>
                          </a:solidFill>
                          <a:latin typeface="游ゴシック"/>
                          <a:ea typeface="游ゴシック"/>
                          <a:cs typeface="游ゴシック"/>
                        </a:rPr>
                        <a:t>社外秘</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部門・関係者限定</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暗号化（社内限定）・外部共有ブロック</a:t>
                      </a:r>
                    </a:p>
                  </a:txBody>
                  <a:tcPr marL="64008" marR="45720" marT="13716" marB="13716" anchor="ctr">
                    <a:solidFill>
                      <a:srgbClr val="FFFFFF"/>
                    </a:solidFill>
                  </a:tcPr>
                </a:tc>
              </a:tr>
              <a:tr h="512064">
                <a:tc>
                  <a:txBody>
                    <a:bodyPr wrap="square"/>
                    <a:lstStyle/>
                    <a:p>
                      <a:pPr>
                        <a:lnSpc>
                          <a:spcPct val="100000"/>
                        </a:lnSpc>
                      </a:pPr>
                      <a:r>
                        <a:rPr sz="1300" b="0">
                          <a:solidFill>
                            <a:srgbClr val="232323"/>
                          </a:solidFill>
                          <a:latin typeface="游ゴシック"/>
                          <a:ea typeface="游ゴシック"/>
                          <a:cs typeface="游ゴシック"/>
                        </a:rPr>
                        <a:t>極秘</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ごく一部の限定メンバー</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強い暗号化・透かし・コピー/印刷/DL 制限</a:t>
                      </a:r>
                    </a:p>
                  </a:txBody>
                  <a:tcPr marL="64008" marR="45720" marT="13716" marB="13716" anchor="ctr">
                    <a:solidFill>
                      <a:srgbClr val="F3F9FB"/>
                    </a:solidFill>
                  </a:tcPr>
                </a:tc>
              </a:tr>
            </a:tbl>
          </a:graphicData>
        </a:graphic>
      </p:graphicFrame>
      <p:sp>
        <p:nvSpPr>
          <p:cNvPr id="6" name="TextBox 5"/>
          <p:cNvSpPr txBox="1"/>
          <p:nvPr/>
        </p:nvSpPr>
        <p:spPr>
          <a:xfrm>
            <a:off x="822960" y="5120640"/>
            <a:ext cx="11793855" cy="457200"/>
          </a:xfrm>
          <a:prstGeom prst="rect">
            <a:avLst/>
          </a:prstGeom>
          <a:noFill/>
        </p:spPr>
        <p:txBody>
          <a:bodyPr wrap="square" anchor="t" lIns="0" rIns="0" tIns="0" bIns="0">
            <a:spAutoFit/>
          </a:bodyPr>
          <a:lstStyle/>
          <a:p>
            <a:pPr algn="l">
              <a:lnSpc>
                <a:spcPct val="108000"/>
              </a:lnSpc>
              <a:spcBef>
                <a:spcPts val="0"/>
              </a:spcBef>
              <a:spcAft>
                <a:spcPts val="300"/>
              </a:spcAft>
            </a:pPr>
            <a:r>
              <a:rPr sz="1300" b="0">
                <a:solidFill>
                  <a:srgbClr val="5C636A"/>
                </a:solidFill>
                <a:latin typeface="游ゴシック"/>
                <a:ea typeface="游ゴシック"/>
                <a:cs typeface="游ゴシック"/>
              </a:rPr>
              <a:t>まず4段階前後・直感的な名称から。ラベルの削除・格下げ時に理由入力を必須にすると監査に有効。</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手動/自動付与・コンテナラベル・DLP</a:t>
            </a:r>
          </a:p>
        </p:txBody>
      </p:sp>
      <p:graphicFrame>
        <p:nvGraphicFramePr>
          <p:cNvPr id="3" name="Table 2"/>
          <p:cNvGraphicFramePr>
            <a:graphicFrameLocks noGrp="1"/>
          </p:cNvGraphicFramePr>
          <p:nvPr/>
        </p:nvGraphicFramePr>
        <p:xfrm>
          <a:off x="822960" y="1143000"/>
          <a:ext cx="11793854" cy="1755648"/>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300" b="1">
                          <a:solidFill>
                            <a:srgbClr val="FFFFFF"/>
                          </a:solidFill>
                          <a:latin typeface="游ゴシック"/>
                          <a:ea typeface="游ゴシック"/>
                          <a:cs typeface="游ゴシック"/>
                        </a:rPr>
                        <a:t>方式</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内容</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457200">
                <a:tc>
                  <a:txBody>
                    <a:bodyPr wrap="square"/>
                    <a:lstStyle/>
                    <a:p>
                      <a:pPr>
                        <a:lnSpc>
                          <a:spcPct val="100000"/>
                        </a:lnSpc>
                      </a:pPr>
                      <a:r>
                        <a:rPr sz="1300" b="0">
                          <a:solidFill>
                            <a:srgbClr val="232323"/>
                          </a:solidFill>
                          <a:latin typeface="游ゴシック"/>
                          <a:ea typeface="游ゴシック"/>
                          <a:cs typeface="游ゴシック"/>
                        </a:rPr>
                        <a:t>手動付与</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Office リボンから選択。暗号化も可</a:t>
                      </a:r>
                    </a:p>
                  </a:txBody>
                  <a:tcPr marL="64008" marR="45720" marT="13716" marB="13716" anchor="ctr">
                    <a:solidFill>
                      <a:srgbClr val="FFFFFF"/>
                    </a:solidFill>
                  </a:tcPr>
                </a:tc>
                <a:tc>
                  <a:txBody>
                    <a:bodyPr wrap="square"/>
                    <a:lstStyle/>
                    <a:p>
                      <a:pPr>
                        <a:lnSpc>
                          <a:spcPct val="100000"/>
                        </a:lnSpc>
                      </a:pPr>
                      <a:r>
                        <a:rPr sz="130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457200">
                <a:tc>
                  <a:txBody>
                    <a:bodyPr wrap="square"/>
                    <a:lstStyle/>
                    <a:p>
                      <a:pPr>
                        <a:lnSpc>
                          <a:spcPct val="100000"/>
                        </a:lnSpc>
                      </a:pPr>
                      <a:r>
                        <a:rPr sz="1300" b="0">
                          <a:solidFill>
                            <a:srgbClr val="232323"/>
                          </a:solidFill>
                          <a:latin typeface="游ゴシック"/>
                          <a:ea typeface="游ゴシック"/>
                          <a:cs typeface="游ゴシック"/>
                        </a:rPr>
                        <a:t>既定・必須ラベル</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新規に既定設定・未ラベル保存を禁止</a:t>
                      </a:r>
                    </a:p>
                  </a:txBody>
                  <a:tcPr marL="64008" marR="45720" marT="13716" marB="13716" anchor="ctr">
                    <a:solidFill>
                      <a:srgbClr val="F3F9FB"/>
                    </a:solidFill>
                  </a:tcPr>
                </a:tc>
                <a:tc>
                  <a:txBody>
                    <a:bodyPr wrap="square"/>
                    <a:lstStyle/>
                    <a:p>
                      <a:pPr>
                        <a:lnSpc>
                          <a:spcPct val="100000"/>
                        </a:lnSpc>
                      </a:pPr>
                      <a:r>
                        <a:rPr sz="130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457200">
                <a:tc>
                  <a:txBody>
                    <a:bodyPr wrap="square"/>
                    <a:lstStyle/>
                    <a:p>
                      <a:pPr>
                        <a:lnSpc>
                          <a:spcPct val="100000"/>
                        </a:lnSpc>
                      </a:pPr>
                      <a:r>
                        <a:rPr sz="1300" b="0">
                          <a:solidFill>
                            <a:srgbClr val="232323"/>
                          </a:solidFill>
                          <a:latin typeface="游ゴシック"/>
                          <a:ea typeface="游ゴシック"/>
                          <a:cs typeface="游ゴシック"/>
                        </a:rPr>
                        <a:t>自動付与</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内容を検知して自動でラベル</a:t>
                      </a:r>
                    </a:p>
                  </a:txBody>
                  <a:tcPr marL="64008" marR="45720" marT="13716" marB="13716" anchor="ctr">
                    <a:solidFill>
                      <a:srgbClr val="FFFFFF"/>
                    </a:solidFill>
                  </a:tcPr>
                </a:tc>
                <a:tc>
                  <a:txBody>
                    <a:bodyPr wrap="square"/>
                    <a:lstStyle/>
                    <a:p>
                      <a:pPr>
                        <a:lnSpc>
                          <a:spcPct val="100000"/>
                        </a:lnSpc>
                      </a:pPr>
                      <a:r>
                        <a:rPr sz="1300" b="1">
                          <a:solidFill>
                            <a:srgbClr val="B0432B"/>
                          </a:solidFill>
                          <a:latin typeface="游ゴシック"/>
                          <a:ea typeface="游ゴシック"/>
                          <a:cs typeface="游ゴシック"/>
                        </a:rPr>
                        <a:t>要追加（E5）</a:t>
                      </a:r>
                    </a:p>
                  </a:txBody>
                  <a:tcPr marL="64008" marR="45720" marT="13716" marB="13716" anchor="ctr">
                    <a:solidFill>
                      <a:srgbClr val="FAE5E3"/>
                    </a:solidFill>
                  </a:tcPr>
                </a:tc>
              </a:tr>
            </a:tbl>
          </a:graphicData>
        </a:graphic>
      </p:graphicFrame>
      <p:sp>
        <p:nvSpPr>
          <p:cNvPr id="4" name="Rounded Rectangle 3"/>
          <p:cNvSpPr/>
          <p:nvPr/>
        </p:nvSpPr>
        <p:spPr>
          <a:xfrm>
            <a:off x="822960" y="3200400"/>
            <a:ext cx="11793855" cy="13716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33101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00" b="1">
                <a:solidFill>
                  <a:srgbClr val="1B5C80"/>
                </a:solidFill>
                <a:latin typeface="游ゴシック"/>
                <a:ea typeface="游ゴシック"/>
                <a:cs typeface="游ゴシック"/>
              </a:rPr>
              <a:t>コンテナラベル（サイト/Teams/グループ）</a:t>
            </a:r>
          </a:p>
        </p:txBody>
      </p:sp>
      <p:sp>
        <p:nvSpPr>
          <p:cNvPr id="6" name="TextBox 5"/>
          <p:cNvSpPr txBox="1"/>
          <p:nvPr/>
        </p:nvSpPr>
        <p:spPr>
          <a:xfrm>
            <a:off x="1078992" y="3657600"/>
            <a:ext cx="11336655" cy="822960"/>
          </a:xfrm>
          <a:prstGeom prst="rect">
            <a:avLst/>
          </a:prstGeom>
          <a:noFill/>
        </p:spPr>
        <p:txBody>
          <a:bodyPr wrap="square" lIns="0" rIns="0" tIns="0" bIns="0">
            <a:spAutoFit/>
          </a:bodyPr>
          <a:lstStyle/>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プライバシー（公開/非公開）・外部共有可否・非管理デバイス制限を一括制御</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フェーズ1で機密を別サイトに分けておくと、サイト単位でまとめて強く保護できる</a:t>
            </a:r>
          </a:p>
        </p:txBody>
      </p:sp>
      <p:sp>
        <p:nvSpPr>
          <p:cNvPr id="7" name="Rounded Rectangle 6"/>
          <p:cNvSpPr/>
          <p:nvPr/>
        </p:nvSpPr>
        <p:spPr>
          <a:xfrm>
            <a:off x="822960" y="4754880"/>
            <a:ext cx="11793855" cy="822960"/>
          </a:xfrm>
          <a:prstGeom prst="roundRect">
            <a:avLst>
              <a:gd name="adj" fmla="val 6000"/>
            </a:avLst>
          </a:prstGeom>
          <a:solidFill>
            <a:srgbClr val="E7E8F8"/>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4864608"/>
            <a:ext cx="11391519" cy="60350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DLP（情報漏えい防止）　</a:t>
            </a:r>
            <a:r>
              <a:rPr sz="1300" b="0">
                <a:solidFill>
                  <a:srgbClr val="232323"/>
                </a:solidFill>
                <a:latin typeface="游ゴシック"/>
                <a:ea typeface="游ゴシック"/>
                <a:cs typeface="游ゴシック"/>
              </a:rPr>
              <a:t>SharePoint/OneDrive/Exchange のファイルは E3標準。Teams チャット本文・エンドポイント（PCのUSB等）は 要追加（E5）。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監査ログ・保持・eDiscovery</a:t>
            </a:r>
          </a:p>
        </p:txBody>
      </p:sp>
      <p:graphicFrame>
        <p:nvGraphicFramePr>
          <p:cNvPr id="3" name="Table 2"/>
          <p:cNvGraphicFramePr>
            <a:graphicFrameLocks noGrp="1"/>
          </p:cNvGraphicFramePr>
          <p:nvPr/>
        </p:nvGraphicFramePr>
        <p:xfrm>
          <a:off x="822960" y="1143000"/>
          <a:ext cx="11793854" cy="2505456"/>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種別</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保持期間</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530352">
                <a:tc>
                  <a:txBody>
                    <a:bodyPr wrap="square"/>
                    <a:lstStyle/>
                    <a:p>
                      <a:pPr>
                        <a:lnSpc>
                          <a:spcPct val="100000"/>
                        </a:lnSpc>
                      </a:pPr>
                      <a:r>
                        <a:rPr sz="1250" b="0">
                          <a:solidFill>
                            <a:srgbClr val="232323"/>
                          </a:solidFill>
                          <a:latin typeface="游ゴシック"/>
                          <a:ea typeface="游ゴシック"/>
                          <a:cs typeface="游ゴシック"/>
                        </a:rPr>
                        <a:t>監査 Standard</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180 日</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30352">
                <a:tc>
                  <a:txBody>
                    <a:bodyPr wrap="square"/>
                    <a:lstStyle/>
                    <a:p>
                      <a:pPr>
                        <a:lnSpc>
                          <a:spcPct val="100000"/>
                        </a:lnSpc>
                      </a:pPr>
                      <a:r>
                        <a:rPr sz="1250" b="0">
                          <a:solidFill>
                            <a:srgbClr val="232323"/>
                          </a:solidFill>
                          <a:latin typeface="游ゴシック"/>
                          <a:ea typeface="游ゴシック"/>
                          <a:cs typeface="游ゴシック"/>
                        </a:rPr>
                        <a:t>監査 Premium</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1 年（アドオンで最大10年）</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要追加（E5）</a:t>
                      </a:r>
                    </a:p>
                  </a:txBody>
                  <a:tcPr marL="64008" marR="45720" marT="13716" marB="13716" anchor="ctr">
                    <a:solidFill>
                      <a:srgbClr val="FAE5E3"/>
                    </a:solidFill>
                  </a:tcPr>
                </a:tc>
              </a:tr>
              <a:tr h="530352">
                <a:tc>
                  <a:txBody>
                    <a:bodyPr wrap="square"/>
                    <a:lstStyle/>
                    <a:p>
                      <a:pPr>
                        <a:lnSpc>
                          <a:spcPct val="100000"/>
                        </a:lnSpc>
                      </a:pPr>
                      <a:r>
                        <a:rPr sz="1250" b="0">
                          <a:solidFill>
                            <a:srgbClr val="232323"/>
                          </a:solidFill>
                          <a:latin typeface="游ゴシック"/>
                          <a:ea typeface="游ゴシック"/>
                          <a:cs typeface="游ゴシック"/>
                        </a:rPr>
                        <a:t>保持ポリシー/ラベル（手動・場所ベース）</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規程に沿った保持・削除</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30352">
                <a:tc>
                  <a:txBody>
                    <a:bodyPr wrap="square"/>
                    <a:lstStyle/>
                    <a:p>
                      <a:pPr>
                        <a:lnSpc>
                          <a:spcPct val="100000"/>
                        </a:lnSpc>
                      </a:pPr>
                      <a:r>
                        <a:rPr sz="1250" b="0">
                          <a:solidFill>
                            <a:srgbClr val="232323"/>
                          </a:solidFill>
                          <a:latin typeface="游ゴシック"/>
                          <a:ea typeface="游ゴシック"/>
                          <a:cs typeface="游ゴシック"/>
                        </a:rPr>
                        <a:t>保持の内容ベース自動適用／eDiscovery Premium</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分類子・機微情報で自動化</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要追加（E5系）</a:t>
                      </a:r>
                    </a:p>
                  </a:txBody>
                  <a:tcPr marL="64008" marR="45720" marT="13716" marB="13716" anchor="ctr">
                    <a:solidFill>
                      <a:srgbClr val="FAE5E3"/>
                    </a:solidFill>
                  </a:tcPr>
                </a:tc>
              </a:tr>
            </a:tbl>
          </a:graphicData>
        </a:graphic>
      </p:graphicFrame>
      <p:sp>
        <p:nvSpPr>
          <p:cNvPr id="4" name="Rounded Rectangle 3"/>
          <p:cNvSpPr/>
          <p:nvPr/>
        </p:nvSpPr>
        <p:spPr>
          <a:xfrm>
            <a:off x="822960" y="4160520"/>
            <a:ext cx="11793855" cy="86868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270248"/>
            <a:ext cx="11391519" cy="649224"/>
          </a:xfrm>
          <a:prstGeom prst="rect">
            <a:avLst/>
          </a:prstGeom>
          <a:noFill/>
        </p:spPr>
        <p:txBody>
          <a:bodyPr wrap="square" anchor="ctr" lIns="0" rIns="0" tIns="0" bIns="0">
            <a:spAutoFit/>
          </a:bodyPr>
          <a:lstStyle/>
          <a:p>
            <a:pPr algn="l">
              <a:lnSpc>
                <a:spcPct val="120000"/>
              </a:lnSpc>
            </a:pPr>
            <a:r>
              <a:rPr sz="1300" b="1">
                <a:solidFill>
                  <a:srgbClr val="B0432B"/>
                </a:solidFill>
                <a:latin typeface="游ゴシック"/>
                <a:ea typeface="游ゴシック"/>
                <a:cs typeface="游ゴシック"/>
              </a:rPr>
              <a:t>監査は最初に有効化　</a:t>
            </a:r>
            <a:r>
              <a:rPr sz="1300" b="0">
                <a:solidFill>
                  <a:srgbClr val="232323"/>
                </a:solidFill>
                <a:latin typeface="游ゴシック"/>
                <a:ea typeface="游ゴシック"/>
                <a:cs typeface="游ゴシック"/>
              </a:rPr>
              <a:t>監査ログは有効化した時点以降しか記録されない。インシデント後に過去は追えない。フェーズ2の最初に有効化を（保持期間・対象も確認）。</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ID 保護：MFA・条件付きアクセス</a:t>
            </a:r>
          </a:p>
        </p:txBody>
      </p:sp>
      <p:graphicFrame>
        <p:nvGraphicFramePr>
          <p:cNvPr id="3" name="Table 2"/>
          <p:cNvGraphicFramePr>
            <a:graphicFrameLocks noGrp="1"/>
          </p:cNvGraphicFramePr>
          <p:nvPr/>
        </p:nvGraphicFramePr>
        <p:xfrm>
          <a:off x="822960" y="1143000"/>
          <a:ext cx="11793854" cy="2578608"/>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施策</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内容</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548640">
                <a:tc>
                  <a:txBody>
                    <a:bodyPr wrap="square"/>
                    <a:lstStyle/>
                    <a:p>
                      <a:pPr>
                        <a:lnSpc>
                          <a:spcPct val="100000"/>
                        </a:lnSpc>
                      </a:pPr>
                      <a:r>
                        <a:rPr sz="1250" b="0">
                          <a:solidFill>
                            <a:srgbClr val="232323"/>
                          </a:solidFill>
                          <a:latin typeface="游ゴシック"/>
                          <a:ea typeface="游ゴシック"/>
                          <a:cs typeface="游ゴシック"/>
                        </a:rPr>
                        <a:t>セキュリティ既定値</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MFA を全社一括で強制する最小構成</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無償・全SKU</a:t>
                      </a:r>
                    </a:p>
                  </a:txBody>
                  <a:tcPr marL="64008" marR="45720" marT="13716" marB="13716" anchor="ctr">
                    <a:solidFill>
                      <a:srgbClr val="DBF1F7"/>
                    </a:solidFill>
                  </a:tcPr>
                </a:tc>
              </a:tr>
              <a:tr h="548640">
                <a:tc>
                  <a:txBody>
                    <a:bodyPr wrap="square"/>
                    <a:lstStyle/>
                    <a:p>
                      <a:pPr>
                        <a:lnSpc>
                          <a:spcPct val="100000"/>
                        </a:lnSpc>
                      </a:pPr>
                      <a:r>
                        <a:rPr sz="1250" b="0">
                          <a:solidFill>
                            <a:srgbClr val="232323"/>
                          </a:solidFill>
                          <a:latin typeface="游ゴシック"/>
                          <a:ea typeface="游ゴシック"/>
                          <a:cs typeface="游ゴシック"/>
                        </a:rPr>
                        <a:t>条件付きアクセス（基本）</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社外はMFA必須・非管理デバイスは制限 等</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E3標準（Entra P1 内包）</a:t>
                      </a:r>
                    </a:p>
                  </a:txBody>
                  <a:tcPr marL="64008" marR="45720" marT="13716" marB="13716" anchor="ctr">
                    <a:solidFill>
                      <a:srgbClr val="DBF1F7"/>
                    </a:solidFill>
                  </a:tcPr>
                </a:tc>
              </a:tr>
              <a:tr h="548640">
                <a:tc>
                  <a:txBody>
                    <a:bodyPr wrap="square"/>
                    <a:lstStyle/>
                    <a:p>
                      <a:pPr>
                        <a:lnSpc>
                          <a:spcPct val="100000"/>
                        </a:lnSpc>
                      </a:pPr>
                      <a:r>
                        <a:rPr sz="1250" b="0">
                          <a:solidFill>
                            <a:srgbClr val="232323"/>
                          </a:solidFill>
                          <a:latin typeface="游ゴシック"/>
                          <a:ea typeface="游ゴシック"/>
                          <a:cs typeface="游ゴシック"/>
                        </a:rPr>
                        <a:t>リスクベース条件付きアクセス</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サインイン/ユーザーリスクで動的制御</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要追加（E5＝Entra P2）</a:t>
                      </a:r>
                    </a:p>
                  </a:txBody>
                  <a:tcPr marL="64008" marR="45720" marT="13716" marB="13716" anchor="ctr">
                    <a:solidFill>
                      <a:srgbClr val="FAE5E3"/>
                    </a:solidFill>
                  </a:tcPr>
                </a:tc>
              </a:tr>
              <a:tr h="548640">
                <a:tc>
                  <a:txBody>
                    <a:bodyPr wrap="square"/>
                    <a:lstStyle/>
                    <a:p>
                      <a:pPr>
                        <a:lnSpc>
                          <a:spcPct val="100000"/>
                        </a:lnSpc>
                      </a:pPr>
                      <a:r>
                        <a:rPr sz="1250" b="0">
                          <a:solidFill>
                            <a:srgbClr val="232323"/>
                          </a:solidFill>
                          <a:latin typeface="游ゴシック"/>
                          <a:ea typeface="游ゴシック"/>
                          <a:cs typeface="游ゴシック"/>
                        </a:rPr>
                        <a:t>アクセスレビュー</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ゲスト・メンバーの定期棚卸し</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要追加（E5相当＝Entra P2）</a:t>
                      </a:r>
                    </a:p>
                  </a:txBody>
                  <a:tcPr marL="64008" marR="45720" marT="13716" marB="13716" anchor="ctr">
                    <a:solidFill>
                      <a:srgbClr val="FAE5E3"/>
                    </a:solidFill>
                  </a:tcPr>
                </a:tc>
              </a:tr>
            </a:tbl>
          </a:graphicData>
        </a:graphic>
      </p:graphicFrame>
      <p:sp>
        <p:nvSpPr>
          <p:cNvPr id="4" name="Rounded Rectangle 3"/>
          <p:cNvSpPr/>
          <p:nvPr/>
        </p:nvSpPr>
        <p:spPr>
          <a:xfrm>
            <a:off x="822960" y="4206240"/>
            <a:ext cx="11793855" cy="9144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315968"/>
            <a:ext cx="11391519" cy="69494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まず MFA を　</a:t>
            </a:r>
            <a:r>
              <a:rPr sz="1300" b="0">
                <a:solidFill>
                  <a:srgbClr val="232323"/>
                </a:solidFill>
                <a:latin typeface="游ゴシック"/>
                <a:ea typeface="游ゴシック"/>
                <a:cs typeface="游ゴシック"/>
              </a:rPr>
              <a:t>E3 には Entra P1 が含まれるので条件付きアクセスで柔軟な MFA・デバイス制御が可能（既定値とは併用不可）。ゲスト棚卸しの自動化（アクセスレビュー）は P2＝E5 相当が必要。</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フェーズ2の進め方（①〜④は E3 で着手）</a:t>
            </a:r>
          </a:p>
        </p:txBody>
      </p:sp>
      <p:pic>
        <p:nvPicPr>
          <p:cNvPr id="3" name="Picture 2" descr="p2steps.png"/>
          <p:cNvPicPr>
            <a:picLocks noChangeAspect="1"/>
          </p:cNvPicPr>
          <p:nvPr/>
        </p:nvPicPr>
        <p:blipFill>
          <a:blip r:embed="rId2"/>
          <a:stretch>
            <a:fillRect/>
          </a:stretch>
        </p:blipFill>
        <p:spPr>
          <a:xfrm>
            <a:off x="5904165" y="1143000"/>
            <a:ext cx="1631444" cy="448056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要追加ライセンスとなる機能（E3では実施不可）</a:t>
            </a:r>
          </a:p>
        </p:txBody>
      </p:sp>
      <p:sp>
        <p:nvSpPr>
          <p:cNvPr id="3" name="Rounded Rectangle 2"/>
          <p:cNvSpPr/>
          <p:nvPr/>
        </p:nvSpPr>
        <p:spPr>
          <a:xfrm>
            <a:off x="822960" y="1143000"/>
            <a:ext cx="11793855" cy="320040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417320"/>
            <a:ext cx="11153775" cy="2743200"/>
          </a:xfrm>
          <a:prstGeom prst="rect">
            <a:avLst/>
          </a:prstGeom>
          <a:noFill/>
        </p:spPr>
        <p:txBody>
          <a:bodyPr wrap="square" lIns="0" rIns="0" tIns="0" bIns="0">
            <a:spAutoFit/>
          </a:bodyPr>
          <a:lstStyle/>
          <a:p>
            <a:pPr>
              <a:lnSpc>
                <a:spcPct val="112000"/>
              </a:lnSpc>
              <a:spcAft>
                <a:spcPts val="1300"/>
              </a:spcAft>
            </a:pPr>
            <a:r>
              <a:rPr sz="1550" b="1">
                <a:solidFill>
                  <a:srgbClr val="1B5C80"/>
                </a:solidFill>
                <a:latin typeface="游ゴシック"/>
                <a:ea typeface="游ゴシック"/>
                <a:cs typeface="游ゴシック"/>
              </a:rPr>
              <a:t>■ </a:t>
            </a:r>
            <a:r>
              <a:rPr sz="1550" b="0">
                <a:solidFill>
                  <a:srgbClr val="232323"/>
                </a:solidFill>
                <a:latin typeface="游ゴシック"/>
                <a:ea typeface="游ゴシック"/>
                <a:cs typeface="游ゴシック"/>
              </a:rPr>
              <a:t>秘密度ラベルの自動付与（E5／E3＋E5 Compliance）</a:t>
            </a:r>
          </a:p>
          <a:p>
            <a:pPr>
              <a:lnSpc>
                <a:spcPct val="112000"/>
              </a:lnSpc>
              <a:spcAft>
                <a:spcPts val="1300"/>
              </a:spcAft>
            </a:pPr>
            <a:r>
              <a:rPr sz="1550" b="1">
                <a:solidFill>
                  <a:srgbClr val="1B5C80"/>
                </a:solidFill>
                <a:latin typeface="游ゴシック"/>
                <a:ea typeface="游ゴシック"/>
                <a:cs typeface="游ゴシック"/>
              </a:rPr>
              <a:t>■ </a:t>
            </a:r>
            <a:r>
              <a:rPr sz="1550" b="0">
                <a:solidFill>
                  <a:srgbClr val="232323"/>
                </a:solidFill>
                <a:latin typeface="游ゴシック"/>
                <a:ea typeface="游ゴシック"/>
                <a:cs typeface="游ゴシック"/>
              </a:rPr>
              <a:t>Teams チャット本文の DLP／エンドポイント DLP（E5）</a:t>
            </a:r>
          </a:p>
          <a:p>
            <a:pPr>
              <a:lnSpc>
                <a:spcPct val="112000"/>
              </a:lnSpc>
              <a:spcAft>
                <a:spcPts val="1300"/>
              </a:spcAft>
            </a:pPr>
            <a:r>
              <a:rPr sz="1550" b="1">
                <a:solidFill>
                  <a:srgbClr val="1B5C80"/>
                </a:solidFill>
                <a:latin typeface="游ゴシック"/>
                <a:ea typeface="游ゴシック"/>
                <a:cs typeface="游ゴシック"/>
              </a:rPr>
              <a:t>■ </a:t>
            </a:r>
            <a:r>
              <a:rPr sz="1550" b="0">
                <a:solidFill>
                  <a:srgbClr val="232323"/>
                </a:solidFill>
                <a:latin typeface="游ゴシック"/>
                <a:ea typeface="游ゴシック"/>
                <a:cs typeface="游ゴシック"/>
              </a:rPr>
              <a:t>監査ログ Premium（E5／E5 Compliance）</a:t>
            </a:r>
          </a:p>
          <a:p>
            <a:pPr>
              <a:lnSpc>
                <a:spcPct val="112000"/>
              </a:lnSpc>
              <a:spcAft>
                <a:spcPts val="1300"/>
              </a:spcAft>
            </a:pPr>
            <a:r>
              <a:rPr sz="1550" b="1">
                <a:solidFill>
                  <a:srgbClr val="1B5C80"/>
                </a:solidFill>
                <a:latin typeface="游ゴシック"/>
                <a:ea typeface="游ゴシック"/>
                <a:cs typeface="游ゴシック"/>
              </a:rPr>
              <a:t>■ </a:t>
            </a:r>
            <a:r>
              <a:rPr sz="1550" b="0">
                <a:solidFill>
                  <a:srgbClr val="232323"/>
                </a:solidFill>
                <a:latin typeface="游ゴシック"/>
                <a:ea typeface="游ゴシック"/>
                <a:cs typeface="游ゴシック"/>
              </a:rPr>
              <a:t>保持の内容ベース自動適用・eDiscovery Premium（E5 系）</a:t>
            </a:r>
          </a:p>
          <a:p>
            <a:pPr>
              <a:lnSpc>
                <a:spcPct val="112000"/>
              </a:lnSpc>
              <a:spcAft>
                <a:spcPts val="1300"/>
              </a:spcAft>
            </a:pPr>
            <a:r>
              <a:rPr sz="1550" b="1">
                <a:solidFill>
                  <a:srgbClr val="1B5C80"/>
                </a:solidFill>
                <a:latin typeface="游ゴシック"/>
                <a:ea typeface="游ゴシック"/>
                <a:cs typeface="游ゴシック"/>
              </a:rPr>
              <a:t>■ </a:t>
            </a:r>
            <a:r>
              <a:rPr sz="1550" b="0">
                <a:solidFill>
                  <a:srgbClr val="232323"/>
                </a:solidFill>
                <a:latin typeface="游ゴシック"/>
                <a:ea typeface="游ゴシック"/>
                <a:cs typeface="游ゴシック"/>
              </a:rPr>
              <a:t>リスクベース条件付きアクセス／アクセスレビュー（E5＝Entra ID P2）</a:t>
            </a:r>
          </a:p>
        </p:txBody>
      </p:sp>
      <p:sp>
        <p:nvSpPr>
          <p:cNvPr id="5" name="TextBox 4"/>
          <p:cNvSpPr txBox="1"/>
          <p:nvPr/>
        </p:nvSpPr>
        <p:spPr>
          <a:xfrm>
            <a:off x="822960" y="4892040"/>
            <a:ext cx="11793855" cy="914400"/>
          </a:xfrm>
          <a:prstGeom prst="rect">
            <a:avLst/>
          </a:prstGeom>
          <a:noFill/>
        </p:spPr>
        <p:txBody>
          <a:bodyPr wrap="square" anchor="t" lIns="0" rIns="0" tIns="0" bIns="0">
            <a:spAutoFit/>
          </a:bodyPr>
          <a:lstStyle/>
          <a:p>
            <a:pPr algn="l">
              <a:lnSpc>
                <a:spcPct val="120000"/>
              </a:lnSpc>
              <a:spcBef>
                <a:spcPts val="0"/>
              </a:spcBef>
              <a:spcAft>
                <a:spcPts val="300"/>
              </a:spcAft>
            </a:pPr>
            <a:r>
              <a:rPr sz="1300" b="0">
                <a:solidFill>
                  <a:srgbClr val="5C636A"/>
                </a:solidFill>
                <a:latin typeface="游ゴシック"/>
                <a:ea typeface="游ゴシック"/>
                <a:cs typeface="游ゴシック"/>
              </a:rPr>
              <a:t>補足：上位機能は原則、恩恵を受ける利用者側に上位ライセンスが必要（「管理者だけ E5」で済むとは限らない）。導入は追加ライセンス調達とセットで計画を。</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フェーズ2 まとめ</a:t>
            </a:r>
          </a:p>
        </p:txBody>
      </p:sp>
      <p:sp>
        <p:nvSpPr>
          <p:cNvPr id="3" name="TextBox 2"/>
          <p:cNvSpPr txBox="1"/>
          <p:nvPr/>
        </p:nvSpPr>
        <p:spPr>
          <a:xfrm>
            <a:off x="822960" y="1143000"/>
            <a:ext cx="11793855" cy="3657600"/>
          </a:xfrm>
          <a:prstGeom prst="rect">
            <a:avLst/>
          </a:prstGeom>
          <a:noFill/>
        </p:spPr>
        <p:txBody>
          <a:bodyPr wrap="square" lIns="0" rIns="0" tIns="0" bIns="0">
            <a:spAutoFit/>
          </a:bodyPr>
          <a:lstStyle/>
          <a:p>
            <a:pPr>
              <a:lnSpc>
                <a:spcPct val="112000"/>
              </a:lnSpc>
              <a:spcAft>
                <a:spcPts val="16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まず E3 でできることから：</a:t>
            </a:r>
            <a:r>
              <a:rPr sz="1600" b="0">
                <a:solidFill>
                  <a:srgbClr val="232323"/>
                </a:solidFill>
                <a:latin typeface="游ゴシック"/>
                <a:ea typeface="游ゴシック"/>
                <a:cs typeface="游ゴシック"/>
              </a:rPr>
              <a:t>監査ログ有効化・MFA/条件付きアクセス・手動ラベル・基本DLP</a:t>
            </a:r>
          </a:p>
          <a:p>
            <a:pPr>
              <a:lnSpc>
                <a:spcPct val="112000"/>
              </a:lnSpc>
              <a:spcAft>
                <a:spcPts val="16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秘密度ラベルは社外秘/極秘をファイル自体に付け、持ち出し後も保護（手動=E3／自動=E5）</a:t>
            </a:r>
          </a:p>
          <a:p>
            <a:pPr>
              <a:lnSpc>
                <a:spcPct val="112000"/>
              </a:lnSpc>
              <a:spcAft>
                <a:spcPts val="16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監査ログは最初に有効化（記録は有効化以降のみ）</a:t>
            </a:r>
          </a:p>
          <a:p>
            <a:pPr>
              <a:lnSpc>
                <a:spcPct val="112000"/>
              </a:lnSpc>
              <a:spcAft>
                <a:spcPts val="1600"/>
              </a:spcAft>
            </a:pPr>
            <a:r>
              <a:rPr sz="1600" b="1">
                <a:solidFill>
                  <a:srgbClr val="1B5C80"/>
                </a:solidFill>
                <a:latin typeface="游ゴシック"/>
                <a:ea typeface="游ゴシック"/>
                <a:cs typeface="游ゴシック"/>
              </a:rPr>
              <a:t>■ </a:t>
            </a:r>
            <a:r>
              <a:rPr sz="1600" b="1">
                <a:solidFill>
                  <a:srgbClr val="B0432B"/>
                </a:solidFill>
                <a:latin typeface="游ゴシック"/>
                <a:ea typeface="游ゴシック"/>
                <a:cs typeface="游ゴシック"/>
              </a:rPr>
              <a:t>自動付与・Premium監査・Teams/エンドポイントDLP・アクセスレビューは要追加ライセンス</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rPr>
                <a:latin typeface="游ゴシック"/>
              </a:rPr>
              <a:t>Phase 3 ｜ ガバナンス・運用</a:t>
            </a:r>
          </a:p>
        </p:txBody>
      </p:sp>
      <p:sp>
        <p:nvSpPr>
          <p:cNvPr id="4" name="TextBox 3"/>
          <p:cNvSpPr txBox="1"/>
          <p:nvPr/>
        </p:nvSpPr>
        <p:spPr>
          <a:xfrm>
            <a:off x="1097280" y="5138928"/>
            <a:ext cx="11247120" cy="384048"/>
          </a:xfrm>
          <a:prstGeom prst="rect">
            <a:avLst/>
          </a:prstGeom>
          <a:noFill/>
        </p:spPr>
        <p:txBody>
          <a:bodyPr wrap="square" anchor="ctr" lIns="0" rIns="0" tIns="0" bIns="0">
            <a:spAutoFit/>
          </a:bodyPr>
          <a:lstStyle/>
          <a:p>
            <a:pPr algn="l">
              <a:lnSpc>
                <a:spcPct val="108000"/>
              </a:lnSpc>
              <a:spcBef>
                <a:spcPts val="0"/>
              </a:spcBef>
              <a:spcAft>
                <a:spcPts val="300"/>
              </a:spcAft>
            </a:pPr>
            <a:r>
              <a:rPr sz="1550" b="0">
                <a:solidFill>
                  <a:srgbClr val="1B5C80"/>
                </a:solidFill>
                <a:latin typeface="游ゴシック"/>
                <a:ea typeface="游ゴシック"/>
                <a:cs typeface="游ゴシック"/>
              </a:rPr>
              <a:t>作らせ方の統制／ライフサイクル／過剰共有の是正／運用体制</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フェーズ3 でできることの全体像</a:t>
            </a:r>
          </a:p>
        </p:txBody>
      </p:sp>
      <p:sp>
        <p:nvSpPr>
          <p:cNvPr id="3" name="Rounded Rectangle 2"/>
          <p:cNvSpPr/>
          <p:nvPr/>
        </p:nvSpPr>
        <p:spPr>
          <a:xfrm>
            <a:off x="822960" y="1051560"/>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51560"/>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51560"/>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51560"/>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pic>
        <p:nvPicPr>
          <p:cNvPr id="7" name="Picture 6" descr="p3map.png"/>
          <p:cNvPicPr>
            <a:picLocks noChangeAspect="1"/>
          </p:cNvPicPr>
          <p:nvPr/>
        </p:nvPicPr>
        <p:blipFill>
          <a:blip r:embed="rId2"/>
          <a:stretch>
            <a:fillRect/>
          </a:stretch>
        </p:blipFill>
        <p:spPr>
          <a:xfrm>
            <a:off x="4741983" y="1554480"/>
            <a:ext cx="3955809" cy="448056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追加費用の要否ひとめ表（フェーズ3）</a:t>
            </a:r>
          </a:p>
        </p:txBody>
      </p:sp>
      <p:sp>
        <p:nvSpPr>
          <p:cNvPr id="3" name="Rounded Rectangle 2"/>
          <p:cNvSpPr/>
          <p:nvPr/>
        </p:nvSpPr>
        <p:spPr>
          <a:xfrm>
            <a:off x="822960" y="1024128"/>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24128"/>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24128"/>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24128"/>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graphicFrame>
        <p:nvGraphicFramePr>
          <p:cNvPr id="7" name="Table 6"/>
          <p:cNvGraphicFramePr>
            <a:graphicFrameLocks noGrp="1"/>
          </p:cNvGraphicFramePr>
          <p:nvPr/>
        </p:nvGraphicFramePr>
        <p:xfrm>
          <a:off x="822960" y="1463040"/>
          <a:ext cx="11793854" cy="4910328"/>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できること</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追加費用</a:t>
                      </a:r>
                    </a:p>
                  </a:txBody>
                  <a:tcPr marL="64008" marR="45720" marT="13716" marB="13716" anchor="ctr">
                    <a:solidFill>
                      <a:srgbClr val="1B5C80"/>
                    </a:solidFill>
                  </a:tcPr>
                </a:tc>
              </a:tr>
              <a:tr h="502920">
                <a:tc>
                  <a:txBody>
                    <a:bodyPr wrap="square"/>
                    <a:lstStyle/>
                    <a:p>
                      <a:pPr>
                        <a:lnSpc>
                          <a:spcPct val="100000"/>
                        </a:lnSpc>
                      </a:pPr>
                      <a:r>
                        <a:rPr sz="1250" b="0">
                          <a:solidFill>
                            <a:srgbClr val="232323"/>
                          </a:solidFill>
                          <a:latin typeface="游ゴシック"/>
                          <a:ea typeface="游ゴシック"/>
                          <a:cs typeface="游ゴシック"/>
                        </a:rPr>
                        <a:t>作成・テンプレート／利用状況レポート</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正しい構成で払い出す・見える化</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作成できる人の制限</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作れる人を情シス等に限定（Entra P1）</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命名規則／グループ有効期限</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名前ルール強制・未使用を自動失効（P1）</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B2B ゲスト招待・基本の所有者管理</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社外を招く・所有者設定</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アクセスレビュー</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ゲスト等を自動で定期棚卸し</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要追加（E5＝P2）</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データアクセスガバナンスレポート</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過剰共有を検出・可視化</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非アクティブサイト／所有権ポリシー</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放置検出・所有者不在を是正</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制限付きコンテンツ検出（RCD）</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検索/Copilot から除外</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Microsoft 365 Archive</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使わないサイトを低コスト保管</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要追加（従量課金）</a:t>
                      </a:r>
                    </a:p>
                  </a:txBody>
                  <a:tcPr marL="64008" marR="45720" marT="13716" marB="13716" anchor="ctr">
                    <a:solidFill>
                      <a:srgbClr val="FAE5E3"/>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作らせ方の統制（乱立の防止）</a:t>
            </a:r>
          </a:p>
        </p:txBody>
      </p:sp>
      <p:graphicFrame>
        <p:nvGraphicFramePr>
          <p:cNvPr id="3" name="Table 2"/>
          <p:cNvGraphicFramePr>
            <a:graphicFrameLocks noGrp="1"/>
          </p:cNvGraphicFramePr>
          <p:nvPr/>
        </p:nvGraphicFramePr>
        <p:xfrm>
          <a:off x="822960" y="1143000"/>
          <a:ext cx="11793854" cy="1920240"/>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300" b="1">
                          <a:solidFill>
                            <a:srgbClr val="FFFFFF"/>
                          </a:solidFill>
                          <a:latin typeface="游ゴシック"/>
                          <a:ea typeface="游ゴシック"/>
                          <a:cs typeface="游ゴシック"/>
                        </a:rPr>
                        <a:t>施策</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内容</a:t>
                      </a:r>
                    </a:p>
                  </a:txBody>
                  <a:tcPr marL="64008" marR="45720" marT="13716" marB="13716" anchor="ctr">
                    <a:solidFill>
                      <a:srgbClr val="1B5C80"/>
                    </a:solidFill>
                  </a:tcPr>
                </a:tc>
                <a:tc>
                  <a:txBody>
                    <a:bodyPr wrap="square"/>
                    <a:lstStyle/>
                    <a:p>
                      <a:pPr>
                        <a:lnSpc>
                          <a:spcPct val="100000"/>
                        </a:lnSpc>
                      </a:pPr>
                      <a:r>
                        <a:rPr sz="130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512064">
                <a:tc>
                  <a:txBody>
                    <a:bodyPr wrap="square"/>
                    <a:lstStyle/>
                    <a:p>
                      <a:pPr>
                        <a:lnSpc>
                          <a:spcPct val="100000"/>
                        </a:lnSpc>
                      </a:pPr>
                      <a:r>
                        <a:rPr sz="1300" b="0">
                          <a:solidFill>
                            <a:srgbClr val="232323"/>
                          </a:solidFill>
                          <a:latin typeface="游ゴシック"/>
                          <a:ea typeface="游ゴシック"/>
                          <a:cs typeface="游ゴシック"/>
                        </a:rPr>
                        <a:t>作成できる人の制限</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作れる人を情シス・部門長等に限定</a:t>
                      </a:r>
                    </a:p>
                  </a:txBody>
                  <a:tcPr marL="64008" marR="45720" marT="13716" marB="13716" anchor="ctr">
                    <a:solidFill>
                      <a:srgbClr val="FFFFFF"/>
                    </a:solidFill>
                  </a:tcPr>
                </a:tc>
                <a:tc>
                  <a:txBody>
                    <a:bodyPr wrap="square"/>
                    <a:lstStyle/>
                    <a:p>
                      <a:pPr>
                        <a:lnSpc>
                          <a:spcPct val="100000"/>
                        </a:lnSpc>
                      </a:pPr>
                      <a:r>
                        <a:rPr sz="1300" b="1">
                          <a:solidFill>
                            <a:srgbClr val="1B5C80"/>
                          </a:solidFill>
                          <a:latin typeface="游ゴシック"/>
                          <a:ea typeface="游ゴシック"/>
                          <a:cs typeface="游ゴシック"/>
                        </a:rPr>
                        <a:t>E3標準（Entra P1）</a:t>
                      </a:r>
                    </a:p>
                  </a:txBody>
                  <a:tcPr marL="64008" marR="45720" marT="13716" marB="13716" anchor="ctr">
                    <a:solidFill>
                      <a:srgbClr val="DBF1F7"/>
                    </a:solidFill>
                  </a:tcPr>
                </a:tc>
              </a:tr>
              <a:tr h="512064">
                <a:tc>
                  <a:txBody>
                    <a:bodyPr wrap="square"/>
                    <a:lstStyle/>
                    <a:p>
                      <a:pPr>
                        <a:lnSpc>
                          <a:spcPct val="100000"/>
                        </a:lnSpc>
                      </a:pPr>
                      <a:r>
                        <a:rPr sz="1300" b="0">
                          <a:solidFill>
                            <a:srgbClr val="232323"/>
                          </a:solidFill>
                          <a:latin typeface="游ゴシック"/>
                          <a:ea typeface="游ゴシック"/>
                          <a:cs typeface="游ゴシック"/>
                        </a:rPr>
                        <a:t>命名規則（名前付けポリシー）</a:t>
                      </a:r>
                    </a:p>
                  </a:txBody>
                  <a:tcPr marL="64008" marR="45720" marT="13716" marB="13716" anchor="ctr">
                    <a:solidFill>
                      <a:srgbClr val="F3F9FB"/>
                    </a:solidFill>
                  </a:tcPr>
                </a:tc>
                <a:tc>
                  <a:txBody>
                    <a:bodyPr wrap="square"/>
                    <a:lstStyle/>
                    <a:p>
                      <a:pPr>
                        <a:lnSpc>
                          <a:spcPct val="100000"/>
                        </a:lnSpc>
                      </a:pPr>
                      <a:r>
                        <a:rPr sz="1300" b="0">
                          <a:solidFill>
                            <a:srgbClr val="232323"/>
                          </a:solidFill>
                          <a:latin typeface="游ゴシック"/>
                          <a:ea typeface="游ゴシック"/>
                          <a:cs typeface="游ゴシック"/>
                        </a:rPr>
                        <a:t>接頭辞/接尾辞を強制・禁止語をブロック</a:t>
                      </a:r>
                    </a:p>
                  </a:txBody>
                  <a:tcPr marL="64008" marR="45720" marT="13716" marB="13716" anchor="ctr">
                    <a:solidFill>
                      <a:srgbClr val="F3F9FB"/>
                    </a:solidFill>
                  </a:tcPr>
                </a:tc>
                <a:tc>
                  <a:txBody>
                    <a:bodyPr wrap="square"/>
                    <a:lstStyle/>
                    <a:p>
                      <a:pPr>
                        <a:lnSpc>
                          <a:spcPct val="100000"/>
                        </a:lnSpc>
                      </a:pPr>
                      <a:r>
                        <a:rPr sz="1300" b="1">
                          <a:solidFill>
                            <a:srgbClr val="1B5C80"/>
                          </a:solidFill>
                          <a:latin typeface="游ゴシック"/>
                          <a:ea typeface="游ゴシック"/>
                          <a:cs typeface="游ゴシック"/>
                        </a:rPr>
                        <a:t>E3標準（Entra P1）</a:t>
                      </a:r>
                    </a:p>
                  </a:txBody>
                  <a:tcPr marL="64008" marR="45720" marT="13716" marB="13716" anchor="ctr">
                    <a:solidFill>
                      <a:srgbClr val="DBF1F7"/>
                    </a:solidFill>
                  </a:tcPr>
                </a:tc>
              </a:tr>
              <a:tr h="512064">
                <a:tc>
                  <a:txBody>
                    <a:bodyPr wrap="square"/>
                    <a:lstStyle/>
                    <a:p>
                      <a:pPr>
                        <a:lnSpc>
                          <a:spcPct val="100000"/>
                        </a:lnSpc>
                      </a:pPr>
                      <a:r>
                        <a:rPr sz="1300" b="0">
                          <a:solidFill>
                            <a:srgbClr val="232323"/>
                          </a:solidFill>
                          <a:latin typeface="游ゴシック"/>
                          <a:ea typeface="游ゴシック"/>
                          <a:cs typeface="游ゴシック"/>
                        </a:rPr>
                        <a:t>申請・承認フロー</a:t>
                      </a:r>
                    </a:p>
                  </a:txBody>
                  <a:tcPr marL="64008" marR="45720" marT="13716" marB="13716" anchor="ctr">
                    <a:solidFill>
                      <a:srgbClr val="FFFFFF"/>
                    </a:solidFill>
                  </a:tcPr>
                </a:tc>
                <a:tc>
                  <a:txBody>
                    <a:bodyPr wrap="square"/>
                    <a:lstStyle/>
                    <a:p>
                      <a:pPr>
                        <a:lnSpc>
                          <a:spcPct val="100000"/>
                        </a:lnSpc>
                      </a:pPr>
                      <a:r>
                        <a:rPr sz="1300" b="0">
                          <a:solidFill>
                            <a:srgbClr val="232323"/>
                          </a:solidFill>
                          <a:latin typeface="游ゴシック"/>
                          <a:ea typeface="游ゴシック"/>
                          <a:cs typeface="游ゴシック"/>
                        </a:rPr>
                        <a:t>Power Automate 等で申請→承認→自動払い出し</a:t>
                      </a:r>
                    </a:p>
                  </a:txBody>
                  <a:tcPr marL="64008" marR="45720" marT="13716" marB="13716" anchor="ctr">
                    <a:solidFill>
                      <a:srgbClr val="FFFFFF"/>
                    </a:solidFill>
                  </a:tcPr>
                </a:tc>
                <a:tc>
                  <a:txBody>
                    <a:bodyPr wrap="square"/>
                    <a:lstStyle/>
                    <a:p>
                      <a:pPr>
                        <a:lnSpc>
                          <a:spcPct val="100000"/>
                        </a:lnSpc>
                      </a:pPr>
                      <a:r>
                        <a:rPr sz="1300" b="1">
                          <a:solidFill>
                            <a:srgbClr val="1B5C80"/>
                          </a:solidFill>
                          <a:latin typeface="游ゴシック"/>
                          <a:ea typeface="游ゴシック"/>
                          <a:cs typeface="游ゴシック"/>
                        </a:rPr>
                        <a:t>E3標準</a:t>
                      </a:r>
                    </a:p>
                  </a:txBody>
                  <a:tcPr marL="64008" marR="45720" marT="13716" marB="13716" anchor="ctr">
                    <a:solidFill>
                      <a:srgbClr val="DBF1F7"/>
                    </a:solidFill>
                  </a:tcPr>
                </a:tc>
              </a:tr>
            </a:tbl>
          </a:graphicData>
        </a:graphic>
      </p:graphicFrame>
      <p:sp>
        <p:nvSpPr>
          <p:cNvPr id="4" name="Rounded Rectangle 3"/>
          <p:cNvSpPr/>
          <p:nvPr/>
        </p:nvSpPr>
        <p:spPr>
          <a:xfrm>
            <a:off x="822960" y="3246120"/>
            <a:ext cx="11793855" cy="9144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3355848"/>
            <a:ext cx="11391519" cy="69494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「作成禁止」より「正しく作れる導線」を　</a:t>
            </a:r>
            <a:r>
              <a:rPr sz="1300" b="0">
                <a:solidFill>
                  <a:srgbClr val="232323"/>
                </a:solidFill>
                <a:latin typeface="游ゴシック"/>
                <a:ea typeface="游ゴシック"/>
                <a:cs typeface="游ゴシック"/>
              </a:rPr>
              <a:t>全面禁止は野良ツールへの回避を招く。申請すれば速やかに正しい構成のサイトが払い出される導線（テンプレート＋承認）が、統制と現場満足を両立する。</a:t>
            </a:r>
          </a:p>
        </p:txBody>
      </p:sp>
      <p:sp>
        <p:nvSpPr>
          <p:cNvPr id="6" name="Rounded Rectangle 5"/>
          <p:cNvSpPr/>
          <p:nvPr/>
        </p:nvSpPr>
        <p:spPr>
          <a:xfrm>
            <a:off x="822960" y="4343400"/>
            <a:ext cx="11793855" cy="960120"/>
          </a:xfrm>
          <a:prstGeom prst="roundRect">
            <a:avLst>
              <a:gd name="adj" fmla="val 6000"/>
            </a:avLst>
          </a:prstGeom>
          <a:solidFill>
            <a:srgbClr val="E7E8F8"/>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453128"/>
            <a:ext cx="11391519" cy="74066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プロビジョニング標準化　</a:t>
            </a:r>
            <a:r>
              <a:rPr sz="1300" b="0">
                <a:solidFill>
                  <a:srgbClr val="232323"/>
                </a:solidFill>
                <a:latin typeface="游ゴシック"/>
                <a:ea typeface="游ゴシック"/>
                <a:cs typeface="游ゴシック"/>
              </a:rPr>
              <a:t>サイトデザイン/サイトスクリプト（標準）でライブラリ・列・権限・ナビを自動適用。PnP（OSS・公式サポート外）でより高度に。Power Automate で申請〜作成を自動化。</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ライフサイクル管理（棚卸し・所有者・保管）</a:t>
            </a:r>
          </a:p>
        </p:txBody>
      </p:sp>
      <p:pic>
        <p:nvPicPr>
          <p:cNvPr id="3" name="Picture 2" descr="lifecycle.png"/>
          <p:cNvPicPr>
            <a:picLocks noChangeAspect="1"/>
          </p:cNvPicPr>
          <p:nvPr/>
        </p:nvPicPr>
        <p:blipFill>
          <a:blip r:embed="rId2"/>
          <a:stretch>
            <a:fillRect/>
          </a:stretch>
        </p:blipFill>
        <p:spPr>
          <a:xfrm>
            <a:off x="1252085" y="1143000"/>
            <a:ext cx="10935605" cy="2468880"/>
          </a:xfrm>
          <a:prstGeom prst="rect">
            <a:avLst/>
          </a:prstGeom>
        </p:spPr>
      </p:pic>
      <p:graphicFrame>
        <p:nvGraphicFramePr>
          <p:cNvPr id="4" name="Table 3"/>
          <p:cNvGraphicFramePr>
            <a:graphicFrameLocks noGrp="1"/>
          </p:cNvGraphicFramePr>
          <p:nvPr/>
        </p:nvGraphicFramePr>
        <p:xfrm>
          <a:off x="822960" y="3977639"/>
          <a:ext cx="11793855" cy="2048256"/>
        </p:xfrm>
        <a:graphic>
          <a:graphicData uri="http://schemas.openxmlformats.org/drawingml/2006/table">
            <a:tbl>
              <a:tblPr firstRow="1">
                <a:tableStyleId>{5C22544A-7EE6-4342-B048-85BDC9FD1C3A}</a:tableStyleId>
              </a:tblPr>
              <a:tblGrid>
                <a:gridCol w="4717542"/>
                <a:gridCol w="7076313"/>
              </a:tblGrid>
              <a:tr h="365760">
                <a:tc>
                  <a:txBody>
                    <a:bodyPr wrap="square"/>
                    <a:lstStyle/>
                    <a:p>
                      <a:pPr>
                        <a:lnSpc>
                          <a:spcPct val="100000"/>
                        </a:lnSpc>
                      </a:pPr>
                      <a:r>
                        <a:rPr sz="1250" b="1">
                          <a:solidFill>
                            <a:srgbClr val="FFFFFF"/>
                          </a:solidFill>
                          <a:latin typeface="游ゴシック"/>
                          <a:ea typeface="游ゴシック"/>
                          <a:cs typeface="游ゴシック"/>
                        </a:rPr>
                        <a:t>施策</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420624">
                <a:tc>
                  <a:txBody>
                    <a:bodyPr wrap="square"/>
                    <a:lstStyle/>
                    <a:p>
                      <a:pPr>
                        <a:lnSpc>
                          <a:spcPct val="100000"/>
                        </a:lnSpc>
                      </a:pPr>
                      <a:r>
                        <a:rPr sz="1250" b="0">
                          <a:solidFill>
                            <a:srgbClr val="232323"/>
                          </a:solidFill>
                          <a:latin typeface="游ゴシック"/>
                          <a:ea typeface="游ゴシック"/>
                          <a:cs typeface="游ゴシック"/>
                        </a:rPr>
                        <a:t>グループ有効期限ポリシー（未使用を自動失効）</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E3標準（Entra P1）</a:t>
                      </a:r>
                    </a:p>
                  </a:txBody>
                  <a:tcPr marL="64008" marR="45720" marT="13716" marB="13716" anchor="ctr">
                    <a:solidFill>
                      <a:srgbClr val="DBF1F7"/>
                    </a:solidFill>
                  </a:tcPr>
                </a:tc>
              </a:tr>
              <a:tr h="420624">
                <a:tc>
                  <a:txBody>
                    <a:bodyPr wrap="square"/>
                    <a:lstStyle/>
                    <a:p>
                      <a:pPr>
                        <a:lnSpc>
                          <a:spcPct val="100000"/>
                        </a:lnSpc>
                      </a:pPr>
                      <a:r>
                        <a:rPr sz="1250" b="0">
                          <a:solidFill>
                            <a:srgbClr val="232323"/>
                          </a:solidFill>
                          <a:latin typeface="游ゴシック"/>
                          <a:ea typeface="游ゴシック"/>
                          <a:cs typeface="游ゴシック"/>
                        </a:rPr>
                        <a:t>非アクティブサイトポリシー（放置を自動検出・通知）</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420624">
                <a:tc>
                  <a:txBody>
                    <a:bodyPr wrap="square"/>
                    <a:lstStyle/>
                    <a:p>
                      <a:pPr>
                        <a:lnSpc>
                          <a:spcPct val="100000"/>
                        </a:lnSpc>
                      </a:pPr>
                      <a:r>
                        <a:rPr sz="1250" b="0">
                          <a:solidFill>
                            <a:srgbClr val="232323"/>
                          </a:solidFill>
                          <a:latin typeface="游ゴシック"/>
                          <a:ea typeface="游ゴシック"/>
                          <a:cs typeface="游ゴシック"/>
                        </a:rPr>
                        <a:t>サイト所有権ポリシー（所有者要件を自動是正）</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420624">
                <a:tc>
                  <a:txBody>
                    <a:bodyPr wrap="square"/>
                    <a:lstStyle/>
                    <a:p>
                      <a:pPr>
                        <a:lnSpc>
                          <a:spcPct val="100000"/>
                        </a:lnSpc>
                      </a:pPr>
                      <a:r>
                        <a:rPr sz="1250" b="0">
                          <a:solidFill>
                            <a:srgbClr val="232323"/>
                          </a:solidFill>
                          <a:latin typeface="游ゴシック"/>
                          <a:ea typeface="游ゴシック"/>
                          <a:cs typeface="游ゴシック"/>
                        </a:rPr>
                        <a:t>Microsoft 365 Archive（低コスト保管）</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要追加（従量課金）</a:t>
                      </a:r>
                    </a:p>
                  </a:txBody>
                  <a:tcPr marL="64008" marR="45720" marT="13716" marB="13716" anchor="ctr">
                    <a:solidFill>
                      <a:srgbClr val="FAE5E3"/>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所有者不在リスク・過剰共有の是正</a:t>
            </a:r>
          </a:p>
        </p:txBody>
      </p:sp>
      <p:sp>
        <p:nvSpPr>
          <p:cNvPr id="3" name="Rounded Rectangle 2"/>
          <p:cNvSpPr/>
          <p:nvPr/>
        </p:nvSpPr>
        <p:spPr>
          <a:xfrm>
            <a:off x="822960" y="1143000"/>
            <a:ext cx="11793855" cy="100584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786384"/>
          </a:xfrm>
          <a:prstGeom prst="rect">
            <a:avLst/>
          </a:prstGeom>
          <a:noFill/>
        </p:spPr>
        <p:txBody>
          <a:bodyPr wrap="square" anchor="ctr" lIns="0" rIns="0" tIns="0" bIns="0">
            <a:spAutoFit/>
          </a:bodyPr>
          <a:lstStyle/>
          <a:p>
            <a:pPr algn="l">
              <a:lnSpc>
                <a:spcPct val="120000"/>
              </a:lnSpc>
            </a:pPr>
            <a:r>
              <a:rPr sz="1350" b="1">
                <a:solidFill>
                  <a:srgbClr val="B0432B"/>
                </a:solidFill>
                <a:latin typeface="游ゴシック"/>
                <a:ea typeface="游ゴシック"/>
                <a:cs typeface="游ゴシック"/>
              </a:rPr>
              <a:t>最大のリスクは所有者不在サイト　</a:t>
            </a:r>
            <a:r>
              <a:rPr sz="1350" b="0">
                <a:solidFill>
                  <a:srgbClr val="232323"/>
                </a:solidFill>
                <a:latin typeface="游ゴシック"/>
                <a:ea typeface="游ゴシック"/>
                <a:cs typeface="游ゴシック"/>
              </a:rPr>
              <a:t>退職・異動で所有者がいなくなると権限変更もできず放置され最も危険。「所有者2名以上」を徹底。規模が大きければ SAM のサイト所有権ポリシーで自動検知・是正。</a:t>
            </a:r>
          </a:p>
        </p:txBody>
      </p:sp>
      <p:graphicFrame>
        <p:nvGraphicFramePr>
          <p:cNvPr id="5" name="Table 4"/>
          <p:cNvGraphicFramePr>
            <a:graphicFrameLocks noGrp="1"/>
          </p:cNvGraphicFramePr>
          <p:nvPr/>
        </p:nvGraphicFramePr>
        <p:xfrm>
          <a:off x="822960" y="2377440"/>
          <a:ext cx="11793854" cy="1920240"/>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施策（過剰共有の是正）</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内容</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512064">
                <a:tc>
                  <a:txBody>
                    <a:bodyPr wrap="square"/>
                    <a:lstStyle/>
                    <a:p>
                      <a:pPr>
                        <a:lnSpc>
                          <a:spcPct val="100000"/>
                        </a:lnSpc>
                      </a:pPr>
                      <a:r>
                        <a:rPr sz="1250" b="0">
                          <a:solidFill>
                            <a:srgbClr val="232323"/>
                          </a:solidFill>
                          <a:latin typeface="游ゴシック"/>
                          <a:ea typeface="游ゴシック"/>
                          <a:cs typeface="游ゴシック"/>
                        </a:rPr>
                        <a:t>データアクセスガバナンスレポート</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過剰共有・機密コンテンツを検出・可視化</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512064">
                <a:tc>
                  <a:txBody>
                    <a:bodyPr wrap="square"/>
                    <a:lstStyle/>
                    <a:p>
                      <a:pPr>
                        <a:lnSpc>
                          <a:spcPct val="100000"/>
                        </a:lnSpc>
                      </a:pPr>
                      <a:r>
                        <a:rPr sz="1250" b="0">
                          <a:solidFill>
                            <a:srgbClr val="232323"/>
                          </a:solidFill>
                          <a:latin typeface="游ゴシック"/>
                          <a:ea typeface="游ゴシック"/>
                          <a:cs typeface="游ゴシック"/>
                        </a:rPr>
                        <a:t>制限付きアクセス制御</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指定グループだけにサイトアクセスを限定</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r h="512064">
                <a:tc>
                  <a:txBody>
                    <a:bodyPr wrap="square"/>
                    <a:lstStyle/>
                    <a:p>
                      <a:pPr>
                        <a:lnSpc>
                          <a:spcPct val="100000"/>
                        </a:lnSpc>
                      </a:pPr>
                      <a:r>
                        <a:rPr sz="1250" b="0">
                          <a:solidFill>
                            <a:srgbClr val="232323"/>
                          </a:solidFill>
                          <a:latin typeface="游ゴシック"/>
                          <a:ea typeface="游ゴシック"/>
                          <a:cs typeface="游ゴシック"/>
                        </a:rPr>
                        <a:t>制限付きコンテンツ検出（RCD）</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対象サイトを検索/Copilot から除外</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bl>
          </a:graphicData>
        </a:graphic>
      </p:graphicFrame>
      <p:sp>
        <p:nvSpPr>
          <p:cNvPr id="6" name="Rounded Rectangle 5"/>
          <p:cNvSpPr/>
          <p:nvPr/>
        </p:nvSpPr>
        <p:spPr>
          <a:xfrm>
            <a:off x="822960" y="4389120"/>
            <a:ext cx="11793855" cy="82296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498848"/>
            <a:ext cx="11391519" cy="603504"/>
          </a:xfrm>
          <a:prstGeom prst="rect">
            <a:avLst/>
          </a:prstGeom>
          <a:noFill/>
        </p:spPr>
        <p:txBody>
          <a:bodyPr wrap="square" anchor="ctr" lIns="0" rIns="0" tIns="0" bIns="0">
            <a:spAutoFit/>
          </a:bodyPr>
          <a:lstStyle/>
          <a:p>
            <a:pPr algn="l">
              <a:lnSpc>
                <a:spcPct val="120000"/>
              </a:lnSpc>
            </a:pPr>
            <a:r>
              <a:rPr sz="1250" b="1">
                <a:solidFill>
                  <a:srgbClr val="B0432B"/>
                </a:solidFill>
                <a:latin typeface="游ゴシック"/>
                <a:ea typeface="游ゴシック"/>
                <a:cs typeface="游ゴシック"/>
              </a:rPr>
              <a:t>名前が似た2機能に注意　</a:t>
            </a:r>
            <a:r>
              <a:rPr sz="1250" b="0">
                <a:solidFill>
                  <a:srgbClr val="232323"/>
                </a:solidFill>
                <a:latin typeface="游ゴシック"/>
                <a:ea typeface="游ゴシック"/>
                <a:cs typeface="游ゴシック"/>
              </a:rPr>
              <a:t>RCD（Restricted Content Discovery）＝SAM（有償）。RSS（Restricted SharePoint Search・フェーズ4）＝無償。ライセンス帰属が真逆。</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アクセスレビュー・可視化・運用体制</a:t>
            </a:r>
          </a:p>
        </p:txBody>
      </p:sp>
      <p:sp>
        <p:nvSpPr>
          <p:cNvPr id="3" name="Rounded Rectangle 2"/>
          <p:cNvSpPr/>
          <p:nvPr/>
        </p:nvSpPr>
        <p:spPr>
          <a:xfrm>
            <a:off x="822960" y="1143000"/>
            <a:ext cx="11793855" cy="18288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00" b="1">
                <a:solidFill>
                  <a:srgbClr val="1B5C80"/>
                </a:solidFill>
                <a:latin typeface="游ゴシック"/>
                <a:ea typeface="游ゴシック"/>
                <a:cs typeface="游ゴシック"/>
              </a:rPr>
              <a:t>棚卸しと可視化</a:t>
            </a:r>
          </a:p>
        </p:txBody>
      </p:sp>
      <p:sp>
        <p:nvSpPr>
          <p:cNvPr id="5" name="TextBox 4"/>
          <p:cNvSpPr txBox="1"/>
          <p:nvPr/>
        </p:nvSpPr>
        <p:spPr>
          <a:xfrm>
            <a:off x="1078992" y="1600200"/>
            <a:ext cx="11336655" cy="1280160"/>
          </a:xfrm>
          <a:prstGeom prst="rect">
            <a:avLst/>
          </a:prstGeom>
          <a:noFill/>
        </p:spPr>
        <p:txBody>
          <a:bodyPr wrap="square" lIns="0" rIns="0" tIns="0" bIns="0">
            <a:spAutoFit/>
          </a:bodyPr>
          <a:lstStyle/>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アクセスレビュー：ゲスト等を定期レビューし不要を自動削除（Entra P2）</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B2B 招待自体は E3標準。自動棚卸しは P2/Governance</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利用状況レポート（管理センター）は E3標準。まず現状を数字で把握</a:t>
            </a:r>
          </a:p>
        </p:txBody>
      </p:sp>
      <p:graphicFrame>
        <p:nvGraphicFramePr>
          <p:cNvPr id="6" name="Table 5"/>
          <p:cNvGraphicFramePr>
            <a:graphicFrameLocks noGrp="1"/>
          </p:cNvGraphicFramePr>
          <p:nvPr/>
        </p:nvGraphicFramePr>
        <p:xfrm>
          <a:off x="822960" y="3383280"/>
          <a:ext cx="11793855" cy="2212848"/>
        </p:xfrm>
        <a:graphic>
          <a:graphicData uri="http://schemas.openxmlformats.org/drawingml/2006/table">
            <a:tbl>
              <a:tblPr firstRow="1">
                <a:tableStyleId>{5C22544A-7EE6-4342-B048-85BDC9FD1C3A}</a:tableStyleId>
              </a:tblPr>
              <a:tblGrid>
                <a:gridCol w="4717542"/>
                <a:gridCol w="7076313"/>
              </a:tblGrid>
              <a:tr h="384048">
                <a:tc>
                  <a:txBody>
                    <a:bodyPr wrap="square"/>
                    <a:lstStyle/>
                    <a:p>
                      <a:pPr>
                        <a:lnSpc>
                          <a:spcPct val="100000"/>
                        </a:lnSpc>
                      </a:pPr>
                      <a:r>
                        <a:rPr sz="1250" b="1">
                          <a:solidFill>
                            <a:srgbClr val="FFFFFF"/>
                          </a:solidFill>
                          <a:latin typeface="游ゴシック"/>
                          <a:ea typeface="游ゴシック"/>
                          <a:cs typeface="游ゴシック"/>
                        </a:rPr>
                        <a:t>役割</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主な責務</a:t>
                      </a:r>
                    </a:p>
                  </a:txBody>
                  <a:tcPr marL="64008" marR="45720" marT="13716" marB="13716" anchor="ctr">
                    <a:solidFill>
                      <a:srgbClr val="1B5C80"/>
                    </a:solidFill>
                  </a:tcPr>
                </a:tc>
              </a:tr>
              <a:tr h="457200">
                <a:tc>
                  <a:txBody>
                    <a:bodyPr wrap="square"/>
                    <a:lstStyle/>
                    <a:p>
                      <a:pPr>
                        <a:lnSpc>
                          <a:spcPct val="100000"/>
                        </a:lnSpc>
                      </a:pPr>
                      <a:r>
                        <a:rPr sz="1250" b="0">
                          <a:solidFill>
                            <a:srgbClr val="232323"/>
                          </a:solidFill>
                          <a:latin typeface="游ゴシック"/>
                          <a:ea typeface="游ゴシック"/>
                          <a:cs typeface="游ゴシック"/>
                        </a:rPr>
                        <a:t>ガバナンス・コアチーム</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プロビジョニング・命名・外部共有・保持の全社方針を決定・維持</a:t>
                      </a:r>
                    </a:p>
                  </a:txBody>
                  <a:tcPr marL="64008" marR="45720" marT="13716" marB="13716" anchor="ctr">
                    <a:solidFill>
                      <a:srgbClr val="FFFFFF"/>
                    </a:solidFill>
                  </a:tcPr>
                </a:tc>
              </a:tr>
              <a:tr h="457200">
                <a:tc>
                  <a:txBody>
                    <a:bodyPr wrap="square"/>
                    <a:lstStyle/>
                    <a:p>
                      <a:pPr>
                        <a:lnSpc>
                          <a:spcPct val="100000"/>
                        </a:lnSpc>
                      </a:pPr>
                      <a:r>
                        <a:rPr sz="1250" b="0">
                          <a:solidFill>
                            <a:srgbClr val="232323"/>
                          </a:solidFill>
                          <a:latin typeface="游ゴシック"/>
                          <a:ea typeface="游ゴシック"/>
                          <a:cs typeface="游ゴシック"/>
                        </a:rPr>
                        <a:t>SharePoint／M365 管理者</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テナント設定・テンプレート・レポート監視・ポリシー適用</a:t>
                      </a:r>
                    </a:p>
                  </a:txBody>
                  <a:tcPr marL="64008" marR="45720" marT="13716" marB="13716" anchor="ctr">
                    <a:solidFill>
                      <a:srgbClr val="F3F9FB"/>
                    </a:solidFill>
                  </a:tcPr>
                </a:tc>
              </a:tr>
              <a:tr h="457200">
                <a:tc>
                  <a:txBody>
                    <a:bodyPr wrap="square"/>
                    <a:lstStyle/>
                    <a:p>
                      <a:pPr>
                        <a:lnSpc>
                          <a:spcPct val="100000"/>
                        </a:lnSpc>
                      </a:pPr>
                      <a:r>
                        <a:rPr sz="1250" b="0">
                          <a:solidFill>
                            <a:srgbClr val="232323"/>
                          </a:solidFill>
                          <a:latin typeface="游ゴシック"/>
                          <a:ea typeface="游ゴシック"/>
                          <a:cs typeface="游ゴシック"/>
                        </a:rPr>
                        <a:t>サイト所有者（現場）</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自サイトのメンバー・権限・コンテンツ管理（2名以上）</a:t>
                      </a:r>
                    </a:p>
                  </a:txBody>
                  <a:tcPr marL="64008" marR="45720" marT="13716" marB="13716" anchor="ctr">
                    <a:solidFill>
                      <a:srgbClr val="FFFFFF"/>
                    </a:solidFill>
                  </a:tcPr>
                </a:tc>
              </a:tr>
              <a:tr h="457200">
                <a:tc>
                  <a:txBody>
                    <a:bodyPr wrap="square"/>
                    <a:lstStyle/>
                    <a:p>
                      <a:pPr>
                        <a:lnSpc>
                          <a:spcPct val="100000"/>
                        </a:lnSpc>
                      </a:pPr>
                      <a:r>
                        <a:rPr sz="1250" b="0">
                          <a:solidFill>
                            <a:srgbClr val="232323"/>
                          </a:solidFill>
                          <a:latin typeface="游ゴシック"/>
                          <a:ea typeface="游ゴシック"/>
                          <a:cs typeface="游ゴシック"/>
                        </a:rPr>
                        <a:t>一般利用者</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棲み分け・ラベル・共有ルールの遵守</a:t>
                      </a:r>
                    </a:p>
                  </a:txBody>
                  <a:tcPr marL="64008" marR="45720" marT="13716" marB="13716" anchor="ctr">
                    <a:solidFill>
                      <a:srgbClr val="F3F9FB"/>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フェーズ3 まとめ</a:t>
            </a:r>
          </a:p>
        </p:txBody>
      </p:sp>
      <p:sp>
        <p:nvSpPr>
          <p:cNvPr id="3" name="TextBox 2"/>
          <p:cNvSpPr txBox="1"/>
          <p:nvPr/>
        </p:nvSpPr>
        <p:spPr>
          <a:xfrm>
            <a:off x="822960" y="1143000"/>
            <a:ext cx="11793855" cy="3931920"/>
          </a:xfrm>
          <a:prstGeom prst="rect">
            <a:avLst/>
          </a:prstGeom>
          <a:noFill/>
        </p:spPr>
        <p:txBody>
          <a:bodyPr wrap="square" lIns="0" rIns="0" tIns="0" bIns="0">
            <a:spAutoFit/>
          </a:bodyPr>
          <a:lstStyle/>
          <a:p>
            <a:pPr>
              <a:lnSpc>
                <a:spcPct val="112000"/>
              </a:lnSpc>
              <a:spcAft>
                <a:spcPts val="14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作らせ方の統制（作成制限・命名・有効期限）は E3標準で着手（Entra P1 内包）</a:t>
            </a:r>
          </a:p>
          <a:p>
            <a:pPr>
              <a:lnSpc>
                <a:spcPct val="112000"/>
              </a:lnSpc>
              <a:spcAft>
                <a:spcPts val="1400"/>
              </a:spcAft>
            </a:pPr>
            <a:r>
              <a:rPr sz="1600" b="1">
                <a:solidFill>
                  <a:srgbClr val="1B5C80"/>
                </a:solidFill>
                <a:latin typeface="游ゴシック"/>
                <a:ea typeface="游ゴシック"/>
                <a:cs typeface="游ゴシック"/>
              </a:rPr>
              <a:t>■ </a:t>
            </a:r>
            <a:r>
              <a:rPr sz="1600" b="1">
                <a:solidFill>
                  <a:srgbClr val="B0432B"/>
                </a:solidFill>
                <a:latin typeface="游ゴシック"/>
                <a:ea typeface="游ゴシック"/>
                <a:cs typeface="游ゴシック"/>
              </a:rPr>
              <a:t>ライフサイクル自動化（放置検出・所有権是正・過剰共有是正）は SAM（有償）</a:t>
            </a:r>
          </a:p>
          <a:p>
            <a:pPr>
              <a:lnSpc>
                <a:spcPct val="112000"/>
              </a:lnSpc>
              <a:spcAft>
                <a:spcPts val="1400"/>
              </a:spcAft>
            </a:pPr>
            <a:r>
              <a:rPr sz="1600" b="1">
                <a:solidFill>
                  <a:srgbClr val="1B5C80"/>
                </a:solidFill>
                <a:latin typeface="游ゴシック"/>
                <a:ea typeface="游ゴシック"/>
                <a:cs typeface="游ゴシック"/>
              </a:rPr>
              <a:t>■ </a:t>
            </a:r>
            <a:r>
              <a:rPr sz="1600" b="1">
                <a:solidFill>
                  <a:srgbClr val="B0432B"/>
                </a:solidFill>
                <a:latin typeface="游ゴシック"/>
                <a:ea typeface="游ゴシック"/>
                <a:cs typeface="游ゴシック"/>
              </a:rPr>
              <a:t>アクセスレビューは Entra P2、低コスト保管は M365 Archive（従量課金）</a:t>
            </a:r>
          </a:p>
          <a:p>
            <a:pPr>
              <a:lnSpc>
                <a:spcPct val="112000"/>
              </a:lnSpc>
              <a:spcAft>
                <a:spcPts val="14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可視化（利用状況レポート）は E3標準で今すぐ。最大リスクは所有者不在サイト</a:t>
            </a:r>
          </a:p>
          <a:p>
            <a:pPr>
              <a:lnSpc>
                <a:spcPct val="112000"/>
              </a:lnSpc>
              <a:spcAft>
                <a:spcPts val="14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運用体制：ガバナンス・コアチーム＋1枚のガイドラインを用意</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rPr>
                <a:latin typeface="游ゴシック"/>
              </a:rPr>
              <a:t>Phase 4 ｜ 高度化・活用（任意）</a:t>
            </a:r>
          </a:p>
        </p:txBody>
      </p:sp>
      <p:sp>
        <p:nvSpPr>
          <p:cNvPr id="4" name="TextBox 3"/>
          <p:cNvSpPr txBox="1"/>
          <p:nvPr/>
        </p:nvSpPr>
        <p:spPr>
          <a:xfrm>
            <a:off x="1097280" y="5138928"/>
            <a:ext cx="11247120" cy="384048"/>
          </a:xfrm>
          <a:prstGeom prst="rect">
            <a:avLst/>
          </a:prstGeom>
          <a:noFill/>
        </p:spPr>
        <p:txBody>
          <a:bodyPr wrap="square" anchor="ctr" lIns="0" rIns="0" tIns="0" bIns="0">
            <a:spAutoFit/>
          </a:bodyPr>
          <a:lstStyle/>
          <a:p>
            <a:pPr algn="l">
              <a:lnSpc>
                <a:spcPct val="108000"/>
              </a:lnSpc>
              <a:spcBef>
                <a:spcPts val="0"/>
              </a:spcBef>
              <a:spcAft>
                <a:spcPts val="300"/>
              </a:spcAft>
            </a:pPr>
            <a:r>
              <a:rPr sz="1550" b="0">
                <a:solidFill>
                  <a:srgbClr val="1B5C80"/>
                </a:solidFill>
                <a:latin typeface="游ゴシック"/>
                <a:ea typeface="游ゴシック"/>
                <a:cs typeface="游ゴシック"/>
              </a:rPr>
              <a:t>Copilot／Power Platform ― 付属機能と追加課金を区別して段階導入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フェーズ4 でできることの全体像</a:t>
            </a:r>
          </a:p>
        </p:txBody>
      </p:sp>
      <p:sp>
        <p:nvSpPr>
          <p:cNvPr id="3" name="Rounded Rectangle 2"/>
          <p:cNvSpPr/>
          <p:nvPr/>
        </p:nvSpPr>
        <p:spPr>
          <a:xfrm>
            <a:off x="822960" y="1051560"/>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51560"/>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51560"/>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51560"/>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pic>
        <p:nvPicPr>
          <p:cNvPr id="7" name="Picture 6" descr="p4map.png"/>
          <p:cNvPicPr>
            <a:picLocks noChangeAspect="1"/>
          </p:cNvPicPr>
          <p:nvPr/>
        </p:nvPicPr>
        <p:blipFill>
          <a:blip r:embed="rId2"/>
          <a:stretch>
            <a:fillRect/>
          </a:stretch>
        </p:blipFill>
        <p:spPr>
          <a:xfrm>
            <a:off x="4556859" y="1554480"/>
            <a:ext cx="4326057" cy="448056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追加費用の要否ひとめ表（フェーズ4）</a:t>
            </a:r>
          </a:p>
        </p:txBody>
      </p:sp>
      <p:sp>
        <p:nvSpPr>
          <p:cNvPr id="3" name="Rounded Rectangle 2"/>
          <p:cNvSpPr/>
          <p:nvPr/>
        </p:nvSpPr>
        <p:spPr>
          <a:xfrm>
            <a:off x="822960" y="1024128"/>
            <a:ext cx="1051560" cy="310896"/>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1B5C80"/>
                </a:solidFill>
                <a:latin typeface="游ゴシック"/>
                <a:ea typeface="游ゴシック"/>
                <a:cs typeface="游ゴシック"/>
              </a:rPr>
              <a:t>E3標準</a:t>
            </a:r>
          </a:p>
        </p:txBody>
      </p:sp>
      <p:sp>
        <p:nvSpPr>
          <p:cNvPr id="4" name="TextBox 3"/>
          <p:cNvSpPr txBox="1"/>
          <p:nvPr/>
        </p:nvSpPr>
        <p:spPr>
          <a:xfrm>
            <a:off x="1938528" y="1024128"/>
            <a:ext cx="17373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追加費用なし</a:t>
            </a:r>
          </a:p>
        </p:txBody>
      </p:sp>
      <p:sp>
        <p:nvSpPr>
          <p:cNvPr id="5" name="Rounded Rectangle 4"/>
          <p:cNvSpPr/>
          <p:nvPr/>
        </p:nvSpPr>
        <p:spPr>
          <a:xfrm>
            <a:off x="3749040" y="1024128"/>
            <a:ext cx="1554480" cy="310896"/>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B0432B"/>
                </a:solidFill>
                <a:latin typeface="游ゴシック"/>
                <a:ea typeface="游ゴシック"/>
                <a:cs typeface="游ゴシック"/>
              </a:rPr>
              <a:t>要追加ライセンス</a:t>
            </a:r>
          </a:p>
        </p:txBody>
      </p:sp>
      <p:sp>
        <p:nvSpPr>
          <p:cNvPr id="6" name="TextBox 5"/>
          <p:cNvSpPr txBox="1"/>
          <p:nvPr/>
        </p:nvSpPr>
        <p:spPr>
          <a:xfrm>
            <a:off x="5394960" y="1024128"/>
            <a:ext cx="3108960" cy="310896"/>
          </a:xfrm>
          <a:prstGeom prst="rect">
            <a:avLst/>
          </a:prstGeom>
          <a:noFill/>
        </p:spPr>
        <p:txBody>
          <a:bodyPr wrap="square" anchor="ctr"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別途の購入・契約が必要</a:t>
            </a:r>
          </a:p>
        </p:txBody>
      </p:sp>
      <p:graphicFrame>
        <p:nvGraphicFramePr>
          <p:cNvPr id="7" name="Table 6"/>
          <p:cNvGraphicFramePr>
            <a:graphicFrameLocks noGrp="1"/>
          </p:cNvGraphicFramePr>
          <p:nvPr/>
        </p:nvGraphicFramePr>
        <p:xfrm>
          <a:off x="822960" y="1463040"/>
          <a:ext cx="11793854" cy="4910328"/>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できること</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追加費用</a:t>
                      </a:r>
                    </a:p>
                  </a:txBody>
                  <a:tcPr marL="64008" marR="45720" marT="13716" marB="13716" anchor="ctr">
                    <a:solidFill>
                      <a:srgbClr val="1B5C80"/>
                    </a:solidFill>
                  </a:tcPr>
                </a:tc>
              </a:tr>
              <a:tr h="502920">
                <a:tc>
                  <a:txBody>
                    <a:bodyPr wrap="square"/>
                    <a:lstStyle/>
                    <a:p>
                      <a:pPr>
                        <a:lnSpc>
                          <a:spcPct val="100000"/>
                        </a:lnSpc>
                      </a:pPr>
                      <a:r>
                        <a:rPr sz="1250" b="0">
                          <a:solidFill>
                            <a:srgbClr val="232323"/>
                          </a:solidFill>
                          <a:latin typeface="游ゴシック"/>
                          <a:ea typeface="游ゴシック"/>
                          <a:cs typeface="游ゴシック"/>
                        </a:rPr>
                        <a:t>Lists / Forms / Loop</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簡易DB・アンケート・共同編集</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Viva Connections（基本）</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ポータルを従業員ダッシュボード化</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Power Automate（標準コネクタ）</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承認・通知・転記の自動化</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Power Apps（Basic）</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SharePoint リスト連携アプリ</a:t>
                      </a:r>
                    </a:p>
                  </a:txBody>
                  <a:tcPr marL="64008" marR="45720" marT="13716" marB="13716" anchor="ctr">
                    <a:solidFill>
                      <a:srgbClr val="F3F9FB"/>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Restricted SharePoint Search（RSS）</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Copilot の参照範囲を一時的に限定</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502920">
                <a:tc>
                  <a:txBody>
                    <a:bodyPr wrap="square"/>
                    <a:lstStyle/>
                    <a:p>
                      <a:pPr>
                        <a:lnSpc>
                          <a:spcPct val="100000"/>
                        </a:lnSpc>
                      </a:pPr>
                      <a:r>
                        <a:rPr sz="1250" b="0">
                          <a:solidFill>
                            <a:srgbClr val="232323"/>
                          </a:solidFill>
                          <a:latin typeface="游ゴシック"/>
                          <a:ea typeface="游ゴシック"/>
                          <a:cs typeface="游ゴシック"/>
                        </a:rPr>
                        <a:t>Microsoft 365 Copilot</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社内知識を AI で検索・要約・生成</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要追加（Copilot）</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Power Automate/Apps（Premium）</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基幹系連携・本格アプリ展開</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要追加（Premium）</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Power BI（レポート作成・公開）</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データをグラフ化・共有</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要追加（Power BI Pro）</a:t>
                      </a:r>
                    </a:p>
                  </a:txBody>
                  <a:tcPr marL="64008" marR="45720" marT="13716" marB="13716" anchor="ctr">
                    <a:solidFill>
                      <a:srgbClr val="FAE5E3"/>
                    </a:solidFill>
                  </a:tcPr>
                </a:tc>
              </a:tr>
              <a:tr h="502920">
                <a:tc>
                  <a:txBody>
                    <a:bodyPr wrap="square"/>
                    <a:lstStyle/>
                    <a:p>
                      <a:pPr>
                        <a:lnSpc>
                          <a:spcPct val="100000"/>
                        </a:lnSpc>
                      </a:pPr>
                      <a:r>
                        <a:rPr sz="1250" b="0">
                          <a:solidFill>
                            <a:srgbClr val="232323"/>
                          </a:solidFill>
                          <a:latin typeface="游ゴシック"/>
                          <a:ea typeface="游ゴシック"/>
                          <a:cs typeface="游ゴシック"/>
                        </a:rPr>
                        <a:t>過剰共有の恒久是正（RCD 等）</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Copilot 前の是正を自動化</a:t>
                      </a:r>
                    </a:p>
                  </a:txBody>
                  <a:tcPr marL="64008" marR="45720" marT="13716" marB="13716" anchor="ctr">
                    <a:solidFill>
                      <a:srgbClr val="FFFFFF"/>
                    </a:solidFill>
                  </a:tcPr>
                </a:tc>
                <a:tc>
                  <a:txBody>
                    <a:bodyPr wrap="square"/>
                    <a:lstStyle/>
                    <a:p>
                      <a:pPr>
                        <a:lnSpc>
                          <a:spcPct val="100000"/>
                        </a:lnSpc>
                      </a:pPr>
                      <a:r>
                        <a:rPr sz="1250" b="1">
                          <a:solidFill>
                            <a:srgbClr val="B0432B"/>
                          </a:solidFill>
                          <a:latin typeface="游ゴシック"/>
                          <a:ea typeface="游ゴシック"/>
                          <a:cs typeface="游ゴシック"/>
                        </a:rPr>
                        <a:t>要追加（SAM）</a:t>
                      </a:r>
                    </a:p>
                  </a:txBody>
                  <a:tcPr marL="64008" marR="45720" marT="13716" marB="13716" anchor="ctr">
                    <a:solidFill>
                      <a:srgbClr val="FAE5E3"/>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Copilot は「過剰共有」をそのまま映す鏡</a:t>
            </a:r>
          </a:p>
        </p:txBody>
      </p:sp>
      <p:pic>
        <p:nvPicPr>
          <p:cNvPr id="3" name="Picture 2" descr="copilot.png"/>
          <p:cNvPicPr>
            <a:picLocks noChangeAspect="1"/>
          </p:cNvPicPr>
          <p:nvPr/>
        </p:nvPicPr>
        <p:blipFill>
          <a:blip r:embed="rId2"/>
          <a:stretch>
            <a:fillRect/>
          </a:stretch>
        </p:blipFill>
        <p:spPr>
          <a:xfrm>
            <a:off x="4047227" y="1143000"/>
            <a:ext cx="5345321" cy="2743200"/>
          </a:xfrm>
          <a:prstGeom prst="rect">
            <a:avLst/>
          </a:prstGeom>
        </p:spPr>
      </p:pic>
      <p:sp>
        <p:nvSpPr>
          <p:cNvPr id="4" name="Rounded Rectangle 3"/>
          <p:cNvSpPr/>
          <p:nvPr/>
        </p:nvSpPr>
        <p:spPr>
          <a:xfrm>
            <a:off x="822960" y="4343400"/>
            <a:ext cx="11793855" cy="1097280"/>
          </a:xfrm>
          <a:prstGeom prst="roundRect">
            <a:avLst>
              <a:gd name="adj" fmla="val 6000"/>
            </a:avLst>
          </a:prstGeom>
          <a:solidFill>
            <a:srgbClr val="FAE5E3"/>
          </a:solidFill>
          <a:ln w="12700">
            <a:solidFill>
              <a:srgbClr val="B043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453128"/>
            <a:ext cx="11391519" cy="877824"/>
          </a:xfrm>
          <a:prstGeom prst="rect">
            <a:avLst/>
          </a:prstGeom>
          <a:noFill/>
        </p:spPr>
        <p:txBody>
          <a:bodyPr wrap="square" anchor="ctr" lIns="0" rIns="0" tIns="0" bIns="0">
            <a:spAutoFit/>
          </a:bodyPr>
          <a:lstStyle/>
          <a:p>
            <a:pPr algn="l">
              <a:lnSpc>
                <a:spcPct val="120000"/>
              </a:lnSpc>
            </a:pPr>
            <a:r>
              <a:rPr sz="1400" b="1">
                <a:solidFill>
                  <a:srgbClr val="B0432B"/>
                </a:solidFill>
                <a:latin typeface="游ゴシック"/>
                <a:ea typeface="游ゴシック"/>
                <a:cs typeface="游ゴシック"/>
              </a:rPr>
              <a:t>最重要　</a:t>
            </a:r>
            <a:r>
              <a:rPr sz="1400" b="0">
                <a:solidFill>
                  <a:srgbClr val="232323"/>
                </a:solidFill>
                <a:latin typeface="游ゴシック"/>
                <a:ea typeface="游ゴシック"/>
                <a:cs typeface="游ゴシック"/>
              </a:rPr>
              <a:t>Copilot はユーザーがアクセスできる情報を答える。放置された過剰共有はそのまま引き出される。フェーズ1〜3（権限整理・ラベル・過剰共有是正）が導入の前提。地ならしが成否を決める。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Copilot 導入前チェックと是正手段</a:t>
            </a:r>
          </a:p>
        </p:txBody>
      </p:sp>
      <p:sp>
        <p:nvSpPr>
          <p:cNvPr id="3" name="Rounded Rectangle 2"/>
          <p:cNvSpPr/>
          <p:nvPr/>
        </p:nvSpPr>
        <p:spPr>
          <a:xfrm>
            <a:off x="822960" y="1143000"/>
            <a:ext cx="11793855" cy="18288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1252728"/>
            <a:ext cx="11391519" cy="292608"/>
          </a:xfrm>
          <a:prstGeom prst="rect">
            <a:avLst/>
          </a:prstGeom>
          <a:noFill/>
        </p:spPr>
        <p:txBody>
          <a:bodyPr wrap="square" anchor="t" lIns="0" rIns="0" tIns="0" bIns="0">
            <a:spAutoFit/>
          </a:bodyPr>
          <a:lstStyle/>
          <a:p>
            <a:pPr algn="l">
              <a:lnSpc>
                <a:spcPct val="108000"/>
              </a:lnSpc>
              <a:spcBef>
                <a:spcPts val="0"/>
              </a:spcBef>
              <a:spcAft>
                <a:spcPts val="300"/>
              </a:spcAft>
            </a:pPr>
            <a:r>
              <a:rPr sz="1300" b="1">
                <a:solidFill>
                  <a:srgbClr val="1B5C80"/>
                </a:solidFill>
                <a:latin typeface="游ゴシック"/>
                <a:ea typeface="游ゴシック"/>
                <a:cs typeface="游ゴシック"/>
              </a:rPr>
              <a:t>導入前チェック（フェーズ1〜3の総仕上げ）</a:t>
            </a:r>
          </a:p>
        </p:txBody>
      </p:sp>
      <p:sp>
        <p:nvSpPr>
          <p:cNvPr id="5" name="TextBox 4"/>
          <p:cNvSpPr txBox="1"/>
          <p:nvPr/>
        </p:nvSpPr>
        <p:spPr>
          <a:xfrm>
            <a:off x="1078992" y="1600200"/>
            <a:ext cx="11336655" cy="1280160"/>
          </a:xfrm>
          <a:prstGeom prst="rect">
            <a:avLst/>
          </a:prstGeom>
          <a:noFill/>
        </p:spPr>
        <p:txBody>
          <a:bodyPr wrap="square" lIns="0" rIns="0" tIns="0" bIns="0">
            <a:spAutoFit/>
          </a:bodyPr>
          <a:lstStyle/>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権限がサイト単位で整理され、個人直付け・過剰共有が是正されているか</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機密情報に秘密度ラベルが付き、暗号化文書は権限がないと参照されないか</a:t>
            </a:r>
          </a:p>
          <a:p>
            <a:pPr>
              <a:lnSpc>
                <a:spcPct val="112000"/>
              </a:lnSpc>
              <a:spcAft>
                <a:spcPts val="500"/>
              </a:spcAft>
            </a:pPr>
            <a:r>
              <a:rPr sz="1300" b="1">
                <a:solidFill>
                  <a:srgbClr val="1B5C80"/>
                </a:solidFill>
                <a:latin typeface="游ゴシック"/>
                <a:ea typeface="游ゴシック"/>
                <a:cs typeface="游ゴシック"/>
              </a:rPr>
              <a:t>■ </a:t>
            </a:r>
            <a:r>
              <a:rPr sz="1300" b="0">
                <a:solidFill>
                  <a:srgbClr val="232323"/>
                </a:solidFill>
                <a:latin typeface="游ゴシック"/>
                <a:ea typeface="游ゴシック"/>
                <a:cs typeface="游ゴシック"/>
              </a:rPr>
              <a:t>Copilot は権限・ラベルに準拠して Graph 経由で参照（権限昇格なし）</a:t>
            </a:r>
          </a:p>
        </p:txBody>
      </p:sp>
      <p:graphicFrame>
        <p:nvGraphicFramePr>
          <p:cNvPr id="6" name="Table 5"/>
          <p:cNvGraphicFramePr>
            <a:graphicFrameLocks noGrp="1"/>
          </p:cNvGraphicFramePr>
          <p:nvPr/>
        </p:nvGraphicFramePr>
        <p:xfrm>
          <a:off x="822960" y="3383280"/>
          <a:ext cx="11793854" cy="1591056"/>
        </p:xfrm>
        <a:graphic>
          <a:graphicData uri="http://schemas.openxmlformats.org/drawingml/2006/table">
            <a:tbl>
              <a:tblPr firstRow="1">
                <a:tableStyleId>{5C22544A-7EE6-4342-B048-85BDC9FD1C3A}</a:tableStyleId>
              </a:tblPr>
              <a:tblGrid>
                <a:gridCol w="3538156"/>
                <a:gridCol w="5189296"/>
                <a:gridCol w="3066402"/>
              </a:tblGrid>
              <a:tr h="384048">
                <a:tc>
                  <a:txBody>
                    <a:bodyPr wrap="square"/>
                    <a:lstStyle/>
                    <a:p>
                      <a:pPr>
                        <a:lnSpc>
                          <a:spcPct val="100000"/>
                        </a:lnSpc>
                      </a:pPr>
                      <a:r>
                        <a:rPr sz="125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役割</a:t>
                      </a:r>
                    </a:p>
                  </a:txBody>
                  <a:tcPr marL="64008" marR="45720" marT="13716" marB="13716" anchor="ctr">
                    <a:solidFill>
                      <a:srgbClr val="1B5C80"/>
                    </a:solidFill>
                  </a:tcPr>
                </a:tc>
                <a:tc>
                  <a:txBody>
                    <a:bodyPr wrap="square"/>
                    <a:lstStyle/>
                    <a:p>
                      <a:pPr>
                        <a:lnSpc>
                          <a:spcPct val="100000"/>
                        </a:lnSpc>
                      </a:pPr>
                      <a:r>
                        <a:rPr sz="125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603504">
                <a:tc>
                  <a:txBody>
                    <a:bodyPr wrap="square"/>
                    <a:lstStyle/>
                    <a:p>
                      <a:pPr>
                        <a:lnSpc>
                          <a:spcPct val="100000"/>
                        </a:lnSpc>
                      </a:pPr>
                      <a:r>
                        <a:rPr sz="1250" b="0">
                          <a:solidFill>
                            <a:srgbClr val="232323"/>
                          </a:solidFill>
                          <a:latin typeface="游ゴシック"/>
                          <a:ea typeface="游ゴシック"/>
                          <a:cs typeface="游ゴシック"/>
                        </a:rPr>
                        <a:t>Restricted SharePoint Search（RSS）</a:t>
                      </a:r>
                    </a:p>
                  </a:txBody>
                  <a:tcPr marL="64008" marR="45720" marT="13716" marB="13716" anchor="ctr">
                    <a:solidFill>
                      <a:srgbClr val="FFFFFF"/>
                    </a:solidFill>
                  </a:tcPr>
                </a:tc>
                <a:tc>
                  <a:txBody>
                    <a:bodyPr wrap="square"/>
                    <a:lstStyle/>
                    <a:p>
                      <a:pPr>
                        <a:lnSpc>
                          <a:spcPct val="100000"/>
                        </a:lnSpc>
                      </a:pPr>
                      <a:r>
                        <a:rPr sz="1250" b="0">
                          <a:solidFill>
                            <a:srgbClr val="232323"/>
                          </a:solidFill>
                          <a:latin typeface="游ゴシック"/>
                          <a:ea typeface="游ゴシック"/>
                          <a:cs typeface="游ゴシック"/>
                        </a:rPr>
                        <a:t>是正が済むまで参照範囲を許可リストに限定（最大100サイト）</a:t>
                      </a:r>
                    </a:p>
                  </a:txBody>
                  <a:tcPr marL="64008" marR="45720" marT="13716" marB="13716" anchor="ctr">
                    <a:solidFill>
                      <a:srgbClr val="FFFFFF"/>
                    </a:solidFill>
                  </a:tcPr>
                </a:tc>
                <a:tc>
                  <a:txBody>
                    <a:bodyPr wrap="square"/>
                    <a:lstStyle/>
                    <a:p>
                      <a:pPr>
                        <a:lnSpc>
                          <a:spcPct val="100000"/>
                        </a:lnSpc>
                      </a:pPr>
                      <a:r>
                        <a:rPr sz="1250" b="1">
                          <a:solidFill>
                            <a:srgbClr val="1B5C80"/>
                          </a:solidFill>
                          <a:latin typeface="游ゴシック"/>
                          <a:ea typeface="游ゴシック"/>
                          <a:cs typeface="游ゴシック"/>
                        </a:rPr>
                        <a:t>E3標準（無償・全テナント）</a:t>
                      </a:r>
                    </a:p>
                  </a:txBody>
                  <a:tcPr marL="64008" marR="45720" marT="13716" marB="13716" anchor="ctr">
                    <a:solidFill>
                      <a:srgbClr val="DBF1F7"/>
                    </a:solidFill>
                  </a:tcPr>
                </a:tc>
              </a:tr>
              <a:tr h="603504">
                <a:tc>
                  <a:txBody>
                    <a:bodyPr wrap="square"/>
                    <a:lstStyle/>
                    <a:p>
                      <a:pPr>
                        <a:lnSpc>
                          <a:spcPct val="100000"/>
                        </a:lnSpc>
                      </a:pPr>
                      <a:r>
                        <a:rPr sz="1250" b="0">
                          <a:solidFill>
                            <a:srgbClr val="232323"/>
                          </a:solidFill>
                          <a:latin typeface="游ゴシック"/>
                          <a:ea typeface="游ゴシック"/>
                          <a:cs typeface="游ゴシック"/>
                        </a:rPr>
                        <a:t>SharePoint Advanced Management（SAM）</a:t>
                      </a:r>
                    </a:p>
                  </a:txBody>
                  <a:tcPr marL="64008" marR="45720" marT="13716" marB="13716" anchor="ctr">
                    <a:solidFill>
                      <a:srgbClr val="F3F9FB"/>
                    </a:solidFill>
                  </a:tcPr>
                </a:tc>
                <a:tc>
                  <a:txBody>
                    <a:bodyPr wrap="square"/>
                    <a:lstStyle/>
                    <a:p>
                      <a:pPr>
                        <a:lnSpc>
                          <a:spcPct val="100000"/>
                        </a:lnSpc>
                      </a:pPr>
                      <a:r>
                        <a:rPr sz="1250" b="0">
                          <a:solidFill>
                            <a:srgbClr val="232323"/>
                          </a:solidFill>
                          <a:latin typeface="游ゴシック"/>
                          <a:ea typeface="游ゴシック"/>
                          <a:cs typeface="游ゴシック"/>
                        </a:rPr>
                        <a:t>過剰共有の恒久的是正・データアクセスガバナンス</a:t>
                      </a:r>
                    </a:p>
                  </a:txBody>
                  <a:tcPr marL="64008" marR="45720" marT="13716" marB="13716" anchor="ctr">
                    <a:solidFill>
                      <a:srgbClr val="F3F9FB"/>
                    </a:solidFill>
                  </a:tcPr>
                </a:tc>
                <a:tc>
                  <a:txBody>
                    <a:bodyPr wrap="square"/>
                    <a:lstStyle/>
                    <a:p>
                      <a:pPr>
                        <a:lnSpc>
                          <a:spcPct val="100000"/>
                        </a:lnSpc>
                      </a:pPr>
                      <a:r>
                        <a:rPr sz="1250" b="1">
                          <a:solidFill>
                            <a:srgbClr val="B0432B"/>
                          </a:solidFill>
                          <a:latin typeface="游ゴシック"/>
                          <a:ea typeface="游ゴシック"/>
                          <a:cs typeface="游ゴシック"/>
                        </a:rPr>
                        <a:t>要追加（SAM・一部Copilot付帯）</a:t>
                      </a:r>
                    </a:p>
                  </a:txBody>
                  <a:tcPr marL="64008" marR="45720" marT="13716" marB="13716" anchor="ctr">
                    <a:solidFill>
                      <a:srgbClr val="FAE5E3"/>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Power Platform：自動化・アプリ・BI・ガバナンス</a:t>
            </a:r>
          </a:p>
        </p:txBody>
      </p:sp>
      <p:sp>
        <p:nvSpPr>
          <p:cNvPr id="3" name="TextBox 2"/>
          <p:cNvSpPr txBox="1"/>
          <p:nvPr/>
        </p:nvSpPr>
        <p:spPr>
          <a:xfrm>
            <a:off x="822960" y="1143000"/>
            <a:ext cx="11793855" cy="2926080"/>
          </a:xfrm>
          <a:prstGeom prst="rect">
            <a:avLst/>
          </a:prstGeom>
          <a:noFill/>
        </p:spPr>
        <p:txBody>
          <a:bodyPr wrap="square" lIns="0" rIns="0" tIns="0" bIns="0">
            <a:spAutoFit/>
          </a:bodyPr>
          <a:lstStyle/>
          <a:p>
            <a:pPr>
              <a:lnSpc>
                <a:spcPct val="112000"/>
              </a:lnSpc>
              <a:spcAft>
                <a:spcPts val="13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Power Automate：</a:t>
            </a:r>
            <a:r>
              <a:rPr sz="1500" b="0">
                <a:solidFill>
                  <a:srgbClr val="232323"/>
                </a:solidFill>
                <a:latin typeface="游ゴシック"/>
                <a:ea typeface="游ゴシック"/>
                <a:cs typeface="游ゴシック"/>
              </a:rPr>
              <a:t>承認・通知・転記を自動化。標準コネクタは E3標準／基幹系・大規模は Premium</a:t>
            </a:r>
          </a:p>
          <a:p>
            <a:pPr>
              <a:lnSpc>
                <a:spcPct val="112000"/>
              </a:lnSpc>
              <a:spcAft>
                <a:spcPts val="13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Power Apps：</a:t>
            </a:r>
            <a:r>
              <a:rPr sz="1500" b="0">
                <a:solidFill>
                  <a:srgbClr val="232323"/>
                </a:solidFill>
                <a:latin typeface="游ゴシック"/>
                <a:ea typeface="游ゴシック"/>
                <a:cs typeface="游ゴシック"/>
              </a:rPr>
              <a:t>SharePoint リストから業務アプリ（InfoPath 後継）。Basic は付属／フルは Premium</a:t>
            </a:r>
          </a:p>
          <a:p>
            <a:pPr>
              <a:lnSpc>
                <a:spcPct val="112000"/>
              </a:lnSpc>
              <a:spcAft>
                <a:spcPts val="13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Power BI：</a:t>
            </a:r>
            <a:r>
              <a:rPr sz="1500" b="0">
                <a:solidFill>
                  <a:srgbClr val="232323"/>
                </a:solidFill>
                <a:latin typeface="游ゴシック"/>
                <a:ea typeface="游ゴシック"/>
                <a:cs typeface="游ゴシック"/>
              </a:rPr>
              <a:t>SharePoint データをグラフ化しページに埋め込み。作成・公開は Power BI Pro 以上</a:t>
            </a:r>
          </a:p>
          <a:p>
            <a:pPr>
              <a:lnSpc>
                <a:spcPct val="112000"/>
              </a:lnSpc>
              <a:spcAft>
                <a:spcPts val="13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ガバナンス：</a:t>
            </a:r>
            <a:r>
              <a:rPr sz="1500" b="0">
                <a:solidFill>
                  <a:srgbClr val="232323"/>
                </a:solidFill>
                <a:latin typeface="游ゴシック"/>
                <a:ea typeface="游ゴシック"/>
                <a:cs typeface="游ゴシック"/>
              </a:rPr>
              <a:t>環境の分離＋Power Platform 用 DLP で野良アプリ/フローを抑止（フェーズ3の考え方）</a:t>
            </a:r>
          </a:p>
        </p:txBody>
      </p:sp>
      <p:sp>
        <p:nvSpPr>
          <p:cNvPr id="4" name="Rounded Rectangle 3"/>
          <p:cNvSpPr/>
          <p:nvPr/>
        </p:nvSpPr>
        <p:spPr>
          <a:xfrm>
            <a:off x="822960" y="4754880"/>
            <a:ext cx="11793855" cy="91440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4864608"/>
            <a:ext cx="11391519" cy="694944"/>
          </a:xfrm>
          <a:prstGeom prst="rect">
            <a:avLst/>
          </a:prstGeom>
          <a:noFill/>
        </p:spPr>
        <p:txBody>
          <a:bodyPr wrap="square" anchor="ctr" lIns="0" rIns="0" tIns="0" bIns="0">
            <a:spAutoFit/>
          </a:bodyPr>
          <a:lstStyle/>
          <a:p>
            <a:pPr algn="l">
              <a:lnSpc>
                <a:spcPct val="120000"/>
              </a:lnSpc>
            </a:pPr>
            <a:r>
              <a:rPr sz="1300" b="1">
                <a:solidFill>
                  <a:srgbClr val="1B5C80"/>
                </a:solidFill>
                <a:latin typeface="游ゴシック"/>
                <a:ea typeface="游ゴシック"/>
                <a:cs typeface="游ゴシック"/>
              </a:rPr>
              <a:t>まず付属機能で成功体験を　</a:t>
            </a:r>
            <a:r>
              <a:rPr sz="1300" b="0">
                <a:solidFill>
                  <a:srgbClr val="232323"/>
                </a:solidFill>
                <a:latin typeface="游ゴシック"/>
                <a:ea typeface="游ゴシック"/>
                <a:cs typeface="游ゴシック"/>
              </a:rPr>
              <a:t>Lists／Forms／標準 Power Automate で「紙・Excel 台帳・メール申請」を置き換えると追加費用ゼロで効果を出せる。ここで得た型が後の Premium 投資判断の材料に。</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付属機能で今すぐできる高度化・ユースケース</a:t>
            </a:r>
          </a:p>
        </p:txBody>
      </p:sp>
      <p:graphicFrame>
        <p:nvGraphicFramePr>
          <p:cNvPr id="3" name="Table 2"/>
          <p:cNvGraphicFramePr>
            <a:graphicFrameLocks noGrp="1"/>
          </p:cNvGraphicFramePr>
          <p:nvPr/>
        </p:nvGraphicFramePr>
        <p:xfrm>
          <a:off x="822960" y="1143000"/>
          <a:ext cx="6492239" cy="2359152"/>
        </p:xfrm>
        <a:graphic>
          <a:graphicData uri="http://schemas.openxmlformats.org/drawingml/2006/table">
            <a:tbl>
              <a:tblPr firstRow="1">
                <a:tableStyleId>{5C22544A-7EE6-4342-B048-85BDC9FD1C3A}</a:tableStyleId>
              </a:tblPr>
              <a:tblGrid>
                <a:gridCol w="1947672"/>
                <a:gridCol w="2856585"/>
                <a:gridCol w="1687982"/>
              </a:tblGrid>
              <a:tr h="384048">
                <a:tc>
                  <a:txBody>
                    <a:bodyPr wrap="square"/>
                    <a:lstStyle/>
                    <a:p>
                      <a:pPr>
                        <a:lnSpc>
                          <a:spcPct val="100000"/>
                        </a:lnSpc>
                      </a:pPr>
                      <a:r>
                        <a:rPr sz="1200" b="1">
                          <a:solidFill>
                            <a:srgbClr val="FFFFFF"/>
                          </a:solidFill>
                          <a:latin typeface="游ゴシック"/>
                          <a:ea typeface="游ゴシック"/>
                          <a:cs typeface="游ゴシック"/>
                        </a:rPr>
                        <a:t>機能</a:t>
                      </a:r>
                    </a:p>
                  </a:txBody>
                  <a:tcPr marL="64008" marR="45720" marT="13716" marB="13716" anchor="ctr">
                    <a:solidFill>
                      <a:srgbClr val="1B5C80"/>
                    </a:solidFill>
                  </a:tcPr>
                </a:tc>
                <a:tc>
                  <a:txBody>
                    <a:bodyPr wrap="square"/>
                    <a:lstStyle/>
                    <a:p>
                      <a:pPr>
                        <a:lnSpc>
                          <a:spcPct val="100000"/>
                        </a:lnSpc>
                      </a:pPr>
                      <a:r>
                        <a:rPr sz="1200" b="1">
                          <a:solidFill>
                            <a:srgbClr val="FFFFFF"/>
                          </a:solidFill>
                          <a:latin typeface="游ゴシック"/>
                          <a:ea typeface="游ゴシック"/>
                          <a:cs typeface="游ゴシック"/>
                        </a:rPr>
                        <a:t>用途</a:t>
                      </a:r>
                    </a:p>
                  </a:txBody>
                  <a:tcPr marL="64008" marR="45720" marT="13716" marB="13716" anchor="ctr">
                    <a:solidFill>
                      <a:srgbClr val="1B5C80"/>
                    </a:solidFill>
                  </a:tcPr>
                </a:tc>
                <a:tc>
                  <a:txBody>
                    <a:bodyPr wrap="square"/>
                    <a:lstStyle/>
                    <a:p>
                      <a:pPr>
                        <a:lnSpc>
                          <a:spcPct val="100000"/>
                        </a:lnSpc>
                      </a:pPr>
                      <a:r>
                        <a:rPr sz="1200" b="1">
                          <a:solidFill>
                            <a:srgbClr val="FFFFFF"/>
                          </a:solidFill>
                          <a:latin typeface="游ゴシック"/>
                          <a:ea typeface="游ゴシック"/>
                          <a:cs typeface="游ゴシック"/>
                        </a:rPr>
                        <a:t>ライセンス</a:t>
                      </a:r>
                    </a:p>
                  </a:txBody>
                  <a:tcPr marL="64008" marR="45720" marT="13716" marB="13716" anchor="ctr">
                    <a:solidFill>
                      <a:srgbClr val="1B5C80"/>
                    </a:solidFill>
                  </a:tcPr>
                </a:tc>
              </a:tr>
              <a:tr h="493776">
                <a:tc>
                  <a:txBody>
                    <a:bodyPr wrap="square"/>
                    <a:lstStyle/>
                    <a:p>
                      <a:pPr>
                        <a:lnSpc>
                          <a:spcPct val="100000"/>
                        </a:lnSpc>
                      </a:pPr>
                      <a:r>
                        <a:rPr sz="1200" b="0">
                          <a:solidFill>
                            <a:srgbClr val="232323"/>
                          </a:solidFill>
                          <a:latin typeface="游ゴシック"/>
                          <a:ea typeface="游ゴシック"/>
                          <a:cs typeface="游ゴシック"/>
                        </a:rPr>
                        <a:t>Microsoft Lists</a:t>
                      </a:r>
                    </a:p>
                  </a:txBody>
                  <a:tcPr marL="64008" marR="45720" marT="13716" marB="13716" anchor="ctr">
                    <a:solidFill>
                      <a:srgbClr val="FFFFFF"/>
                    </a:solidFill>
                  </a:tcPr>
                </a:tc>
                <a:tc>
                  <a:txBody>
                    <a:bodyPr wrap="square"/>
                    <a:lstStyle/>
                    <a:p>
                      <a:pPr>
                        <a:lnSpc>
                          <a:spcPct val="100000"/>
                        </a:lnSpc>
                      </a:pPr>
                      <a:r>
                        <a:rPr sz="1200" b="0">
                          <a:solidFill>
                            <a:srgbClr val="232323"/>
                          </a:solidFill>
                          <a:latin typeface="游ゴシック"/>
                          <a:ea typeface="游ゴシック"/>
                          <a:cs typeface="游ゴシック"/>
                        </a:rPr>
                        <a:t>簡易DB（案件・在庫・問い合わせ管理）</a:t>
                      </a:r>
                    </a:p>
                  </a:txBody>
                  <a:tcPr marL="64008" marR="45720" marT="13716" marB="13716" anchor="ctr">
                    <a:solidFill>
                      <a:srgbClr val="FFFFFF"/>
                    </a:solidFill>
                  </a:tcPr>
                </a:tc>
                <a:tc>
                  <a:txBody>
                    <a:bodyPr wrap="square"/>
                    <a:lstStyle/>
                    <a:p>
                      <a:pPr>
                        <a:lnSpc>
                          <a:spcPct val="100000"/>
                        </a:lnSpc>
                      </a:pPr>
                      <a:r>
                        <a:rPr sz="120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493776">
                <a:tc>
                  <a:txBody>
                    <a:bodyPr wrap="square"/>
                    <a:lstStyle/>
                    <a:p>
                      <a:pPr>
                        <a:lnSpc>
                          <a:spcPct val="100000"/>
                        </a:lnSpc>
                      </a:pPr>
                      <a:r>
                        <a:rPr sz="1200" b="0">
                          <a:solidFill>
                            <a:srgbClr val="232323"/>
                          </a:solidFill>
                          <a:latin typeface="游ゴシック"/>
                          <a:ea typeface="游ゴシック"/>
                          <a:cs typeface="游ゴシック"/>
                        </a:rPr>
                        <a:t>Microsoft Forms</a:t>
                      </a:r>
                    </a:p>
                  </a:txBody>
                  <a:tcPr marL="64008" marR="45720" marT="13716" marB="13716" anchor="ctr">
                    <a:solidFill>
                      <a:srgbClr val="F3F9FB"/>
                    </a:solidFill>
                  </a:tcPr>
                </a:tc>
                <a:tc>
                  <a:txBody>
                    <a:bodyPr wrap="square"/>
                    <a:lstStyle/>
                    <a:p>
                      <a:pPr>
                        <a:lnSpc>
                          <a:spcPct val="100000"/>
                        </a:lnSpc>
                      </a:pPr>
                      <a:r>
                        <a:rPr sz="1200" b="0">
                          <a:solidFill>
                            <a:srgbClr val="232323"/>
                          </a:solidFill>
                          <a:latin typeface="游ゴシック"/>
                          <a:ea typeface="游ゴシック"/>
                          <a:cs typeface="游ゴシック"/>
                        </a:rPr>
                        <a:t>アンケート・申請の入力受付</a:t>
                      </a:r>
                    </a:p>
                  </a:txBody>
                  <a:tcPr marL="64008" marR="45720" marT="13716" marB="13716" anchor="ctr">
                    <a:solidFill>
                      <a:srgbClr val="F3F9FB"/>
                    </a:solidFill>
                  </a:tcPr>
                </a:tc>
                <a:tc>
                  <a:txBody>
                    <a:bodyPr wrap="square"/>
                    <a:lstStyle/>
                    <a:p>
                      <a:pPr>
                        <a:lnSpc>
                          <a:spcPct val="100000"/>
                        </a:lnSpc>
                      </a:pPr>
                      <a:r>
                        <a:rPr sz="120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493776">
                <a:tc>
                  <a:txBody>
                    <a:bodyPr wrap="square"/>
                    <a:lstStyle/>
                    <a:p>
                      <a:pPr>
                        <a:lnSpc>
                          <a:spcPct val="100000"/>
                        </a:lnSpc>
                      </a:pPr>
                      <a:r>
                        <a:rPr sz="1200" b="0">
                          <a:solidFill>
                            <a:srgbClr val="232323"/>
                          </a:solidFill>
                          <a:latin typeface="游ゴシック"/>
                          <a:ea typeface="游ゴシック"/>
                          <a:cs typeface="游ゴシック"/>
                        </a:rPr>
                        <a:t>Loop コンポーネント</a:t>
                      </a:r>
                    </a:p>
                  </a:txBody>
                  <a:tcPr marL="64008" marR="45720" marT="13716" marB="13716" anchor="ctr">
                    <a:solidFill>
                      <a:srgbClr val="FFFFFF"/>
                    </a:solidFill>
                  </a:tcPr>
                </a:tc>
                <a:tc>
                  <a:txBody>
                    <a:bodyPr wrap="square"/>
                    <a:lstStyle/>
                    <a:p>
                      <a:pPr>
                        <a:lnSpc>
                          <a:spcPct val="100000"/>
                        </a:lnSpc>
                      </a:pPr>
                      <a:r>
                        <a:rPr sz="1200" b="0">
                          <a:solidFill>
                            <a:srgbClr val="232323"/>
                          </a:solidFill>
                          <a:latin typeface="游ゴシック"/>
                          <a:ea typeface="游ゴシック"/>
                          <a:cs typeface="游ゴシック"/>
                        </a:rPr>
                        <a:t>Teams/Outlook/SharePoint 間の共同編集</a:t>
                      </a:r>
                    </a:p>
                  </a:txBody>
                  <a:tcPr marL="64008" marR="45720" marT="13716" marB="13716" anchor="ctr">
                    <a:solidFill>
                      <a:srgbClr val="FFFFFF"/>
                    </a:solidFill>
                  </a:tcPr>
                </a:tc>
                <a:tc>
                  <a:txBody>
                    <a:bodyPr wrap="square"/>
                    <a:lstStyle/>
                    <a:p>
                      <a:pPr>
                        <a:lnSpc>
                          <a:spcPct val="100000"/>
                        </a:lnSpc>
                      </a:pPr>
                      <a:r>
                        <a:rPr sz="1200" b="1">
                          <a:solidFill>
                            <a:srgbClr val="1B5C80"/>
                          </a:solidFill>
                          <a:latin typeface="游ゴシック"/>
                          <a:ea typeface="游ゴシック"/>
                          <a:cs typeface="游ゴシック"/>
                        </a:rPr>
                        <a:t>E3標準</a:t>
                      </a:r>
                    </a:p>
                  </a:txBody>
                  <a:tcPr marL="64008" marR="45720" marT="13716" marB="13716" anchor="ctr">
                    <a:solidFill>
                      <a:srgbClr val="DBF1F7"/>
                    </a:solidFill>
                  </a:tcPr>
                </a:tc>
              </a:tr>
              <a:tr h="493776">
                <a:tc>
                  <a:txBody>
                    <a:bodyPr wrap="square"/>
                    <a:lstStyle/>
                    <a:p>
                      <a:pPr>
                        <a:lnSpc>
                          <a:spcPct val="100000"/>
                        </a:lnSpc>
                      </a:pPr>
                      <a:r>
                        <a:rPr sz="1200" b="0">
                          <a:solidFill>
                            <a:srgbClr val="232323"/>
                          </a:solidFill>
                          <a:latin typeface="游ゴシック"/>
                          <a:ea typeface="游ゴシック"/>
                          <a:cs typeface="游ゴシック"/>
                        </a:rPr>
                        <a:t>Viva Connections</a:t>
                      </a:r>
                    </a:p>
                  </a:txBody>
                  <a:tcPr marL="64008" marR="45720" marT="13716" marB="13716" anchor="ctr">
                    <a:solidFill>
                      <a:srgbClr val="F3F9FB"/>
                    </a:solidFill>
                  </a:tcPr>
                </a:tc>
                <a:tc>
                  <a:txBody>
                    <a:bodyPr wrap="square"/>
                    <a:lstStyle/>
                    <a:p>
                      <a:pPr>
                        <a:lnSpc>
                          <a:spcPct val="100000"/>
                        </a:lnSpc>
                      </a:pPr>
                      <a:r>
                        <a:rPr sz="1200" b="0">
                          <a:solidFill>
                            <a:srgbClr val="232323"/>
                          </a:solidFill>
                          <a:latin typeface="游ゴシック"/>
                          <a:ea typeface="游ゴシック"/>
                          <a:cs typeface="游ゴシック"/>
                        </a:rPr>
                        <a:t>ポータルを従業員ダッシュボードに統合</a:t>
                      </a:r>
                    </a:p>
                  </a:txBody>
                  <a:tcPr marL="64008" marR="45720" marT="13716" marB="13716" anchor="ctr">
                    <a:solidFill>
                      <a:srgbClr val="F3F9FB"/>
                    </a:solidFill>
                  </a:tcPr>
                </a:tc>
                <a:tc>
                  <a:txBody>
                    <a:bodyPr wrap="square"/>
                    <a:lstStyle/>
                    <a:p>
                      <a:pPr>
                        <a:lnSpc>
                          <a:spcPct val="100000"/>
                        </a:lnSpc>
                      </a:pPr>
                      <a:r>
                        <a:rPr sz="1200" b="1">
                          <a:solidFill>
                            <a:srgbClr val="1B5C80"/>
                          </a:solidFill>
                          <a:latin typeface="游ゴシック"/>
                          <a:ea typeface="游ゴシック"/>
                          <a:cs typeface="游ゴシック"/>
                        </a:rPr>
                        <a:t>E3標準（一部拡張は要確認）</a:t>
                      </a:r>
                    </a:p>
                  </a:txBody>
                  <a:tcPr marL="64008" marR="45720" marT="13716" marB="13716" anchor="ctr">
                    <a:solidFill>
                      <a:srgbClr val="DBF1F7"/>
                    </a:solidFill>
                  </a:tcPr>
                </a:tc>
              </a:tr>
            </a:tbl>
          </a:graphicData>
        </a:graphic>
      </p:graphicFrame>
      <p:sp>
        <p:nvSpPr>
          <p:cNvPr id="4" name="Rounded Rectangle 3"/>
          <p:cNvSpPr/>
          <p:nvPr/>
        </p:nvSpPr>
        <p:spPr>
          <a:xfrm>
            <a:off x="7452360" y="1143000"/>
            <a:ext cx="4251960" cy="3474720"/>
          </a:xfrm>
          <a:prstGeom prst="roundRect">
            <a:avLst>
              <a:gd name="adj" fmla="val 6000"/>
            </a:avLst>
          </a:prstGeom>
          <a:solidFill>
            <a:srgbClr val="DBF1F7"/>
          </a:solidFill>
          <a:ln w="1270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53528" y="1252728"/>
            <a:ext cx="3849624" cy="292608"/>
          </a:xfrm>
          <a:prstGeom prst="rect">
            <a:avLst/>
          </a:prstGeom>
          <a:noFill/>
        </p:spPr>
        <p:txBody>
          <a:bodyPr wrap="square" anchor="t" lIns="0" rIns="0" tIns="0" bIns="0">
            <a:spAutoFit/>
          </a:bodyPr>
          <a:lstStyle/>
          <a:p>
            <a:pPr algn="l">
              <a:lnSpc>
                <a:spcPct val="108000"/>
              </a:lnSpc>
              <a:spcBef>
                <a:spcPts val="0"/>
              </a:spcBef>
              <a:spcAft>
                <a:spcPts val="300"/>
              </a:spcAft>
            </a:pPr>
            <a:r>
              <a:rPr sz="1250" b="1">
                <a:solidFill>
                  <a:srgbClr val="1B5C80"/>
                </a:solidFill>
                <a:latin typeface="游ゴシック"/>
                <a:ea typeface="游ゴシック"/>
                <a:cs typeface="游ゴシック"/>
              </a:rPr>
              <a:t>ユースケース例</a:t>
            </a:r>
          </a:p>
        </p:txBody>
      </p:sp>
      <p:sp>
        <p:nvSpPr>
          <p:cNvPr id="6" name="TextBox 5"/>
          <p:cNvSpPr txBox="1"/>
          <p:nvPr/>
        </p:nvSpPr>
        <p:spPr>
          <a:xfrm>
            <a:off x="7708392" y="1600200"/>
            <a:ext cx="3794760" cy="2926080"/>
          </a:xfrm>
          <a:prstGeom prst="rect">
            <a:avLst/>
          </a:prstGeom>
          <a:noFill/>
        </p:spPr>
        <p:txBody>
          <a:bodyPr wrap="square" lIns="0" rIns="0" tIns="0" bIns="0">
            <a:spAutoFit/>
          </a:bodyPr>
          <a:lstStyle/>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稟議・申請承認：Forms→Power Automate→Lists 台帳</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文書の版・承認管理：ライブラリ＋承認フロー</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社内ナレッジ検索：Copilot（権限・ラベル準拠）</a:t>
            </a:r>
          </a:p>
          <a:p>
            <a:pPr>
              <a:lnSpc>
                <a:spcPct val="112000"/>
              </a:lnSpc>
              <a:spcAft>
                <a:spcPts val="5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部門ダッシュボード：Lists＋Power BI 埋め込み</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フェーズ4 まとめ</a:t>
            </a:r>
          </a:p>
        </p:txBody>
      </p:sp>
      <p:sp>
        <p:nvSpPr>
          <p:cNvPr id="3" name="TextBox 2"/>
          <p:cNvSpPr txBox="1"/>
          <p:nvPr/>
        </p:nvSpPr>
        <p:spPr>
          <a:xfrm>
            <a:off x="822960" y="1143000"/>
            <a:ext cx="11793855" cy="3931920"/>
          </a:xfrm>
          <a:prstGeom prst="rect">
            <a:avLst/>
          </a:prstGeom>
          <a:noFill/>
        </p:spPr>
        <p:txBody>
          <a:bodyPr wrap="square" lIns="0" rIns="0" tIns="0" bIns="0">
            <a:spAutoFit/>
          </a:bodyPr>
          <a:lstStyle/>
          <a:p>
            <a:pPr>
              <a:lnSpc>
                <a:spcPct val="112000"/>
              </a:lnSpc>
              <a:spcAft>
                <a:spcPts val="1400"/>
              </a:spcAft>
            </a:pPr>
            <a:r>
              <a:rPr sz="1600" b="1">
                <a:solidFill>
                  <a:srgbClr val="1B5C80"/>
                </a:solidFill>
                <a:latin typeface="游ゴシック"/>
                <a:ea typeface="游ゴシック"/>
                <a:cs typeface="游ゴシック"/>
              </a:rPr>
              <a:t>■ </a:t>
            </a:r>
            <a:r>
              <a:rPr sz="1600" b="1">
                <a:solidFill>
                  <a:srgbClr val="B0432B"/>
                </a:solidFill>
                <a:latin typeface="游ゴシック"/>
                <a:ea typeface="游ゴシック"/>
                <a:cs typeface="游ゴシック"/>
              </a:rPr>
              <a:t>フェーズ4 は任意・追加投資。主役（Copilot／Premium）は E3 に含まれない</a:t>
            </a:r>
          </a:p>
          <a:p>
            <a:pPr>
              <a:lnSpc>
                <a:spcPct val="112000"/>
              </a:lnSpc>
              <a:spcAft>
                <a:spcPts val="14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Copilot は過剰共有をそのまま映す。フェーズ1〜3が導入前提</a:t>
            </a:r>
          </a:p>
          <a:p>
            <a:pPr>
              <a:lnSpc>
                <a:spcPct val="112000"/>
              </a:lnSpc>
              <a:spcAft>
                <a:spcPts val="1400"/>
              </a:spcAft>
            </a:pPr>
            <a:r>
              <a:rPr sz="1600" b="1">
                <a:solidFill>
                  <a:srgbClr val="1B5C80"/>
                </a:solidFill>
                <a:latin typeface="游ゴシック"/>
                <a:ea typeface="游ゴシック"/>
                <a:cs typeface="游ゴシック"/>
              </a:rPr>
              <a:t>■ </a:t>
            </a:r>
            <a:r>
              <a:rPr sz="1600" b="1">
                <a:solidFill>
                  <a:srgbClr val="1B5C80"/>
                </a:solidFill>
                <a:latin typeface="游ゴシック"/>
                <a:ea typeface="游ゴシック"/>
                <a:cs typeface="游ゴシック"/>
              </a:rPr>
              <a:t>付属機能（Lists／Forms／Loop／標準 Power Automate／RSS）は追加費用ゼロ</a:t>
            </a:r>
          </a:p>
          <a:p>
            <a:pPr>
              <a:lnSpc>
                <a:spcPct val="112000"/>
              </a:lnSpc>
              <a:spcAft>
                <a:spcPts val="14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まず付属機能で紙・Excel・メール申請を置き換え、成功体験を作る</a:t>
            </a:r>
          </a:p>
          <a:p>
            <a:pPr>
              <a:lnSpc>
                <a:spcPct val="112000"/>
              </a:lnSpc>
              <a:spcAft>
                <a:spcPts val="1400"/>
              </a:spcAft>
            </a:pPr>
            <a:r>
              <a:rPr sz="1600" b="1">
                <a:solidFill>
                  <a:srgbClr val="1B5C80"/>
                </a:solidFill>
                <a:latin typeface="游ゴシック"/>
                <a:ea typeface="游ゴシック"/>
                <a:cs typeface="游ゴシック"/>
              </a:rPr>
              <a:t>■ </a:t>
            </a:r>
            <a:r>
              <a:rPr sz="1600" b="0">
                <a:solidFill>
                  <a:srgbClr val="232323"/>
                </a:solidFill>
                <a:latin typeface="游ゴシック"/>
                <a:ea typeface="游ゴシック"/>
                <a:cs typeface="游ゴシック"/>
              </a:rPr>
              <a:t>Power Platform 拡大時は環境分離・DLP でガバナンスを適用</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導入ロードマップ（全体像）</a:t>
            </a:r>
          </a:p>
        </p:txBody>
      </p:sp>
      <p:sp>
        <p:nvSpPr>
          <p:cNvPr id="3" name="Rounded Rectangle 2"/>
          <p:cNvSpPr/>
          <p:nvPr/>
        </p:nvSpPr>
        <p:spPr>
          <a:xfrm>
            <a:off x="822960" y="1554480"/>
            <a:ext cx="2816352" cy="3017520"/>
          </a:xfrm>
          <a:prstGeom prst="roundRect">
            <a:avLst>
              <a:gd name="adj" fmla="val 6000"/>
            </a:avLst>
          </a:prstGeom>
          <a:solidFill>
            <a:srgbClr val="FFFFFF"/>
          </a:solidFill>
          <a:ln w="19050">
            <a:solidFill>
              <a:srgbClr val="1B5C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1554480"/>
            <a:ext cx="2816352" cy="868680"/>
          </a:xfrm>
          <a:prstGeom prst="roundRect">
            <a:avLst>
              <a:gd name="adj" fmla="val 6000"/>
            </a:avLst>
          </a:prstGeom>
          <a:solidFill>
            <a:srgbClr val="1B5C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2816352" cy="365760"/>
          </a:xfrm>
          <a:prstGeom prst="rect">
            <a:avLst/>
          </a:prstGeom>
          <a:noFill/>
        </p:spPr>
        <p:txBody>
          <a:bodyPr wrap="square" anchor="t" lIns="0" rIns="0" tIns="0" bIns="0">
            <a:spAutoFit/>
          </a:bodyPr>
          <a:lstStyle/>
          <a:p>
            <a:pPr algn="ctr">
              <a:lnSpc>
                <a:spcPct val="108000"/>
              </a:lnSpc>
              <a:spcBef>
                <a:spcPts val="0"/>
              </a:spcBef>
              <a:spcAft>
                <a:spcPts val="300"/>
              </a:spcAft>
            </a:pPr>
            <a:r>
              <a:rPr sz="1400" b="1">
                <a:solidFill>
                  <a:srgbClr val="FFFFFF"/>
                </a:solidFill>
                <a:latin typeface="游ゴシック"/>
                <a:ea typeface="游ゴシック"/>
                <a:cs typeface="游ゴシック"/>
              </a:rPr>
              <a:t>STEP 1</a:t>
            </a:r>
          </a:p>
        </p:txBody>
      </p:sp>
      <p:sp>
        <p:nvSpPr>
          <p:cNvPr id="6" name="TextBox 5"/>
          <p:cNvSpPr txBox="1"/>
          <p:nvPr/>
        </p:nvSpPr>
        <p:spPr>
          <a:xfrm>
            <a:off x="822960" y="1993392"/>
            <a:ext cx="2816352" cy="384048"/>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FFFFFF"/>
                </a:solidFill>
                <a:latin typeface="游ゴシック"/>
                <a:ea typeface="游ゴシック"/>
                <a:cs typeface="游ゴシック"/>
              </a:rPr>
              <a:t>基礎</a:t>
            </a:r>
          </a:p>
        </p:txBody>
      </p:sp>
      <p:sp>
        <p:nvSpPr>
          <p:cNvPr id="7" name="TextBox 6"/>
          <p:cNvSpPr txBox="1"/>
          <p:nvPr/>
        </p:nvSpPr>
        <p:spPr>
          <a:xfrm>
            <a:off x="1024128" y="2606040"/>
            <a:ext cx="2450592" cy="1737360"/>
          </a:xfrm>
          <a:prstGeom prst="rect">
            <a:avLst/>
          </a:prstGeom>
          <a:noFill/>
        </p:spPr>
        <p:txBody>
          <a:bodyPr wrap="square" lIns="0" rIns="0" tIns="0" bIns="0">
            <a:spAutoFit/>
          </a:bodyPr>
          <a:lstStyle/>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棲み分け合意</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サイト設計</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権限・移行</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（E3の範囲）</a:t>
            </a:r>
          </a:p>
        </p:txBody>
      </p:sp>
      <p:sp>
        <p:nvSpPr>
          <p:cNvPr id="8" name="TextBox 7"/>
          <p:cNvSpPr txBox="1"/>
          <p:nvPr/>
        </p:nvSpPr>
        <p:spPr>
          <a:xfrm>
            <a:off x="3621024" y="2651760"/>
            <a:ext cx="292608" cy="548640"/>
          </a:xfrm>
          <a:prstGeom prst="rect">
            <a:avLst/>
          </a:prstGeom>
          <a:noFill/>
        </p:spPr>
        <p:txBody>
          <a:bodyPr wrap="square" anchor="t" lIns="0" rIns="0" tIns="0" bIns="0">
            <a:spAutoFit/>
          </a:bodyPr>
          <a:lstStyle/>
          <a:p>
            <a:pPr algn="l">
              <a:lnSpc>
                <a:spcPct val="108000"/>
              </a:lnSpc>
              <a:spcBef>
                <a:spcPts val="0"/>
              </a:spcBef>
              <a:spcAft>
                <a:spcPts val="300"/>
              </a:spcAft>
            </a:pPr>
            <a:r>
              <a:rPr sz="2200" b="1">
                <a:solidFill>
                  <a:srgbClr val="1B5C80"/>
                </a:solidFill>
                <a:latin typeface="游ゴシック"/>
                <a:ea typeface="游ゴシック"/>
                <a:cs typeface="游ゴシック"/>
              </a:rPr>
              <a:t>→</a:t>
            </a:r>
          </a:p>
        </p:txBody>
      </p:sp>
      <p:sp>
        <p:nvSpPr>
          <p:cNvPr id="9" name="Rounded Rectangle 8"/>
          <p:cNvSpPr/>
          <p:nvPr/>
        </p:nvSpPr>
        <p:spPr>
          <a:xfrm>
            <a:off x="3785616" y="1554480"/>
            <a:ext cx="2816352" cy="3017520"/>
          </a:xfrm>
          <a:prstGeom prst="roundRect">
            <a:avLst>
              <a:gd name="adj" fmla="val 6000"/>
            </a:avLst>
          </a:prstGeom>
          <a:solidFill>
            <a:srgbClr val="FFFFFF"/>
          </a:solidFill>
          <a:ln w="19050">
            <a:solidFill>
              <a:srgbClr val="0FA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85616" y="1554480"/>
            <a:ext cx="2816352" cy="868680"/>
          </a:xfrm>
          <a:prstGeom prst="roundRect">
            <a:avLst>
              <a:gd name="adj" fmla="val 6000"/>
            </a:avLst>
          </a:prstGeom>
          <a:solidFill>
            <a:srgbClr val="0F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85616" y="1645920"/>
            <a:ext cx="2816352" cy="365760"/>
          </a:xfrm>
          <a:prstGeom prst="rect">
            <a:avLst/>
          </a:prstGeom>
          <a:noFill/>
        </p:spPr>
        <p:txBody>
          <a:bodyPr wrap="square" anchor="t" lIns="0" rIns="0" tIns="0" bIns="0">
            <a:spAutoFit/>
          </a:bodyPr>
          <a:lstStyle/>
          <a:p>
            <a:pPr algn="ctr">
              <a:lnSpc>
                <a:spcPct val="108000"/>
              </a:lnSpc>
              <a:spcBef>
                <a:spcPts val="0"/>
              </a:spcBef>
              <a:spcAft>
                <a:spcPts val="300"/>
              </a:spcAft>
            </a:pPr>
            <a:r>
              <a:rPr sz="1400" b="1">
                <a:solidFill>
                  <a:srgbClr val="FFFFFF"/>
                </a:solidFill>
                <a:latin typeface="游ゴシック"/>
                <a:ea typeface="游ゴシック"/>
                <a:cs typeface="游ゴシック"/>
              </a:rPr>
              <a:t>STEP 2</a:t>
            </a:r>
          </a:p>
        </p:txBody>
      </p:sp>
      <p:sp>
        <p:nvSpPr>
          <p:cNvPr id="12" name="TextBox 11"/>
          <p:cNvSpPr txBox="1"/>
          <p:nvPr/>
        </p:nvSpPr>
        <p:spPr>
          <a:xfrm>
            <a:off x="3785616" y="1993392"/>
            <a:ext cx="2816352" cy="384048"/>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FFFFFF"/>
                </a:solidFill>
                <a:latin typeface="游ゴシック"/>
                <a:ea typeface="游ゴシック"/>
                <a:cs typeface="游ゴシック"/>
              </a:rPr>
              <a:t>セキュリティ</a:t>
            </a:r>
          </a:p>
        </p:txBody>
      </p:sp>
      <p:sp>
        <p:nvSpPr>
          <p:cNvPr id="13" name="TextBox 12"/>
          <p:cNvSpPr txBox="1"/>
          <p:nvPr/>
        </p:nvSpPr>
        <p:spPr>
          <a:xfrm>
            <a:off x="3986784" y="2606040"/>
            <a:ext cx="2450592" cy="1737360"/>
          </a:xfrm>
          <a:prstGeom prst="rect">
            <a:avLst/>
          </a:prstGeom>
          <a:noFill/>
        </p:spPr>
        <p:txBody>
          <a:bodyPr wrap="square" lIns="0" rIns="0" tIns="0" bIns="0">
            <a:spAutoFit/>
          </a:bodyPr>
          <a:lstStyle/>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監査有効化</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MFA/CA</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手動ラベル</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（一部E5）</a:t>
            </a:r>
          </a:p>
        </p:txBody>
      </p:sp>
      <p:sp>
        <p:nvSpPr>
          <p:cNvPr id="14" name="TextBox 13"/>
          <p:cNvSpPr txBox="1"/>
          <p:nvPr/>
        </p:nvSpPr>
        <p:spPr>
          <a:xfrm>
            <a:off x="6583680" y="2651760"/>
            <a:ext cx="292608" cy="548640"/>
          </a:xfrm>
          <a:prstGeom prst="rect">
            <a:avLst/>
          </a:prstGeom>
          <a:noFill/>
        </p:spPr>
        <p:txBody>
          <a:bodyPr wrap="square" anchor="t" lIns="0" rIns="0" tIns="0" bIns="0">
            <a:spAutoFit/>
          </a:bodyPr>
          <a:lstStyle/>
          <a:p>
            <a:pPr algn="l">
              <a:lnSpc>
                <a:spcPct val="108000"/>
              </a:lnSpc>
              <a:spcBef>
                <a:spcPts val="0"/>
              </a:spcBef>
              <a:spcAft>
                <a:spcPts val="300"/>
              </a:spcAft>
            </a:pPr>
            <a:r>
              <a:rPr sz="2200" b="1">
                <a:solidFill>
                  <a:srgbClr val="0FA4CC"/>
                </a:solidFill>
                <a:latin typeface="游ゴシック"/>
                <a:ea typeface="游ゴシック"/>
                <a:cs typeface="游ゴシック"/>
              </a:rPr>
              <a:t>→</a:t>
            </a:r>
          </a:p>
        </p:txBody>
      </p:sp>
      <p:sp>
        <p:nvSpPr>
          <p:cNvPr id="15" name="Rounded Rectangle 14"/>
          <p:cNvSpPr/>
          <p:nvPr/>
        </p:nvSpPr>
        <p:spPr>
          <a:xfrm>
            <a:off x="6748272" y="1554480"/>
            <a:ext cx="2816352" cy="3017520"/>
          </a:xfrm>
          <a:prstGeom prst="roundRect">
            <a:avLst>
              <a:gd name="adj" fmla="val 6000"/>
            </a:avLst>
          </a:prstGeom>
          <a:solidFill>
            <a:srgbClr val="FFFFFF"/>
          </a:solidFill>
          <a:ln w="19050">
            <a:solidFill>
              <a:srgbClr val="2A86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48272" y="1554480"/>
            <a:ext cx="2816352" cy="868680"/>
          </a:xfrm>
          <a:prstGeom prst="roundRect">
            <a:avLst>
              <a:gd name="adj" fmla="val 6000"/>
            </a:avLst>
          </a:prstGeom>
          <a:solidFill>
            <a:srgbClr val="2A8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48272" y="1645920"/>
            <a:ext cx="2816352" cy="365760"/>
          </a:xfrm>
          <a:prstGeom prst="rect">
            <a:avLst/>
          </a:prstGeom>
          <a:noFill/>
        </p:spPr>
        <p:txBody>
          <a:bodyPr wrap="square" anchor="t" lIns="0" rIns="0" tIns="0" bIns="0">
            <a:spAutoFit/>
          </a:bodyPr>
          <a:lstStyle/>
          <a:p>
            <a:pPr algn="ctr">
              <a:lnSpc>
                <a:spcPct val="108000"/>
              </a:lnSpc>
              <a:spcBef>
                <a:spcPts val="0"/>
              </a:spcBef>
              <a:spcAft>
                <a:spcPts val="300"/>
              </a:spcAft>
            </a:pPr>
            <a:r>
              <a:rPr sz="1400" b="1">
                <a:solidFill>
                  <a:srgbClr val="FFFFFF"/>
                </a:solidFill>
                <a:latin typeface="游ゴシック"/>
                <a:ea typeface="游ゴシック"/>
                <a:cs typeface="游ゴシック"/>
              </a:rPr>
              <a:t>STEP 3</a:t>
            </a:r>
          </a:p>
        </p:txBody>
      </p:sp>
      <p:sp>
        <p:nvSpPr>
          <p:cNvPr id="18" name="TextBox 17"/>
          <p:cNvSpPr txBox="1"/>
          <p:nvPr/>
        </p:nvSpPr>
        <p:spPr>
          <a:xfrm>
            <a:off x="6748272" y="1993392"/>
            <a:ext cx="2816352" cy="384048"/>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FFFFFF"/>
                </a:solidFill>
                <a:latin typeface="游ゴシック"/>
                <a:ea typeface="游ゴシック"/>
                <a:cs typeface="游ゴシック"/>
              </a:rPr>
              <a:t>ガバナンス</a:t>
            </a:r>
          </a:p>
        </p:txBody>
      </p:sp>
      <p:sp>
        <p:nvSpPr>
          <p:cNvPr id="19" name="TextBox 18"/>
          <p:cNvSpPr txBox="1"/>
          <p:nvPr/>
        </p:nvSpPr>
        <p:spPr>
          <a:xfrm>
            <a:off x="6949440" y="2606040"/>
            <a:ext cx="2450592" cy="1737360"/>
          </a:xfrm>
          <a:prstGeom prst="rect">
            <a:avLst/>
          </a:prstGeom>
          <a:noFill/>
        </p:spPr>
        <p:txBody>
          <a:bodyPr wrap="square" lIns="0" rIns="0" tIns="0" bIns="0">
            <a:spAutoFit/>
          </a:bodyPr>
          <a:lstStyle/>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作成統制</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棚卸し</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過剰共有是正</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（一部SAM/P2）</a:t>
            </a:r>
          </a:p>
        </p:txBody>
      </p:sp>
      <p:sp>
        <p:nvSpPr>
          <p:cNvPr id="20" name="TextBox 19"/>
          <p:cNvSpPr txBox="1"/>
          <p:nvPr/>
        </p:nvSpPr>
        <p:spPr>
          <a:xfrm>
            <a:off x="9546336" y="2651760"/>
            <a:ext cx="292608" cy="548640"/>
          </a:xfrm>
          <a:prstGeom prst="rect">
            <a:avLst/>
          </a:prstGeom>
          <a:noFill/>
        </p:spPr>
        <p:txBody>
          <a:bodyPr wrap="square" anchor="t" lIns="0" rIns="0" tIns="0" bIns="0">
            <a:spAutoFit/>
          </a:bodyPr>
          <a:lstStyle/>
          <a:p>
            <a:pPr algn="l">
              <a:lnSpc>
                <a:spcPct val="108000"/>
              </a:lnSpc>
              <a:spcBef>
                <a:spcPts val="0"/>
              </a:spcBef>
              <a:spcAft>
                <a:spcPts val="300"/>
              </a:spcAft>
            </a:pPr>
            <a:r>
              <a:rPr sz="2200" b="1">
                <a:solidFill>
                  <a:srgbClr val="2A869E"/>
                </a:solidFill>
                <a:latin typeface="游ゴシック"/>
                <a:ea typeface="游ゴシック"/>
                <a:cs typeface="游ゴシック"/>
              </a:rPr>
              <a:t>→</a:t>
            </a:r>
          </a:p>
        </p:txBody>
      </p:sp>
      <p:sp>
        <p:nvSpPr>
          <p:cNvPr id="21" name="Rounded Rectangle 20"/>
          <p:cNvSpPr/>
          <p:nvPr/>
        </p:nvSpPr>
        <p:spPr>
          <a:xfrm>
            <a:off x="9710928" y="1554480"/>
            <a:ext cx="2816352" cy="3017520"/>
          </a:xfrm>
          <a:prstGeom prst="roundRect">
            <a:avLst>
              <a:gd name="adj" fmla="val 6000"/>
            </a:avLst>
          </a:prstGeom>
          <a:solidFill>
            <a:srgbClr val="FFFFFF"/>
          </a:solidFill>
          <a:ln w="19050">
            <a:solidFill>
              <a:srgbClr val="EC85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10928" y="1554480"/>
            <a:ext cx="2816352" cy="868680"/>
          </a:xfrm>
          <a:prstGeom prst="roundRect">
            <a:avLst>
              <a:gd name="adj" fmla="val 6000"/>
            </a:avLst>
          </a:prstGeom>
          <a:solidFill>
            <a:srgbClr val="EC8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10928" y="1645920"/>
            <a:ext cx="2816352" cy="365760"/>
          </a:xfrm>
          <a:prstGeom prst="rect">
            <a:avLst/>
          </a:prstGeom>
          <a:noFill/>
        </p:spPr>
        <p:txBody>
          <a:bodyPr wrap="square" anchor="t" lIns="0" rIns="0" tIns="0" bIns="0">
            <a:spAutoFit/>
          </a:bodyPr>
          <a:lstStyle/>
          <a:p>
            <a:pPr algn="ctr">
              <a:lnSpc>
                <a:spcPct val="108000"/>
              </a:lnSpc>
              <a:spcBef>
                <a:spcPts val="0"/>
              </a:spcBef>
              <a:spcAft>
                <a:spcPts val="300"/>
              </a:spcAft>
            </a:pPr>
            <a:r>
              <a:rPr sz="1400" b="1">
                <a:solidFill>
                  <a:srgbClr val="FFFFFF"/>
                </a:solidFill>
                <a:latin typeface="游ゴシック"/>
                <a:ea typeface="游ゴシック"/>
                <a:cs typeface="游ゴシック"/>
              </a:rPr>
              <a:t>STEP 4</a:t>
            </a:r>
          </a:p>
        </p:txBody>
      </p:sp>
      <p:sp>
        <p:nvSpPr>
          <p:cNvPr id="24" name="TextBox 23"/>
          <p:cNvSpPr txBox="1"/>
          <p:nvPr/>
        </p:nvSpPr>
        <p:spPr>
          <a:xfrm>
            <a:off x="9710928" y="1993392"/>
            <a:ext cx="2816352" cy="384048"/>
          </a:xfrm>
          <a:prstGeom prst="rect">
            <a:avLst/>
          </a:prstGeom>
          <a:noFill/>
        </p:spPr>
        <p:txBody>
          <a:bodyPr wrap="square" anchor="t" lIns="0" rIns="0" tIns="0" bIns="0">
            <a:spAutoFit/>
          </a:bodyPr>
          <a:lstStyle/>
          <a:p>
            <a:pPr algn="ctr">
              <a:lnSpc>
                <a:spcPct val="108000"/>
              </a:lnSpc>
              <a:spcBef>
                <a:spcPts val="0"/>
              </a:spcBef>
              <a:spcAft>
                <a:spcPts val="300"/>
              </a:spcAft>
            </a:pPr>
            <a:r>
              <a:rPr sz="1700" b="1">
                <a:solidFill>
                  <a:srgbClr val="FFFFFF"/>
                </a:solidFill>
                <a:latin typeface="游ゴシック"/>
                <a:ea typeface="游ゴシック"/>
                <a:cs typeface="游ゴシック"/>
              </a:rPr>
              <a:t>活用（任意）</a:t>
            </a:r>
          </a:p>
        </p:txBody>
      </p:sp>
      <p:sp>
        <p:nvSpPr>
          <p:cNvPr id="25" name="TextBox 24"/>
          <p:cNvSpPr txBox="1"/>
          <p:nvPr/>
        </p:nvSpPr>
        <p:spPr>
          <a:xfrm>
            <a:off x="9912096" y="2606040"/>
            <a:ext cx="2450592" cy="1737360"/>
          </a:xfrm>
          <a:prstGeom prst="rect">
            <a:avLst/>
          </a:prstGeom>
          <a:noFill/>
        </p:spPr>
        <p:txBody>
          <a:bodyPr wrap="square" lIns="0" rIns="0" tIns="0" bIns="0">
            <a:spAutoFit/>
          </a:bodyPr>
          <a:lstStyle/>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付属機能で自動化</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Copilot 前提整備</a:t>
            </a:r>
          </a:p>
          <a:p>
            <a:pPr>
              <a:lnSpc>
                <a:spcPct val="112000"/>
              </a:lnSpc>
              <a:spcAft>
                <a:spcPts val="700"/>
              </a:spcAft>
            </a:pPr>
            <a:r>
              <a:rPr sz="1250" b="1">
                <a:solidFill>
                  <a:srgbClr val="1B5C80"/>
                </a:solidFill>
                <a:latin typeface="游ゴシック"/>
                <a:ea typeface="游ゴシック"/>
                <a:cs typeface="游ゴシック"/>
              </a:rPr>
              <a:t>■ </a:t>
            </a:r>
            <a:r>
              <a:rPr sz="1250" b="0">
                <a:solidFill>
                  <a:srgbClr val="232323"/>
                </a:solidFill>
                <a:latin typeface="游ゴシック"/>
                <a:ea typeface="游ゴシック"/>
                <a:cs typeface="游ゴシック"/>
              </a:rPr>
              <a:t>（Copilot/Premium）</a:t>
            </a:r>
          </a:p>
        </p:txBody>
      </p:sp>
      <p:sp>
        <p:nvSpPr>
          <p:cNvPr id="26" name="TextBox 25"/>
          <p:cNvSpPr txBox="1"/>
          <p:nvPr/>
        </p:nvSpPr>
        <p:spPr>
          <a:xfrm>
            <a:off x="822960" y="4937760"/>
            <a:ext cx="11793855" cy="548640"/>
          </a:xfrm>
          <a:prstGeom prst="rect">
            <a:avLst/>
          </a:prstGeom>
          <a:noFill/>
        </p:spPr>
        <p:txBody>
          <a:bodyPr wrap="square" anchor="t" lIns="0" rIns="0" tIns="0" bIns="0">
            <a:spAutoFit/>
          </a:bodyPr>
          <a:lstStyle/>
          <a:p>
            <a:pPr algn="ctr">
              <a:lnSpc>
                <a:spcPct val="108000"/>
              </a:lnSpc>
              <a:spcBef>
                <a:spcPts val="0"/>
              </a:spcBef>
              <a:spcAft>
                <a:spcPts val="300"/>
              </a:spcAft>
            </a:pPr>
            <a:r>
              <a:rPr sz="1400" b="0">
                <a:solidFill>
                  <a:srgbClr val="232323"/>
                </a:solidFill>
                <a:latin typeface="游ゴシック"/>
                <a:ea typeface="游ゴシック"/>
                <a:cs typeface="游ゴシック"/>
              </a:rPr>
              <a:t>まず E3 でできることを着実に。追加ライセンス（E5／Entra P2／SAM／Copilot）は費用対効果を見て段階導入。</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用語集（1/2）</a:t>
            </a:r>
          </a:p>
        </p:txBody>
      </p:sp>
      <p:graphicFrame>
        <p:nvGraphicFramePr>
          <p:cNvPr id="3" name="Table 2"/>
          <p:cNvGraphicFramePr>
            <a:graphicFrameLocks noGrp="1"/>
          </p:cNvGraphicFramePr>
          <p:nvPr/>
        </p:nvGraphicFramePr>
        <p:xfrm>
          <a:off x="822960" y="1143000"/>
          <a:ext cx="11793855" cy="4956048"/>
        </p:xfrm>
        <a:graphic>
          <a:graphicData uri="http://schemas.openxmlformats.org/drawingml/2006/table">
            <a:tbl>
              <a:tblPr firstRow="1">
                <a:tableStyleId>{5C22544A-7EE6-4342-B048-85BDC9FD1C3A}</a:tableStyleId>
              </a:tblPr>
              <a:tblGrid>
                <a:gridCol w="4717542"/>
                <a:gridCol w="7076313"/>
              </a:tblGrid>
              <a:tr h="384048">
                <a:tc>
                  <a:txBody>
                    <a:bodyPr wrap="square"/>
                    <a:lstStyle/>
                    <a:p>
                      <a:pPr>
                        <a:lnSpc>
                          <a:spcPct val="100000"/>
                        </a:lnSpc>
                      </a:pPr>
                      <a:r>
                        <a:rPr sz="1150" b="1">
                          <a:solidFill>
                            <a:srgbClr val="FFFFFF"/>
                          </a:solidFill>
                          <a:latin typeface="游ゴシック"/>
                          <a:ea typeface="游ゴシック"/>
                          <a:cs typeface="游ゴシック"/>
                        </a:rPr>
                        <a:t>用語</a:t>
                      </a:r>
                    </a:p>
                  </a:txBody>
                  <a:tcPr marL="64008" marR="45720" marT="13716" marB="13716" anchor="ctr">
                    <a:solidFill>
                      <a:srgbClr val="1B5C80"/>
                    </a:solidFill>
                  </a:tcPr>
                </a:tc>
                <a:tc>
                  <a:txBody>
                    <a:bodyPr wrap="square"/>
                    <a:lstStyle/>
                    <a:p>
                      <a:pPr>
                        <a:lnSpc>
                          <a:spcPct val="100000"/>
                        </a:lnSpc>
                      </a:pPr>
                      <a:r>
                        <a:rPr sz="1150" b="1">
                          <a:solidFill>
                            <a:srgbClr val="FFFFFF"/>
                          </a:solidFill>
                          <a:latin typeface="游ゴシック"/>
                          <a:ea typeface="游ゴシック"/>
                          <a:cs typeface="游ゴシック"/>
                        </a:rPr>
                        <a:t>説明</a:t>
                      </a:r>
                    </a:p>
                  </a:txBody>
                  <a:tcPr marL="64008" marR="45720" marT="13716" marB="13716" anchor="ctr">
                    <a:solidFill>
                      <a:srgbClr val="1B5C80"/>
                    </a:solidFill>
                  </a:tcPr>
                </a:tc>
              </a:tr>
              <a:tr h="457200">
                <a:tc>
                  <a:txBody>
                    <a:bodyPr wrap="square"/>
                    <a:lstStyle/>
                    <a:p>
                      <a:pPr>
                        <a:lnSpc>
                          <a:spcPct val="100000"/>
                        </a:lnSpc>
                      </a:pPr>
                      <a:r>
                        <a:rPr sz="1150" b="0">
                          <a:solidFill>
                            <a:srgbClr val="232323"/>
                          </a:solidFill>
                          <a:latin typeface="游ゴシック"/>
                          <a:ea typeface="游ゴシック"/>
                          <a:cs typeface="游ゴシック"/>
                        </a:rPr>
                        <a:t>SharePoint Online</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M365 のファイル・情報共有基盤。サイト単位で管理。ファイル系の土台</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OneDrive for Business</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個人用ファイル置き場。実体は1人所有の SharePoint サイト</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チームサイト／コミュニケーションサイト</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共同編集用／発信・閲覧用のモダンサイト</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ホームサイト／ハブサイト</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全社の玄関口／複数サイトを束ねる役割</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M365 グループ</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SharePoint・Teams・Planner 等を一式結びつける仕組み</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標準/プライベート/共有チャネル</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裏のSP：標準=親のフォルダ／他=別サイト</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権限の継承</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サイト→ライブラリ→ファイルへ権限が引き継がれる仕組み</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KFM（既知フォルダ移動）</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デスクトップ等を OneDrive へ自動保護</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秘密度ラベル</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社外秘/極秘等を付与し暗号化・制御。手動=E3／自動=E5</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DLP</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機微情報の外部流出を検知・防止。SPO/OneDrive/Exchange=E3</a:t>
                      </a:r>
                    </a:p>
                  </a:txBody>
                  <a:tcPr marL="64008" marR="45720" marT="13716" marB="13716" anchor="ctr">
                    <a:solidFill>
                      <a:srgbClr val="F3F9FB"/>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用語集（2/2）</a:t>
            </a:r>
          </a:p>
        </p:txBody>
      </p:sp>
      <p:graphicFrame>
        <p:nvGraphicFramePr>
          <p:cNvPr id="3" name="Table 2"/>
          <p:cNvGraphicFramePr>
            <a:graphicFrameLocks noGrp="1"/>
          </p:cNvGraphicFramePr>
          <p:nvPr/>
        </p:nvGraphicFramePr>
        <p:xfrm>
          <a:off x="822960" y="1143000"/>
          <a:ext cx="11793855" cy="4956048"/>
        </p:xfrm>
        <a:graphic>
          <a:graphicData uri="http://schemas.openxmlformats.org/drawingml/2006/table">
            <a:tbl>
              <a:tblPr firstRow="1">
                <a:tableStyleId>{5C22544A-7EE6-4342-B048-85BDC9FD1C3A}</a:tableStyleId>
              </a:tblPr>
              <a:tblGrid>
                <a:gridCol w="4717542"/>
                <a:gridCol w="7076313"/>
              </a:tblGrid>
              <a:tr h="384048">
                <a:tc>
                  <a:txBody>
                    <a:bodyPr wrap="square"/>
                    <a:lstStyle/>
                    <a:p>
                      <a:pPr>
                        <a:lnSpc>
                          <a:spcPct val="100000"/>
                        </a:lnSpc>
                      </a:pPr>
                      <a:r>
                        <a:rPr sz="1150" b="1">
                          <a:solidFill>
                            <a:srgbClr val="FFFFFF"/>
                          </a:solidFill>
                          <a:latin typeface="游ゴシック"/>
                          <a:ea typeface="游ゴシック"/>
                          <a:cs typeface="游ゴシック"/>
                        </a:rPr>
                        <a:t>用語</a:t>
                      </a:r>
                    </a:p>
                  </a:txBody>
                  <a:tcPr marL="64008" marR="45720" marT="13716" marB="13716" anchor="ctr">
                    <a:solidFill>
                      <a:srgbClr val="1B5C80"/>
                    </a:solidFill>
                  </a:tcPr>
                </a:tc>
                <a:tc>
                  <a:txBody>
                    <a:bodyPr wrap="square"/>
                    <a:lstStyle/>
                    <a:p>
                      <a:pPr>
                        <a:lnSpc>
                          <a:spcPct val="100000"/>
                        </a:lnSpc>
                      </a:pPr>
                      <a:r>
                        <a:rPr sz="1150" b="1">
                          <a:solidFill>
                            <a:srgbClr val="FFFFFF"/>
                          </a:solidFill>
                          <a:latin typeface="游ゴシック"/>
                          <a:ea typeface="游ゴシック"/>
                          <a:cs typeface="游ゴシック"/>
                        </a:rPr>
                        <a:t>説明</a:t>
                      </a:r>
                    </a:p>
                  </a:txBody>
                  <a:tcPr marL="64008" marR="45720" marT="13716" marB="13716" anchor="ctr">
                    <a:solidFill>
                      <a:srgbClr val="1B5C80"/>
                    </a:solidFill>
                  </a:tcPr>
                </a:tc>
              </a:tr>
              <a:tr h="457200">
                <a:tc>
                  <a:txBody>
                    <a:bodyPr wrap="square"/>
                    <a:lstStyle/>
                    <a:p>
                      <a:pPr>
                        <a:lnSpc>
                          <a:spcPct val="100000"/>
                        </a:lnSpc>
                      </a:pPr>
                      <a:r>
                        <a:rPr sz="1150" b="0">
                          <a:solidFill>
                            <a:srgbClr val="232323"/>
                          </a:solidFill>
                          <a:latin typeface="游ゴシック"/>
                          <a:ea typeface="游ゴシック"/>
                          <a:cs typeface="游ゴシック"/>
                        </a:rPr>
                        <a:t>監査ログ</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操作の記録。Standard=E3・180日／Premium=E5・1年</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条件付きアクセス</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MFA・デバイス条件で制御。基本=Entra P1（E3内包）</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Entra ID P1 / P2</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ID 上位ライセンス。P1=E3内包／P2=E5相当</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SharePoint Advanced Management</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過剰共有是正・ライフサイクル等の有償アドオン</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Microsoft 365 Archive</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非アクティブサイトの低コスト保管（従量課金）</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過剰共有(oversharing)</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誰でも見られる放置状態。Copilot 導入前に是正が必須</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Microsoft 365 Copilot</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権限内の情報を横断活用する AI。E3 とは別の追加ライセンス</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SPMT / Migration Manager</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無償の移行ツール（後者はエージェント並列・一元管理）</a:t>
                      </a:r>
                    </a:p>
                  </a:txBody>
                  <a:tcPr marL="64008" marR="45720" marT="13716" marB="13716" anchor="ctr">
                    <a:solidFill>
                      <a:srgbClr val="F3F9FB"/>
                    </a:solidFill>
                  </a:tcPr>
                </a:tc>
              </a:tr>
              <a:tr h="457200">
                <a:tc>
                  <a:txBody>
                    <a:bodyPr wrap="square"/>
                    <a:lstStyle/>
                    <a:p>
                      <a:pPr>
                        <a:lnSpc>
                          <a:spcPct val="100000"/>
                        </a:lnSpc>
                      </a:pPr>
                      <a:r>
                        <a:rPr sz="1150" b="0">
                          <a:solidFill>
                            <a:srgbClr val="232323"/>
                          </a:solidFill>
                          <a:latin typeface="游ゴシック"/>
                          <a:ea typeface="游ゴシック"/>
                          <a:cs typeface="游ゴシック"/>
                        </a:rPr>
                        <a:t>Power Automate / Power Apps</a:t>
                      </a:r>
                    </a:p>
                  </a:txBody>
                  <a:tcPr marL="64008" marR="45720" marT="13716" marB="13716" anchor="ctr">
                    <a:solidFill>
                      <a:srgbClr val="FFFFFF"/>
                    </a:solidFill>
                  </a:tcPr>
                </a:tc>
                <a:tc>
                  <a:txBody>
                    <a:bodyPr wrap="square"/>
                    <a:lstStyle/>
                    <a:p>
                      <a:pPr>
                        <a:lnSpc>
                          <a:spcPct val="100000"/>
                        </a:lnSpc>
                      </a:pPr>
                      <a:r>
                        <a:rPr sz="1150" b="0">
                          <a:solidFill>
                            <a:srgbClr val="232323"/>
                          </a:solidFill>
                          <a:latin typeface="游ゴシック"/>
                          <a:ea typeface="游ゴシック"/>
                          <a:cs typeface="游ゴシック"/>
                        </a:rPr>
                        <a:t>業務自動化／ノーコード業務アプリ（InfoPath 後継）</a:t>
                      </a:r>
                    </a:p>
                  </a:txBody>
                  <a:tcPr marL="64008" marR="45720" marT="13716" marB="13716" anchor="ctr">
                    <a:solidFill>
                      <a:srgbClr val="FFFFFF"/>
                    </a:solidFill>
                  </a:tcPr>
                </a:tc>
              </a:tr>
              <a:tr h="457200">
                <a:tc>
                  <a:txBody>
                    <a:bodyPr wrap="square"/>
                    <a:lstStyle/>
                    <a:p>
                      <a:pPr>
                        <a:lnSpc>
                          <a:spcPct val="100000"/>
                        </a:lnSpc>
                      </a:pPr>
                      <a:r>
                        <a:rPr sz="1150" b="0">
                          <a:solidFill>
                            <a:srgbClr val="232323"/>
                          </a:solidFill>
                          <a:latin typeface="游ゴシック"/>
                          <a:ea typeface="游ゴシック"/>
                          <a:cs typeface="游ゴシック"/>
                        </a:rPr>
                        <a:t>RSS / RCD</a:t>
                      </a:r>
                    </a:p>
                  </a:txBody>
                  <a:tcPr marL="64008" marR="45720" marT="13716" marB="13716" anchor="ctr">
                    <a:solidFill>
                      <a:srgbClr val="F3F9FB"/>
                    </a:solidFill>
                  </a:tcPr>
                </a:tc>
                <a:tc>
                  <a:txBody>
                    <a:bodyPr wrap="square"/>
                    <a:lstStyle/>
                    <a:p>
                      <a:pPr>
                        <a:lnSpc>
                          <a:spcPct val="100000"/>
                        </a:lnSpc>
                      </a:pPr>
                      <a:r>
                        <a:rPr sz="1150" b="0">
                          <a:solidFill>
                            <a:srgbClr val="232323"/>
                          </a:solidFill>
                          <a:latin typeface="游ゴシック"/>
                          <a:ea typeface="游ゴシック"/>
                          <a:cs typeface="游ゴシック"/>
                        </a:rPr>
                        <a:t>無償の検索範囲限定／SAM有償の検出除外（別物）</a:t>
                      </a:r>
                    </a:p>
                  </a:txBody>
                  <a:tcPr marL="64008" marR="45720" marT="13716" marB="13716" anchor="ctr">
                    <a:solidFill>
                      <a:srgbClr val="F3F9FB"/>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出典一覧（1/2）：フェーズ1〜2</a:t>
            </a:r>
          </a:p>
        </p:txBody>
      </p:sp>
      <p:graphicFrame>
        <p:nvGraphicFramePr>
          <p:cNvPr id="3" name="Table 2"/>
          <p:cNvGraphicFramePr>
            <a:graphicFrameLocks noGrp="1"/>
          </p:cNvGraphicFramePr>
          <p:nvPr/>
        </p:nvGraphicFramePr>
        <p:xfrm>
          <a:off x="822960" y="1143000"/>
          <a:ext cx="5532119" cy="5120640"/>
        </p:xfrm>
        <a:graphic>
          <a:graphicData uri="http://schemas.openxmlformats.org/drawingml/2006/table">
            <a:tbl>
              <a:tblPr firstRow="1">
                <a:tableStyleId>{5C22544A-7EE6-4342-B048-85BDC9FD1C3A}</a:tableStyleId>
              </a:tblPr>
              <a:tblGrid>
                <a:gridCol w="663854"/>
                <a:gridCol w="4868265"/>
              </a:tblGrid>
              <a:tr h="365760">
                <a:tc>
                  <a:txBody>
                    <a:bodyPr wrap="square"/>
                    <a:lstStyle/>
                    <a:p>
                      <a:pPr>
                        <a:lnSpc>
                          <a:spcPct val="100000"/>
                        </a:lnSpc>
                      </a:pPr>
                      <a:r>
                        <a:rPr sz="1050" b="1">
                          <a:solidFill>
                            <a:srgbClr val="FFFFFF"/>
                          </a:solidFill>
                          <a:latin typeface="游ゴシック"/>
                          <a:ea typeface="游ゴシック"/>
                          <a:cs typeface="游ゴシック"/>
                        </a:rPr>
                        <a:t>#</a:t>
                      </a:r>
                    </a:p>
                  </a:txBody>
                  <a:tcPr marL="64008" marR="45720" marT="13716" marB="13716" anchor="ctr">
                    <a:solidFill>
                      <a:srgbClr val="1B5C80"/>
                    </a:solidFill>
                  </a:tcPr>
                </a:tc>
                <a:tc>
                  <a:txBody>
                    <a:bodyPr wrap="square"/>
                    <a:lstStyle/>
                    <a:p>
                      <a:pPr>
                        <a:lnSpc>
                          <a:spcPct val="100000"/>
                        </a:lnSpc>
                      </a:pPr>
                      <a:r>
                        <a:rPr sz="1050" b="1">
                          <a:solidFill>
                            <a:srgbClr val="FFFFFF"/>
                          </a:solidFill>
                          <a:latin typeface="游ゴシック"/>
                          <a:ea typeface="游ゴシック"/>
                          <a:cs typeface="游ゴシック"/>
                        </a:rPr>
                        <a:t>説明対象</a:t>
                      </a:r>
                    </a:p>
                  </a:txBody>
                  <a:tcPr marL="64008" marR="45720" marT="13716" marB="13716" anchor="ctr">
                    <a:solidFill>
                      <a:srgbClr val="1B5C80"/>
                    </a:solidFill>
                  </a:tcPr>
                </a:tc>
              </a:tr>
              <a:tr h="365760">
                <a:tc>
                  <a:txBody>
                    <a:bodyPr wrap="square"/>
                    <a:lstStyle/>
                    <a:p>
                      <a:pPr>
                        <a:lnSpc>
                          <a:spcPct val="100000"/>
                        </a:lnSpc>
                      </a:pPr>
                      <a:r>
                        <a:rPr sz="1050" b="0">
                          <a:solidFill>
                            <a:srgbClr val="232323"/>
                          </a:solidFill>
                          <a:latin typeface="游ゴシック"/>
                          <a:ea typeface="游ゴシック"/>
                          <a:cs typeface="游ゴシック"/>
                        </a:rPr>
                        <a:t>S1</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ファイル共有→SPO/OneDrive 移行・棲み分け</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S2</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OneDrive 既知フォルダ移動（KFM）</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S3</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チーム vs コミュニケーションサイト</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S4</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ホームサイト</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S5</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ハブサイト／フラット構造</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S6</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M365 グループ連携サイト</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S7</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Teams で SP サイト自動生成</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S8</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標準/プライベート/共有チャネル</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S9</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権限レベル・継承</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S10</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グループの種類の比較</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S11</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外部共有設定</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S12</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クラシック→モダン化</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S13</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2013WF・InfoPath 廃止</a:t>
                      </a:r>
                    </a:p>
                  </a:txBody>
                  <a:tcPr marL="64008" marR="45720" marT="13716" marB="13716" anchor="ctr">
                    <a:solidFill>
                      <a:srgbClr val="FFFFFF"/>
                    </a:solidFill>
                  </a:tcPr>
                </a:tc>
              </a:tr>
            </a:tbl>
          </a:graphicData>
        </a:graphic>
      </p:graphicFrame>
      <p:graphicFrame>
        <p:nvGraphicFramePr>
          <p:cNvPr id="4" name="Table 3"/>
          <p:cNvGraphicFramePr>
            <a:graphicFrameLocks noGrp="1"/>
          </p:cNvGraphicFramePr>
          <p:nvPr/>
        </p:nvGraphicFramePr>
        <p:xfrm>
          <a:off x="6812280" y="1143000"/>
          <a:ext cx="5532119" cy="5120640"/>
        </p:xfrm>
        <a:graphic>
          <a:graphicData uri="http://schemas.openxmlformats.org/drawingml/2006/table">
            <a:tbl>
              <a:tblPr firstRow="1">
                <a:tableStyleId>{5C22544A-7EE6-4342-B048-85BDC9FD1C3A}</a:tableStyleId>
              </a:tblPr>
              <a:tblGrid>
                <a:gridCol w="663854"/>
                <a:gridCol w="4868265"/>
              </a:tblGrid>
              <a:tr h="365760">
                <a:tc>
                  <a:txBody>
                    <a:bodyPr wrap="square"/>
                    <a:lstStyle/>
                    <a:p>
                      <a:pPr>
                        <a:lnSpc>
                          <a:spcPct val="100000"/>
                        </a:lnSpc>
                      </a:pPr>
                      <a:r>
                        <a:rPr sz="1050" b="1">
                          <a:solidFill>
                            <a:srgbClr val="FFFFFF"/>
                          </a:solidFill>
                          <a:latin typeface="游ゴシック"/>
                          <a:ea typeface="游ゴシック"/>
                          <a:cs typeface="游ゴシック"/>
                        </a:rPr>
                        <a:t>#</a:t>
                      </a:r>
                    </a:p>
                  </a:txBody>
                  <a:tcPr marL="64008" marR="45720" marT="13716" marB="13716" anchor="ctr">
                    <a:solidFill>
                      <a:srgbClr val="1B5C80"/>
                    </a:solidFill>
                  </a:tcPr>
                </a:tc>
                <a:tc>
                  <a:txBody>
                    <a:bodyPr wrap="square"/>
                    <a:lstStyle/>
                    <a:p>
                      <a:pPr>
                        <a:lnSpc>
                          <a:spcPct val="100000"/>
                        </a:lnSpc>
                      </a:pPr>
                      <a:r>
                        <a:rPr sz="1050" b="1">
                          <a:solidFill>
                            <a:srgbClr val="FFFFFF"/>
                          </a:solidFill>
                          <a:latin typeface="游ゴシック"/>
                          <a:ea typeface="游ゴシック"/>
                          <a:cs typeface="游ゴシック"/>
                        </a:rPr>
                        <a:t>説明対象</a:t>
                      </a:r>
                    </a:p>
                  </a:txBody>
                  <a:tcPr marL="64008" marR="45720" marT="13716" marB="13716" anchor="ctr">
                    <a:solidFill>
                      <a:srgbClr val="1B5C80"/>
                    </a:solidFill>
                  </a:tcPr>
                </a:tc>
              </a:tr>
              <a:tr h="365760">
                <a:tc>
                  <a:txBody>
                    <a:bodyPr wrap="square"/>
                    <a:lstStyle/>
                    <a:p>
                      <a:pPr>
                        <a:lnSpc>
                          <a:spcPct val="100000"/>
                        </a:lnSpc>
                      </a:pPr>
                      <a:r>
                        <a:rPr sz="1050" b="0">
                          <a:solidFill>
                            <a:srgbClr val="232323"/>
                          </a:solidFill>
                          <a:latin typeface="游ゴシック"/>
                          <a:ea typeface="游ゴシック"/>
                          <a:cs typeface="游ゴシック"/>
                        </a:rPr>
                        <a:t>S14</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SharePoint Migration Tool</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S15</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Migration Manager</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S16</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ガバナンス・導入計画</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S17</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秘密度ラベル概要</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S18</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手動付与（E3）</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S19</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自動付与（E5）</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S20</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コンテナラベル・デバイス制御</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S21</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既定・必須ラベル</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S22</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DLP（Teams本文=E5）</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S23</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エンドポイント DLP</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S24</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監査 Standard/Premium</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S25</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保持・eDiscovery</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S26〜29</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外部共有厳格化・CA・レビュー・導入順序</a:t>
                      </a:r>
                    </a:p>
                  </a:txBody>
                  <a:tcPr marL="64008" marR="45720" marT="13716" marB="13716" anchor="ctr">
                    <a:solidFill>
                      <a:srgbClr val="FFFFFF"/>
                    </a:solidFill>
                  </a:tcPr>
                </a:tc>
              </a:tr>
            </a:tbl>
          </a:graphicData>
        </a:graphic>
      </p:graphicFrame>
      <p:sp>
        <p:nvSpPr>
          <p:cNvPr id="5" name="TextBox 4"/>
          <p:cNvSpPr txBox="1"/>
          <p:nvPr/>
        </p:nvSpPr>
        <p:spPr>
          <a:xfrm>
            <a:off x="822960" y="6492240"/>
            <a:ext cx="11793855" cy="274320"/>
          </a:xfrm>
          <a:prstGeom prst="rect">
            <a:avLst/>
          </a:prstGeom>
          <a:noFill/>
        </p:spPr>
        <p:txBody>
          <a:bodyPr wrap="square" anchor="t"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 各出典の URL は Markdown／HTML 版の「出典一覧」を参照。</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出典一覧（2/2）：フェーズ3〜4・ベンダー</a:t>
            </a:r>
          </a:p>
        </p:txBody>
      </p:sp>
      <p:graphicFrame>
        <p:nvGraphicFramePr>
          <p:cNvPr id="3" name="Table 2"/>
          <p:cNvGraphicFramePr>
            <a:graphicFrameLocks noGrp="1"/>
          </p:cNvGraphicFramePr>
          <p:nvPr/>
        </p:nvGraphicFramePr>
        <p:xfrm>
          <a:off x="822960" y="1143000"/>
          <a:ext cx="5532119" cy="5120640"/>
        </p:xfrm>
        <a:graphic>
          <a:graphicData uri="http://schemas.openxmlformats.org/drawingml/2006/table">
            <a:tbl>
              <a:tblPr firstRow="1">
                <a:tableStyleId>{5C22544A-7EE6-4342-B048-85BDC9FD1C3A}</a:tableStyleId>
              </a:tblPr>
              <a:tblGrid>
                <a:gridCol w="663854"/>
                <a:gridCol w="4868265"/>
              </a:tblGrid>
              <a:tr h="365760">
                <a:tc>
                  <a:txBody>
                    <a:bodyPr wrap="square"/>
                    <a:lstStyle/>
                    <a:p>
                      <a:pPr>
                        <a:lnSpc>
                          <a:spcPct val="100000"/>
                        </a:lnSpc>
                      </a:pPr>
                      <a:r>
                        <a:rPr sz="1050" b="1">
                          <a:solidFill>
                            <a:srgbClr val="FFFFFF"/>
                          </a:solidFill>
                          <a:latin typeface="游ゴシック"/>
                          <a:ea typeface="游ゴシック"/>
                          <a:cs typeface="游ゴシック"/>
                        </a:rPr>
                        <a:t>#</a:t>
                      </a:r>
                    </a:p>
                  </a:txBody>
                  <a:tcPr marL="64008" marR="45720" marT="13716" marB="13716" anchor="ctr">
                    <a:solidFill>
                      <a:srgbClr val="1B5C80"/>
                    </a:solidFill>
                  </a:tcPr>
                </a:tc>
                <a:tc>
                  <a:txBody>
                    <a:bodyPr wrap="square"/>
                    <a:lstStyle/>
                    <a:p>
                      <a:pPr>
                        <a:lnSpc>
                          <a:spcPct val="100000"/>
                        </a:lnSpc>
                      </a:pPr>
                      <a:r>
                        <a:rPr sz="1050" b="1">
                          <a:solidFill>
                            <a:srgbClr val="FFFFFF"/>
                          </a:solidFill>
                          <a:latin typeface="游ゴシック"/>
                          <a:ea typeface="游ゴシック"/>
                          <a:cs typeface="游ゴシック"/>
                        </a:rPr>
                        <a:t>説明対象</a:t>
                      </a:r>
                    </a:p>
                  </a:txBody>
                  <a:tcPr marL="64008" marR="45720" marT="13716" marB="13716" anchor="ctr">
                    <a:solidFill>
                      <a:srgbClr val="1B5C80"/>
                    </a:solidFill>
                  </a:tcPr>
                </a:tc>
              </a:tr>
              <a:tr h="365760">
                <a:tc>
                  <a:txBody>
                    <a:bodyPr wrap="square"/>
                    <a:lstStyle/>
                    <a:p>
                      <a:pPr>
                        <a:lnSpc>
                          <a:spcPct val="100000"/>
                        </a:lnSpc>
                      </a:pPr>
                      <a:r>
                        <a:rPr sz="1050" b="0">
                          <a:solidFill>
                            <a:srgbClr val="232323"/>
                          </a:solidFill>
                          <a:latin typeface="游ゴシック"/>
                          <a:ea typeface="游ゴシック"/>
                          <a:cs typeface="游ゴシック"/>
                        </a:rPr>
                        <a:t>S30</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グループ作成制御（P1）</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S31</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名前付けポリシー（P1）</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S32</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有効期限ポリシー（P1）</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S33</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プロビジョニング</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S34</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SharePoint Advanced Management</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S35</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データアクセスガバナンス</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S36</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非アクティブサイト</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S37</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制限付きアクセス/RCD</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S38</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サイト所有権ポリシー</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S39</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Microsoft 365 Archive</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S40</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アクセスレビュー</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S41</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利用状況レポート</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S42/43</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ゲストB2B／ガバナンス</a:t>
                      </a:r>
                    </a:p>
                  </a:txBody>
                  <a:tcPr marL="64008" marR="45720" marT="13716" marB="13716" anchor="ctr">
                    <a:solidFill>
                      <a:srgbClr val="FFFFFF"/>
                    </a:solidFill>
                  </a:tcPr>
                </a:tc>
              </a:tr>
            </a:tbl>
          </a:graphicData>
        </a:graphic>
      </p:graphicFrame>
      <p:graphicFrame>
        <p:nvGraphicFramePr>
          <p:cNvPr id="4" name="Table 3"/>
          <p:cNvGraphicFramePr>
            <a:graphicFrameLocks noGrp="1"/>
          </p:cNvGraphicFramePr>
          <p:nvPr/>
        </p:nvGraphicFramePr>
        <p:xfrm>
          <a:off x="6812280" y="1143000"/>
          <a:ext cx="5532119" cy="5120640"/>
        </p:xfrm>
        <a:graphic>
          <a:graphicData uri="http://schemas.openxmlformats.org/drawingml/2006/table">
            <a:tbl>
              <a:tblPr firstRow="1">
                <a:tableStyleId>{5C22544A-7EE6-4342-B048-85BDC9FD1C3A}</a:tableStyleId>
              </a:tblPr>
              <a:tblGrid>
                <a:gridCol w="663854"/>
                <a:gridCol w="4868265"/>
              </a:tblGrid>
              <a:tr h="365760">
                <a:tc>
                  <a:txBody>
                    <a:bodyPr wrap="square"/>
                    <a:lstStyle/>
                    <a:p>
                      <a:pPr>
                        <a:lnSpc>
                          <a:spcPct val="100000"/>
                        </a:lnSpc>
                      </a:pPr>
                      <a:r>
                        <a:rPr sz="1050" b="1">
                          <a:solidFill>
                            <a:srgbClr val="FFFFFF"/>
                          </a:solidFill>
                          <a:latin typeface="游ゴシック"/>
                          <a:ea typeface="游ゴシック"/>
                          <a:cs typeface="游ゴシック"/>
                        </a:rPr>
                        <a:t>#</a:t>
                      </a:r>
                    </a:p>
                  </a:txBody>
                  <a:tcPr marL="64008" marR="45720" marT="13716" marB="13716" anchor="ctr">
                    <a:solidFill>
                      <a:srgbClr val="1B5C80"/>
                    </a:solidFill>
                  </a:tcPr>
                </a:tc>
                <a:tc>
                  <a:txBody>
                    <a:bodyPr wrap="square"/>
                    <a:lstStyle/>
                    <a:p>
                      <a:pPr>
                        <a:lnSpc>
                          <a:spcPct val="100000"/>
                        </a:lnSpc>
                      </a:pPr>
                      <a:r>
                        <a:rPr sz="1050" b="1">
                          <a:solidFill>
                            <a:srgbClr val="FFFFFF"/>
                          </a:solidFill>
                          <a:latin typeface="游ゴシック"/>
                          <a:ea typeface="游ゴシック"/>
                          <a:cs typeface="游ゴシック"/>
                        </a:rPr>
                        <a:t>説明対象</a:t>
                      </a:r>
                    </a:p>
                  </a:txBody>
                  <a:tcPr marL="64008" marR="45720" marT="13716" marB="13716" anchor="ctr">
                    <a:solidFill>
                      <a:srgbClr val="1B5C80"/>
                    </a:solidFill>
                  </a:tcPr>
                </a:tc>
              </a:tr>
              <a:tr h="365760">
                <a:tc>
                  <a:txBody>
                    <a:bodyPr wrap="square"/>
                    <a:lstStyle/>
                    <a:p>
                      <a:pPr>
                        <a:lnSpc>
                          <a:spcPct val="100000"/>
                        </a:lnSpc>
                      </a:pPr>
                      <a:r>
                        <a:rPr sz="1050" b="0">
                          <a:solidFill>
                            <a:srgbClr val="232323"/>
                          </a:solidFill>
                          <a:latin typeface="游ゴシック"/>
                          <a:ea typeface="游ゴシック"/>
                          <a:cs typeface="游ゴシック"/>
                        </a:rPr>
                        <a:t>S44</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Copilot 概要・ライセンス</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S45</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Copilot 過剰共有対策</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S46</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Restricted SP Search／SAM</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S47</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Copilot コンテンツ参照</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S48</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Power Automate</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S49</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Power Apps</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S50</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Power BI 連携</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S51</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Power Platform ガバナンス</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S52</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Lists/Forms/Loop/Viva</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S53</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業務自動化ユースケース</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V1</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ShareGate（料金）</a:t>
                      </a:r>
                    </a:p>
                  </a:txBody>
                  <a:tcPr marL="64008" marR="45720" marT="13716" marB="13716" anchor="ctr">
                    <a:solidFill>
                      <a:srgbClr val="FFFFFF"/>
                    </a:solidFill>
                  </a:tcPr>
                </a:tc>
              </a:tr>
              <a:tr h="365760">
                <a:tc>
                  <a:txBody>
                    <a:bodyPr wrap="square"/>
                    <a:lstStyle/>
                    <a:p>
                      <a:pPr>
                        <a:lnSpc>
                          <a:spcPct val="100000"/>
                        </a:lnSpc>
                      </a:pPr>
                      <a:r>
                        <a:rPr sz="1050" b="0">
                          <a:solidFill>
                            <a:srgbClr val="232323"/>
                          </a:solidFill>
                          <a:latin typeface="游ゴシック"/>
                          <a:ea typeface="游ゴシック"/>
                          <a:cs typeface="游ゴシック"/>
                        </a:rPr>
                        <a:t>V2</a:t>
                      </a:r>
                    </a:p>
                  </a:txBody>
                  <a:tcPr marL="64008" marR="45720" marT="13716" marB="13716" anchor="ctr">
                    <a:solidFill>
                      <a:srgbClr val="F3F9FB"/>
                    </a:solidFill>
                  </a:tcPr>
                </a:tc>
                <a:tc>
                  <a:txBody>
                    <a:bodyPr wrap="square"/>
                    <a:lstStyle/>
                    <a:p>
                      <a:pPr>
                        <a:lnSpc>
                          <a:spcPct val="100000"/>
                        </a:lnSpc>
                      </a:pPr>
                      <a:r>
                        <a:rPr sz="1050" b="0">
                          <a:solidFill>
                            <a:srgbClr val="232323"/>
                          </a:solidFill>
                          <a:latin typeface="游ゴシック"/>
                          <a:ea typeface="游ゴシック"/>
                          <a:cs typeface="游ゴシック"/>
                        </a:rPr>
                        <a:t>AvePoint</a:t>
                      </a:r>
                    </a:p>
                  </a:txBody>
                  <a:tcPr marL="64008" marR="45720" marT="13716" marB="13716" anchor="ctr">
                    <a:solidFill>
                      <a:srgbClr val="F3F9FB"/>
                    </a:solidFill>
                  </a:tcPr>
                </a:tc>
              </a:tr>
              <a:tr h="365760">
                <a:tc>
                  <a:txBody>
                    <a:bodyPr wrap="square"/>
                    <a:lstStyle/>
                    <a:p>
                      <a:pPr>
                        <a:lnSpc>
                          <a:spcPct val="100000"/>
                        </a:lnSpc>
                      </a:pPr>
                      <a:r>
                        <a:rPr sz="1050" b="0">
                          <a:solidFill>
                            <a:srgbClr val="232323"/>
                          </a:solidFill>
                          <a:latin typeface="游ゴシック"/>
                          <a:ea typeface="游ゴシック"/>
                          <a:cs typeface="游ゴシック"/>
                        </a:rPr>
                        <a:t>V3</a:t>
                      </a:r>
                    </a:p>
                  </a:txBody>
                  <a:tcPr marL="64008" marR="45720" marT="13716" marB="13716" anchor="ctr">
                    <a:solidFill>
                      <a:srgbClr val="FFFFFF"/>
                    </a:solidFill>
                  </a:tcPr>
                </a:tc>
                <a:tc>
                  <a:txBody>
                    <a:bodyPr wrap="square"/>
                    <a:lstStyle/>
                    <a:p>
                      <a:pPr>
                        <a:lnSpc>
                          <a:spcPct val="100000"/>
                        </a:lnSpc>
                      </a:pPr>
                      <a:r>
                        <a:rPr sz="1050" b="0">
                          <a:solidFill>
                            <a:srgbClr val="232323"/>
                          </a:solidFill>
                          <a:latin typeface="游ゴシック"/>
                          <a:ea typeface="游ゴシック"/>
                          <a:cs typeface="游ゴシック"/>
                        </a:rPr>
                        <a:t>Quest Content Matrix</a:t>
                      </a:r>
                    </a:p>
                  </a:txBody>
                  <a:tcPr marL="64008" marR="45720" marT="13716" marB="13716" anchor="ctr">
                    <a:solidFill>
                      <a:srgbClr val="FFFFFF"/>
                    </a:solidFill>
                  </a:tcPr>
                </a:tc>
              </a:tr>
            </a:tbl>
          </a:graphicData>
        </a:graphic>
      </p:graphicFrame>
      <p:sp>
        <p:nvSpPr>
          <p:cNvPr id="5" name="TextBox 4"/>
          <p:cNvSpPr txBox="1"/>
          <p:nvPr/>
        </p:nvSpPr>
        <p:spPr>
          <a:xfrm>
            <a:off x="822960" y="6492240"/>
            <a:ext cx="11793855" cy="274320"/>
          </a:xfrm>
          <a:prstGeom prst="rect">
            <a:avLst/>
          </a:prstGeom>
          <a:noFill/>
        </p:spPr>
        <p:txBody>
          <a:bodyPr wrap="square" anchor="t" lIns="0" rIns="0" tIns="0" bIns="0">
            <a:spAutoFit/>
          </a:bodyPr>
          <a:lstStyle/>
          <a:p>
            <a:pPr algn="l">
              <a:lnSpc>
                <a:spcPct val="108000"/>
              </a:lnSpc>
              <a:spcBef>
                <a:spcPts val="0"/>
              </a:spcBef>
              <a:spcAft>
                <a:spcPts val="300"/>
              </a:spcAft>
            </a:pPr>
            <a:r>
              <a:rPr sz="1100" b="0">
                <a:solidFill>
                  <a:srgbClr val="5C636A"/>
                </a:solidFill>
                <a:latin typeface="游ゴシック"/>
                <a:ea typeface="游ゴシック"/>
                <a:cs typeface="游ゴシック"/>
              </a:rPr>
              <a:t>※ 各出典の URL は Markdown／HTML 版の「出典一覧」を参照。</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游ゴシック"/>
              </a:rPr>
              <a:t>免責・ご確認事項</a:t>
            </a:r>
          </a:p>
        </p:txBody>
      </p:sp>
      <p:sp>
        <p:nvSpPr>
          <p:cNvPr id="3" name="TextBox 2"/>
          <p:cNvSpPr txBox="1"/>
          <p:nvPr/>
        </p:nvSpPr>
        <p:spPr>
          <a:xfrm>
            <a:off x="822960" y="1143000"/>
            <a:ext cx="11793855" cy="3657600"/>
          </a:xfrm>
          <a:prstGeom prst="rect">
            <a:avLst/>
          </a:prstGeom>
          <a:noFill/>
        </p:spPr>
        <p:txBody>
          <a:bodyPr wrap="square" lIns="0" rIns="0" tIns="0" bIns="0">
            <a:spAutoFit/>
          </a:bodyPr>
          <a:lstStyle/>
          <a:p>
            <a:pPr>
              <a:lnSpc>
                <a:spcPct val="112000"/>
              </a:lnSpc>
              <a:spcAft>
                <a:spcPts val="16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出典：</a:t>
            </a:r>
            <a:r>
              <a:rPr sz="1500" b="0">
                <a:solidFill>
                  <a:srgbClr val="232323"/>
                </a:solidFill>
                <a:latin typeface="游ゴシック"/>
                <a:ea typeface="游ゴシック"/>
                <a:cs typeface="游ゴシック"/>
              </a:rPr>
              <a:t>各説明は Microsoft 公式ドキュメント（learn.microsoft.com 等）に基づく。移行ツール費用は各ベンダー公式（要見積もり）</a:t>
            </a:r>
          </a:p>
          <a:p>
            <a:pPr>
              <a:lnSpc>
                <a:spcPct val="112000"/>
              </a:lnSpc>
              <a:spcAft>
                <a:spcPts val="16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ライセンス：</a:t>
            </a:r>
            <a:r>
              <a:rPr sz="1500" b="0">
                <a:solidFill>
                  <a:srgbClr val="232323"/>
                </a:solidFill>
                <a:latin typeface="游ゴシック"/>
                <a:ea typeface="游ゴシック"/>
                <a:cs typeface="游ゴシック"/>
              </a:rPr>
              <a:t>E3／E5／E5 Compliance／Entra ID P1・P2／SharePoint Advanced Management／Copilot 等の切り分けは一般公開情報に基づく整理</a:t>
            </a:r>
          </a:p>
          <a:p>
            <a:pPr>
              <a:lnSpc>
                <a:spcPct val="112000"/>
              </a:lnSpc>
              <a:spcAft>
                <a:spcPts val="16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免責：</a:t>
            </a:r>
            <a:r>
              <a:rPr sz="1500" b="0">
                <a:solidFill>
                  <a:srgbClr val="232323"/>
                </a:solidFill>
                <a:latin typeface="游ゴシック"/>
                <a:ea typeface="游ゴシック"/>
                <a:cs typeface="游ゴシック"/>
              </a:rPr>
              <a:t>機能・画面・ライセンス条件・価格は変更されることがあります。実装前に最新の一次情報で必ずご確認ください</a:t>
            </a:r>
          </a:p>
          <a:p>
            <a:pPr>
              <a:lnSpc>
                <a:spcPct val="112000"/>
              </a:lnSpc>
              <a:spcAft>
                <a:spcPts val="1600"/>
              </a:spcAft>
            </a:pPr>
            <a:r>
              <a:rPr sz="1500" b="1">
                <a:solidFill>
                  <a:srgbClr val="1B5C80"/>
                </a:solidFill>
                <a:latin typeface="游ゴシック"/>
                <a:ea typeface="游ゴシック"/>
                <a:cs typeface="游ゴシック"/>
              </a:rPr>
              <a:t>■ </a:t>
            </a:r>
            <a:r>
              <a:rPr sz="1500" b="1">
                <a:solidFill>
                  <a:srgbClr val="1B5C80"/>
                </a:solidFill>
                <a:latin typeface="游ゴシック"/>
                <a:ea typeface="游ゴシック"/>
                <a:cs typeface="游ゴシック"/>
              </a:rPr>
              <a:t>本デックの位置づけ：</a:t>
            </a:r>
            <a:r>
              <a:rPr sz="1500" b="0">
                <a:solidFill>
                  <a:srgbClr val="232323"/>
                </a:solidFill>
                <a:latin typeface="游ゴシック"/>
                <a:ea typeface="游ゴシック"/>
                <a:cs typeface="游ゴシック"/>
              </a:rPr>
              <a:t>HTML／Markdown 版と同等の全量を収録。最新の詳細・全 URL は HTML 版を参照</a:t>
            </a:r>
          </a:p>
        </p:txBody>
      </p:sp>
    </p:spTree>
  </p:cSld>
  <p:clrMapOvr>
    <a:masterClrMapping/>
  </p:clrMapOvr>
</p:sld>
</file>

<file path=ppt/theme/theme1.xml><?xml version="1.0" encoding="utf-8"?>
<a:theme xmlns:a="http://schemas.openxmlformats.org/drawingml/2006/main" name="Office テーマ">
  <a:themeElements>
    <a:clrScheme name="Lowcode風">
      <a:dk1>
        <a:srgbClr val="232323"/>
      </a:dk1>
      <a:lt1>
        <a:srgbClr val="F8FDFA"/>
      </a:lt1>
      <a:dk2>
        <a:srgbClr val="1B5C80"/>
      </a:dk2>
      <a:lt2>
        <a:srgbClr val="F7E2ED"/>
      </a:lt2>
      <a:accent1>
        <a:srgbClr val="EC856F"/>
      </a:accent1>
      <a:accent2>
        <a:srgbClr val="0FA4CC"/>
      </a:accent2>
      <a:accent3>
        <a:srgbClr val="A6E2F3"/>
      </a:accent3>
      <a:accent4>
        <a:srgbClr val="DBF1F7"/>
      </a:accent4>
      <a:accent5>
        <a:srgbClr val="E7E8F8"/>
      </a:accent5>
      <a:accent6>
        <a:srgbClr val="FAE5E3"/>
      </a:accent6>
      <a:hlink>
        <a:srgbClr val="0FA4CC"/>
      </a:hlink>
      <a:folHlink>
        <a:srgbClr val="D0D4D7"/>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7ABA8F2FDE1F8C4C93AFA31F98FC7485" ma:contentTypeVersion="18" ma:contentTypeDescription="新しいドキュメントを作成します。" ma:contentTypeScope="" ma:versionID="3235e513c3d472c9a8118f4f3b28323d">
  <xsd:schema xmlns:xsd="http://www.w3.org/2001/XMLSchema" xmlns:xs="http://www.w3.org/2001/XMLSchema" xmlns:p="http://schemas.microsoft.com/office/2006/metadata/properties" xmlns:ns2="b9db976c-ad42-4e1e-bd47-02c3eaed91aa" xmlns:ns3="24d54c13-2659-45b1-b3ee-c76f5ff48956" targetNamespace="http://schemas.microsoft.com/office/2006/metadata/properties" ma:root="true" ma:fieldsID="bd0154b3debbb05c5ab3a0756924b39e" ns2:_="" ns3:_="">
    <xsd:import namespace="b9db976c-ad42-4e1e-bd47-02c3eaed91aa"/>
    <xsd:import namespace="24d54c13-2659-45b1-b3ee-c76f5ff4895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3:SharedWithUsers" minOccurs="0"/>
                <xsd:element ref="ns3:SharedWithDetails" minOccurs="0"/>
                <xsd:element ref="ns2:MediaServiceLocation" minOccurs="0"/>
                <xsd:element ref="ns2:_Flow_SignoffStatus" minOccurs="0"/>
                <xsd:element ref="ns2:MediaServiceBillingMetadata" minOccurs="0"/>
                <xsd:element ref="ns2:xxx"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db976c-ad42-4e1e-bd47-02c3eaed91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136beab5-4bf6-4079-a770-168c569e1b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_Flow_SignoffStatus" ma:index="23" nillable="true" ma:displayName="承認の状態" ma:internalName="_x627f__x8a8d__x306e__x72b6__x614b_">
      <xsd:simpleType>
        <xsd:restriction base="dms:Text">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xxx" ma:index="25" nillable="true" ma:displayName="xxx" ma:internalName="xxx">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d54c13-2659-45b1-b3ee-c76f5ff4895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16640db-8b27-4f75-84cb-55135c0abdf2}" ma:internalName="TaxCatchAll" ma:showField="CatchAllData" ma:web="24d54c13-2659-45b1-b3ee-c76f5ff4895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db976c-ad42-4e1e-bd47-02c3eaed91aa">
      <Terms xmlns="http://schemas.microsoft.com/office/infopath/2007/PartnerControls"/>
    </lcf76f155ced4ddcb4097134ff3c332f>
    <TaxCatchAll xmlns="24d54c13-2659-45b1-b3ee-c76f5ff48956" xsi:nil="true"/>
    <_Flow_SignoffStatus xmlns="b9db976c-ad42-4e1e-bd47-02c3eaed91aa" xsi:nil="true"/>
    <xxx xmlns="b9db976c-ad42-4e1e-bd47-02c3eaed91aa" xsi:nil="true"/>
  </documentManagement>
</p:properties>
</file>

<file path=customXml/itemProps1.xml><?xml version="1.0" encoding="utf-8"?>
<ds:datastoreItem xmlns:ds="http://schemas.openxmlformats.org/officeDocument/2006/customXml" ds:itemID="{21D9BB56-3215-499D-87C7-FC6168BCDCB3}">
  <ds:schemaRefs>
    <ds:schemaRef ds:uri="http://schemas.microsoft.com/sharepoint/v3/contenttype/forms"/>
  </ds:schemaRefs>
</ds:datastoreItem>
</file>

<file path=customXml/itemProps2.xml><?xml version="1.0" encoding="utf-8"?>
<ds:datastoreItem xmlns:ds="http://schemas.openxmlformats.org/officeDocument/2006/customXml" ds:itemID="{C7E61022-E5C5-48EF-A1C3-D8E3D28142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9db976c-ad42-4e1e-bd47-02c3eaed91aa"/>
    <ds:schemaRef ds:uri="24d54c13-2659-45b1-b3ee-c76f5ff489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2C050EC-8685-42A2-92CB-1C196862E88E}">
  <ds:schemaRefs>
    <ds:schemaRef ds:uri="http://schemas.microsoft.com/office/infopath/2007/PartnerControls"/>
    <ds:schemaRef ds:uri="http://purl.org/dc/elements/1.1/"/>
    <ds:schemaRef ds:uri="b9db976c-ad42-4e1e-bd47-02c3eaed91aa"/>
    <ds:schemaRef ds:uri="http://schemas.microsoft.com/office/2006/metadata/properties"/>
    <ds:schemaRef ds:uri="http://schemas.microsoft.com/office/2006/documentManagement/types"/>
    <ds:schemaRef ds:uri="http://purl.org/dc/dcmitype/"/>
    <ds:schemaRef ds:uri="http://schemas.openxmlformats.org/package/2006/metadata/core-properties"/>
    <ds:schemaRef ds:uri="24d54c13-2659-45b1-b3ee-c76f5ff48956"/>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2962</TotalTime>
  <Words>3023</Words>
  <Application>Microsoft Office PowerPoint</Application>
  <PresentationFormat>ユーザー設定</PresentationFormat>
  <Paragraphs>687</Paragraphs>
  <Slides>79</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79</vt:i4>
      </vt:variant>
    </vt:vector>
  </HeadingPairs>
  <TitlesOfParts>
    <vt:vector size="85" baseType="lpstr">
      <vt:lpstr>游ゴシック</vt:lpstr>
      <vt:lpstr>游ゴシック 本文</vt:lpstr>
      <vt:lpstr>Arial</vt:lpstr>
      <vt:lpstr>Segoe UI Black</vt:lpstr>
      <vt:lpstr>Wingdings</vt:lpstr>
      <vt:lpstr>Office テーマ</vt:lpstr>
      <vt:lpstr>Power Automate​ ハンズオン研修</vt:lpstr>
      <vt:lpstr>本日の研修について</vt:lpstr>
      <vt:lpstr>研修時の参考</vt:lpstr>
      <vt:lpstr>PowerPoint プレゼンテーション</vt:lpstr>
      <vt:lpstr>この説明会のゴール</vt:lpstr>
      <vt:lpstr>今回の研修のポイント</vt:lpstr>
      <vt:lpstr>本資料の流れ</vt:lpstr>
      <vt:lpstr>Power Automateとは？ </vt:lpstr>
      <vt:lpstr>ノーコード・ローコードでできること</vt:lpstr>
      <vt:lpstr>ノーコード・ローコードでできること</vt:lpstr>
      <vt:lpstr>Power Automateの概要</vt:lpstr>
      <vt:lpstr>Power Automateの特徴</vt:lpstr>
      <vt:lpstr>Power Automateの特徴</vt:lpstr>
      <vt:lpstr>Power Automateの特徴</vt:lpstr>
      <vt:lpstr>Power Automateの特徴</vt:lpstr>
      <vt:lpstr>クラウドフローとは</vt:lpstr>
      <vt:lpstr>活用事例～Outlookメール～</vt:lpstr>
      <vt:lpstr>テンプレートを用いた自動化フローをみてみよう！ （フロー作成実演あり）​ ​  </vt:lpstr>
      <vt:lpstr>PowerPoint プレゼンテーション</vt:lpstr>
      <vt:lpstr>重要なメールに気づかず、埋もれてしまう…</vt:lpstr>
      <vt:lpstr>今回のハンズオンで活用する環境はこちらです。</vt:lpstr>
      <vt:lpstr>Step1. テンプレートを選択</vt:lpstr>
      <vt:lpstr>Step2.各アプリとの接続</vt:lpstr>
      <vt:lpstr>Step3. フローの設定</vt:lpstr>
      <vt:lpstr>Step3. フローの設定</vt:lpstr>
      <vt:lpstr>テンプレートを用いた自動化フローをみてみよう！ （フロー作成実演あり）​ ​  </vt:lpstr>
      <vt:lpstr>PowerPoint プレゼンテーション</vt:lpstr>
      <vt:lpstr>重要な添付ファイルが受信フォルダに埋もれてしまう…</vt:lpstr>
      <vt:lpstr>Step1. 添付ファイルの格納先を作成</vt:lpstr>
      <vt:lpstr>今回のハンズオンで活用する環境はこちらです。</vt:lpstr>
      <vt:lpstr>Step2. テンプレートを選択</vt:lpstr>
      <vt:lpstr>Step3. 各アプリとの接続</vt:lpstr>
      <vt:lpstr>Step4. 対象となるメールアドレスを設定する</vt:lpstr>
      <vt:lpstr>Step5.対象メールアドレスの添付ファイルの格納先</vt:lpstr>
      <vt:lpstr>Step6. 対象外メールアドレスの添付ファイルの格納先</vt:lpstr>
      <vt:lpstr>Step7. 保存</vt:lpstr>
      <vt:lpstr>Step8. メールを受信してみよう！</vt:lpstr>
      <vt:lpstr>PowerPoint プレゼンテーション</vt:lpstr>
      <vt:lpstr>ワーク①</vt:lpstr>
      <vt:lpstr>ワーク②</vt:lpstr>
      <vt:lpstr>休憩</vt:lpstr>
      <vt:lpstr>Power Automateのしくみ </vt:lpstr>
      <vt:lpstr>Power Automate で自動化フローを作るときの手順</vt:lpstr>
      <vt:lpstr>Power Automate で自動化フローを作るときの考え方</vt:lpstr>
      <vt:lpstr>Power Automate で自動化フローを作るときの考え方</vt:lpstr>
      <vt:lpstr>トリガー</vt:lpstr>
      <vt:lpstr>アクション</vt:lpstr>
      <vt:lpstr>アクション設定</vt:lpstr>
      <vt:lpstr>保存＆テスト</vt:lpstr>
      <vt:lpstr>運用</vt:lpstr>
      <vt:lpstr>ゼロから自動化フローを作ってみよう！ （ここから参加者全員でフローを作成します。） </vt:lpstr>
      <vt:lpstr>PowerPoint プレゼンテーション</vt:lpstr>
      <vt:lpstr>最初に...環境を選択</vt:lpstr>
      <vt:lpstr>完成イメージ</vt:lpstr>
      <vt:lpstr>作成ステップの全体像</vt:lpstr>
      <vt:lpstr>Step0. OneDrive上にExcelを作成</vt:lpstr>
      <vt:lpstr>Step1. フローの作成</vt:lpstr>
      <vt:lpstr>Step2.フロー名とトリガーの設定</vt:lpstr>
      <vt:lpstr>Step3. トリガーの詳細</vt:lpstr>
      <vt:lpstr>Step4. Excelタスクを取得する            アクション追加</vt:lpstr>
      <vt:lpstr>Step5. タスクExcelの場所を指定 ＆本日の期限タスクを絞り込み</vt:lpstr>
      <vt:lpstr>【ヒント】 Power Automateにおける関数とは</vt:lpstr>
      <vt:lpstr>Step6. メール送信アクションの追加</vt:lpstr>
      <vt:lpstr>Step7. アクションの詳細を入力</vt:lpstr>
      <vt:lpstr>Step8. 保存</vt:lpstr>
      <vt:lpstr>Step9. 動作を確認</vt:lpstr>
      <vt:lpstr>Step10. メールの到着を確認</vt:lpstr>
      <vt:lpstr>ここまでで少し難しいな…と感じた方へ</vt:lpstr>
      <vt:lpstr>Copilotの作成支援</vt:lpstr>
      <vt:lpstr>Copilotの作成支援</vt:lpstr>
      <vt:lpstr>フローの削除</vt:lpstr>
      <vt:lpstr>本日のまとめ</vt:lpstr>
      <vt:lpstr>この説明会のゴール</vt:lpstr>
      <vt:lpstr>Power Automate で自動化フローを作るときの手順</vt:lpstr>
      <vt:lpstr>Power Automate を使ってみていかがでしたか？</vt:lpstr>
      <vt:lpstr>Power Automate を使ってみていかがでしたでしょうか？</vt:lpstr>
      <vt:lpstr>質疑応答 </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for Microsoft 365 基礎研修（Day1）</dc:title>
  <dc:creator>文山 泰汎</dc:creator>
  <cp:lastModifiedBy>nakamura takuya</cp:lastModifiedBy>
  <cp:revision>23</cp:revision>
  <dcterms:created xsi:type="dcterms:W3CDTF">2024-04-13T01:58:25Z</dcterms:created>
  <dcterms:modified xsi:type="dcterms:W3CDTF">2026-07-17T00:12:00Z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0x0101007ABA8F2FDE1F8C4C93AFA31F98FC7485</vt:lpwstr>
  </property>
  <property fmtid="{D5CDD505-2E9C-101B-9397-08002B2CF9AE}" pid="3" name="MediaServiceImageTags">
    <vt:lpwstr/>
  </property>
</Properties>
</file>