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63440"/>
            <a:ext cx="12191695" cy="54864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9FB4D8"/>
                </a:solidFill>
                <a:latin typeface="Meiryo"/>
                <a:ea typeface="Meiryo"/>
                <a:cs typeface="Meiryo"/>
              </a:rPr>
              <a:t>Microsoft 365 モダンワークプレイス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移行・活用ガイド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2004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>
                <a:solidFill>
                  <a:srgbClr val="C9D3E4"/>
                </a:solidFill>
                <a:latin typeface="Meiryo"/>
                <a:ea typeface="Meiryo"/>
                <a:cs typeface="Meiryo"/>
              </a:rPr>
              <a:t>オンプレファイルサーバーから SharePoint Online 中心の推奨構成へ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FB4D8"/>
                </a:solidFill>
                <a:latin typeface="Meiryo"/>
                <a:ea typeface="Meiryo"/>
                <a:cs typeface="Meiryo"/>
              </a:rPr>
              <a:t>― フェーズ1〜4（基礎・セキュリティ・ガバナンス・活用）―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9377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C9D3E4"/>
                </a:solidFill>
                <a:latin typeface="Meiryo"/>
                <a:ea typeface="Meiryo"/>
                <a:cs typeface="Meiryo"/>
              </a:rPr>
              <a:t>対象：従業員 100〜1,000 名／国内・日本語テナント／Microsoft 365 E3 主体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54406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FB4D8"/>
                </a:solidFill>
                <a:latin typeface="Meiryo"/>
                <a:ea typeface="Meiryo"/>
                <a:cs typeface="Meiryo"/>
              </a:rPr>
              <a:t>版 1.0 ｜ 2026-07-15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本資料について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108813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目的：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M365 を活用し、脱ファイルサーバーと推奨構成への移行を段階的に進めるための汎用ガイド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対象読者：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情報システム／IT 担当（SharePoint 初学者にも配慮）。冒頭は意思決定者向けの要約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前提：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従業員 100〜1,000 名・国内テナント・日本語・Microsoft 365 E3 主体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進め方：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一度に完璧を目指さず、フェーズ1→4 で段階的に成熟させる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出典：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各説明に Microsoft 公式ドキュメント等の出典番号を付与（末尾に一覧）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0916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 w="12700">
            <a:solidFill>
              <a:srgbClr val="D3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89204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ライセンスの考え方  </a:t>
            </a: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フェーズ1は概ね E3 の範囲で実現可能。フェーズ2以降は E5／Entra ID P2／SharePoint Advanced Management／Copilot 等の追加ライセンスを要する施策が増えます。各章に［E3標準］／［要追加ライセンス］を明示します。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フェーズの全体像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40"/>
            <a:ext cx="2724912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1463040"/>
            <a:ext cx="2724912" cy="566928"/>
          </a:xfrm>
          <a:prstGeom prst="roundRect">
            <a:avLst>
              <a:gd name="adj" fmla="val 6000"/>
            </a:avLst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36192"/>
            <a:ext cx="27249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194560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基礎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80360"/>
            <a:ext cx="235915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構成・棲み分け・サイト選定・権限・移行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83864" y="1463040"/>
            <a:ext cx="2724912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83864" y="1463040"/>
            <a:ext cx="2724912" cy="566928"/>
          </a:xfrm>
          <a:prstGeom prst="roundRect">
            <a:avLst>
              <a:gd name="adj" fmla="val 6000"/>
            </a:avLst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83864" y="1536192"/>
            <a:ext cx="27249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8456" y="2194560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セキュリティ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66744" y="2880360"/>
            <a:ext cx="235915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秘密度ラベル・DLP・監査・条件付きアクセス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7648" y="1463040"/>
            <a:ext cx="2724912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327648" y="1463040"/>
            <a:ext cx="2724912" cy="566928"/>
          </a:xfrm>
          <a:prstGeom prst="roundRect">
            <a:avLst>
              <a:gd name="adj" fmla="val 6000"/>
            </a:avLst>
          </a:prstGeom>
          <a:solidFill>
            <a:srgbClr val="4A7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1536192"/>
            <a:ext cx="27249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2194560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ガバナンス・運用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2880360"/>
            <a:ext cx="235915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作成統制・ライフサイクル・棚卸し・体制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71432" y="1463040"/>
            <a:ext cx="2724912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3D0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71432" y="1463040"/>
            <a:ext cx="2724912" cy="566928"/>
          </a:xfrm>
          <a:prstGeom prst="roundRect">
            <a:avLst>
              <a:gd name="adj" fmla="val 6000"/>
            </a:avLst>
          </a:prstGeom>
          <a:solidFill>
            <a:srgbClr val="8A5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1432" y="1536192"/>
            <a:ext cx="2724912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Phase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6024" y="2194560"/>
            <a:ext cx="239572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高度化・活用（任意）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54312" y="2880360"/>
            <a:ext cx="2359152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Copilot・Power Platform 連携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6177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各フェーズは前フェーズの土台を前提とするため、順番に進めるのが原則。フェーズ4 は任意。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12064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285232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重要  </a:t>
            </a:r>
            <a:r>
              <a:rPr sz="13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フェーズ2以降は追加ライセンスを要する施策が増えます。まず E3 でできることから着手し、追加投資は段階的に判断してください。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2540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9FB4D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基礎：構成・棲み分け・権限設計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7947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9D3E4"/>
                </a:solidFill>
                <a:latin typeface="Meiryo"/>
                <a:ea typeface="Meiryo"/>
                <a:cs typeface="Meiryo"/>
              </a:rPr>
              <a:t>どこに何を置くか／サイトの選び方／グループ・権限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なぜ今、脱ファイルサーバーなのか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881359" cy="380390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3899"/>
                <a:gridCol w="848746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観点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オンプレファイルサーバーの課題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社外アクセス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VPN 依存でテレワーク・モバイルに不向き、集中による遅延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共同作業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同時編集できず「最新_v3_確定版」の重複・世代混乱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検索性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全文検索が弱く目的のファイルに辿り着けない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事故耐性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誤削除・上書きの復旧が運用頼み、ランサムの標的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権限管理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深いフォルダ＋個別 ACL で誰が何にアクセスできるか不透明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コスト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機器更改・保守の継続費用、M365 との二重投資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目指す姿：ファイルの置き場所を3つに整理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5</a:t>
            </a:r>
          </a:p>
        </p:txBody>
      </p:sp>
      <p:pic>
        <p:nvPicPr>
          <p:cNvPr id="10" name="Picture 9" descr="pla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3764" y="1371600"/>
            <a:ext cx="6793991" cy="3200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029200"/>
            <a:ext cx="10881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「個人＝OneDrive／チーム共有＝SharePoint チームサイト／全社発信＝コミュニケーションサイト」を全社の共通言語に。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どこに何を置くか（棲み分けの原則）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881360" cy="32369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情報の性質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置き場所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自分だけの下書き・一時ファイル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OneDrive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チーム・部門で共同編集する業務ファイル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 チームサイト（多くは Teams 経由）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全社規程・ポータル・お知らせ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コミュニケーションサイト／ホームサイト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部門内の一部だけの機密ファイル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プライベートチャネル／専用サイト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社外パートナーと共同編集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40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共有チャネル／外部共有を許可した専用サイト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アンチパターン：OneDrive をチーム共有に使う／巨大1サイトに詰め込む／深いフォルダをそのまま移植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SharePoint サイトの種類と選び方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881358" cy="28163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64408"/>
                <a:gridCol w="1741017"/>
                <a:gridCol w="3917289"/>
                <a:gridCol w="1958644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種類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M365グループ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主な用途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新規作成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チームサイト（グループ連携）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あり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チーム・部門の共同作業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◎ 標準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コミュニケーションサイト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なし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全社・部門への発信・閲覧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◎ 標準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ホームサイト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なし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全社の玄関口・公式ニュース源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○ 全社に1つ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クラシックサイト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–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旧来のUI・機能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✕ 作らない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12064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迷ったら：少人数で編集し合う→チームサイト／多数に読ませる→コミュニケーションサイト。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Teams チームの裏には SharePoint サイトがある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8</a:t>
            </a:r>
          </a:p>
        </p:txBody>
      </p:sp>
      <p:pic>
        <p:nvPicPr>
          <p:cNvPr id="10" name="Picture 9" descr="t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10881360" cy="2650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標準チャネル＝親サイトのフォルダ／プライベート・共有チャネル＝別サイト（別サイトコレクション）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チャネルの種類と裏の SharePoint 構造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9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881357" cy="232257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741017"/>
                <a:gridCol w="3046780"/>
                <a:gridCol w="3046780"/>
                <a:gridCol w="304678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チャネル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見える範囲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裏の SharePoint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用途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標準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チーム全員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親サイト内のフォルダ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通常の作業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プライベート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指定メンバーのみ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専用の別サイト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一部だけの機微情報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共有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チーム＋招いた社外/他チーム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専用の別サイト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社外・別部門と共同作業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「まず Teams チーム」で概ね正解。ただし乱立防止に軽いブレーキ（申請制）を。統制はフェーズ3で運用化。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情報アーキテクチャ：フラット＋ハブ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10</a:t>
            </a:r>
          </a:p>
        </p:txBody>
      </p:sp>
      <p:pic>
        <p:nvPicPr>
          <p:cNvPr id="10" name="Picture 9" descr="hu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7498079" cy="198928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321040" y="1554480"/>
            <a:ext cx="3200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4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サブサイトを作らない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400" b="1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– </a:t>
            </a:r>
            <a:r>
              <a:rPr sz="14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組織変更に弱く権限も複雑化するため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4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各チームは独立サイトとして平らに作る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4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ハブサイトで論理的に束ねる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400" b="1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– </a:t>
            </a:r>
            <a:r>
              <a:rPr sz="14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付け替えが容易で組織変更に追随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4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4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分類はフォルダからメタデータへ段階的に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権限設計：3つの原則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11</a:t>
            </a:r>
          </a:p>
        </p:txBody>
      </p:sp>
      <p:pic>
        <p:nvPicPr>
          <p:cNvPr id="10" name="Picture 9" descr="pe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5775253" cy="31089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40880" y="1554480"/>
            <a:ext cx="44805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45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① 権限は“個人”でなく“グループ”に</a:t>
            </a:r>
          </a:p>
          <a:p>
            <a:pPr lvl="1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– </a:t>
            </a:r>
            <a:r>
              <a:rPr sz="145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異動・退職はグループ管理で吸収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45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② 権限の境界は“サイト”で切る</a:t>
            </a:r>
          </a:p>
          <a:p>
            <a:pPr lvl="1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– </a:t>
            </a:r>
            <a:r>
              <a:rPr sz="145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一部限定は別サイト/プライベートチャネルに分離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45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③ 権限の継承を壊さない</a:t>
            </a:r>
          </a:p>
          <a:p>
            <a:pPr lvl="1">
              <a:lnSpc>
                <a:spcPct val="112000"/>
              </a:lnSpc>
              <a:spcAft>
                <a:spcPts val="1000"/>
              </a:spcAft>
            </a:pPr>
            <a:r>
              <a:rPr sz="1450" b="1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– </a:t>
            </a:r>
            <a:r>
              <a:rPr sz="145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固有の権限（フォルダ個別ACL）は最後の手段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846320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所有者は必ず2名以上（退職・異動による孤児化を防ぐ）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クラシック→モダン移行の注意点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881359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352544"/>
                <a:gridCol w="3699662"/>
                <a:gridCol w="2829153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機能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状況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移行先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 2010 ワークフロー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廃止済み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Automate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 2013 ワークフロー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2026年4月以降 順次削除中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Automate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InfoPath フォーム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2026年7月14日 サポート終了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Apps／Forms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クラシック Web パーツ／旧カスタマイズ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モダンで非対応が多い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SPFx／モダン部品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0080" y="4480560"/>
            <a:ext cx="10881360" cy="1280160"/>
          </a:xfrm>
          <a:prstGeom prst="roundRect">
            <a:avLst>
              <a:gd name="adj" fmla="val 6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645152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最優先  </a:t>
            </a: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「ファイルを移せば終わり」ではない。業務を回す 2013 ワークフロー・InfoPath は移行後に動かなくなる（2026年に到来済み）。現行環境で何が動いているかの棚卸しを移行計画の最初に。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移行ツールの比較（メリデメ・費用）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1371600"/>
          <a:ext cx="10881359" cy="26700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393899"/>
                <a:gridCol w="3046780"/>
                <a:gridCol w="5440680"/>
              </a:tblGrid>
              <a:tr h="40233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ツール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費用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主な強み／位置づけ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SPMT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無償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小〜中規模・単一拠点。まず試験移行に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Migration Manager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無償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エージェント並列・一元管理。中堅の本移行の現実解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ShareGate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有償（$6K〜$18K/年・変動）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高速・精緻な権限/メタデータ移行、UI良好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AvePoint / Quest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有償（要見積もり）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3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複雑統合・大規模・ガバナンス要件向け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507492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費用は変動が大きく多くが要見積もり。まず無償ツールで PoC（棚卸し→クレンジング→PoC→本移行）。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移行ツール選定の考え方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14</a:t>
            </a:r>
          </a:p>
        </p:txBody>
      </p:sp>
      <p:pic>
        <p:nvPicPr>
          <p:cNvPr id="10" name="Picture 9" descr="mi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1823" y="1371600"/>
            <a:ext cx="5617874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フェーズ1 まとめ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棲み分けを先に決める：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個人=OneDrive／チーム共有=チームサイト／全社発信=コミュニケーションサイト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サイトは基本2択：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Teams チーム か コミュニケーションサイト。クラシック・サブサイトは作らない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権限はグループで：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個人直付けを避け、境界はサイトで切り、継承は壊さない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移行は影響調査を先に：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2013WF・InfoPath を棚卸し。無償の SPMT／Migration Manager を基本に</a:t>
            </a:r>
          </a:p>
          <a:p>
            <a:pPr>
              <a:lnSpc>
                <a:spcPct val="112000"/>
              </a:lnSpc>
              <a:spcAft>
                <a:spcPts val="15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フェーズ1 は概ね E3 の範囲で実現可能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25400"/>
          </a:xfrm>
          <a:prstGeom prst="rect">
            <a:avLst/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9FB4D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セキュリティ：秘密度ラベル・監査・情報保護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7947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9D3E4"/>
                </a:solidFill>
                <a:latin typeface="Meiryo"/>
                <a:ea typeface="Meiryo"/>
                <a:cs typeface="Meiryo"/>
              </a:rPr>
              <a:t>E3で今すぐ／追加ライセンスで拡張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フェーズ2 でできることの全体像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234440"/>
            <a:ext cx="1051560" cy="310896"/>
          </a:xfrm>
          <a:prstGeom prst="roundRect">
            <a:avLst>
              <a:gd name="adj" fmla="val 6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E3標準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2344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追加費用なし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1234440"/>
            <a:ext cx="1554480" cy="310896"/>
          </a:xfrm>
          <a:prstGeom prst="roundRect">
            <a:avLst>
              <a:gd name="adj" fmla="val 6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要追加ライセンス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234440"/>
            <a:ext cx="2926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別途の購入・契約が必要</a:t>
            </a:r>
          </a:p>
        </p:txBody>
      </p:sp>
      <p:pic>
        <p:nvPicPr>
          <p:cNvPr id="14" name="Picture 13" descr="p2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657" y="1783080"/>
            <a:ext cx="3726205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追加費用の要否ひとめ表（フェーズ2）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188720"/>
            <a:ext cx="1051560" cy="310896"/>
          </a:xfrm>
          <a:prstGeom prst="roundRect">
            <a:avLst>
              <a:gd name="adj" fmla="val 6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E3標準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18872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追加費用なし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1188720"/>
            <a:ext cx="1554480" cy="310896"/>
          </a:xfrm>
          <a:prstGeom prst="roundRect">
            <a:avLst>
              <a:gd name="adj" fmla="val 6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要追加ライセンス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188720"/>
            <a:ext cx="2926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別途の購入・契約が必要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1691640"/>
          <a:ext cx="10881359" cy="4242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17289"/>
                <a:gridCol w="4352544"/>
                <a:gridCol w="2611526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機能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できること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追加費用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監査ログ（Standard・180日）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操作の記録を残し調査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秘密度ラベル（手動・暗号化）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ファイルに社外秘を付け守る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DLP（SPO/OneDrive/Exchange）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機微情報の外部共有をブロック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条件付きアクセス（基本）／MFA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入口を固める（Entra P1 内包）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秘密度ラベルの自動付与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中身を判定し自動でラベル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要追加（E5）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DLP（Teams チャット本文）／エンドポイントDLP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チャット・PC操作の制御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要追加（E5）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監査ログ Premium（1年保持）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長期保持・高付加価値イベント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要追加（E5）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リスクベース条件付きアクセス／アクセスレビュー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動的制御・ゲスト自動棚卸し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要追加（E5＝Entra P2）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秘密度ラベル・監査の要点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秘密度ラベル＝ファイル自体に保護を付与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（社外秘/極秘）。持ち出し後も暗号化・制御が効き続ける</a:t>
            </a:r>
          </a:p>
          <a:p>
            <a:pPr lvl="1"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– </a:t>
            </a:r>
            <a:r>
              <a:rPr sz="155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ラベル体系は4段階から：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公開／社内限り／社外秘／極秘。少なく分かりやすく</a:t>
            </a:r>
          </a:p>
          <a:p>
            <a:pPr lvl="1"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– </a:t>
            </a:r>
            <a:r>
              <a:rPr sz="155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手動付与は E3、自動付与は E5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監査ログは“最初に”有効化する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記録は有効化以降のみ。事後では追えない</a:t>
            </a:r>
          </a:p>
          <a:p>
            <a:pPr lvl="1"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– </a:t>
            </a:r>
            <a:r>
              <a:rPr sz="155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Standard＝E3・180日／Premium＝E5・1年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フェーズ1で機密を別サイトに分けておくと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コンテナラベルでまとめて強く保護できる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要追加ライセンスとなる機能（E3では実施不可）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371600"/>
            <a:ext cx="10881360" cy="3108960"/>
          </a:xfrm>
          <a:prstGeom prst="roundRect">
            <a:avLst>
              <a:gd name="adj" fmla="val 6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1645920"/>
            <a:ext cx="1024128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秘密度ラベルの自動付与（E5／E3＋E5 Compliance）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Teams チャット本文の DLP／エンドポイント DLP（E5）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監査ログ Premium（E5／E5 Compliance）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保持の内容ベース自動適用・eDiscovery Premium（E5 系）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リスクベース条件付きアクセス／アクセスレビュー（E5＝Entra ID P2）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54880"/>
            <a:ext cx="10881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補足：上位機能は原則、恩恵を受ける利用者側に上位ライセンスが必要（「管理者だけ E5」で済むとは限らない）。導入は追加ライセンス調達とセットで計画を。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フェーズ2 まとめ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まず E3 でできることから：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監査ログ有効化・MFA/条件付きアクセス・手動ラベル・基本DLP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秘密度ラベルは社外秘/極秘をファイル自体に付け、持ち出し後も保護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監査ログは最初に有効化（記録は有効化以降のみ）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自動付与・Premium監査・Teamsチャット/エンドポイントDLP・アクセスレビューは要追加ライセンス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25400"/>
          </a:xfrm>
          <a:prstGeom prst="rect">
            <a:avLst/>
          </a:prstGeom>
          <a:solidFill>
            <a:srgbClr val="4A7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9FB4D8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ガバナンス・運用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7947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9D3E4"/>
                </a:solidFill>
                <a:latin typeface="Meiryo"/>
                <a:ea typeface="Meiryo"/>
                <a:cs typeface="Meiryo"/>
              </a:rPr>
              <a:t>作らせ方の統制／ライフサイクル／過剰共有の是正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フェーズ3 でできることの全体像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234440"/>
            <a:ext cx="1051560" cy="310896"/>
          </a:xfrm>
          <a:prstGeom prst="roundRect">
            <a:avLst>
              <a:gd name="adj" fmla="val 6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E3標準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2344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追加費用なし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1234440"/>
            <a:ext cx="1554480" cy="310896"/>
          </a:xfrm>
          <a:prstGeom prst="roundRect">
            <a:avLst>
              <a:gd name="adj" fmla="val 6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要追加ライセンス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234440"/>
            <a:ext cx="2926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別途の購入・契約が必要</a:t>
            </a:r>
          </a:p>
        </p:txBody>
      </p:sp>
      <p:pic>
        <p:nvPicPr>
          <p:cNvPr id="14" name="Picture 13" descr="p3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3951" y="1783080"/>
            <a:ext cx="3713617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追加費用の要否ひとめ表（フェーズ3）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188720"/>
            <a:ext cx="1051560" cy="310896"/>
          </a:xfrm>
          <a:prstGeom prst="roundRect">
            <a:avLst>
              <a:gd name="adj" fmla="val 6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E3標準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18872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追加費用なし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1188720"/>
            <a:ext cx="1554480" cy="310896"/>
          </a:xfrm>
          <a:prstGeom prst="roundRect">
            <a:avLst>
              <a:gd name="adj" fmla="val 6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要追加ライセンス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188720"/>
            <a:ext cx="2926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別途の購入・契約が必要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1691640"/>
          <a:ext cx="10881359" cy="4242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17289"/>
                <a:gridCol w="4352544"/>
                <a:gridCol w="2611526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機能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できること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追加費用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作成・テンプレート／利用状況レポート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正しい構成で払い出す・見える化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作成できる人の制限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作れる人を情シス等に限定（Entra P1）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命名規則／グループ有効期限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名前ルール強制・未使用を自動失効（P1）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アクセスレビュー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ゲスト等を自動で定期棚卸し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要追加（E5＝P2）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データアクセスガバナンスレポート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過剰共有を検出・可視化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要追加（SAM）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非アクティブサイト／所有権ポリシー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放置検出・所有者不在を是正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要追加（SAM）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制限付きコンテンツ検出（RCD）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検索/Copilot から除外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要追加（SAM）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Microsoft 365 Archive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使わないサイトを低コスト保管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要追加（従量課金）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ガバナンスの要点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8813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「作らせ方」から統制する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作れる人の制限・命名規則・有効期限は E3標準（Entra P1 内包）</a:t>
            </a:r>
          </a:p>
          <a:p>
            <a:pPr lvl="1"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5A6270"/>
                </a:solidFill>
                <a:latin typeface="Meiryo"/>
                <a:ea typeface="Meiryo"/>
                <a:cs typeface="Meiryo"/>
              </a:rPr>
              <a:t>– </a:t>
            </a:r>
            <a:r>
              <a:rPr sz="155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禁止より“正しく作れる導線”を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申請→承認→テンプレートで払い出し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最大リスクは所有者不在サイト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所有者2名以上を徹底。規模が大きければ SAM で自動是正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過剰共有の是正は Copilot 導入の前提</a:t>
            </a:r>
            <a:r>
              <a:rPr sz="15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可視化・是正の自動化は SAM（有償）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5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5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見える化（利用状況レポート）は E3標準で今すぐ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フェーズ3 まとめ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作らせ方の統制（作成制限・命名・有効期限）は E3標準で着手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ライフサイクル自動化（放置検出・所有権是正・過剰共有是正）は SAM（有償）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アクセスレビューは Entra P2、低コスト保管は M365 Archive（従量課金）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運用体制：ガバナンス・コアチーム＋1枚のガイドラインを用意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108960"/>
            <a:ext cx="12191695" cy="25400"/>
          </a:xfrm>
          <a:prstGeom prst="rect">
            <a:avLst/>
          </a:prstGeom>
          <a:solidFill>
            <a:srgbClr val="8A5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9FB4D8"/>
                </a:solidFill>
                <a:latin typeface="Meiryo"/>
                <a:ea typeface="Meiryo"/>
                <a:cs typeface="Meiryo"/>
              </a:rPr>
              <a:t>Phase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高度化・活用（任意）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79476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C9D3E4"/>
                </a:solidFill>
                <a:latin typeface="Meiryo"/>
                <a:ea typeface="Meiryo"/>
                <a:cs typeface="Meiryo"/>
              </a:rPr>
              <a:t>Copilot／Power Platform ― 付属機能と追加課金を区別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フェーズ4 でできることの全体像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234440"/>
            <a:ext cx="1051560" cy="310896"/>
          </a:xfrm>
          <a:prstGeom prst="roundRect">
            <a:avLst>
              <a:gd name="adj" fmla="val 6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E3標準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23444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追加費用なし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1234440"/>
            <a:ext cx="1554480" cy="310896"/>
          </a:xfrm>
          <a:prstGeom prst="roundRect">
            <a:avLst>
              <a:gd name="adj" fmla="val 6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要追加ライセンス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234440"/>
            <a:ext cx="2926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別途の購入・契約が必要</a:t>
            </a:r>
          </a:p>
        </p:txBody>
      </p:sp>
      <p:pic>
        <p:nvPicPr>
          <p:cNvPr id="14" name="Picture 13" descr="p4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50161" y="1783080"/>
            <a:ext cx="4061197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Copilot は「過剰共有」をそのまま映す鏡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29</a:t>
            </a:r>
          </a:p>
        </p:txBody>
      </p:sp>
      <p:pic>
        <p:nvPicPr>
          <p:cNvPr id="10" name="Picture 9" descr="copi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8100" y="1371600"/>
            <a:ext cx="5345320" cy="274320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438912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553712"/>
            <a:ext cx="10424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最重要  </a:t>
            </a: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Copilot はユーザーがアクセスできる情報を答える。放置された過剰共有はそのまま引き出される。フェーズ1〜3（権限整理・ラベル・過剰共有是正）が導入の前提。地ならしが成否を決める。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追加費用の要否ひとめ表（フェーズ4）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188720"/>
            <a:ext cx="1051560" cy="310896"/>
          </a:xfrm>
          <a:prstGeom prst="roundRect">
            <a:avLst>
              <a:gd name="adj" fmla="val 6000"/>
            </a:avLst>
          </a:prstGeom>
          <a:solidFill>
            <a:srgbClr val="E3EFEC"/>
          </a:solidFill>
          <a:ln w="12700">
            <a:solidFill>
              <a:srgbClr val="2F6F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E3標準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1188720"/>
            <a:ext cx="18288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追加費用なし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03320" y="1188720"/>
            <a:ext cx="1554480" cy="310896"/>
          </a:xfrm>
          <a:prstGeom prst="roundRect">
            <a:avLst>
              <a:gd name="adj" fmla="val 6000"/>
            </a:avLst>
          </a:prstGeom>
          <a:solidFill>
            <a:srgbClr val="F5EBD7"/>
          </a:solidFill>
          <a:ln w="1270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  <a:r>
              <a:rPr sz="11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要追加ライセンス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9240" y="1188720"/>
            <a:ext cx="292608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別途の購入・契約が必要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40080" y="1691640"/>
          <a:ext cx="10881359" cy="424281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99662"/>
                <a:gridCol w="4570171"/>
                <a:gridCol w="2611526"/>
              </a:tblGrid>
              <a:tr h="36576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機能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できること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追加費用</a:t>
                      </a:r>
                    </a:p>
                  </a:txBody>
                  <a:tcPr marL="73152" marR="54864" marT="18288" marB="18288" anchor="ctr">
                    <a:solidFill>
                      <a:srgbClr val="345995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Lists / Forms / Loop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簡易DB・アンケート・共同編集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Automate（標準コネクタ）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承認・通知・転記の自動化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Apps（Basic）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SharePoint リスト連携アプリ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Restricted SharePoint Search（RSS）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Copilot の参照範囲を一時的に限定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2F6F6A"/>
                          </a:solidFill>
                          <a:latin typeface="Meiryo"/>
                          <a:ea typeface="Meiryo"/>
                          <a:cs typeface="Meiryo"/>
                        </a:rPr>
                        <a:t>E3標準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Microsoft 365 Copilot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社内知識を AI で検索・要約・生成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要追加（Copilot）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Automate/Apps（Premium）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基幹系連携・本格アプリ展開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要追加（Premium）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Power BI（レポート作成・公開）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データをグラフ化・共有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要追加（Power BI Pro）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過剰共有の恒久是正（RCD 等）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0">
                          <a:solidFill>
                            <a:srgbClr val="1B2331"/>
                          </a:solidFill>
                          <a:latin typeface="Meiryo"/>
                          <a:ea typeface="Meiryo"/>
                          <a:cs typeface="Meiryo"/>
                        </a:rPr>
                        <a:t>Copilot 前の是正を自動化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250" b="1">
                          <a:solidFill>
                            <a:srgbClr val="8A5A1A"/>
                          </a:solidFill>
                          <a:latin typeface="Meiryo"/>
                          <a:ea typeface="Meiryo"/>
                          <a:cs typeface="Meiryo"/>
                        </a:rPr>
                        <a:t>要追加（SAM）</a:t>
                      </a:r>
                    </a:p>
                  </a:txBody>
                  <a:tcPr marL="73152" marR="54864" marT="18288" marB="18288" anchor="ctr">
                    <a:solidFill>
                      <a:srgbClr val="F8F7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フェーズ4 まとめ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32720" y="274320"/>
            <a:ext cx="1417320" cy="384048"/>
          </a:xfrm>
          <a:prstGeom prst="roundRect">
            <a:avLst>
              <a:gd name="adj" fmla="val 6000"/>
            </a:avLst>
          </a:prstGeom>
          <a:solidFill>
            <a:srgbClr val="EC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0" bIns="0"/>
          <a:lstStyle/>
          <a:p>
            <a:pPr algn="ctr"/>
            <a:r>
              <a:rPr sz="12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Phase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10881360" cy="3931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8A5A1A"/>
                </a:solidFill>
                <a:latin typeface="Meiryo"/>
                <a:ea typeface="Meiryo"/>
                <a:cs typeface="Meiryo"/>
              </a:rPr>
              <a:t>フェーズ4 は任意・追加投資。主役（Copilot／Premium）は E3 に含まれない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Copilot は過剰共有をそのまま映す。フェーズ1〜3が導入前提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1">
                <a:solidFill>
                  <a:srgbClr val="2F6F6A"/>
                </a:solidFill>
                <a:latin typeface="Meiryo"/>
                <a:ea typeface="Meiryo"/>
                <a:cs typeface="Meiryo"/>
              </a:rPr>
              <a:t>付属機能（Lists／Forms／Loop／標準 Power Automate／RSS）は追加費用ゼロ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まず付属機能で紙・Excel・メール申請を置き換え、成功体験を作る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6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6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Power Platform 拡大時は環境分離・DLP でガバナンスを適用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導入ロードマップ（全体像）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737360"/>
            <a:ext cx="26974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34599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737360"/>
            <a:ext cx="2697480" cy="868680"/>
          </a:xfrm>
          <a:prstGeom prst="roundRect">
            <a:avLst>
              <a:gd name="adj" fmla="val 6000"/>
            </a:avLst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8288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STEP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176272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基礎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788920"/>
            <a:ext cx="23317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棲み分け合意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サイト設計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権限・移行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（E3の範囲）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83464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93008" y="1737360"/>
            <a:ext cx="26974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3E6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93008" y="1737360"/>
            <a:ext cx="2697480" cy="868680"/>
          </a:xfrm>
          <a:prstGeom prst="roundRect">
            <a:avLst>
              <a:gd name="adj" fmla="val 6000"/>
            </a:avLst>
          </a:prstGeom>
          <a:solidFill>
            <a:srgbClr val="3E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008" y="18288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STEP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176272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セキュリティ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94176" y="2788920"/>
            <a:ext cx="23317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監査有効化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MFA/CA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手動ラベル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（一部E5）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72200" y="283464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3E6B8C"/>
                </a:solidFill>
                <a:latin typeface="Meiryo"/>
                <a:ea typeface="Meiryo"/>
                <a:cs typeface="Meiryo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1737360"/>
            <a:ext cx="26974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77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27648" y="1737360"/>
            <a:ext cx="2697480" cy="868680"/>
          </a:xfrm>
          <a:prstGeom prst="roundRect">
            <a:avLst>
              <a:gd name="adj" fmla="val 6000"/>
            </a:avLst>
          </a:prstGeom>
          <a:solidFill>
            <a:srgbClr val="4A77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18288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STEP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7648" y="2176272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ガバナンス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28816" y="2788920"/>
            <a:ext cx="23317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作成統制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棚卸し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過剰共有是正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（一部SAM/P2）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834640"/>
            <a:ext cx="2743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4A775C"/>
                </a:solidFill>
                <a:latin typeface="Meiryo"/>
                <a:ea typeface="Meiryo"/>
                <a:cs typeface="Meiryo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62288" y="1737360"/>
            <a:ext cx="2697480" cy="2926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8A5A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162288" y="1737360"/>
            <a:ext cx="2697480" cy="868680"/>
          </a:xfrm>
          <a:prstGeom prst="roundRect">
            <a:avLst>
              <a:gd name="adj" fmla="val 6000"/>
            </a:avLst>
          </a:prstGeom>
          <a:solidFill>
            <a:srgbClr val="8A5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62288" y="1828800"/>
            <a:ext cx="2697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STEP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62288" y="2176272"/>
            <a:ext cx="26974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活用（任意）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3456" y="2788920"/>
            <a:ext cx="233172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付属機能で自動化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Copilot 前提整備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25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25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（Copilot/Premium）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" y="50292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まず E3 でできることを着実に。追加ライセンス（E5／Entra P2／SAM／Copilot）は費用対効果を見て段階導入。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32688"/>
            <a:ext cx="12191695" cy="27940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46304" cy="932688"/>
          </a:xfrm>
          <a:prstGeom prst="rect">
            <a:avLst/>
          </a:prstGeom>
          <a:solidFill>
            <a:srgbClr val="34599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82880"/>
            <a:ext cx="96926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出典・免責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Microsoft 365 移行・活用ガイド ｜ v1.0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0" y="64556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A6270"/>
                </a:solidFill>
                <a:latin typeface="Meiryo"/>
                <a:ea typeface="Meiryo"/>
                <a:cs typeface="Meiryo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6304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5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出典：</a:t>
            </a: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各説明は Microsoft 公式ドキュメント（learn.microsoft.com 等）に基づく。移行ツール費用は各ベンダー公式（要見積もり）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5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ライセンス：</a:t>
            </a: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E3／E5／E5 Compliance／Entra ID P1・P2／SharePoint Advanced Management／Copilot 等の切り分けは一般公開情報に基づく整理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5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免責：</a:t>
            </a: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機能・画面・ライセンス条件・価格は変更されることがあります。実装前に最新の一次情報で必ずご確認ください</a:t>
            </a:r>
          </a:p>
          <a:p>
            <a:pPr>
              <a:lnSpc>
                <a:spcPct val="112000"/>
              </a:lnSpc>
              <a:spcAft>
                <a:spcPts val="1600"/>
              </a:spcAft>
            </a:pPr>
            <a:r>
              <a:rPr sz="1500" b="1">
                <a:solidFill>
                  <a:srgbClr val="345995"/>
                </a:solidFill>
                <a:latin typeface="Meiryo"/>
                <a:ea typeface="Meiryo"/>
                <a:cs typeface="Meiryo"/>
              </a:rPr>
              <a:t>■ </a:t>
            </a:r>
            <a:r>
              <a:rPr sz="1500" b="1">
                <a:solidFill>
                  <a:srgbClr val="274678"/>
                </a:solidFill>
                <a:latin typeface="Meiryo"/>
                <a:ea typeface="Meiryo"/>
                <a:cs typeface="Meiryo"/>
              </a:rPr>
              <a:t>詳細版：</a:t>
            </a:r>
            <a:r>
              <a:rPr sz="1500" b="0">
                <a:solidFill>
                  <a:srgbClr val="1B2331"/>
                </a:solidFill>
                <a:latin typeface="Meiryo"/>
                <a:ea typeface="Meiryo"/>
                <a:cs typeface="Meiryo"/>
              </a:rPr>
              <a:t>本デックは要約です。詳細・全出典一覧は Markdown／HTML 版を参照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