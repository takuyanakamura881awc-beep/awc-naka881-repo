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E8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1051560"/>
          </a:xfrm>
          <a:prstGeom prst="rect">
            <a:avLst/>
          </a:prstGeom>
          <a:solidFill>
            <a:srgbClr val="1F3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51560"/>
            <a:ext cx="12191695" cy="45720"/>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6304"/>
            <a:ext cx="8686800" cy="274320"/>
          </a:xfrm>
          <a:prstGeom prst="rect">
            <a:avLst/>
          </a:prstGeom>
          <a:noFill/>
        </p:spPr>
        <p:txBody>
          <a:bodyPr wrap="square" anchor="t" lIns="25400" rIns="25400" tIns="12700" bIns="12700">
            <a:spAutoFit/>
          </a:bodyPr>
          <a:lstStyle/>
          <a:p>
            <a:pPr algn="l">
              <a:lnSpc>
                <a:spcPct val="100000"/>
              </a:lnSpc>
            </a:pPr>
            <a:r>
              <a:rPr sz="1100" b="1" i="0">
                <a:solidFill>
                  <a:srgbClr val="BFD3E0"/>
                </a:solidFill>
                <a:latin typeface="Meiryo"/>
              </a:rPr>
              <a:t>MICROSOFT 365 COPILOT STUDIO 活用ハッカソン</a:t>
            </a:r>
          </a:p>
        </p:txBody>
      </p:sp>
      <p:sp>
        <p:nvSpPr>
          <p:cNvPr id="7" name="TextBox 6"/>
          <p:cNvSpPr txBox="1"/>
          <p:nvPr/>
        </p:nvSpPr>
        <p:spPr>
          <a:xfrm>
            <a:off x="475488" y="402336"/>
            <a:ext cx="10058400" cy="594360"/>
          </a:xfrm>
          <a:prstGeom prst="rect">
            <a:avLst/>
          </a:prstGeom>
          <a:noFill/>
        </p:spPr>
        <p:txBody>
          <a:bodyPr wrap="square" anchor="ctr" lIns="25400" rIns="25400" tIns="12700" bIns="12700">
            <a:spAutoFit/>
          </a:bodyPr>
          <a:lstStyle/>
          <a:p>
            <a:pPr algn="l">
              <a:lnSpc>
                <a:spcPct val="100000"/>
              </a:lnSpc>
            </a:pPr>
            <a:r>
              <a:rPr sz="2500" b="1" i="0">
                <a:solidFill>
                  <a:srgbClr val="FFFFFF"/>
                </a:solidFill>
                <a:latin typeface="Meiryo"/>
              </a:rPr>
              <a:t>事前相談会の目的</a:t>
            </a:r>
          </a:p>
        </p:txBody>
      </p:sp>
      <p:sp>
        <p:nvSpPr>
          <p:cNvPr id="8" name="TextBox 7"/>
          <p:cNvSpPr txBox="1"/>
          <p:nvPr/>
        </p:nvSpPr>
        <p:spPr>
          <a:xfrm>
            <a:off x="10881360" y="146304"/>
            <a:ext cx="1051560" cy="320040"/>
          </a:xfrm>
          <a:prstGeom prst="rect">
            <a:avLst/>
          </a:prstGeom>
          <a:noFill/>
        </p:spPr>
        <p:txBody>
          <a:bodyPr wrap="square" anchor="t" lIns="25400" rIns="25400" tIns="12700" bIns="12700">
            <a:spAutoFit/>
          </a:bodyPr>
          <a:lstStyle/>
          <a:p>
            <a:pPr algn="r">
              <a:lnSpc>
                <a:spcPct val="100000"/>
              </a:lnSpc>
            </a:pPr>
            <a:r>
              <a:rPr sz="1200" b="1" i="0">
                <a:solidFill>
                  <a:srgbClr val="BFD3E0"/>
                </a:solidFill>
                <a:latin typeface="Meiryo"/>
              </a:rPr>
              <a:t>1 / 4</a:t>
            </a:r>
          </a:p>
        </p:txBody>
      </p:sp>
      <p:sp>
        <p:nvSpPr>
          <p:cNvPr id="9" name="Rectangle 8"/>
          <p:cNvSpPr/>
          <p:nvPr/>
        </p:nvSpPr>
        <p:spPr>
          <a:xfrm>
            <a:off x="0" y="6565392"/>
            <a:ext cx="12191695" cy="292608"/>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574536"/>
            <a:ext cx="7315200" cy="274320"/>
          </a:xfrm>
          <a:prstGeom prst="rect">
            <a:avLst/>
          </a:prstGeom>
          <a:noFill/>
        </p:spPr>
        <p:txBody>
          <a:bodyPr wrap="square" anchor="ctr" lIns="25400" rIns="25400" tIns="12700" bIns="12700">
            <a:spAutoFit/>
          </a:bodyPr>
          <a:lstStyle/>
          <a:p>
            <a:pPr algn="l">
              <a:lnSpc>
                <a:spcPct val="100000"/>
              </a:lnSpc>
            </a:pPr>
            <a:r>
              <a:rPr sz="850" b="0" i="0">
                <a:solidFill>
                  <a:srgbClr val="8A939E"/>
                </a:solidFill>
                <a:latin typeface="Meiryo"/>
              </a:rPr>
              <a:t>Microsoft 365 Copilot Studio 活用ハッカソン｜事前相談会 報告</a:t>
            </a:r>
          </a:p>
        </p:txBody>
      </p:sp>
      <p:sp>
        <p:nvSpPr>
          <p:cNvPr id="11" name="TextBox 10"/>
          <p:cNvSpPr txBox="1"/>
          <p:nvPr/>
        </p:nvSpPr>
        <p:spPr>
          <a:xfrm>
            <a:off x="9265615" y="6574536"/>
            <a:ext cx="2423160" cy="274320"/>
          </a:xfrm>
          <a:prstGeom prst="rect">
            <a:avLst/>
          </a:prstGeom>
          <a:noFill/>
        </p:spPr>
        <p:txBody>
          <a:bodyPr wrap="square" anchor="ctr" lIns="25400" rIns="25400" tIns="12700" bIns="12700">
            <a:spAutoFit/>
          </a:bodyPr>
          <a:lstStyle/>
          <a:p>
            <a:pPr algn="r">
              <a:lnSpc>
                <a:spcPct val="100000"/>
              </a:lnSpc>
            </a:pPr>
            <a:r>
              <a:rPr sz="850" b="0" i="0">
                <a:solidFill>
                  <a:srgbClr val="8A939E"/>
                </a:solidFill>
                <a:latin typeface="Meiryo"/>
              </a:rPr>
              <a:t>社外秘 / Confidential</a:t>
            </a:r>
          </a:p>
        </p:txBody>
      </p:sp>
      <p:sp>
        <p:nvSpPr>
          <p:cNvPr id="12" name="TextBox 11"/>
          <p:cNvSpPr txBox="1"/>
          <p:nvPr/>
        </p:nvSpPr>
        <p:spPr>
          <a:xfrm>
            <a:off x="502920" y="1325880"/>
            <a:ext cx="11155680" cy="777240"/>
          </a:xfrm>
          <a:prstGeom prst="rect">
            <a:avLst/>
          </a:prstGeom>
          <a:noFill/>
        </p:spPr>
        <p:txBody>
          <a:bodyPr wrap="square" anchor="t" lIns="25400" rIns="25400" tIns="12700" bIns="12700">
            <a:spAutoFit/>
          </a:bodyPr>
          <a:lstStyle/>
          <a:p>
            <a:pPr algn="l">
              <a:lnSpc>
                <a:spcPct val="115000"/>
              </a:lnSpc>
            </a:pPr>
            <a:r>
              <a:rPr sz="1300" b="0" i="0">
                <a:solidFill>
                  <a:srgbClr val="252A31"/>
                </a:solidFill>
                <a:latin typeface="Meiryo"/>
              </a:rPr>
              <a:t>2026年7月よりMicrosoft 365 Copilot Studioを活用した業務効率化・自動化ハッカソンを開始。7月9日〜13日にかけて、全11チームが検討中の取り組みについて、チームごとに事前相談会を実施した。本相談会は、以下の「進行」「技術」の2つの目的で実施している。</a:t>
            </a:r>
          </a:p>
        </p:txBody>
      </p:sp>
      <p:sp>
        <p:nvSpPr>
          <p:cNvPr id="13" name="Rectangle 12"/>
          <p:cNvSpPr/>
          <p:nvPr/>
        </p:nvSpPr>
        <p:spPr>
          <a:xfrm>
            <a:off x="548640" y="2423160"/>
            <a:ext cx="5394960" cy="27889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2423160"/>
            <a:ext cx="5394960" cy="822960"/>
          </a:xfrm>
          <a:prstGeom prst="rect">
            <a:avLst/>
          </a:prstGeom>
          <a:solidFill>
            <a:srgbClr val="1F3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2532888"/>
            <a:ext cx="4754880" cy="274320"/>
          </a:xfrm>
          <a:prstGeom prst="rect">
            <a:avLst/>
          </a:prstGeom>
          <a:noFill/>
        </p:spPr>
        <p:txBody>
          <a:bodyPr wrap="square" anchor="t" lIns="25400" rIns="25400" tIns="12700" bIns="12700">
            <a:spAutoFit/>
          </a:bodyPr>
          <a:lstStyle/>
          <a:p>
            <a:pPr algn="l">
              <a:lnSpc>
                <a:spcPct val="100000"/>
              </a:lnSpc>
            </a:pPr>
            <a:r>
              <a:rPr sz="1100" b="1" i="0">
                <a:solidFill>
                  <a:srgbClr val="FFFFFF"/>
                </a:solidFill>
                <a:latin typeface="Meiryo"/>
              </a:rPr>
              <a:t>進行面 ｜ PROGRESS</a:t>
            </a:r>
          </a:p>
        </p:txBody>
      </p:sp>
      <p:sp>
        <p:nvSpPr>
          <p:cNvPr id="16" name="TextBox 15"/>
          <p:cNvSpPr txBox="1"/>
          <p:nvPr/>
        </p:nvSpPr>
        <p:spPr>
          <a:xfrm>
            <a:off x="868680" y="2788920"/>
            <a:ext cx="4754880" cy="411480"/>
          </a:xfrm>
          <a:prstGeom prst="rect">
            <a:avLst/>
          </a:prstGeom>
          <a:noFill/>
        </p:spPr>
        <p:txBody>
          <a:bodyPr wrap="square" anchor="t" lIns="25400" rIns="25400" tIns="12700" bIns="12700">
            <a:spAutoFit/>
          </a:bodyPr>
          <a:lstStyle/>
          <a:p>
            <a:pPr algn="l">
              <a:lnSpc>
                <a:spcPct val="100000"/>
              </a:lnSpc>
            </a:pPr>
            <a:r>
              <a:rPr sz="1700" b="1" i="0">
                <a:solidFill>
                  <a:srgbClr val="FFFFFF"/>
                </a:solidFill>
                <a:latin typeface="Meiryo"/>
              </a:rPr>
              <a:t>進捗管理・伴走支援</a:t>
            </a:r>
          </a:p>
        </p:txBody>
      </p:sp>
      <p:sp>
        <p:nvSpPr>
          <p:cNvPr id="17" name="Rectangle 16"/>
          <p:cNvSpPr/>
          <p:nvPr/>
        </p:nvSpPr>
        <p:spPr>
          <a:xfrm>
            <a:off x="868680" y="3520440"/>
            <a:ext cx="146304" cy="146304"/>
          </a:xfrm>
          <a:prstGeom prst="rect">
            <a:avLst/>
          </a:prstGeom>
          <a:solidFill>
            <a:srgbClr val="1F3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15568" y="3419856"/>
            <a:ext cx="4480560" cy="320040"/>
          </a:xfrm>
          <a:prstGeom prst="rect">
            <a:avLst/>
          </a:prstGeom>
          <a:noFill/>
        </p:spPr>
        <p:txBody>
          <a:bodyPr wrap="square" anchor="t" lIns="25400" rIns="25400" tIns="12700" bIns="12700">
            <a:spAutoFit/>
          </a:bodyPr>
          <a:lstStyle/>
          <a:p>
            <a:pPr algn="l">
              <a:lnSpc>
                <a:spcPct val="100000"/>
              </a:lnSpc>
            </a:pPr>
            <a:r>
              <a:rPr sz="1350" b="1" i="0">
                <a:solidFill>
                  <a:srgbClr val="1F385C"/>
                </a:solidFill>
                <a:latin typeface="Meiryo"/>
              </a:rPr>
              <a:t>各チームの進捗状況の確認</a:t>
            </a:r>
          </a:p>
        </p:txBody>
      </p:sp>
      <p:sp>
        <p:nvSpPr>
          <p:cNvPr id="19" name="TextBox 18"/>
          <p:cNvSpPr txBox="1"/>
          <p:nvPr/>
        </p:nvSpPr>
        <p:spPr>
          <a:xfrm>
            <a:off x="1115568" y="3749040"/>
            <a:ext cx="4526280" cy="548640"/>
          </a:xfrm>
          <a:prstGeom prst="rect">
            <a:avLst/>
          </a:prstGeom>
          <a:noFill/>
        </p:spPr>
        <p:txBody>
          <a:bodyPr wrap="square" anchor="t" lIns="25400" rIns="25400" tIns="12700" bIns="12700">
            <a:spAutoFit/>
          </a:bodyPr>
          <a:lstStyle/>
          <a:p>
            <a:pPr algn="l">
              <a:lnSpc>
                <a:spcPct val="108000"/>
              </a:lnSpc>
            </a:pPr>
            <a:r>
              <a:rPr sz="1150" b="0" i="0">
                <a:solidFill>
                  <a:srgbClr val="252A31"/>
                </a:solidFill>
                <a:latin typeface="Meiryo"/>
              </a:rPr>
              <a:t>1案への絞り込み状況、企画内容、検討の到達度を把握する。</a:t>
            </a:r>
          </a:p>
        </p:txBody>
      </p:sp>
      <p:sp>
        <p:nvSpPr>
          <p:cNvPr id="20" name="Rectangle 19"/>
          <p:cNvSpPr/>
          <p:nvPr/>
        </p:nvSpPr>
        <p:spPr>
          <a:xfrm>
            <a:off x="868680" y="4416552"/>
            <a:ext cx="146304" cy="146304"/>
          </a:xfrm>
          <a:prstGeom prst="rect">
            <a:avLst/>
          </a:prstGeom>
          <a:solidFill>
            <a:srgbClr val="1F3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15568" y="4315968"/>
            <a:ext cx="4480560" cy="320040"/>
          </a:xfrm>
          <a:prstGeom prst="rect">
            <a:avLst/>
          </a:prstGeom>
          <a:noFill/>
        </p:spPr>
        <p:txBody>
          <a:bodyPr wrap="square" anchor="t" lIns="25400" rIns="25400" tIns="12700" bIns="12700">
            <a:spAutoFit/>
          </a:bodyPr>
          <a:lstStyle/>
          <a:p>
            <a:pPr algn="l">
              <a:lnSpc>
                <a:spcPct val="100000"/>
              </a:lnSpc>
            </a:pPr>
            <a:r>
              <a:rPr sz="1350" b="1" i="0">
                <a:solidFill>
                  <a:srgbClr val="1F385C"/>
                </a:solidFill>
                <a:latin typeface="Meiryo"/>
              </a:rPr>
              <a:t>ネクストアクションの整理</a:t>
            </a:r>
          </a:p>
        </p:txBody>
      </p:sp>
      <p:sp>
        <p:nvSpPr>
          <p:cNvPr id="22" name="TextBox 21"/>
          <p:cNvSpPr txBox="1"/>
          <p:nvPr/>
        </p:nvSpPr>
        <p:spPr>
          <a:xfrm>
            <a:off x="1115568" y="4645152"/>
            <a:ext cx="4526280" cy="548640"/>
          </a:xfrm>
          <a:prstGeom prst="rect">
            <a:avLst/>
          </a:prstGeom>
          <a:noFill/>
        </p:spPr>
        <p:txBody>
          <a:bodyPr wrap="square" anchor="t" lIns="25400" rIns="25400" tIns="12700" bIns="12700">
            <a:spAutoFit/>
          </a:bodyPr>
          <a:lstStyle/>
          <a:p>
            <a:pPr algn="l">
              <a:lnSpc>
                <a:spcPct val="108000"/>
              </a:lnSpc>
            </a:pPr>
            <a:r>
              <a:rPr sz="1150" b="0" i="0">
                <a:solidFill>
                  <a:srgbClr val="252A31"/>
                </a:solidFill>
                <a:latin typeface="Meiryo"/>
              </a:rPr>
              <a:t>7/17の企画書提出、8〜9月の構築、10月発表に向けた次の一手を明確化する。</a:t>
            </a:r>
          </a:p>
        </p:txBody>
      </p:sp>
      <p:sp>
        <p:nvSpPr>
          <p:cNvPr id="23" name="Rectangle 22"/>
          <p:cNvSpPr/>
          <p:nvPr/>
        </p:nvSpPr>
        <p:spPr>
          <a:xfrm>
            <a:off x="6309360" y="2423160"/>
            <a:ext cx="5394960" cy="27889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309360" y="2423160"/>
            <a:ext cx="5394960" cy="822960"/>
          </a:xfrm>
          <a:prstGeom prst="rect">
            <a:avLst/>
          </a:prstGeom>
          <a:solidFill>
            <a:srgbClr val="2E8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29400" y="2532888"/>
            <a:ext cx="4754880" cy="274320"/>
          </a:xfrm>
          <a:prstGeom prst="rect">
            <a:avLst/>
          </a:prstGeom>
          <a:noFill/>
        </p:spPr>
        <p:txBody>
          <a:bodyPr wrap="square" anchor="t" lIns="25400" rIns="25400" tIns="12700" bIns="12700">
            <a:spAutoFit/>
          </a:bodyPr>
          <a:lstStyle/>
          <a:p>
            <a:pPr algn="l">
              <a:lnSpc>
                <a:spcPct val="100000"/>
              </a:lnSpc>
            </a:pPr>
            <a:r>
              <a:rPr sz="1100" b="1" i="0">
                <a:solidFill>
                  <a:srgbClr val="FFFFFF"/>
                </a:solidFill>
                <a:latin typeface="Meiryo"/>
              </a:rPr>
              <a:t>技術面 ｜ TECHNOLOGY</a:t>
            </a:r>
          </a:p>
        </p:txBody>
      </p:sp>
      <p:sp>
        <p:nvSpPr>
          <p:cNvPr id="26" name="TextBox 25"/>
          <p:cNvSpPr txBox="1"/>
          <p:nvPr/>
        </p:nvSpPr>
        <p:spPr>
          <a:xfrm>
            <a:off x="6629400" y="2788920"/>
            <a:ext cx="4754880" cy="411480"/>
          </a:xfrm>
          <a:prstGeom prst="rect">
            <a:avLst/>
          </a:prstGeom>
          <a:noFill/>
        </p:spPr>
        <p:txBody>
          <a:bodyPr wrap="square" anchor="t" lIns="25400" rIns="25400" tIns="12700" bIns="12700">
            <a:spAutoFit/>
          </a:bodyPr>
          <a:lstStyle/>
          <a:p>
            <a:pPr algn="l">
              <a:lnSpc>
                <a:spcPct val="100000"/>
              </a:lnSpc>
            </a:pPr>
            <a:r>
              <a:rPr sz="1700" b="1" i="0">
                <a:solidFill>
                  <a:srgbClr val="FFFFFF"/>
                </a:solidFill>
                <a:latin typeface="Meiryo"/>
              </a:rPr>
              <a:t>適合性・実現可能性の助言</a:t>
            </a:r>
          </a:p>
        </p:txBody>
      </p:sp>
      <p:sp>
        <p:nvSpPr>
          <p:cNvPr id="27" name="Rectangle 26"/>
          <p:cNvSpPr/>
          <p:nvPr/>
        </p:nvSpPr>
        <p:spPr>
          <a:xfrm>
            <a:off x="6629400" y="3520440"/>
            <a:ext cx="146304" cy="146304"/>
          </a:xfrm>
          <a:prstGeom prst="rect">
            <a:avLst/>
          </a:prstGeom>
          <a:solidFill>
            <a:srgbClr val="2E8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76288" y="3419856"/>
            <a:ext cx="4480560" cy="320040"/>
          </a:xfrm>
          <a:prstGeom prst="rect">
            <a:avLst/>
          </a:prstGeom>
          <a:noFill/>
        </p:spPr>
        <p:txBody>
          <a:bodyPr wrap="square" anchor="t" lIns="25400" rIns="25400" tIns="12700" bIns="12700">
            <a:spAutoFit/>
          </a:bodyPr>
          <a:lstStyle/>
          <a:p>
            <a:pPr algn="l">
              <a:lnSpc>
                <a:spcPct val="100000"/>
              </a:lnSpc>
            </a:pPr>
            <a:r>
              <a:rPr sz="1350" b="1" i="0">
                <a:solidFill>
                  <a:srgbClr val="1F385C"/>
                </a:solidFill>
                <a:latin typeface="Meiryo"/>
              </a:rPr>
              <a:t>Copilot Studio の適合性評価</a:t>
            </a:r>
          </a:p>
        </p:txBody>
      </p:sp>
      <p:sp>
        <p:nvSpPr>
          <p:cNvPr id="29" name="TextBox 28"/>
          <p:cNvSpPr txBox="1"/>
          <p:nvPr/>
        </p:nvSpPr>
        <p:spPr>
          <a:xfrm>
            <a:off x="6876288" y="3749040"/>
            <a:ext cx="4526280" cy="548640"/>
          </a:xfrm>
          <a:prstGeom prst="rect">
            <a:avLst/>
          </a:prstGeom>
          <a:noFill/>
        </p:spPr>
        <p:txBody>
          <a:bodyPr wrap="square" anchor="t" lIns="25400" rIns="25400" tIns="12700" bIns="12700">
            <a:spAutoFit/>
          </a:bodyPr>
          <a:lstStyle/>
          <a:p>
            <a:pPr algn="l">
              <a:lnSpc>
                <a:spcPct val="108000"/>
              </a:lnSpc>
            </a:pPr>
            <a:r>
              <a:rPr sz="1150" b="0" i="0">
                <a:solidFill>
                  <a:srgbClr val="252A31"/>
                </a:solidFill>
                <a:latin typeface="Meiryo"/>
              </a:rPr>
              <a:t>各チームの企画がCopilot Studio／M365アプリに適した題材かを助言する。</a:t>
            </a:r>
          </a:p>
        </p:txBody>
      </p:sp>
      <p:sp>
        <p:nvSpPr>
          <p:cNvPr id="30" name="Rectangle 29"/>
          <p:cNvSpPr/>
          <p:nvPr/>
        </p:nvSpPr>
        <p:spPr>
          <a:xfrm>
            <a:off x="6629400" y="4416552"/>
            <a:ext cx="146304" cy="146304"/>
          </a:xfrm>
          <a:prstGeom prst="rect">
            <a:avLst/>
          </a:prstGeom>
          <a:solidFill>
            <a:srgbClr val="2E8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76288" y="4315968"/>
            <a:ext cx="4480560" cy="320040"/>
          </a:xfrm>
          <a:prstGeom prst="rect">
            <a:avLst/>
          </a:prstGeom>
          <a:noFill/>
        </p:spPr>
        <p:txBody>
          <a:bodyPr wrap="square" anchor="t" lIns="25400" rIns="25400" tIns="12700" bIns="12700">
            <a:spAutoFit/>
          </a:bodyPr>
          <a:lstStyle/>
          <a:p>
            <a:pPr algn="l">
              <a:lnSpc>
                <a:spcPct val="100000"/>
              </a:lnSpc>
            </a:pPr>
            <a:r>
              <a:rPr sz="1350" b="1" i="0">
                <a:solidFill>
                  <a:srgbClr val="1F385C"/>
                </a:solidFill>
                <a:latin typeface="Meiryo"/>
              </a:rPr>
              <a:t>実現可能性へのアドバイス</a:t>
            </a:r>
          </a:p>
        </p:txBody>
      </p:sp>
      <p:sp>
        <p:nvSpPr>
          <p:cNvPr id="32" name="TextBox 31"/>
          <p:cNvSpPr txBox="1"/>
          <p:nvPr/>
        </p:nvSpPr>
        <p:spPr>
          <a:xfrm>
            <a:off x="6876288" y="4645152"/>
            <a:ext cx="4526280" cy="548640"/>
          </a:xfrm>
          <a:prstGeom prst="rect">
            <a:avLst/>
          </a:prstGeom>
          <a:noFill/>
        </p:spPr>
        <p:txBody>
          <a:bodyPr wrap="square" anchor="t" lIns="25400" rIns="25400" tIns="12700" bIns="12700">
            <a:spAutoFit/>
          </a:bodyPr>
          <a:lstStyle/>
          <a:p>
            <a:pPr algn="l">
              <a:lnSpc>
                <a:spcPct val="108000"/>
              </a:lnSpc>
            </a:pPr>
            <a:r>
              <a:rPr sz="1150" b="0" i="0">
                <a:solidFill>
                  <a:srgbClr val="252A31"/>
                </a:solidFill>
                <a:latin typeface="Meiryo"/>
              </a:rPr>
              <a:t>アーキテクチャ、連携可否、セキュリティ等の論点を早期に提示する。</a:t>
            </a:r>
          </a:p>
        </p:txBody>
      </p:sp>
      <p:sp>
        <p:nvSpPr>
          <p:cNvPr id="33" name="TextBox 32"/>
          <p:cNvSpPr txBox="1"/>
          <p:nvPr/>
        </p:nvSpPr>
        <p:spPr>
          <a:xfrm>
            <a:off x="548640" y="5394960"/>
            <a:ext cx="11064240" cy="457200"/>
          </a:xfrm>
          <a:prstGeom prst="rect">
            <a:avLst/>
          </a:prstGeom>
          <a:noFill/>
        </p:spPr>
        <p:txBody>
          <a:bodyPr wrap="square" anchor="t" lIns="25400" rIns="25400" tIns="12700" bIns="12700">
            <a:spAutoFit/>
          </a:bodyPr>
          <a:lstStyle/>
          <a:p>
            <a:pPr algn="l">
              <a:lnSpc>
                <a:spcPct val="100000"/>
              </a:lnSpc>
            </a:pPr>
            <a:r>
              <a:rPr sz="1100" b="0" i="1">
                <a:solidFill>
                  <a:srgbClr val="6B7480"/>
                </a:solidFill>
                <a:latin typeface="Meiryo"/>
              </a:rPr>
              <a:t>※ 特定案への誘導は行わず、各チームの主体的な意思決定を尊重しながら技術的助言を行う方針で実施。</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E8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1051560"/>
          </a:xfrm>
          <a:prstGeom prst="rect">
            <a:avLst/>
          </a:prstGeom>
          <a:solidFill>
            <a:srgbClr val="1F3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51560"/>
            <a:ext cx="12191695" cy="45720"/>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6304"/>
            <a:ext cx="8686800" cy="274320"/>
          </a:xfrm>
          <a:prstGeom prst="rect">
            <a:avLst/>
          </a:prstGeom>
          <a:noFill/>
        </p:spPr>
        <p:txBody>
          <a:bodyPr wrap="square" anchor="t" lIns="25400" rIns="25400" tIns="12700" bIns="12700">
            <a:spAutoFit/>
          </a:bodyPr>
          <a:lstStyle/>
          <a:p>
            <a:pPr algn="l">
              <a:lnSpc>
                <a:spcPct val="100000"/>
              </a:lnSpc>
            </a:pPr>
            <a:r>
              <a:rPr sz="1100" b="1" i="0">
                <a:solidFill>
                  <a:srgbClr val="BFD3E0"/>
                </a:solidFill>
                <a:latin typeface="Meiryo"/>
              </a:rPr>
              <a:t>PROGRESS SUMMARY ｜ 全11チーム</a:t>
            </a:r>
          </a:p>
        </p:txBody>
      </p:sp>
      <p:sp>
        <p:nvSpPr>
          <p:cNvPr id="7" name="TextBox 6"/>
          <p:cNvSpPr txBox="1"/>
          <p:nvPr/>
        </p:nvSpPr>
        <p:spPr>
          <a:xfrm>
            <a:off x="475488" y="402336"/>
            <a:ext cx="10058400" cy="594360"/>
          </a:xfrm>
          <a:prstGeom prst="rect">
            <a:avLst/>
          </a:prstGeom>
          <a:noFill/>
        </p:spPr>
        <p:txBody>
          <a:bodyPr wrap="square" anchor="ctr" lIns="25400" rIns="25400" tIns="12700" bIns="12700">
            <a:spAutoFit/>
          </a:bodyPr>
          <a:lstStyle/>
          <a:p>
            <a:pPr algn="l">
              <a:lnSpc>
                <a:spcPct val="100000"/>
              </a:lnSpc>
            </a:pPr>
            <a:r>
              <a:rPr sz="2500" b="1" i="0">
                <a:solidFill>
                  <a:srgbClr val="FFFFFF"/>
                </a:solidFill>
                <a:latin typeface="Meiryo"/>
              </a:rPr>
              <a:t>各チームの進捗状況</a:t>
            </a:r>
          </a:p>
        </p:txBody>
      </p:sp>
      <p:sp>
        <p:nvSpPr>
          <p:cNvPr id="8" name="TextBox 7"/>
          <p:cNvSpPr txBox="1"/>
          <p:nvPr/>
        </p:nvSpPr>
        <p:spPr>
          <a:xfrm>
            <a:off x="10881360" y="146304"/>
            <a:ext cx="1051560" cy="320040"/>
          </a:xfrm>
          <a:prstGeom prst="rect">
            <a:avLst/>
          </a:prstGeom>
          <a:noFill/>
        </p:spPr>
        <p:txBody>
          <a:bodyPr wrap="square" anchor="t" lIns="25400" rIns="25400" tIns="12700" bIns="12700">
            <a:spAutoFit/>
          </a:bodyPr>
          <a:lstStyle/>
          <a:p>
            <a:pPr algn="r">
              <a:lnSpc>
                <a:spcPct val="100000"/>
              </a:lnSpc>
            </a:pPr>
            <a:r>
              <a:rPr sz="1200" b="1" i="0">
                <a:solidFill>
                  <a:srgbClr val="BFD3E0"/>
                </a:solidFill>
                <a:latin typeface="Meiryo"/>
              </a:rPr>
              <a:t>2 / 4</a:t>
            </a:r>
          </a:p>
        </p:txBody>
      </p:sp>
      <p:sp>
        <p:nvSpPr>
          <p:cNvPr id="9" name="Rectangle 8"/>
          <p:cNvSpPr/>
          <p:nvPr/>
        </p:nvSpPr>
        <p:spPr>
          <a:xfrm>
            <a:off x="0" y="6565392"/>
            <a:ext cx="12191695" cy="292608"/>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574536"/>
            <a:ext cx="7315200" cy="274320"/>
          </a:xfrm>
          <a:prstGeom prst="rect">
            <a:avLst/>
          </a:prstGeom>
          <a:noFill/>
        </p:spPr>
        <p:txBody>
          <a:bodyPr wrap="square" anchor="ctr" lIns="25400" rIns="25400" tIns="12700" bIns="12700">
            <a:spAutoFit/>
          </a:bodyPr>
          <a:lstStyle/>
          <a:p>
            <a:pPr algn="l">
              <a:lnSpc>
                <a:spcPct val="100000"/>
              </a:lnSpc>
            </a:pPr>
            <a:r>
              <a:rPr sz="850" b="0" i="0">
                <a:solidFill>
                  <a:srgbClr val="8A939E"/>
                </a:solidFill>
                <a:latin typeface="Meiryo"/>
              </a:rPr>
              <a:t>Microsoft 365 Copilot Studio 活用ハッカソン｜事前相談会 報告</a:t>
            </a:r>
          </a:p>
        </p:txBody>
      </p:sp>
      <p:sp>
        <p:nvSpPr>
          <p:cNvPr id="11" name="TextBox 10"/>
          <p:cNvSpPr txBox="1"/>
          <p:nvPr/>
        </p:nvSpPr>
        <p:spPr>
          <a:xfrm>
            <a:off x="9265615" y="6574536"/>
            <a:ext cx="2423160" cy="274320"/>
          </a:xfrm>
          <a:prstGeom prst="rect">
            <a:avLst/>
          </a:prstGeom>
          <a:noFill/>
        </p:spPr>
        <p:txBody>
          <a:bodyPr wrap="square" anchor="ctr" lIns="25400" rIns="25400" tIns="12700" bIns="12700">
            <a:spAutoFit/>
          </a:bodyPr>
          <a:lstStyle/>
          <a:p>
            <a:pPr algn="r">
              <a:lnSpc>
                <a:spcPct val="100000"/>
              </a:lnSpc>
            </a:pPr>
            <a:r>
              <a:rPr sz="850" b="0" i="0">
                <a:solidFill>
                  <a:srgbClr val="8A939E"/>
                </a:solidFill>
                <a:latin typeface="Meiryo"/>
              </a:rPr>
              <a:t>社外秘 / Confidential</a:t>
            </a:r>
          </a:p>
        </p:txBody>
      </p:sp>
      <p:sp>
        <p:nvSpPr>
          <p:cNvPr id="12" name="TextBox 11"/>
          <p:cNvSpPr txBox="1"/>
          <p:nvPr/>
        </p:nvSpPr>
        <p:spPr>
          <a:xfrm>
            <a:off x="502920" y="1152144"/>
            <a:ext cx="11247120" cy="292608"/>
          </a:xfrm>
          <a:prstGeom prst="rect">
            <a:avLst/>
          </a:prstGeom>
          <a:noFill/>
        </p:spPr>
        <p:txBody>
          <a:bodyPr wrap="square" anchor="t" lIns="25400" rIns="25400" tIns="12700" bIns="12700">
            <a:spAutoFit/>
          </a:bodyPr>
          <a:lstStyle/>
          <a:p>
            <a:pPr algn="l">
              <a:lnSpc>
                <a:spcPct val="100000"/>
              </a:lnSpc>
            </a:pPr>
            <a:r>
              <a:rPr sz="1100" b="0" i="0">
                <a:solidFill>
                  <a:srgbClr val="252A31"/>
                </a:solidFill>
                <a:latin typeface="Meiryo"/>
              </a:rPr>
              <a:t>「絞り込み」は1案への到達状況（未／2案／1案）、「進捗レベル」は下記5段階の到達点を5つの矢印で表示。質疑は各チーム1〜2件を要約。</a:t>
            </a:r>
          </a:p>
        </p:txBody>
      </p:sp>
      <p:sp>
        <p:nvSpPr>
          <p:cNvPr id="13" name="TextBox 12"/>
          <p:cNvSpPr txBox="1"/>
          <p:nvPr/>
        </p:nvSpPr>
        <p:spPr>
          <a:xfrm>
            <a:off x="502920" y="1444752"/>
            <a:ext cx="11247120" cy="457200"/>
          </a:xfrm>
          <a:prstGeom prst="rect">
            <a:avLst/>
          </a:prstGeom>
          <a:noFill/>
        </p:spPr>
        <p:txBody>
          <a:bodyPr wrap="square" anchor="t" lIns="25400" rIns="25400" tIns="12700" bIns="12700">
            <a:spAutoFit/>
          </a:bodyPr>
          <a:lstStyle/>
          <a:p>
            <a:pPr algn="l">
              <a:lnSpc>
                <a:spcPct val="112000"/>
              </a:lnSpc>
            </a:pPr>
            <a:r>
              <a:rPr sz="900" b="0" i="0">
                <a:solidFill>
                  <a:srgbClr val="555D68"/>
                </a:solidFill>
                <a:latin typeface="Meiryo"/>
              </a:rPr>
              <a:t>進捗レベルの目安 ▶ Lv1：未絞り込み（各自案を持ち寄り）／ Lv2：2案まで絞り込み（1案への選定が必要）／ Lv3：1案確定・スコープ/機能理解は途上／ Lv4：To-Be・使用アプリ/アーキが具体化／ Lv5：定量効果まで概ね完成</a:t>
            </a:r>
          </a:p>
        </p:txBody>
      </p:sp>
      <p:graphicFrame>
        <p:nvGraphicFramePr>
          <p:cNvPr id="14" name="Table 13"/>
          <p:cNvGraphicFramePr>
            <a:graphicFrameLocks noGrp="1"/>
          </p:cNvGraphicFramePr>
          <p:nvPr/>
        </p:nvGraphicFramePr>
        <p:xfrm>
          <a:off x="502920" y="1956816"/>
          <a:ext cx="11201400" cy="4370832"/>
        </p:xfrm>
        <a:graphic>
          <a:graphicData uri="http://schemas.openxmlformats.org/drawingml/2006/table">
            <a:tbl>
              <a:tblPr firstRow="1" bandRow="1">
                <a:tableStyleId>{5C22544A-7EE6-4342-B048-85BDC9FD1C3A}</a:tableStyleId>
              </a:tblPr>
              <a:tblGrid>
                <a:gridCol w="548640"/>
                <a:gridCol w="731520"/>
                <a:gridCol w="1920240"/>
                <a:gridCol w="2606040"/>
                <a:gridCol w="2468880"/>
                <a:gridCol w="2926080"/>
              </a:tblGrid>
              <a:tr h="347472">
                <a:tc>
                  <a:txBody>
                    <a:bodyPr wrap="square"/>
                    <a:lstStyle/>
                    <a:p>
                      <a:pPr algn="ctr">
                        <a:lnSpc>
                          <a:spcPct val="98000"/>
                        </a:lnSpc>
                      </a:pPr>
                      <a:r>
                        <a:rPr sz="950" b="1">
                          <a:solidFill>
                            <a:srgbClr val="FFFFFF"/>
                          </a:solidFill>
                          <a:latin typeface="Meiryo"/>
                        </a:rPr>
                        <a:t>チーム</a:t>
                      </a:r>
                    </a:p>
                  </a:txBody>
                  <a:tcPr marL="63500" marR="63500" marT="25400" marB="25400" anchor="ctr">
                    <a:solidFill>
                      <a:srgbClr val="1F385C"/>
                    </a:solidFill>
                  </a:tcPr>
                </a:tc>
                <a:tc>
                  <a:txBody>
                    <a:bodyPr wrap="square"/>
                    <a:lstStyle/>
                    <a:p>
                      <a:pPr algn="ctr">
                        <a:lnSpc>
                          <a:spcPct val="98000"/>
                        </a:lnSpc>
                      </a:pPr>
                      <a:r>
                        <a:rPr sz="950" b="1">
                          <a:solidFill>
                            <a:srgbClr val="FFFFFF"/>
                          </a:solidFill>
                          <a:latin typeface="Meiryo"/>
                        </a:rPr>
                        <a:t>絞り込み</a:t>
                      </a:r>
                    </a:p>
                  </a:txBody>
                  <a:tcPr marL="63500" marR="63500" marT="25400" marB="25400" anchor="ctr">
                    <a:solidFill>
                      <a:srgbClr val="1F385C"/>
                    </a:solidFill>
                  </a:tcPr>
                </a:tc>
                <a:tc>
                  <a:txBody>
                    <a:bodyPr wrap="square"/>
                    <a:lstStyle/>
                    <a:p>
                      <a:pPr algn="ctr">
                        <a:lnSpc>
                          <a:spcPct val="98000"/>
                        </a:lnSpc>
                      </a:pPr>
                      <a:r>
                        <a:rPr sz="950" b="1">
                          <a:solidFill>
                            <a:srgbClr val="FFFFFF"/>
                          </a:solidFill>
                          <a:latin typeface="Meiryo"/>
                        </a:rPr>
                        <a:t>進捗レベル</a:t>
                      </a:r>
                    </a:p>
                  </a:txBody>
                  <a:tcPr marL="63500" marR="63500" marT="25400" marB="25400" anchor="ctr">
                    <a:solidFill>
                      <a:srgbClr val="1F385C"/>
                    </a:solidFill>
                  </a:tcPr>
                </a:tc>
                <a:tc>
                  <a:txBody>
                    <a:bodyPr wrap="square"/>
                    <a:lstStyle/>
                    <a:p>
                      <a:pPr algn="ctr">
                        <a:lnSpc>
                          <a:spcPct val="98000"/>
                        </a:lnSpc>
                      </a:pPr>
                      <a:r>
                        <a:rPr sz="950" b="1">
                          <a:solidFill>
                            <a:srgbClr val="FFFFFF"/>
                          </a:solidFill>
                          <a:latin typeface="Meiryo"/>
                        </a:rPr>
                        <a:t>案概要（エージェント名）</a:t>
                      </a:r>
                    </a:p>
                  </a:txBody>
                  <a:tcPr marL="63500" marR="63500" marT="25400" marB="25400" anchor="ctr">
                    <a:solidFill>
                      <a:srgbClr val="1F385C"/>
                    </a:solidFill>
                  </a:tcPr>
                </a:tc>
                <a:tc>
                  <a:txBody>
                    <a:bodyPr wrap="square"/>
                    <a:lstStyle/>
                    <a:p>
                      <a:pPr algn="ctr">
                        <a:lnSpc>
                          <a:spcPct val="98000"/>
                        </a:lnSpc>
                      </a:pPr>
                      <a:r>
                        <a:rPr sz="950" b="1">
                          <a:solidFill>
                            <a:srgbClr val="FFFFFF"/>
                          </a:solidFill>
                          <a:latin typeface="Meiryo"/>
                        </a:rPr>
                        <a:t>主な質問（要約）</a:t>
                      </a:r>
                    </a:p>
                  </a:txBody>
                  <a:tcPr marL="63500" marR="63500" marT="25400" marB="25400" anchor="ctr">
                    <a:solidFill>
                      <a:srgbClr val="1F385C"/>
                    </a:solidFill>
                  </a:tcPr>
                </a:tc>
                <a:tc>
                  <a:txBody>
                    <a:bodyPr wrap="square"/>
                    <a:lstStyle/>
                    <a:p>
                      <a:pPr algn="ctr">
                        <a:lnSpc>
                          <a:spcPct val="98000"/>
                        </a:lnSpc>
                      </a:pPr>
                      <a:r>
                        <a:rPr sz="950" b="1">
                          <a:solidFill>
                            <a:srgbClr val="FFFFFF"/>
                          </a:solidFill>
                          <a:latin typeface="Meiryo"/>
                        </a:rPr>
                        <a:t>回答・助言（要約）</a:t>
                      </a:r>
                    </a:p>
                  </a:txBody>
                  <a:tcPr marL="63500" marR="63500" marT="25400" marB="25400" anchor="ctr">
                    <a:solidFill>
                      <a:srgbClr val="1F385C"/>
                    </a:solidFill>
                  </a:tcPr>
                </a:tc>
              </a:tr>
              <a:tr h="365760">
                <a:tc>
                  <a:txBody>
                    <a:bodyPr wrap="square"/>
                    <a:lstStyle/>
                    <a:p>
                      <a:pPr algn="ctr">
                        <a:lnSpc>
                          <a:spcPct val="98000"/>
                        </a:lnSpc>
                      </a:pPr>
                      <a:r>
                        <a:rPr sz="1000" b="1">
                          <a:solidFill>
                            <a:srgbClr val="1F385C"/>
                          </a:solidFill>
                          <a:latin typeface="Meiryo"/>
                        </a:rPr>
                        <a:t>チーム1</a:t>
                      </a:r>
                    </a:p>
                  </a:txBody>
                  <a:tcPr marL="63500" marR="63500" marT="25400" marB="25400" anchor="ctr">
                    <a:solidFill>
                      <a:srgbClr val="FFFFFF"/>
                    </a:solidFill>
                  </a:tcPr>
                </a:tc>
                <a:tc>
                  <a:txBody>
                    <a:bodyPr wrap="square"/>
                    <a:lstStyle/>
                    <a:p>
                      <a:pPr algn="ctr">
                        <a:lnSpc>
                          <a:spcPct val="98000"/>
                        </a:lnSpc>
                      </a:pPr>
                      <a:r>
                        <a:rPr sz="1000" b="1">
                          <a:solidFill>
                            <a:srgbClr val="2E8B9E"/>
                          </a:solidFill>
                          <a:latin typeface="Meiryo"/>
                        </a:rPr>
                        <a:t>2案</a:t>
                      </a:r>
                    </a:p>
                  </a:txBody>
                  <a:tcPr marL="63500" marR="63500" marT="25400" marB="25400" anchor="ctr">
                    <a:solidFill>
                      <a:srgbClr val="E1F0F2"/>
                    </a:solidFill>
                  </a:tcPr>
                </a:tc>
                <a:tc>
                  <a:txBody>
                    <a:bodyPr wrap="square"/>
                    <a:lstStyle/>
                    <a:p>
                      <a:pPr algn="l">
                        <a:lnSpc>
                          <a:spcPct val="98000"/>
                        </a:lnSpc>
                      </a:pPr>
                      <a:r>
                        <a:rPr sz="900" b="0">
                          <a:solidFill>
                            <a:srgbClr val="252A31"/>
                          </a:solidFill>
                          <a:latin typeface="Meiryo"/>
                        </a:rPr>
                        <a:t/>
                      </a:r>
                    </a:p>
                  </a:txBody>
                  <a:tcPr marL="63500" marR="63500" marT="25400" marB="25400" anchor="ctr">
                    <a:solidFill>
                      <a:srgbClr val="FFFFFF"/>
                    </a:solidFill>
                  </a:tcPr>
                </a:tc>
                <a:tc>
                  <a:txBody>
                    <a:bodyPr wrap="square"/>
                    <a:lstStyle/>
                    <a:p>
                      <a:pPr algn="l">
                        <a:lnSpc>
                          <a:spcPct val="98000"/>
                        </a:lnSpc>
                      </a:pPr>
                      <a:r>
                        <a:rPr sz="860" b="0">
                          <a:solidFill>
                            <a:srgbClr val="9A772E"/>
                          </a:solidFill>
                          <a:latin typeface="Meiryo"/>
                        </a:rPr>
                        <a:t>（2案：内容を要確認）</a:t>
                      </a:r>
                    </a:p>
                  </a:txBody>
                  <a:tcPr marL="63500" marR="63500" marT="25400" marB="25400" anchor="ctr">
                    <a:solidFill>
                      <a:srgbClr val="FFFFFF"/>
                    </a:solidFill>
                  </a:tcPr>
                </a:tc>
                <a:tc>
                  <a:txBody>
                    <a:bodyPr wrap="square"/>
                    <a:lstStyle/>
                    <a:p>
                      <a:pPr algn="l">
                        <a:lnSpc>
                          <a:spcPct val="98000"/>
                        </a:lnSpc>
                      </a:pPr>
                      <a:r>
                        <a:rPr sz="860" b="0">
                          <a:solidFill>
                            <a:srgbClr val="252A31"/>
                          </a:solidFill>
                          <a:latin typeface="Meiryo"/>
                        </a:rPr>
                        <a:t>Copilot Studio（エージェント）を使うメリットは何か。</a:t>
                      </a:r>
                    </a:p>
                  </a:txBody>
                  <a:tcPr marL="63500" marR="63500" marT="25400" marB="25400" anchor="ctr">
                    <a:solidFill>
                      <a:srgbClr val="FFFFFF"/>
                    </a:solidFill>
                  </a:tcPr>
                </a:tc>
                <a:tc>
                  <a:txBody>
                    <a:bodyPr wrap="square"/>
                    <a:lstStyle/>
                    <a:p>
                      <a:pPr algn="l">
                        <a:lnSpc>
                          <a:spcPct val="98000"/>
                        </a:lnSpc>
                      </a:pPr>
                      <a:r>
                        <a:rPr sz="860" b="0">
                          <a:solidFill>
                            <a:srgbClr val="252A31"/>
                          </a:solidFill>
                          <a:latin typeface="Meiryo"/>
                        </a:rPr>
                        <a:t>回答範囲やフォーマットを制御でき、会話の記憶維持も可能。チャット単体より挙動を制御しやすい。</a:t>
                      </a:r>
                    </a:p>
                  </a:txBody>
                  <a:tcPr marL="63500" marR="63500" marT="25400" marB="25400" anchor="ctr">
                    <a:solidFill>
                      <a:srgbClr val="FFFFFF"/>
                    </a:solidFill>
                  </a:tcPr>
                </a:tc>
              </a:tr>
              <a:tr h="365760">
                <a:tc>
                  <a:txBody>
                    <a:bodyPr wrap="square"/>
                    <a:lstStyle/>
                    <a:p>
                      <a:pPr algn="ctr">
                        <a:lnSpc>
                          <a:spcPct val="98000"/>
                        </a:lnSpc>
                      </a:pPr>
                      <a:r>
                        <a:rPr sz="1000" b="1">
                          <a:solidFill>
                            <a:srgbClr val="1F385C"/>
                          </a:solidFill>
                          <a:latin typeface="Meiryo"/>
                        </a:rPr>
                        <a:t>チーム2</a:t>
                      </a:r>
                    </a:p>
                  </a:txBody>
                  <a:tcPr marL="63500" marR="63500" marT="25400" marB="25400" anchor="ctr">
                    <a:solidFill>
                      <a:srgbClr val="F2F4F7"/>
                    </a:solidFill>
                  </a:tcPr>
                </a:tc>
                <a:tc>
                  <a:txBody>
                    <a:bodyPr wrap="square"/>
                    <a:lstStyle/>
                    <a:p>
                      <a:pPr algn="ctr">
                        <a:lnSpc>
                          <a:spcPct val="98000"/>
                        </a:lnSpc>
                      </a:pPr>
                      <a:r>
                        <a:rPr sz="1000" b="1">
                          <a:solidFill>
                            <a:srgbClr val="3F8F5B"/>
                          </a:solidFill>
                          <a:latin typeface="Meiryo"/>
                        </a:rPr>
                        <a:t>1案</a:t>
                      </a:r>
                    </a:p>
                  </a:txBody>
                  <a:tcPr marL="63500" marR="63500" marT="25400" marB="25400" anchor="ctr">
                    <a:solidFill>
                      <a:srgbClr val="E4F1E9"/>
                    </a:solidFill>
                  </a:tcPr>
                </a:tc>
                <a:tc>
                  <a:txBody>
                    <a:bodyPr wrap="square"/>
                    <a:lstStyle/>
                    <a:p>
                      <a:pPr algn="l">
                        <a:lnSpc>
                          <a:spcPct val="98000"/>
                        </a:lnSpc>
                      </a:pPr>
                      <a:r>
                        <a:rPr sz="900" b="0">
                          <a:solidFill>
                            <a:srgbClr val="252A31"/>
                          </a:solidFill>
                          <a:latin typeface="Meiryo"/>
                        </a:rPr>
                        <a:t/>
                      </a:r>
                    </a:p>
                  </a:txBody>
                  <a:tcPr marL="63500" marR="63500" marT="25400" marB="25400" anchor="ctr">
                    <a:solidFill>
                      <a:srgbClr val="F2F4F7"/>
                    </a:solidFill>
                  </a:tcPr>
                </a:tc>
                <a:tc>
                  <a:txBody>
                    <a:bodyPr wrap="square"/>
                    <a:lstStyle/>
                    <a:p>
                      <a:pPr algn="l">
                        <a:lnSpc>
                          <a:spcPct val="98000"/>
                        </a:lnSpc>
                      </a:pPr>
                      <a:r>
                        <a:rPr sz="860" b="1">
                          <a:solidFill>
                            <a:srgbClr val="252A31"/>
                          </a:solidFill>
                          <a:latin typeface="Meiryo"/>
                        </a:rPr>
                        <a:t>加盟店問い合わせ対応支援エージェント</a:t>
                      </a:r>
                    </a:p>
                  </a:txBody>
                  <a:tcPr marL="63500" marR="63500" marT="25400" marB="25400" anchor="ctr">
                    <a:solidFill>
                      <a:srgbClr val="F2F4F7"/>
                    </a:solidFill>
                  </a:tcPr>
                </a:tc>
                <a:tc>
                  <a:txBody>
                    <a:bodyPr wrap="square"/>
                    <a:lstStyle/>
                    <a:p>
                      <a:pPr algn="l">
                        <a:lnSpc>
                          <a:spcPct val="98000"/>
                        </a:lnSpc>
                      </a:pPr>
                      <a:r>
                        <a:rPr sz="860" b="0">
                          <a:solidFill>
                            <a:srgbClr val="252A31"/>
                          </a:solidFill>
                          <a:latin typeface="Meiryo"/>
                        </a:rPr>
                        <a:t>読込はExcelよりPDFの方が精度が高いか（Excel業務が多い）。</a:t>
                      </a:r>
                    </a:p>
                  </a:txBody>
                  <a:tcPr marL="63500" marR="63500" marT="25400" marB="25400" anchor="ctr">
                    <a:solidFill>
                      <a:srgbClr val="F2F4F7"/>
                    </a:solidFill>
                  </a:tcPr>
                </a:tc>
                <a:tc>
                  <a:txBody>
                    <a:bodyPr wrap="square"/>
                    <a:lstStyle/>
                    <a:p>
                      <a:pPr algn="l">
                        <a:lnSpc>
                          <a:spcPct val="98000"/>
                        </a:lnSpc>
                      </a:pPr>
                      <a:r>
                        <a:rPr sz="860" b="0">
                          <a:solidFill>
                            <a:srgbClr val="252A31"/>
                          </a:solidFill>
                          <a:latin typeface="Meiryo"/>
                        </a:rPr>
                        <a:t>肌感ではPDFが有利だがExcelでも読める可能性あり。まず試して判断する方針。</a:t>
                      </a:r>
                    </a:p>
                  </a:txBody>
                  <a:tcPr marL="63500" marR="63500" marT="25400" marB="25400" anchor="ctr">
                    <a:solidFill>
                      <a:srgbClr val="F2F4F7"/>
                    </a:solidFill>
                  </a:tcPr>
                </a:tc>
              </a:tr>
              <a:tr h="365760">
                <a:tc>
                  <a:txBody>
                    <a:bodyPr wrap="square"/>
                    <a:lstStyle/>
                    <a:p>
                      <a:pPr algn="ctr">
                        <a:lnSpc>
                          <a:spcPct val="98000"/>
                        </a:lnSpc>
                      </a:pPr>
                      <a:r>
                        <a:rPr sz="1000" b="1">
                          <a:solidFill>
                            <a:srgbClr val="1F385C"/>
                          </a:solidFill>
                          <a:latin typeface="Meiryo"/>
                        </a:rPr>
                        <a:t>チーム3</a:t>
                      </a:r>
                    </a:p>
                  </a:txBody>
                  <a:tcPr marL="63500" marR="63500" marT="25400" marB="25400" anchor="ctr">
                    <a:solidFill>
                      <a:srgbClr val="FFFFFF"/>
                    </a:solidFill>
                  </a:tcPr>
                </a:tc>
                <a:tc>
                  <a:txBody>
                    <a:bodyPr wrap="square"/>
                    <a:lstStyle/>
                    <a:p>
                      <a:pPr algn="ctr">
                        <a:lnSpc>
                          <a:spcPct val="98000"/>
                        </a:lnSpc>
                      </a:pPr>
                      <a:r>
                        <a:rPr sz="1000" b="1">
                          <a:solidFill>
                            <a:srgbClr val="3F8F5B"/>
                          </a:solidFill>
                          <a:latin typeface="Meiryo"/>
                        </a:rPr>
                        <a:t>1案</a:t>
                      </a:r>
                    </a:p>
                  </a:txBody>
                  <a:tcPr marL="63500" marR="63500" marT="25400" marB="25400" anchor="ctr">
                    <a:solidFill>
                      <a:srgbClr val="E4F1E9"/>
                    </a:solidFill>
                  </a:tcPr>
                </a:tc>
                <a:tc>
                  <a:txBody>
                    <a:bodyPr wrap="square"/>
                    <a:lstStyle/>
                    <a:p>
                      <a:pPr algn="l">
                        <a:lnSpc>
                          <a:spcPct val="98000"/>
                        </a:lnSpc>
                      </a:pPr>
                      <a:r>
                        <a:rPr sz="900" b="0">
                          <a:solidFill>
                            <a:srgbClr val="252A31"/>
                          </a:solidFill>
                          <a:latin typeface="Meiryo"/>
                        </a:rPr>
                        <a:t/>
                      </a:r>
                    </a:p>
                  </a:txBody>
                  <a:tcPr marL="63500" marR="63500" marT="25400" marB="25400" anchor="ctr">
                    <a:solidFill>
                      <a:srgbClr val="FFFFFF"/>
                    </a:solidFill>
                  </a:tcPr>
                </a:tc>
                <a:tc>
                  <a:txBody>
                    <a:bodyPr wrap="square"/>
                    <a:lstStyle/>
                    <a:p>
                      <a:pPr algn="l">
                        <a:lnSpc>
                          <a:spcPct val="98000"/>
                        </a:lnSpc>
                      </a:pPr>
                      <a:r>
                        <a:rPr sz="860" b="0">
                          <a:solidFill>
                            <a:srgbClr val="9A772E"/>
                          </a:solidFill>
                          <a:latin typeface="Meiryo"/>
                        </a:rPr>
                        <a:t>（内容を要確認）</a:t>
                      </a:r>
                    </a:p>
                  </a:txBody>
                  <a:tcPr marL="63500" marR="63500" marT="25400" marB="25400" anchor="ctr">
                    <a:solidFill>
                      <a:srgbClr val="FFFFFF"/>
                    </a:solidFill>
                  </a:tcPr>
                </a:tc>
                <a:tc>
                  <a:txBody>
                    <a:bodyPr wrap="square"/>
                    <a:lstStyle/>
                    <a:p>
                      <a:pPr algn="l">
                        <a:lnSpc>
                          <a:spcPct val="98000"/>
                        </a:lnSpc>
                      </a:pPr>
                      <a:r>
                        <a:rPr sz="860" b="0">
                          <a:solidFill>
                            <a:srgbClr val="252A31"/>
                          </a:solidFill>
                          <a:latin typeface="Meiryo"/>
                        </a:rPr>
                        <a:t>アーキテクチャ／As-Is・To-Beの描き方を知りたい。</a:t>
                      </a:r>
                    </a:p>
                  </a:txBody>
                  <a:tcPr marL="63500" marR="63500" marT="25400" marB="25400" anchor="ctr">
                    <a:solidFill>
                      <a:srgbClr val="FFFFFF"/>
                    </a:solidFill>
                  </a:tcPr>
                </a:tc>
                <a:tc>
                  <a:txBody>
                    <a:bodyPr wrap="square"/>
                    <a:lstStyle/>
                    <a:p>
                      <a:pPr algn="l">
                        <a:lnSpc>
                          <a:spcPct val="98000"/>
                        </a:lnSpc>
                      </a:pPr>
                      <a:r>
                        <a:rPr sz="860" b="0">
                          <a:solidFill>
                            <a:srgbClr val="252A31"/>
                          </a:solidFill>
                          <a:latin typeface="Meiryo"/>
                        </a:rPr>
                        <a:t>既存フローに引きずられず、やりたいことからTo-Beを新規設計。作図もCopilot活用可。</a:t>
                      </a:r>
                    </a:p>
                  </a:txBody>
                  <a:tcPr marL="63500" marR="63500" marT="25400" marB="25400" anchor="ctr">
                    <a:solidFill>
                      <a:srgbClr val="FFFFFF"/>
                    </a:solidFill>
                  </a:tcPr>
                </a:tc>
              </a:tr>
              <a:tr h="365760">
                <a:tc>
                  <a:txBody>
                    <a:bodyPr wrap="square"/>
                    <a:lstStyle/>
                    <a:p>
                      <a:pPr algn="ctr">
                        <a:lnSpc>
                          <a:spcPct val="98000"/>
                        </a:lnSpc>
                      </a:pPr>
                      <a:r>
                        <a:rPr sz="1000" b="1">
                          <a:solidFill>
                            <a:srgbClr val="1F385C"/>
                          </a:solidFill>
                          <a:latin typeface="Meiryo"/>
                        </a:rPr>
                        <a:t>チーム4</a:t>
                      </a:r>
                    </a:p>
                  </a:txBody>
                  <a:tcPr marL="63500" marR="63500" marT="25400" marB="25400" anchor="ctr">
                    <a:solidFill>
                      <a:srgbClr val="F2F4F7"/>
                    </a:solidFill>
                  </a:tcPr>
                </a:tc>
                <a:tc>
                  <a:txBody>
                    <a:bodyPr wrap="square"/>
                    <a:lstStyle/>
                    <a:p>
                      <a:pPr algn="ctr">
                        <a:lnSpc>
                          <a:spcPct val="98000"/>
                        </a:lnSpc>
                      </a:pPr>
                      <a:r>
                        <a:rPr sz="1000" b="1">
                          <a:solidFill>
                            <a:srgbClr val="3F8F5B"/>
                          </a:solidFill>
                          <a:latin typeface="Meiryo"/>
                        </a:rPr>
                        <a:t>1案</a:t>
                      </a:r>
                    </a:p>
                  </a:txBody>
                  <a:tcPr marL="63500" marR="63500" marT="25400" marB="25400" anchor="ctr">
                    <a:solidFill>
                      <a:srgbClr val="E4F1E9"/>
                    </a:solidFill>
                  </a:tcPr>
                </a:tc>
                <a:tc>
                  <a:txBody>
                    <a:bodyPr wrap="square"/>
                    <a:lstStyle/>
                    <a:p>
                      <a:pPr algn="l">
                        <a:lnSpc>
                          <a:spcPct val="98000"/>
                        </a:lnSpc>
                      </a:pPr>
                      <a:r>
                        <a:rPr sz="900" b="0">
                          <a:solidFill>
                            <a:srgbClr val="252A31"/>
                          </a:solidFill>
                          <a:latin typeface="Meiryo"/>
                        </a:rPr>
                        <a:t/>
                      </a:r>
                    </a:p>
                  </a:txBody>
                  <a:tcPr marL="63500" marR="63500" marT="25400" marB="25400" anchor="ctr">
                    <a:solidFill>
                      <a:srgbClr val="F2F4F7"/>
                    </a:solidFill>
                  </a:tcPr>
                </a:tc>
                <a:tc>
                  <a:txBody>
                    <a:bodyPr wrap="square"/>
                    <a:lstStyle/>
                    <a:p>
                      <a:pPr algn="l">
                        <a:lnSpc>
                          <a:spcPct val="98000"/>
                        </a:lnSpc>
                      </a:pPr>
                      <a:r>
                        <a:rPr sz="860" b="0">
                          <a:solidFill>
                            <a:srgbClr val="9A772E"/>
                          </a:solidFill>
                          <a:latin typeface="Meiryo"/>
                        </a:rPr>
                        <a:t>（Salesforce活用案：要確認）</a:t>
                      </a:r>
                    </a:p>
                  </a:txBody>
                  <a:tcPr marL="63500" marR="63500" marT="25400" marB="25400" anchor="ctr">
                    <a:solidFill>
                      <a:srgbClr val="F2F4F7"/>
                    </a:solidFill>
                  </a:tcPr>
                </a:tc>
                <a:tc>
                  <a:txBody>
                    <a:bodyPr wrap="square"/>
                    <a:lstStyle/>
                    <a:p>
                      <a:pPr algn="l">
                        <a:lnSpc>
                          <a:spcPct val="98000"/>
                        </a:lnSpc>
                      </a:pPr>
                      <a:r>
                        <a:rPr sz="860" b="0">
                          <a:solidFill>
                            <a:srgbClr val="252A31"/>
                          </a:solidFill>
                          <a:latin typeface="Meiryo"/>
                        </a:rPr>
                        <a:t>Salesforceを読めるか。読めないと取組の意味が薄れる懸念。</a:t>
                      </a:r>
                    </a:p>
                  </a:txBody>
                  <a:tcPr marL="63500" marR="63500" marT="25400" marB="25400" anchor="ctr">
                    <a:solidFill>
                      <a:srgbClr val="F2F4F7"/>
                    </a:solidFill>
                  </a:tcPr>
                </a:tc>
                <a:tc>
                  <a:txBody>
                    <a:bodyPr wrap="square"/>
                    <a:lstStyle/>
                    <a:p>
                      <a:pPr algn="l">
                        <a:lnSpc>
                          <a:spcPct val="98000"/>
                        </a:lnSpc>
                      </a:pPr>
                      <a:r>
                        <a:rPr sz="860" b="0">
                          <a:solidFill>
                            <a:srgbClr val="252A31"/>
                          </a:solidFill>
                          <a:latin typeface="Meiryo"/>
                        </a:rPr>
                        <a:t>可否は事務局が早急に方針提示。機密情報の扱いを含め要協議として課題化。</a:t>
                      </a:r>
                    </a:p>
                  </a:txBody>
                  <a:tcPr marL="63500" marR="63500" marT="25400" marB="25400" anchor="ctr">
                    <a:solidFill>
                      <a:srgbClr val="F2F4F7"/>
                    </a:solidFill>
                  </a:tcPr>
                </a:tc>
              </a:tr>
              <a:tr h="365760">
                <a:tc>
                  <a:txBody>
                    <a:bodyPr wrap="square"/>
                    <a:lstStyle/>
                    <a:p>
                      <a:pPr algn="ctr">
                        <a:lnSpc>
                          <a:spcPct val="98000"/>
                        </a:lnSpc>
                      </a:pPr>
                      <a:r>
                        <a:rPr sz="1000" b="1">
                          <a:solidFill>
                            <a:srgbClr val="1F385C"/>
                          </a:solidFill>
                          <a:latin typeface="Meiryo"/>
                        </a:rPr>
                        <a:t>チーム5</a:t>
                      </a:r>
                    </a:p>
                  </a:txBody>
                  <a:tcPr marL="63500" marR="63500" marT="25400" marB="25400" anchor="ctr">
                    <a:solidFill>
                      <a:srgbClr val="FFFFFF"/>
                    </a:solidFill>
                  </a:tcPr>
                </a:tc>
                <a:tc>
                  <a:txBody>
                    <a:bodyPr wrap="square"/>
                    <a:lstStyle/>
                    <a:p>
                      <a:pPr algn="ctr">
                        <a:lnSpc>
                          <a:spcPct val="98000"/>
                        </a:lnSpc>
                      </a:pPr>
                      <a:r>
                        <a:rPr sz="1000" b="1">
                          <a:solidFill>
                            <a:srgbClr val="3F8F5B"/>
                          </a:solidFill>
                          <a:latin typeface="Meiryo"/>
                        </a:rPr>
                        <a:t>1案</a:t>
                      </a:r>
                    </a:p>
                  </a:txBody>
                  <a:tcPr marL="63500" marR="63500" marT="25400" marB="25400" anchor="ctr">
                    <a:solidFill>
                      <a:srgbClr val="E4F1E9"/>
                    </a:solidFill>
                  </a:tcPr>
                </a:tc>
                <a:tc>
                  <a:txBody>
                    <a:bodyPr wrap="square"/>
                    <a:lstStyle/>
                    <a:p>
                      <a:pPr algn="l">
                        <a:lnSpc>
                          <a:spcPct val="98000"/>
                        </a:lnSpc>
                      </a:pPr>
                      <a:r>
                        <a:rPr sz="900" b="0">
                          <a:solidFill>
                            <a:srgbClr val="252A31"/>
                          </a:solidFill>
                          <a:latin typeface="Meiryo"/>
                        </a:rPr>
                        <a:t/>
                      </a:r>
                    </a:p>
                  </a:txBody>
                  <a:tcPr marL="63500" marR="63500" marT="25400" marB="25400" anchor="ctr">
                    <a:solidFill>
                      <a:srgbClr val="FFFFFF"/>
                    </a:solidFill>
                  </a:tcPr>
                </a:tc>
                <a:tc>
                  <a:txBody>
                    <a:bodyPr wrap="square"/>
                    <a:lstStyle/>
                    <a:p>
                      <a:pPr algn="l">
                        <a:lnSpc>
                          <a:spcPct val="98000"/>
                        </a:lnSpc>
                      </a:pPr>
                      <a:r>
                        <a:rPr sz="860" b="1">
                          <a:solidFill>
                            <a:srgbClr val="252A31"/>
                          </a:solidFill>
                          <a:latin typeface="Meiryo"/>
                        </a:rPr>
                        <a:t>依頼メール処理・ファイル読込エージェント</a:t>
                      </a:r>
                    </a:p>
                  </a:txBody>
                  <a:tcPr marL="63500" marR="63500" marT="25400" marB="25400" anchor="ctr">
                    <a:solidFill>
                      <a:srgbClr val="FFFFFF"/>
                    </a:solidFill>
                  </a:tcPr>
                </a:tc>
                <a:tc>
                  <a:txBody>
                    <a:bodyPr wrap="square"/>
                    <a:lstStyle/>
                    <a:p>
                      <a:pPr algn="l">
                        <a:lnSpc>
                          <a:spcPct val="98000"/>
                        </a:lnSpc>
                      </a:pPr>
                      <a:r>
                        <a:rPr sz="860" b="0">
                          <a:solidFill>
                            <a:srgbClr val="252A31"/>
                          </a:solidFill>
                          <a:latin typeface="Meiryo"/>
                        </a:rPr>
                        <a:t>共有フォルダのパスからCopilotは情報取得できるか。</a:t>
                      </a:r>
                    </a:p>
                  </a:txBody>
                  <a:tcPr marL="63500" marR="63500" marT="25400" marB="25400" anchor="ctr">
                    <a:solidFill>
                      <a:srgbClr val="FFFFFF"/>
                    </a:solidFill>
                  </a:tcPr>
                </a:tc>
                <a:tc>
                  <a:txBody>
                    <a:bodyPr wrap="square"/>
                    <a:lstStyle/>
                    <a:p>
                      <a:pPr algn="l">
                        <a:lnSpc>
                          <a:spcPct val="98000"/>
                        </a:lnSpc>
                      </a:pPr>
                      <a:r>
                        <a:rPr sz="860" b="0">
                          <a:solidFill>
                            <a:srgbClr val="252A31"/>
                          </a:solidFill>
                          <a:latin typeface="Meiryo"/>
                        </a:rPr>
                        <a:t>M365内（SharePoint）が前提。共有フォルダは不可で、SharePoint格納の運用整備が必要。</a:t>
                      </a:r>
                    </a:p>
                  </a:txBody>
                  <a:tcPr marL="63500" marR="63500" marT="25400" marB="25400" anchor="ctr">
                    <a:solidFill>
                      <a:srgbClr val="FFFFFF"/>
                    </a:solidFill>
                  </a:tcPr>
                </a:tc>
              </a:tr>
              <a:tr h="365760">
                <a:tc>
                  <a:txBody>
                    <a:bodyPr wrap="square"/>
                    <a:lstStyle/>
                    <a:p>
                      <a:pPr algn="ctr">
                        <a:lnSpc>
                          <a:spcPct val="98000"/>
                        </a:lnSpc>
                      </a:pPr>
                      <a:r>
                        <a:rPr sz="1000" b="1">
                          <a:solidFill>
                            <a:srgbClr val="1F385C"/>
                          </a:solidFill>
                          <a:latin typeface="Meiryo"/>
                        </a:rPr>
                        <a:t>チーム6</a:t>
                      </a:r>
                    </a:p>
                  </a:txBody>
                  <a:tcPr marL="63500" marR="63500" marT="25400" marB="25400" anchor="ctr">
                    <a:solidFill>
                      <a:srgbClr val="F2F4F7"/>
                    </a:solidFill>
                  </a:tcPr>
                </a:tc>
                <a:tc>
                  <a:txBody>
                    <a:bodyPr wrap="square"/>
                    <a:lstStyle/>
                    <a:p>
                      <a:pPr algn="ctr">
                        <a:lnSpc>
                          <a:spcPct val="98000"/>
                        </a:lnSpc>
                      </a:pPr>
                      <a:r>
                        <a:rPr sz="1000" b="1">
                          <a:solidFill>
                            <a:srgbClr val="3F8F5B"/>
                          </a:solidFill>
                          <a:latin typeface="Meiryo"/>
                        </a:rPr>
                        <a:t>1案</a:t>
                      </a:r>
                    </a:p>
                  </a:txBody>
                  <a:tcPr marL="63500" marR="63500" marT="25400" marB="25400" anchor="ctr">
                    <a:solidFill>
                      <a:srgbClr val="E4F1E9"/>
                    </a:solidFill>
                  </a:tcPr>
                </a:tc>
                <a:tc>
                  <a:txBody>
                    <a:bodyPr wrap="square"/>
                    <a:lstStyle/>
                    <a:p>
                      <a:pPr algn="l">
                        <a:lnSpc>
                          <a:spcPct val="98000"/>
                        </a:lnSpc>
                      </a:pPr>
                      <a:r>
                        <a:rPr sz="900" b="0">
                          <a:solidFill>
                            <a:srgbClr val="252A31"/>
                          </a:solidFill>
                          <a:latin typeface="Meiryo"/>
                        </a:rPr>
                        <a:t/>
                      </a:r>
                    </a:p>
                  </a:txBody>
                  <a:tcPr marL="63500" marR="63500" marT="25400" marB="25400" anchor="ctr">
                    <a:solidFill>
                      <a:srgbClr val="F2F4F7"/>
                    </a:solidFill>
                  </a:tcPr>
                </a:tc>
                <a:tc>
                  <a:txBody>
                    <a:bodyPr wrap="square"/>
                    <a:lstStyle/>
                    <a:p>
                      <a:pPr algn="l">
                        <a:lnSpc>
                          <a:spcPct val="98000"/>
                        </a:lnSpc>
                      </a:pPr>
                      <a:r>
                        <a:rPr sz="860" b="0">
                          <a:solidFill>
                            <a:srgbClr val="9A772E"/>
                          </a:solidFill>
                          <a:latin typeface="Meiryo"/>
                        </a:rPr>
                        <a:t>（内容を要確認）</a:t>
                      </a:r>
                    </a:p>
                  </a:txBody>
                  <a:tcPr marL="63500" marR="63500" marT="25400" marB="25400" anchor="ctr">
                    <a:solidFill>
                      <a:srgbClr val="F2F4F7"/>
                    </a:solidFill>
                  </a:tcPr>
                </a:tc>
                <a:tc>
                  <a:txBody>
                    <a:bodyPr wrap="square"/>
                    <a:lstStyle/>
                    <a:p>
                      <a:pPr algn="l">
                        <a:lnSpc>
                          <a:spcPct val="98000"/>
                        </a:lnSpc>
                      </a:pPr>
                      <a:r>
                        <a:rPr sz="860" b="0">
                          <a:solidFill>
                            <a:srgbClr val="252A31"/>
                          </a:solidFill>
                          <a:latin typeface="Meiryo"/>
                        </a:rPr>
                        <a:t>案内メールとツール表記（Automate／Copilot Studio）が異なる。</a:t>
                      </a:r>
                    </a:p>
                  </a:txBody>
                  <a:tcPr marL="63500" marR="63500" marT="25400" marB="25400" anchor="ctr">
                    <a:solidFill>
                      <a:srgbClr val="F2F4F7"/>
                    </a:solidFill>
                  </a:tcPr>
                </a:tc>
                <a:tc>
                  <a:txBody>
                    <a:bodyPr wrap="square"/>
                    <a:lstStyle/>
                    <a:p>
                      <a:pPr algn="l">
                        <a:lnSpc>
                          <a:spcPct val="98000"/>
                        </a:lnSpc>
                      </a:pPr>
                      <a:r>
                        <a:rPr sz="860" b="0">
                          <a:solidFill>
                            <a:srgbClr val="252A31"/>
                          </a:solidFill>
                          <a:latin typeface="Meiryo"/>
                        </a:rPr>
                        <a:t>新しい情報が正。Automateは自動化ツールで別途研修。困り事は随時相談を推奨。</a:t>
                      </a:r>
                    </a:p>
                  </a:txBody>
                  <a:tcPr marL="63500" marR="63500" marT="25400" marB="25400" anchor="ctr">
                    <a:solidFill>
                      <a:srgbClr val="F2F4F7"/>
                    </a:solidFill>
                  </a:tcPr>
                </a:tc>
              </a:tr>
              <a:tr h="365760">
                <a:tc>
                  <a:txBody>
                    <a:bodyPr wrap="square"/>
                    <a:lstStyle/>
                    <a:p>
                      <a:pPr algn="ctr">
                        <a:lnSpc>
                          <a:spcPct val="98000"/>
                        </a:lnSpc>
                      </a:pPr>
                      <a:r>
                        <a:rPr sz="1000" b="1">
                          <a:solidFill>
                            <a:srgbClr val="1F385C"/>
                          </a:solidFill>
                          <a:latin typeface="Meiryo"/>
                        </a:rPr>
                        <a:t>チーム7</a:t>
                      </a:r>
                    </a:p>
                  </a:txBody>
                  <a:tcPr marL="63500" marR="63500" marT="25400" marB="25400" anchor="ctr">
                    <a:solidFill>
                      <a:srgbClr val="FFFFFF"/>
                    </a:solidFill>
                  </a:tcPr>
                </a:tc>
                <a:tc>
                  <a:txBody>
                    <a:bodyPr wrap="square"/>
                    <a:lstStyle/>
                    <a:p>
                      <a:pPr algn="ctr">
                        <a:lnSpc>
                          <a:spcPct val="98000"/>
                        </a:lnSpc>
                      </a:pPr>
                      <a:r>
                        <a:rPr sz="1000" b="1">
                          <a:solidFill>
                            <a:srgbClr val="3F8F5B"/>
                          </a:solidFill>
                          <a:latin typeface="Meiryo"/>
                        </a:rPr>
                        <a:t>1案</a:t>
                      </a:r>
                    </a:p>
                  </a:txBody>
                  <a:tcPr marL="63500" marR="63500" marT="25400" marB="25400" anchor="ctr">
                    <a:solidFill>
                      <a:srgbClr val="E4F1E9"/>
                    </a:solidFill>
                  </a:tcPr>
                </a:tc>
                <a:tc>
                  <a:txBody>
                    <a:bodyPr wrap="square"/>
                    <a:lstStyle/>
                    <a:p>
                      <a:pPr algn="l">
                        <a:lnSpc>
                          <a:spcPct val="98000"/>
                        </a:lnSpc>
                      </a:pPr>
                      <a:r>
                        <a:rPr sz="900" b="0">
                          <a:solidFill>
                            <a:srgbClr val="252A31"/>
                          </a:solidFill>
                          <a:latin typeface="Meiryo"/>
                        </a:rPr>
                        <a:t/>
                      </a:r>
                    </a:p>
                  </a:txBody>
                  <a:tcPr marL="63500" marR="63500" marT="25400" marB="25400" anchor="ctr">
                    <a:solidFill>
                      <a:srgbClr val="FFFFFF"/>
                    </a:solidFill>
                  </a:tcPr>
                </a:tc>
                <a:tc>
                  <a:txBody>
                    <a:bodyPr wrap="square"/>
                    <a:lstStyle/>
                    <a:p>
                      <a:pPr algn="l">
                        <a:lnSpc>
                          <a:spcPct val="98000"/>
                        </a:lnSpc>
                      </a:pPr>
                      <a:r>
                        <a:rPr sz="860" b="1">
                          <a:solidFill>
                            <a:srgbClr val="252A31"/>
                          </a:solidFill>
                          <a:latin typeface="Meiryo"/>
                        </a:rPr>
                        <a:t>入力ファイル自動チェック・修正エージェント</a:t>
                      </a:r>
                    </a:p>
                  </a:txBody>
                  <a:tcPr marL="63500" marR="63500" marT="25400" marB="25400" anchor="ctr">
                    <a:solidFill>
                      <a:srgbClr val="FFFFFF"/>
                    </a:solidFill>
                  </a:tcPr>
                </a:tc>
                <a:tc>
                  <a:txBody>
                    <a:bodyPr wrap="square"/>
                    <a:lstStyle/>
                    <a:p>
                      <a:pPr algn="l">
                        <a:lnSpc>
                          <a:spcPct val="98000"/>
                        </a:lnSpc>
                      </a:pPr>
                      <a:r>
                        <a:rPr sz="860" b="0">
                          <a:solidFill>
                            <a:srgbClr val="252A31"/>
                          </a:solidFill>
                          <a:latin typeface="Meiryo"/>
                        </a:rPr>
                        <a:t>判断基準（ナレッジ）を毎月更新する認識で問題ないか。</a:t>
                      </a:r>
                    </a:p>
                  </a:txBody>
                  <a:tcPr marL="63500" marR="63500" marT="25400" marB="25400" anchor="ctr">
                    <a:solidFill>
                      <a:srgbClr val="FFFFFF"/>
                    </a:solidFill>
                  </a:tcPr>
                </a:tc>
                <a:tc>
                  <a:txBody>
                    <a:bodyPr wrap="square"/>
                    <a:lstStyle/>
                    <a:p>
                      <a:pPr algn="l">
                        <a:lnSpc>
                          <a:spcPct val="98000"/>
                        </a:lnSpc>
                      </a:pPr>
                      <a:r>
                        <a:rPr sz="860" b="0">
                          <a:solidFill>
                            <a:srgbClr val="252A31"/>
                          </a:solidFill>
                          <a:latin typeface="Meiryo"/>
                        </a:rPr>
                        <a:t>判断基準は固定。入力3ファイルを都度読込→基準照合→修正出力の構成で実現可能。</a:t>
                      </a:r>
                    </a:p>
                  </a:txBody>
                  <a:tcPr marL="63500" marR="63500" marT="25400" marB="25400" anchor="ctr">
                    <a:solidFill>
                      <a:srgbClr val="FFFFFF"/>
                    </a:solidFill>
                  </a:tcPr>
                </a:tc>
              </a:tr>
              <a:tr h="365760">
                <a:tc>
                  <a:txBody>
                    <a:bodyPr wrap="square"/>
                    <a:lstStyle/>
                    <a:p>
                      <a:pPr algn="ctr">
                        <a:lnSpc>
                          <a:spcPct val="98000"/>
                        </a:lnSpc>
                      </a:pPr>
                      <a:r>
                        <a:rPr sz="1000" b="1">
                          <a:solidFill>
                            <a:srgbClr val="1F385C"/>
                          </a:solidFill>
                          <a:latin typeface="Meiryo"/>
                        </a:rPr>
                        <a:t>チーム8</a:t>
                      </a:r>
                    </a:p>
                  </a:txBody>
                  <a:tcPr marL="63500" marR="63500" marT="25400" marB="25400" anchor="ctr">
                    <a:solidFill>
                      <a:srgbClr val="F2F4F7"/>
                    </a:solidFill>
                  </a:tcPr>
                </a:tc>
                <a:tc>
                  <a:txBody>
                    <a:bodyPr wrap="square"/>
                    <a:lstStyle/>
                    <a:p>
                      <a:pPr algn="ctr">
                        <a:lnSpc>
                          <a:spcPct val="98000"/>
                        </a:lnSpc>
                      </a:pPr>
                      <a:r>
                        <a:rPr sz="1000" b="1">
                          <a:solidFill>
                            <a:srgbClr val="2E8B9E"/>
                          </a:solidFill>
                          <a:latin typeface="Meiryo"/>
                        </a:rPr>
                        <a:t>2案</a:t>
                      </a:r>
                    </a:p>
                  </a:txBody>
                  <a:tcPr marL="63500" marR="63500" marT="25400" marB="25400" anchor="ctr">
                    <a:solidFill>
                      <a:srgbClr val="E1F0F2"/>
                    </a:solidFill>
                  </a:tcPr>
                </a:tc>
                <a:tc>
                  <a:txBody>
                    <a:bodyPr wrap="square"/>
                    <a:lstStyle/>
                    <a:p>
                      <a:pPr algn="l">
                        <a:lnSpc>
                          <a:spcPct val="98000"/>
                        </a:lnSpc>
                      </a:pPr>
                      <a:r>
                        <a:rPr sz="900" b="0">
                          <a:solidFill>
                            <a:srgbClr val="252A31"/>
                          </a:solidFill>
                          <a:latin typeface="Meiryo"/>
                        </a:rPr>
                        <a:t/>
                      </a:r>
                    </a:p>
                  </a:txBody>
                  <a:tcPr marL="63500" marR="63500" marT="25400" marB="25400" anchor="ctr">
                    <a:solidFill>
                      <a:srgbClr val="F2F4F7"/>
                    </a:solidFill>
                  </a:tcPr>
                </a:tc>
                <a:tc>
                  <a:txBody>
                    <a:bodyPr wrap="square"/>
                    <a:lstStyle/>
                    <a:p>
                      <a:pPr algn="l">
                        <a:lnSpc>
                          <a:spcPct val="98000"/>
                        </a:lnSpc>
                      </a:pPr>
                      <a:r>
                        <a:rPr sz="860" b="0">
                          <a:solidFill>
                            <a:srgbClr val="9A772E"/>
                          </a:solidFill>
                          <a:latin typeface="Meiryo"/>
                        </a:rPr>
                        <a:t>（2案：内容を要確認）</a:t>
                      </a:r>
                    </a:p>
                  </a:txBody>
                  <a:tcPr marL="63500" marR="63500" marT="25400" marB="25400" anchor="ctr">
                    <a:solidFill>
                      <a:srgbClr val="F2F4F7"/>
                    </a:solidFill>
                  </a:tcPr>
                </a:tc>
                <a:tc>
                  <a:txBody>
                    <a:bodyPr wrap="square"/>
                    <a:lstStyle/>
                    <a:p>
                      <a:pPr algn="l">
                        <a:lnSpc>
                          <a:spcPct val="98000"/>
                        </a:lnSpc>
                      </a:pPr>
                      <a:r>
                        <a:rPr sz="860" b="0">
                          <a:solidFill>
                            <a:srgbClr val="252A31"/>
                          </a:solidFill>
                          <a:latin typeface="Meiryo"/>
                        </a:rPr>
                        <a:t>提出する1案以外に、作りたい案も別途作ってよいか。</a:t>
                      </a:r>
                    </a:p>
                  </a:txBody>
                  <a:tcPr marL="63500" marR="63500" marT="25400" marB="25400" anchor="ctr">
                    <a:solidFill>
                      <a:srgbClr val="F2F4F7"/>
                    </a:solidFill>
                  </a:tcPr>
                </a:tc>
                <a:tc>
                  <a:txBody>
                    <a:bodyPr wrap="square"/>
                    <a:lstStyle/>
                    <a:p>
                      <a:pPr algn="l">
                        <a:lnSpc>
                          <a:spcPct val="98000"/>
                        </a:lnSpc>
                      </a:pPr>
                      <a:r>
                        <a:rPr sz="860" b="0">
                          <a:solidFill>
                            <a:srgbClr val="252A31"/>
                          </a:solidFill>
                          <a:latin typeface="Meiryo"/>
                        </a:rPr>
                        <a:t>発表は1案に限るが、2案目を裏で並行して進めるのは全く問題なし。</a:t>
                      </a:r>
                    </a:p>
                  </a:txBody>
                  <a:tcPr marL="63500" marR="63500" marT="25400" marB="25400" anchor="ctr">
                    <a:solidFill>
                      <a:srgbClr val="F2F4F7"/>
                    </a:solidFill>
                  </a:tcPr>
                </a:tc>
              </a:tr>
              <a:tr h="365760">
                <a:tc>
                  <a:txBody>
                    <a:bodyPr wrap="square"/>
                    <a:lstStyle/>
                    <a:p>
                      <a:pPr algn="ctr">
                        <a:lnSpc>
                          <a:spcPct val="98000"/>
                        </a:lnSpc>
                      </a:pPr>
                      <a:r>
                        <a:rPr sz="1000" b="1">
                          <a:solidFill>
                            <a:srgbClr val="1F385C"/>
                          </a:solidFill>
                          <a:latin typeface="Meiryo"/>
                        </a:rPr>
                        <a:t>チーム9</a:t>
                      </a:r>
                    </a:p>
                  </a:txBody>
                  <a:tcPr marL="63500" marR="63500" marT="25400" marB="25400" anchor="ctr">
                    <a:solidFill>
                      <a:srgbClr val="FFFFFF"/>
                    </a:solidFill>
                  </a:tcPr>
                </a:tc>
                <a:tc>
                  <a:txBody>
                    <a:bodyPr wrap="square"/>
                    <a:lstStyle/>
                    <a:p>
                      <a:pPr algn="ctr">
                        <a:lnSpc>
                          <a:spcPct val="98000"/>
                        </a:lnSpc>
                      </a:pPr>
                      <a:r>
                        <a:rPr sz="1000" b="1">
                          <a:solidFill>
                            <a:srgbClr val="C98A1B"/>
                          </a:solidFill>
                          <a:latin typeface="Meiryo"/>
                        </a:rPr>
                        <a:t>未</a:t>
                      </a:r>
                    </a:p>
                  </a:txBody>
                  <a:tcPr marL="63500" marR="63500" marT="25400" marB="25400" anchor="ctr">
                    <a:solidFill>
                      <a:srgbClr val="FBF0DA"/>
                    </a:solidFill>
                  </a:tcPr>
                </a:tc>
                <a:tc>
                  <a:txBody>
                    <a:bodyPr wrap="square"/>
                    <a:lstStyle/>
                    <a:p>
                      <a:pPr algn="l">
                        <a:lnSpc>
                          <a:spcPct val="98000"/>
                        </a:lnSpc>
                      </a:pPr>
                      <a:r>
                        <a:rPr sz="900" b="0">
                          <a:solidFill>
                            <a:srgbClr val="252A31"/>
                          </a:solidFill>
                          <a:latin typeface="Meiryo"/>
                        </a:rPr>
                        <a:t/>
                      </a:r>
                    </a:p>
                  </a:txBody>
                  <a:tcPr marL="63500" marR="63500" marT="25400" marB="25400" anchor="ctr">
                    <a:solidFill>
                      <a:srgbClr val="FFFFFF"/>
                    </a:solidFill>
                  </a:tcPr>
                </a:tc>
                <a:tc>
                  <a:txBody>
                    <a:bodyPr wrap="square"/>
                    <a:lstStyle/>
                    <a:p>
                      <a:pPr algn="l">
                        <a:lnSpc>
                          <a:spcPct val="98000"/>
                        </a:lnSpc>
                      </a:pPr>
                      <a:r>
                        <a:rPr sz="860" b="1">
                          <a:solidFill>
                            <a:srgbClr val="252A31"/>
                          </a:solidFill>
                          <a:latin typeface="Meiryo"/>
                        </a:rPr>
                        <a:t/>
                      </a:r>
                    </a:p>
                  </a:txBody>
                  <a:tcPr marL="63500" marR="63500" marT="25400" marB="25400" anchor="ctr">
                    <a:solidFill>
                      <a:srgbClr val="FFFFFF"/>
                    </a:solidFill>
                  </a:tcPr>
                </a:tc>
                <a:tc>
                  <a:txBody>
                    <a:bodyPr wrap="square"/>
                    <a:lstStyle/>
                    <a:p>
                      <a:pPr algn="l">
                        <a:lnSpc>
                          <a:spcPct val="98000"/>
                        </a:lnSpc>
                      </a:pPr>
                      <a:r>
                        <a:rPr sz="860" b="0">
                          <a:solidFill>
                            <a:srgbClr val="252A31"/>
                          </a:solidFill>
                          <a:latin typeface="Meiryo"/>
                        </a:rPr>
                        <a:t>レビュー対象物が社外秘／Salesforceから情報取得は可能か。</a:t>
                      </a:r>
                    </a:p>
                  </a:txBody>
                  <a:tcPr marL="63500" marR="63500" marT="25400" marB="25400" anchor="ctr">
                    <a:solidFill>
                      <a:srgbClr val="FFFFFF"/>
                    </a:solidFill>
                  </a:tcPr>
                </a:tc>
                <a:tc>
                  <a:txBody>
                    <a:bodyPr wrap="square"/>
                    <a:lstStyle/>
                    <a:p>
                      <a:pPr algn="l">
                        <a:lnSpc>
                          <a:spcPct val="98000"/>
                        </a:lnSpc>
                      </a:pPr>
                      <a:r>
                        <a:rPr sz="860" b="0">
                          <a:solidFill>
                            <a:srgbClr val="252A31"/>
                          </a:solidFill>
                          <a:latin typeface="Meiryo"/>
                        </a:rPr>
                        <a:t>社外秘の扱いとSalesforce連携可否は事務局判断次第。管理系はCopilot Studioで作りやすい。</a:t>
                      </a:r>
                    </a:p>
                  </a:txBody>
                  <a:tcPr marL="63500" marR="63500" marT="25400" marB="25400" anchor="ctr">
                    <a:solidFill>
                      <a:srgbClr val="FFFFFF"/>
                    </a:solidFill>
                  </a:tcPr>
                </a:tc>
              </a:tr>
              <a:tr h="365760">
                <a:tc>
                  <a:txBody>
                    <a:bodyPr wrap="square"/>
                    <a:lstStyle/>
                    <a:p>
                      <a:pPr algn="ctr">
                        <a:lnSpc>
                          <a:spcPct val="98000"/>
                        </a:lnSpc>
                      </a:pPr>
                      <a:r>
                        <a:rPr sz="1000" b="1">
                          <a:solidFill>
                            <a:srgbClr val="1F385C"/>
                          </a:solidFill>
                          <a:latin typeface="Meiryo"/>
                        </a:rPr>
                        <a:t>チーム10</a:t>
                      </a:r>
                    </a:p>
                  </a:txBody>
                  <a:tcPr marL="63500" marR="63500" marT="25400" marB="25400" anchor="ctr">
                    <a:solidFill>
                      <a:srgbClr val="F2F4F7"/>
                    </a:solidFill>
                  </a:tcPr>
                </a:tc>
                <a:tc>
                  <a:txBody>
                    <a:bodyPr wrap="square"/>
                    <a:lstStyle/>
                    <a:p>
                      <a:pPr algn="ctr">
                        <a:lnSpc>
                          <a:spcPct val="98000"/>
                        </a:lnSpc>
                      </a:pPr>
                      <a:r>
                        <a:rPr sz="1000" b="1">
                          <a:solidFill>
                            <a:srgbClr val="3F8F5B"/>
                          </a:solidFill>
                          <a:latin typeface="Meiryo"/>
                        </a:rPr>
                        <a:t>1案</a:t>
                      </a:r>
                    </a:p>
                  </a:txBody>
                  <a:tcPr marL="63500" marR="63500" marT="25400" marB="25400" anchor="ctr">
                    <a:solidFill>
                      <a:srgbClr val="E4F1E9"/>
                    </a:solidFill>
                  </a:tcPr>
                </a:tc>
                <a:tc>
                  <a:txBody>
                    <a:bodyPr wrap="square"/>
                    <a:lstStyle/>
                    <a:p>
                      <a:pPr algn="l">
                        <a:lnSpc>
                          <a:spcPct val="98000"/>
                        </a:lnSpc>
                      </a:pPr>
                      <a:r>
                        <a:rPr sz="900" b="0">
                          <a:solidFill>
                            <a:srgbClr val="252A31"/>
                          </a:solidFill>
                          <a:latin typeface="Meiryo"/>
                        </a:rPr>
                        <a:t/>
                      </a:r>
                    </a:p>
                  </a:txBody>
                  <a:tcPr marL="63500" marR="63500" marT="25400" marB="25400" anchor="ctr">
                    <a:solidFill>
                      <a:srgbClr val="F2F4F7"/>
                    </a:solidFill>
                  </a:tcPr>
                </a:tc>
                <a:tc>
                  <a:txBody>
                    <a:bodyPr wrap="square"/>
                    <a:lstStyle/>
                    <a:p>
                      <a:pPr algn="l">
                        <a:lnSpc>
                          <a:spcPct val="98000"/>
                        </a:lnSpc>
                      </a:pPr>
                      <a:r>
                        <a:rPr sz="860" b="1">
                          <a:solidFill>
                            <a:srgbClr val="252A31"/>
                          </a:solidFill>
                          <a:latin typeface="Meiryo"/>
                        </a:rPr>
                        <a:t>対面クライテリア議事録ドラフト生成エージェント</a:t>
                      </a:r>
                    </a:p>
                  </a:txBody>
                  <a:tcPr marL="63500" marR="63500" marT="25400" marB="25400" anchor="ctr">
                    <a:solidFill>
                      <a:srgbClr val="F2F4F7"/>
                    </a:solidFill>
                  </a:tcPr>
                </a:tc>
                <a:tc>
                  <a:txBody>
                    <a:bodyPr wrap="square"/>
                    <a:lstStyle/>
                    <a:p>
                      <a:pPr algn="l">
                        <a:lnSpc>
                          <a:spcPct val="98000"/>
                        </a:lnSpc>
                      </a:pPr>
                      <a:r>
                        <a:rPr sz="860" b="0">
                          <a:solidFill>
                            <a:srgbClr val="252A31"/>
                          </a:solidFill>
                          <a:latin typeface="Meiryo"/>
                        </a:rPr>
                        <a:t>削減時間は7/17提出時点で「できる範囲」で良いか。</a:t>
                      </a:r>
                    </a:p>
                  </a:txBody>
                  <a:tcPr marL="63500" marR="63500" marT="25400" marB="25400" anchor="ctr">
                    <a:solidFill>
                      <a:srgbClr val="F2F4F7"/>
                    </a:solidFill>
                  </a:tcPr>
                </a:tc>
                <a:tc>
                  <a:txBody>
                    <a:bodyPr wrap="square"/>
                    <a:lstStyle/>
                    <a:p>
                      <a:pPr algn="l">
                        <a:lnSpc>
                          <a:spcPct val="98000"/>
                        </a:lnSpc>
                      </a:pPr>
                      <a:r>
                        <a:rPr sz="860" b="0">
                          <a:solidFill>
                            <a:srgbClr val="252A31"/>
                          </a:solidFill>
                          <a:latin typeface="Meiryo"/>
                        </a:rPr>
                        <a:t>提出時は可の範囲でOK。ただし10月の役職者報告に向け具体的な削減数字を提示したい。</a:t>
                      </a:r>
                    </a:p>
                  </a:txBody>
                  <a:tcPr marL="63500" marR="63500" marT="25400" marB="25400" anchor="ctr">
                    <a:solidFill>
                      <a:srgbClr val="F2F4F7"/>
                    </a:solidFill>
                  </a:tcPr>
                </a:tc>
              </a:tr>
              <a:tr h="365760">
                <a:tc>
                  <a:txBody>
                    <a:bodyPr wrap="square"/>
                    <a:lstStyle/>
                    <a:p>
                      <a:pPr algn="ctr">
                        <a:lnSpc>
                          <a:spcPct val="98000"/>
                        </a:lnSpc>
                      </a:pPr>
                      <a:r>
                        <a:rPr sz="1000" b="1">
                          <a:solidFill>
                            <a:srgbClr val="1F385C"/>
                          </a:solidFill>
                          <a:latin typeface="Meiryo"/>
                        </a:rPr>
                        <a:t>チーム11</a:t>
                      </a:r>
                    </a:p>
                  </a:txBody>
                  <a:tcPr marL="63500" marR="63500" marT="25400" marB="25400" anchor="ctr">
                    <a:solidFill>
                      <a:srgbClr val="FFFFFF"/>
                    </a:solidFill>
                  </a:tcPr>
                </a:tc>
                <a:tc>
                  <a:txBody>
                    <a:bodyPr wrap="square"/>
                    <a:lstStyle/>
                    <a:p>
                      <a:pPr algn="ctr">
                        <a:lnSpc>
                          <a:spcPct val="98000"/>
                        </a:lnSpc>
                      </a:pPr>
                      <a:r>
                        <a:rPr sz="1000" b="1">
                          <a:solidFill>
                            <a:srgbClr val="2E8B9E"/>
                          </a:solidFill>
                          <a:latin typeface="Meiryo"/>
                        </a:rPr>
                        <a:t>2案</a:t>
                      </a:r>
                    </a:p>
                  </a:txBody>
                  <a:tcPr marL="63500" marR="63500" marT="25400" marB="25400" anchor="ctr">
                    <a:solidFill>
                      <a:srgbClr val="E1F0F2"/>
                    </a:solidFill>
                  </a:tcPr>
                </a:tc>
                <a:tc>
                  <a:txBody>
                    <a:bodyPr wrap="square"/>
                    <a:lstStyle/>
                    <a:p>
                      <a:pPr algn="l">
                        <a:lnSpc>
                          <a:spcPct val="98000"/>
                        </a:lnSpc>
                      </a:pPr>
                      <a:r>
                        <a:rPr sz="900" b="0">
                          <a:solidFill>
                            <a:srgbClr val="252A31"/>
                          </a:solidFill>
                          <a:latin typeface="Meiryo"/>
                        </a:rPr>
                        <a:t/>
                      </a:r>
                    </a:p>
                  </a:txBody>
                  <a:tcPr marL="63500" marR="63500" marT="25400" marB="25400" anchor="ctr">
                    <a:solidFill>
                      <a:srgbClr val="FFFFFF"/>
                    </a:solidFill>
                  </a:tcPr>
                </a:tc>
                <a:tc>
                  <a:txBody>
                    <a:bodyPr wrap="square"/>
                    <a:lstStyle/>
                    <a:p>
                      <a:pPr algn="l">
                        <a:lnSpc>
                          <a:spcPct val="98000"/>
                        </a:lnSpc>
                      </a:pPr>
                      <a:r>
                        <a:rPr sz="860" b="1">
                          <a:solidFill>
                            <a:srgbClr val="252A31"/>
                          </a:solidFill>
                          <a:latin typeface="Meiryo"/>
                        </a:rPr>
                        <a:t>稟議書チェックエージェント／社内LAN問い合わせチャットボット</a:t>
                      </a:r>
                    </a:p>
                  </a:txBody>
                  <a:tcPr marL="63500" marR="63500" marT="25400" marB="25400" anchor="ctr">
                    <a:solidFill>
                      <a:srgbClr val="FFFFFF"/>
                    </a:solidFill>
                  </a:tcPr>
                </a:tc>
                <a:tc>
                  <a:txBody>
                    <a:bodyPr wrap="square"/>
                    <a:lstStyle/>
                    <a:p>
                      <a:pPr algn="l">
                        <a:lnSpc>
                          <a:spcPct val="98000"/>
                        </a:lnSpc>
                      </a:pPr>
                      <a:r>
                        <a:rPr sz="860" b="0">
                          <a:solidFill>
                            <a:srgbClr val="252A31"/>
                          </a:solidFill>
                          <a:latin typeface="Meiryo"/>
                        </a:rPr>
                        <a:t>稟議書チェックでM365外／SharePoint外は自動チェック不可では。</a:t>
                      </a:r>
                    </a:p>
                  </a:txBody>
                  <a:tcPr marL="63500" marR="63500" marT="25400" marB="25400" anchor="ctr">
                    <a:solidFill>
                      <a:srgbClr val="FFFFFF"/>
                    </a:solidFill>
                  </a:tcPr>
                </a:tc>
                <a:tc>
                  <a:txBody>
                    <a:bodyPr wrap="square"/>
                    <a:lstStyle/>
                    <a:p>
                      <a:pPr algn="l">
                        <a:lnSpc>
                          <a:spcPct val="98000"/>
                        </a:lnSpc>
                      </a:pPr>
                      <a:r>
                        <a:rPr sz="860" b="0">
                          <a:solidFill>
                            <a:srgbClr val="252A31"/>
                          </a:solidFill>
                          <a:latin typeface="Meiryo"/>
                        </a:rPr>
                        <a:t>人／Automate／AIを行ごとに振り分け、フェーズ分けする設計が必要。適否はCopilotで確認可。</a:t>
                      </a:r>
                    </a:p>
                  </a:txBody>
                  <a:tcPr marL="63500" marR="63500" marT="25400" marB="25400" anchor="ctr">
                    <a:solidFill>
                      <a:srgbClr val="FFFFFF"/>
                    </a:solidFill>
                  </a:tcPr>
                </a:tc>
              </a:tr>
            </a:tbl>
          </a:graphicData>
        </a:graphic>
      </p:graphicFrame>
      <p:sp>
        <p:nvSpPr>
          <p:cNvPr id="15" name="Chevron 14"/>
          <p:cNvSpPr/>
          <p:nvPr/>
        </p:nvSpPr>
        <p:spPr>
          <a:xfrm>
            <a:off x="1874520" y="2414016"/>
            <a:ext cx="219456" cy="146304"/>
          </a:xfrm>
          <a:prstGeom prst="chevron">
            <a:avLst/>
          </a:prstGeom>
          <a:solidFill>
            <a:srgbClr val="C98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hevron 15"/>
          <p:cNvSpPr/>
          <p:nvPr/>
        </p:nvSpPr>
        <p:spPr>
          <a:xfrm>
            <a:off x="2066544" y="2414016"/>
            <a:ext cx="219456" cy="146304"/>
          </a:xfrm>
          <a:prstGeom prst="chevron">
            <a:avLst/>
          </a:prstGeom>
          <a:solidFill>
            <a:srgbClr val="C98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hevron 16"/>
          <p:cNvSpPr/>
          <p:nvPr/>
        </p:nvSpPr>
        <p:spPr>
          <a:xfrm>
            <a:off x="2258568" y="2414016"/>
            <a:ext cx="219456" cy="146304"/>
          </a:xfrm>
          <a:prstGeom prst="chevron">
            <a:avLst/>
          </a:prstGeom>
          <a:solidFill>
            <a:srgbClr val="DDE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hevron 17"/>
          <p:cNvSpPr/>
          <p:nvPr/>
        </p:nvSpPr>
        <p:spPr>
          <a:xfrm>
            <a:off x="2450592" y="2414016"/>
            <a:ext cx="219456" cy="146304"/>
          </a:xfrm>
          <a:prstGeom prst="chevron">
            <a:avLst/>
          </a:prstGeom>
          <a:solidFill>
            <a:srgbClr val="DDE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Chevron 18"/>
          <p:cNvSpPr/>
          <p:nvPr/>
        </p:nvSpPr>
        <p:spPr>
          <a:xfrm>
            <a:off x="2642616" y="2414016"/>
            <a:ext cx="219456" cy="146304"/>
          </a:xfrm>
          <a:prstGeom prst="chevron">
            <a:avLst/>
          </a:prstGeom>
          <a:solidFill>
            <a:srgbClr val="DDE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862072" y="2386584"/>
            <a:ext cx="457200" cy="219456"/>
          </a:xfrm>
          <a:prstGeom prst="rect">
            <a:avLst/>
          </a:prstGeom>
          <a:noFill/>
        </p:spPr>
        <p:txBody>
          <a:bodyPr wrap="square" anchor="ctr" lIns="25400" rIns="25400" tIns="12700" bIns="12700">
            <a:spAutoFit/>
          </a:bodyPr>
          <a:lstStyle/>
          <a:p>
            <a:pPr algn="l">
              <a:lnSpc>
                <a:spcPct val="100000"/>
              </a:lnSpc>
            </a:pPr>
            <a:r>
              <a:rPr sz="850" b="1" i="0">
                <a:solidFill>
                  <a:srgbClr val="C98A1B"/>
                </a:solidFill>
                <a:latin typeface="Meiryo"/>
              </a:rPr>
              <a:t>Lv2</a:t>
            </a:r>
          </a:p>
        </p:txBody>
      </p:sp>
      <p:sp>
        <p:nvSpPr>
          <p:cNvPr id="21" name="Chevron 20"/>
          <p:cNvSpPr/>
          <p:nvPr/>
        </p:nvSpPr>
        <p:spPr>
          <a:xfrm>
            <a:off x="1874520" y="2779776"/>
            <a:ext cx="219456" cy="146304"/>
          </a:xfrm>
          <a:prstGeom prst="chevron">
            <a:avLst/>
          </a:prstGeom>
          <a:solidFill>
            <a:srgbClr val="2E8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hevron 21"/>
          <p:cNvSpPr/>
          <p:nvPr/>
        </p:nvSpPr>
        <p:spPr>
          <a:xfrm>
            <a:off x="2066544" y="2779776"/>
            <a:ext cx="219456" cy="146304"/>
          </a:xfrm>
          <a:prstGeom prst="chevron">
            <a:avLst/>
          </a:prstGeom>
          <a:solidFill>
            <a:srgbClr val="2E8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hevron 22"/>
          <p:cNvSpPr/>
          <p:nvPr/>
        </p:nvSpPr>
        <p:spPr>
          <a:xfrm>
            <a:off x="2258568" y="2779776"/>
            <a:ext cx="219456" cy="146304"/>
          </a:xfrm>
          <a:prstGeom prst="chevron">
            <a:avLst/>
          </a:prstGeom>
          <a:solidFill>
            <a:srgbClr val="2E8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hevron 23"/>
          <p:cNvSpPr/>
          <p:nvPr/>
        </p:nvSpPr>
        <p:spPr>
          <a:xfrm>
            <a:off x="2450592" y="2779776"/>
            <a:ext cx="219456" cy="146304"/>
          </a:xfrm>
          <a:prstGeom prst="chevron">
            <a:avLst/>
          </a:prstGeom>
          <a:solidFill>
            <a:srgbClr val="DDE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hevron 24"/>
          <p:cNvSpPr/>
          <p:nvPr/>
        </p:nvSpPr>
        <p:spPr>
          <a:xfrm>
            <a:off x="2642616" y="2779776"/>
            <a:ext cx="219456" cy="146304"/>
          </a:xfrm>
          <a:prstGeom prst="chevron">
            <a:avLst/>
          </a:prstGeom>
          <a:solidFill>
            <a:srgbClr val="DDE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62072" y="2752344"/>
            <a:ext cx="457200" cy="219456"/>
          </a:xfrm>
          <a:prstGeom prst="rect">
            <a:avLst/>
          </a:prstGeom>
          <a:noFill/>
        </p:spPr>
        <p:txBody>
          <a:bodyPr wrap="square" anchor="ctr" lIns="25400" rIns="25400" tIns="12700" bIns="12700">
            <a:spAutoFit/>
          </a:bodyPr>
          <a:lstStyle/>
          <a:p>
            <a:pPr algn="l">
              <a:lnSpc>
                <a:spcPct val="100000"/>
              </a:lnSpc>
            </a:pPr>
            <a:r>
              <a:rPr sz="850" b="1" i="0">
                <a:solidFill>
                  <a:srgbClr val="2E8B9E"/>
                </a:solidFill>
                <a:latin typeface="Meiryo"/>
              </a:rPr>
              <a:t>Lv3</a:t>
            </a:r>
          </a:p>
        </p:txBody>
      </p:sp>
      <p:sp>
        <p:nvSpPr>
          <p:cNvPr id="27" name="Chevron 26"/>
          <p:cNvSpPr/>
          <p:nvPr/>
        </p:nvSpPr>
        <p:spPr>
          <a:xfrm>
            <a:off x="1874520" y="3145536"/>
            <a:ext cx="219456" cy="146304"/>
          </a:xfrm>
          <a:prstGeom prst="chevron">
            <a:avLst/>
          </a:prstGeom>
          <a:solidFill>
            <a:srgbClr val="2E8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Chevron 27"/>
          <p:cNvSpPr/>
          <p:nvPr/>
        </p:nvSpPr>
        <p:spPr>
          <a:xfrm>
            <a:off x="2066544" y="3145536"/>
            <a:ext cx="219456" cy="146304"/>
          </a:xfrm>
          <a:prstGeom prst="chevron">
            <a:avLst/>
          </a:prstGeom>
          <a:solidFill>
            <a:srgbClr val="2E8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hevron 28"/>
          <p:cNvSpPr/>
          <p:nvPr/>
        </p:nvSpPr>
        <p:spPr>
          <a:xfrm>
            <a:off x="2258568" y="3145536"/>
            <a:ext cx="219456" cy="146304"/>
          </a:xfrm>
          <a:prstGeom prst="chevron">
            <a:avLst/>
          </a:prstGeom>
          <a:solidFill>
            <a:srgbClr val="2E8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hevron 29"/>
          <p:cNvSpPr/>
          <p:nvPr/>
        </p:nvSpPr>
        <p:spPr>
          <a:xfrm>
            <a:off x="2450592" y="3145536"/>
            <a:ext cx="219456" cy="146304"/>
          </a:xfrm>
          <a:prstGeom prst="chevron">
            <a:avLst/>
          </a:prstGeom>
          <a:solidFill>
            <a:srgbClr val="DDE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hevron 30"/>
          <p:cNvSpPr/>
          <p:nvPr/>
        </p:nvSpPr>
        <p:spPr>
          <a:xfrm>
            <a:off x="2642616" y="3145536"/>
            <a:ext cx="219456" cy="146304"/>
          </a:xfrm>
          <a:prstGeom prst="chevron">
            <a:avLst/>
          </a:prstGeom>
          <a:solidFill>
            <a:srgbClr val="DDE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862072" y="3118104"/>
            <a:ext cx="457200" cy="219456"/>
          </a:xfrm>
          <a:prstGeom prst="rect">
            <a:avLst/>
          </a:prstGeom>
          <a:noFill/>
        </p:spPr>
        <p:txBody>
          <a:bodyPr wrap="square" anchor="ctr" lIns="25400" rIns="25400" tIns="12700" bIns="12700">
            <a:spAutoFit/>
          </a:bodyPr>
          <a:lstStyle/>
          <a:p>
            <a:pPr algn="l">
              <a:lnSpc>
                <a:spcPct val="100000"/>
              </a:lnSpc>
            </a:pPr>
            <a:r>
              <a:rPr sz="850" b="1" i="0">
                <a:solidFill>
                  <a:srgbClr val="2E8B9E"/>
                </a:solidFill>
                <a:latin typeface="Meiryo"/>
              </a:rPr>
              <a:t>Lv3</a:t>
            </a:r>
          </a:p>
        </p:txBody>
      </p:sp>
      <p:sp>
        <p:nvSpPr>
          <p:cNvPr id="33" name="Chevron 32"/>
          <p:cNvSpPr/>
          <p:nvPr/>
        </p:nvSpPr>
        <p:spPr>
          <a:xfrm>
            <a:off x="1874520" y="3511296"/>
            <a:ext cx="219456" cy="146304"/>
          </a:xfrm>
          <a:prstGeom prst="chevron">
            <a:avLst/>
          </a:prstGeom>
          <a:solidFill>
            <a:srgbClr val="2E8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hevron 33"/>
          <p:cNvSpPr/>
          <p:nvPr/>
        </p:nvSpPr>
        <p:spPr>
          <a:xfrm>
            <a:off x="2066544" y="3511296"/>
            <a:ext cx="219456" cy="146304"/>
          </a:xfrm>
          <a:prstGeom prst="chevron">
            <a:avLst/>
          </a:prstGeom>
          <a:solidFill>
            <a:srgbClr val="2E8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hevron 34"/>
          <p:cNvSpPr/>
          <p:nvPr/>
        </p:nvSpPr>
        <p:spPr>
          <a:xfrm>
            <a:off x="2258568" y="3511296"/>
            <a:ext cx="219456" cy="146304"/>
          </a:xfrm>
          <a:prstGeom prst="chevron">
            <a:avLst/>
          </a:prstGeom>
          <a:solidFill>
            <a:srgbClr val="2E8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hevron 35"/>
          <p:cNvSpPr/>
          <p:nvPr/>
        </p:nvSpPr>
        <p:spPr>
          <a:xfrm>
            <a:off x="2450592" y="3511296"/>
            <a:ext cx="219456" cy="146304"/>
          </a:xfrm>
          <a:prstGeom prst="chevron">
            <a:avLst/>
          </a:prstGeom>
          <a:solidFill>
            <a:srgbClr val="DDE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hevron 36"/>
          <p:cNvSpPr/>
          <p:nvPr/>
        </p:nvSpPr>
        <p:spPr>
          <a:xfrm>
            <a:off x="2642616" y="3511296"/>
            <a:ext cx="219456" cy="146304"/>
          </a:xfrm>
          <a:prstGeom prst="chevron">
            <a:avLst/>
          </a:prstGeom>
          <a:solidFill>
            <a:srgbClr val="DDE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862072" y="3483864"/>
            <a:ext cx="457200" cy="219456"/>
          </a:xfrm>
          <a:prstGeom prst="rect">
            <a:avLst/>
          </a:prstGeom>
          <a:noFill/>
        </p:spPr>
        <p:txBody>
          <a:bodyPr wrap="square" anchor="ctr" lIns="25400" rIns="25400" tIns="12700" bIns="12700">
            <a:spAutoFit/>
          </a:bodyPr>
          <a:lstStyle/>
          <a:p>
            <a:pPr algn="l">
              <a:lnSpc>
                <a:spcPct val="100000"/>
              </a:lnSpc>
            </a:pPr>
            <a:r>
              <a:rPr sz="850" b="1" i="0">
                <a:solidFill>
                  <a:srgbClr val="2E8B9E"/>
                </a:solidFill>
                <a:latin typeface="Meiryo"/>
              </a:rPr>
              <a:t>Lv3</a:t>
            </a:r>
          </a:p>
        </p:txBody>
      </p:sp>
      <p:sp>
        <p:nvSpPr>
          <p:cNvPr id="39" name="Chevron 38"/>
          <p:cNvSpPr/>
          <p:nvPr/>
        </p:nvSpPr>
        <p:spPr>
          <a:xfrm>
            <a:off x="1874520" y="3877056"/>
            <a:ext cx="219456" cy="146304"/>
          </a:xfrm>
          <a:prstGeom prst="chevron">
            <a:avLst/>
          </a:prstGeom>
          <a:solidFill>
            <a:srgbClr val="2E8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hevron 39"/>
          <p:cNvSpPr/>
          <p:nvPr/>
        </p:nvSpPr>
        <p:spPr>
          <a:xfrm>
            <a:off x="2066544" y="3877056"/>
            <a:ext cx="219456" cy="146304"/>
          </a:xfrm>
          <a:prstGeom prst="chevron">
            <a:avLst/>
          </a:prstGeom>
          <a:solidFill>
            <a:srgbClr val="2E8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hevron 40"/>
          <p:cNvSpPr/>
          <p:nvPr/>
        </p:nvSpPr>
        <p:spPr>
          <a:xfrm>
            <a:off x="2258568" y="3877056"/>
            <a:ext cx="219456" cy="146304"/>
          </a:xfrm>
          <a:prstGeom prst="chevron">
            <a:avLst/>
          </a:prstGeom>
          <a:solidFill>
            <a:srgbClr val="2E8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hevron 41"/>
          <p:cNvSpPr/>
          <p:nvPr/>
        </p:nvSpPr>
        <p:spPr>
          <a:xfrm>
            <a:off x="2450592" y="3877056"/>
            <a:ext cx="219456" cy="146304"/>
          </a:xfrm>
          <a:prstGeom prst="chevron">
            <a:avLst/>
          </a:prstGeom>
          <a:solidFill>
            <a:srgbClr val="DDE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hevron 42"/>
          <p:cNvSpPr/>
          <p:nvPr/>
        </p:nvSpPr>
        <p:spPr>
          <a:xfrm>
            <a:off x="2642616" y="3877056"/>
            <a:ext cx="219456" cy="146304"/>
          </a:xfrm>
          <a:prstGeom prst="chevron">
            <a:avLst/>
          </a:prstGeom>
          <a:solidFill>
            <a:srgbClr val="DDE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862072" y="3849624"/>
            <a:ext cx="457200" cy="219456"/>
          </a:xfrm>
          <a:prstGeom prst="rect">
            <a:avLst/>
          </a:prstGeom>
          <a:noFill/>
        </p:spPr>
        <p:txBody>
          <a:bodyPr wrap="square" anchor="ctr" lIns="25400" rIns="25400" tIns="12700" bIns="12700">
            <a:spAutoFit/>
          </a:bodyPr>
          <a:lstStyle/>
          <a:p>
            <a:pPr algn="l">
              <a:lnSpc>
                <a:spcPct val="100000"/>
              </a:lnSpc>
            </a:pPr>
            <a:r>
              <a:rPr sz="850" b="1" i="0">
                <a:solidFill>
                  <a:srgbClr val="2E8B9E"/>
                </a:solidFill>
                <a:latin typeface="Meiryo"/>
              </a:rPr>
              <a:t>Lv3</a:t>
            </a:r>
          </a:p>
        </p:txBody>
      </p:sp>
      <p:sp>
        <p:nvSpPr>
          <p:cNvPr id="45" name="Chevron 44"/>
          <p:cNvSpPr/>
          <p:nvPr/>
        </p:nvSpPr>
        <p:spPr>
          <a:xfrm>
            <a:off x="1874520" y="4242816"/>
            <a:ext cx="219456" cy="146304"/>
          </a:xfrm>
          <a:prstGeom prst="chevron">
            <a:avLst/>
          </a:prstGeom>
          <a:solidFill>
            <a:srgbClr val="2E8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hevron 45"/>
          <p:cNvSpPr/>
          <p:nvPr/>
        </p:nvSpPr>
        <p:spPr>
          <a:xfrm>
            <a:off x="2066544" y="4242816"/>
            <a:ext cx="219456" cy="146304"/>
          </a:xfrm>
          <a:prstGeom prst="chevron">
            <a:avLst/>
          </a:prstGeom>
          <a:solidFill>
            <a:srgbClr val="2E8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hevron 46"/>
          <p:cNvSpPr/>
          <p:nvPr/>
        </p:nvSpPr>
        <p:spPr>
          <a:xfrm>
            <a:off x="2258568" y="4242816"/>
            <a:ext cx="219456" cy="146304"/>
          </a:xfrm>
          <a:prstGeom prst="chevron">
            <a:avLst/>
          </a:prstGeom>
          <a:solidFill>
            <a:srgbClr val="2E8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hevron 47"/>
          <p:cNvSpPr/>
          <p:nvPr/>
        </p:nvSpPr>
        <p:spPr>
          <a:xfrm>
            <a:off x="2450592" y="4242816"/>
            <a:ext cx="219456" cy="146304"/>
          </a:xfrm>
          <a:prstGeom prst="chevron">
            <a:avLst/>
          </a:prstGeom>
          <a:solidFill>
            <a:srgbClr val="DDE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hevron 48"/>
          <p:cNvSpPr/>
          <p:nvPr/>
        </p:nvSpPr>
        <p:spPr>
          <a:xfrm>
            <a:off x="2642616" y="4242816"/>
            <a:ext cx="219456" cy="146304"/>
          </a:xfrm>
          <a:prstGeom prst="chevron">
            <a:avLst/>
          </a:prstGeom>
          <a:solidFill>
            <a:srgbClr val="DDE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862072" y="4215384"/>
            <a:ext cx="457200" cy="219456"/>
          </a:xfrm>
          <a:prstGeom prst="rect">
            <a:avLst/>
          </a:prstGeom>
          <a:noFill/>
        </p:spPr>
        <p:txBody>
          <a:bodyPr wrap="square" anchor="ctr" lIns="25400" rIns="25400" tIns="12700" bIns="12700">
            <a:spAutoFit/>
          </a:bodyPr>
          <a:lstStyle/>
          <a:p>
            <a:pPr algn="l">
              <a:lnSpc>
                <a:spcPct val="100000"/>
              </a:lnSpc>
            </a:pPr>
            <a:r>
              <a:rPr sz="850" b="1" i="0">
                <a:solidFill>
                  <a:srgbClr val="2E8B9E"/>
                </a:solidFill>
                <a:latin typeface="Meiryo"/>
              </a:rPr>
              <a:t>Lv3</a:t>
            </a:r>
          </a:p>
        </p:txBody>
      </p:sp>
      <p:sp>
        <p:nvSpPr>
          <p:cNvPr id="51" name="Chevron 50"/>
          <p:cNvSpPr/>
          <p:nvPr/>
        </p:nvSpPr>
        <p:spPr>
          <a:xfrm>
            <a:off x="1874520" y="4608576"/>
            <a:ext cx="219456" cy="146304"/>
          </a:xfrm>
          <a:prstGeom prst="chevron">
            <a:avLst/>
          </a:prstGeom>
          <a:solidFill>
            <a:srgbClr val="3F8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hevron 51"/>
          <p:cNvSpPr/>
          <p:nvPr/>
        </p:nvSpPr>
        <p:spPr>
          <a:xfrm>
            <a:off x="2066544" y="4608576"/>
            <a:ext cx="219456" cy="146304"/>
          </a:xfrm>
          <a:prstGeom prst="chevron">
            <a:avLst/>
          </a:prstGeom>
          <a:solidFill>
            <a:srgbClr val="3F8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hevron 52"/>
          <p:cNvSpPr/>
          <p:nvPr/>
        </p:nvSpPr>
        <p:spPr>
          <a:xfrm>
            <a:off x="2258568" y="4608576"/>
            <a:ext cx="219456" cy="146304"/>
          </a:xfrm>
          <a:prstGeom prst="chevron">
            <a:avLst/>
          </a:prstGeom>
          <a:solidFill>
            <a:srgbClr val="3F8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hevron 53"/>
          <p:cNvSpPr/>
          <p:nvPr/>
        </p:nvSpPr>
        <p:spPr>
          <a:xfrm>
            <a:off x="2450592" y="4608576"/>
            <a:ext cx="219456" cy="146304"/>
          </a:xfrm>
          <a:prstGeom prst="chevron">
            <a:avLst/>
          </a:prstGeom>
          <a:solidFill>
            <a:srgbClr val="3F8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hevron 54"/>
          <p:cNvSpPr/>
          <p:nvPr/>
        </p:nvSpPr>
        <p:spPr>
          <a:xfrm>
            <a:off x="2642616" y="4608576"/>
            <a:ext cx="219456" cy="146304"/>
          </a:xfrm>
          <a:prstGeom prst="chevron">
            <a:avLst/>
          </a:prstGeom>
          <a:solidFill>
            <a:srgbClr val="3F8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862072" y="4581144"/>
            <a:ext cx="457200" cy="219456"/>
          </a:xfrm>
          <a:prstGeom prst="rect">
            <a:avLst/>
          </a:prstGeom>
          <a:noFill/>
        </p:spPr>
        <p:txBody>
          <a:bodyPr wrap="square" anchor="ctr" lIns="25400" rIns="25400" tIns="12700" bIns="12700">
            <a:spAutoFit/>
          </a:bodyPr>
          <a:lstStyle/>
          <a:p>
            <a:pPr algn="l">
              <a:lnSpc>
                <a:spcPct val="100000"/>
              </a:lnSpc>
            </a:pPr>
            <a:r>
              <a:rPr sz="850" b="1" i="0">
                <a:solidFill>
                  <a:srgbClr val="3F8F5B"/>
                </a:solidFill>
                <a:latin typeface="Meiryo"/>
              </a:rPr>
              <a:t>Lv5</a:t>
            </a:r>
          </a:p>
        </p:txBody>
      </p:sp>
      <p:sp>
        <p:nvSpPr>
          <p:cNvPr id="57" name="Chevron 56"/>
          <p:cNvSpPr/>
          <p:nvPr/>
        </p:nvSpPr>
        <p:spPr>
          <a:xfrm>
            <a:off x="1874520" y="4974336"/>
            <a:ext cx="219456" cy="146304"/>
          </a:xfrm>
          <a:prstGeom prst="chevron">
            <a:avLst/>
          </a:prstGeom>
          <a:solidFill>
            <a:srgbClr val="C98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Chevron 57"/>
          <p:cNvSpPr/>
          <p:nvPr/>
        </p:nvSpPr>
        <p:spPr>
          <a:xfrm>
            <a:off x="2066544" y="4974336"/>
            <a:ext cx="219456" cy="146304"/>
          </a:xfrm>
          <a:prstGeom prst="chevron">
            <a:avLst/>
          </a:prstGeom>
          <a:solidFill>
            <a:srgbClr val="C98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Chevron 58"/>
          <p:cNvSpPr/>
          <p:nvPr/>
        </p:nvSpPr>
        <p:spPr>
          <a:xfrm>
            <a:off x="2258568" y="4974336"/>
            <a:ext cx="219456" cy="146304"/>
          </a:xfrm>
          <a:prstGeom prst="chevron">
            <a:avLst/>
          </a:prstGeom>
          <a:solidFill>
            <a:srgbClr val="DDE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Chevron 59"/>
          <p:cNvSpPr/>
          <p:nvPr/>
        </p:nvSpPr>
        <p:spPr>
          <a:xfrm>
            <a:off x="2450592" y="4974336"/>
            <a:ext cx="219456" cy="146304"/>
          </a:xfrm>
          <a:prstGeom prst="chevron">
            <a:avLst/>
          </a:prstGeom>
          <a:solidFill>
            <a:srgbClr val="DDE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Chevron 60"/>
          <p:cNvSpPr/>
          <p:nvPr/>
        </p:nvSpPr>
        <p:spPr>
          <a:xfrm>
            <a:off x="2642616" y="4974336"/>
            <a:ext cx="219456" cy="146304"/>
          </a:xfrm>
          <a:prstGeom prst="chevron">
            <a:avLst/>
          </a:prstGeom>
          <a:solidFill>
            <a:srgbClr val="DDE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862072" y="4946904"/>
            <a:ext cx="457200" cy="219456"/>
          </a:xfrm>
          <a:prstGeom prst="rect">
            <a:avLst/>
          </a:prstGeom>
          <a:noFill/>
        </p:spPr>
        <p:txBody>
          <a:bodyPr wrap="square" anchor="ctr" lIns="25400" rIns="25400" tIns="12700" bIns="12700">
            <a:spAutoFit/>
          </a:bodyPr>
          <a:lstStyle/>
          <a:p>
            <a:pPr algn="l">
              <a:lnSpc>
                <a:spcPct val="100000"/>
              </a:lnSpc>
            </a:pPr>
            <a:r>
              <a:rPr sz="850" b="1" i="0">
                <a:solidFill>
                  <a:srgbClr val="C98A1B"/>
                </a:solidFill>
                <a:latin typeface="Meiryo"/>
              </a:rPr>
              <a:t>Lv2</a:t>
            </a:r>
          </a:p>
        </p:txBody>
      </p:sp>
      <p:sp>
        <p:nvSpPr>
          <p:cNvPr id="63" name="Chevron 62"/>
          <p:cNvSpPr/>
          <p:nvPr/>
        </p:nvSpPr>
        <p:spPr>
          <a:xfrm>
            <a:off x="1874520" y="5340096"/>
            <a:ext cx="219456" cy="146304"/>
          </a:xfrm>
          <a:prstGeom prst="chevron">
            <a:avLst/>
          </a:prstGeom>
          <a:solidFill>
            <a:srgbClr val="C98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Chevron 63"/>
          <p:cNvSpPr/>
          <p:nvPr/>
        </p:nvSpPr>
        <p:spPr>
          <a:xfrm>
            <a:off x="2066544" y="5340096"/>
            <a:ext cx="219456" cy="146304"/>
          </a:xfrm>
          <a:prstGeom prst="chevron">
            <a:avLst/>
          </a:prstGeom>
          <a:solidFill>
            <a:srgbClr val="DDE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Chevron 64"/>
          <p:cNvSpPr/>
          <p:nvPr/>
        </p:nvSpPr>
        <p:spPr>
          <a:xfrm>
            <a:off x="2258568" y="5340096"/>
            <a:ext cx="219456" cy="146304"/>
          </a:xfrm>
          <a:prstGeom prst="chevron">
            <a:avLst/>
          </a:prstGeom>
          <a:solidFill>
            <a:srgbClr val="DDE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Chevron 65"/>
          <p:cNvSpPr/>
          <p:nvPr/>
        </p:nvSpPr>
        <p:spPr>
          <a:xfrm>
            <a:off x="2450592" y="5340096"/>
            <a:ext cx="219456" cy="146304"/>
          </a:xfrm>
          <a:prstGeom prst="chevron">
            <a:avLst/>
          </a:prstGeom>
          <a:solidFill>
            <a:srgbClr val="DDE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Chevron 66"/>
          <p:cNvSpPr/>
          <p:nvPr/>
        </p:nvSpPr>
        <p:spPr>
          <a:xfrm>
            <a:off x="2642616" y="5340096"/>
            <a:ext cx="219456" cy="146304"/>
          </a:xfrm>
          <a:prstGeom prst="chevron">
            <a:avLst/>
          </a:prstGeom>
          <a:solidFill>
            <a:srgbClr val="DDE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862072" y="5312664"/>
            <a:ext cx="457200" cy="219456"/>
          </a:xfrm>
          <a:prstGeom prst="rect">
            <a:avLst/>
          </a:prstGeom>
          <a:noFill/>
        </p:spPr>
        <p:txBody>
          <a:bodyPr wrap="square" anchor="ctr" lIns="25400" rIns="25400" tIns="12700" bIns="12700">
            <a:spAutoFit/>
          </a:bodyPr>
          <a:lstStyle/>
          <a:p>
            <a:pPr algn="l">
              <a:lnSpc>
                <a:spcPct val="100000"/>
              </a:lnSpc>
            </a:pPr>
            <a:r>
              <a:rPr sz="850" b="1" i="0">
                <a:solidFill>
                  <a:srgbClr val="C98A1B"/>
                </a:solidFill>
                <a:latin typeface="Meiryo"/>
              </a:rPr>
              <a:t>Lv1</a:t>
            </a:r>
          </a:p>
        </p:txBody>
      </p:sp>
      <p:sp>
        <p:nvSpPr>
          <p:cNvPr id="69" name="Chevron 68"/>
          <p:cNvSpPr/>
          <p:nvPr/>
        </p:nvSpPr>
        <p:spPr>
          <a:xfrm>
            <a:off x="1874520" y="5705856"/>
            <a:ext cx="219456" cy="146304"/>
          </a:xfrm>
          <a:prstGeom prst="chevron">
            <a:avLst/>
          </a:prstGeom>
          <a:solidFill>
            <a:srgbClr val="2E8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Chevron 69"/>
          <p:cNvSpPr/>
          <p:nvPr/>
        </p:nvSpPr>
        <p:spPr>
          <a:xfrm>
            <a:off x="2066544" y="5705856"/>
            <a:ext cx="219456" cy="146304"/>
          </a:xfrm>
          <a:prstGeom prst="chevron">
            <a:avLst/>
          </a:prstGeom>
          <a:solidFill>
            <a:srgbClr val="2E8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Chevron 70"/>
          <p:cNvSpPr/>
          <p:nvPr/>
        </p:nvSpPr>
        <p:spPr>
          <a:xfrm>
            <a:off x="2258568" y="5705856"/>
            <a:ext cx="219456" cy="146304"/>
          </a:xfrm>
          <a:prstGeom prst="chevron">
            <a:avLst/>
          </a:prstGeom>
          <a:solidFill>
            <a:srgbClr val="2E8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Chevron 71"/>
          <p:cNvSpPr/>
          <p:nvPr/>
        </p:nvSpPr>
        <p:spPr>
          <a:xfrm>
            <a:off x="2450592" y="5705856"/>
            <a:ext cx="219456" cy="146304"/>
          </a:xfrm>
          <a:prstGeom prst="chevron">
            <a:avLst/>
          </a:prstGeom>
          <a:solidFill>
            <a:srgbClr val="2E8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Chevron 72"/>
          <p:cNvSpPr/>
          <p:nvPr/>
        </p:nvSpPr>
        <p:spPr>
          <a:xfrm>
            <a:off x="2642616" y="5705856"/>
            <a:ext cx="219456" cy="146304"/>
          </a:xfrm>
          <a:prstGeom prst="chevron">
            <a:avLst/>
          </a:prstGeom>
          <a:solidFill>
            <a:srgbClr val="DDE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2862072" y="5678424"/>
            <a:ext cx="457200" cy="219456"/>
          </a:xfrm>
          <a:prstGeom prst="rect">
            <a:avLst/>
          </a:prstGeom>
          <a:noFill/>
        </p:spPr>
        <p:txBody>
          <a:bodyPr wrap="square" anchor="ctr" lIns="25400" rIns="25400" tIns="12700" bIns="12700">
            <a:spAutoFit/>
          </a:bodyPr>
          <a:lstStyle/>
          <a:p>
            <a:pPr algn="l">
              <a:lnSpc>
                <a:spcPct val="100000"/>
              </a:lnSpc>
            </a:pPr>
            <a:r>
              <a:rPr sz="850" b="1" i="0">
                <a:solidFill>
                  <a:srgbClr val="2E8B9E"/>
                </a:solidFill>
                <a:latin typeface="Meiryo"/>
              </a:rPr>
              <a:t>Lv4</a:t>
            </a:r>
          </a:p>
        </p:txBody>
      </p:sp>
      <p:sp>
        <p:nvSpPr>
          <p:cNvPr id="75" name="Chevron 74"/>
          <p:cNvSpPr/>
          <p:nvPr/>
        </p:nvSpPr>
        <p:spPr>
          <a:xfrm>
            <a:off x="1874520" y="6071616"/>
            <a:ext cx="219456" cy="146304"/>
          </a:xfrm>
          <a:prstGeom prst="chevron">
            <a:avLst/>
          </a:prstGeom>
          <a:solidFill>
            <a:srgbClr val="C98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Chevron 75"/>
          <p:cNvSpPr/>
          <p:nvPr/>
        </p:nvSpPr>
        <p:spPr>
          <a:xfrm>
            <a:off x="2066544" y="6071616"/>
            <a:ext cx="219456" cy="146304"/>
          </a:xfrm>
          <a:prstGeom prst="chevron">
            <a:avLst/>
          </a:prstGeom>
          <a:solidFill>
            <a:srgbClr val="C98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Chevron 76"/>
          <p:cNvSpPr/>
          <p:nvPr/>
        </p:nvSpPr>
        <p:spPr>
          <a:xfrm>
            <a:off x="2258568" y="6071616"/>
            <a:ext cx="219456" cy="146304"/>
          </a:xfrm>
          <a:prstGeom prst="chevron">
            <a:avLst/>
          </a:prstGeom>
          <a:solidFill>
            <a:srgbClr val="DDE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Chevron 77"/>
          <p:cNvSpPr/>
          <p:nvPr/>
        </p:nvSpPr>
        <p:spPr>
          <a:xfrm>
            <a:off x="2450592" y="6071616"/>
            <a:ext cx="219456" cy="146304"/>
          </a:xfrm>
          <a:prstGeom prst="chevron">
            <a:avLst/>
          </a:prstGeom>
          <a:solidFill>
            <a:srgbClr val="DDE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Chevron 78"/>
          <p:cNvSpPr/>
          <p:nvPr/>
        </p:nvSpPr>
        <p:spPr>
          <a:xfrm>
            <a:off x="2642616" y="6071616"/>
            <a:ext cx="219456" cy="146304"/>
          </a:xfrm>
          <a:prstGeom prst="chevron">
            <a:avLst/>
          </a:prstGeom>
          <a:solidFill>
            <a:srgbClr val="DDE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862072" y="6044184"/>
            <a:ext cx="457200" cy="219456"/>
          </a:xfrm>
          <a:prstGeom prst="rect">
            <a:avLst/>
          </a:prstGeom>
          <a:noFill/>
        </p:spPr>
        <p:txBody>
          <a:bodyPr wrap="square" anchor="ctr" lIns="25400" rIns="25400" tIns="12700" bIns="12700">
            <a:spAutoFit/>
          </a:bodyPr>
          <a:lstStyle/>
          <a:p>
            <a:pPr algn="l">
              <a:lnSpc>
                <a:spcPct val="100000"/>
              </a:lnSpc>
            </a:pPr>
            <a:r>
              <a:rPr sz="850" b="1" i="0">
                <a:solidFill>
                  <a:srgbClr val="C98A1B"/>
                </a:solidFill>
                <a:latin typeface="Meiryo"/>
              </a:rPr>
              <a:t>Lv2</a:t>
            </a:r>
          </a:p>
        </p:txBody>
      </p:sp>
      <p:sp>
        <p:nvSpPr>
          <p:cNvPr id="81" name="Rectangle 80"/>
          <p:cNvSpPr/>
          <p:nvPr/>
        </p:nvSpPr>
        <p:spPr>
          <a:xfrm>
            <a:off x="502920" y="6364224"/>
            <a:ext cx="11201400" cy="192024"/>
          </a:xfrm>
          <a:prstGeom prst="rect">
            <a:avLst/>
          </a:prstGeom>
          <a:solidFill>
            <a:srgbClr val="E1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502920" y="6364224"/>
            <a:ext cx="109728" cy="192024"/>
          </a:xfrm>
          <a:prstGeom prst="rect">
            <a:avLst/>
          </a:prstGeom>
          <a:solidFill>
            <a:srgbClr val="2E8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740664" y="6345936"/>
            <a:ext cx="10881360" cy="228600"/>
          </a:xfrm>
          <a:prstGeom prst="rect">
            <a:avLst/>
          </a:prstGeom>
          <a:noFill/>
        </p:spPr>
        <p:txBody>
          <a:bodyPr wrap="square" anchor="ctr" lIns="25400" rIns="25400" tIns="12700" bIns="12700">
            <a:spAutoFit/>
          </a:bodyPr>
          <a:lstStyle/>
          <a:p>
            <a:pPr algn="l">
              <a:lnSpc>
                <a:spcPct val="100000"/>
              </a:lnSpc>
            </a:pPr>
            <a:r>
              <a:rPr sz="950" b="1" i="0">
                <a:solidFill>
                  <a:srgbClr val="1D5A66"/>
                </a:solidFill>
                <a:latin typeface="Meiryo"/>
              </a:rPr>
              <a:t>「2案」のチームは、1案に絞り込んだ上で7/17に事務局へ提出し、最終発表も1案とする。他案は発表対象外だが、並行して進めることは可。</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E8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1051560"/>
          </a:xfrm>
          <a:prstGeom prst="rect">
            <a:avLst/>
          </a:prstGeom>
          <a:solidFill>
            <a:srgbClr val="1F3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51560"/>
            <a:ext cx="12191695" cy="45720"/>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6304"/>
            <a:ext cx="8686800" cy="274320"/>
          </a:xfrm>
          <a:prstGeom prst="rect">
            <a:avLst/>
          </a:prstGeom>
          <a:noFill/>
        </p:spPr>
        <p:txBody>
          <a:bodyPr wrap="square" anchor="t" lIns="25400" rIns="25400" tIns="12700" bIns="12700">
            <a:spAutoFit/>
          </a:bodyPr>
          <a:lstStyle/>
          <a:p>
            <a:pPr algn="l">
              <a:lnSpc>
                <a:spcPct val="100000"/>
              </a:lnSpc>
            </a:pPr>
            <a:r>
              <a:rPr sz="1100" b="1" i="0">
                <a:solidFill>
                  <a:srgbClr val="BFD3E0"/>
                </a:solidFill>
                <a:latin typeface="Meiryo"/>
              </a:rPr>
              <a:t>ISSUE CATEGORIZATION ｜ 横断的な論点</a:t>
            </a:r>
          </a:p>
        </p:txBody>
      </p:sp>
      <p:sp>
        <p:nvSpPr>
          <p:cNvPr id="7" name="TextBox 6"/>
          <p:cNvSpPr txBox="1"/>
          <p:nvPr/>
        </p:nvSpPr>
        <p:spPr>
          <a:xfrm>
            <a:off x="475488" y="402336"/>
            <a:ext cx="10058400" cy="594360"/>
          </a:xfrm>
          <a:prstGeom prst="rect">
            <a:avLst/>
          </a:prstGeom>
          <a:noFill/>
        </p:spPr>
        <p:txBody>
          <a:bodyPr wrap="square" anchor="ctr" lIns="25400" rIns="25400" tIns="12700" bIns="12700">
            <a:spAutoFit/>
          </a:bodyPr>
          <a:lstStyle/>
          <a:p>
            <a:pPr algn="l">
              <a:lnSpc>
                <a:spcPct val="100000"/>
              </a:lnSpc>
            </a:pPr>
            <a:r>
              <a:rPr sz="2500" b="1" i="0">
                <a:solidFill>
                  <a:srgbClr val="FFFFFF"/>
                </a:solidFill>
                <a:latin typeface="Meiryo"/>
              </a:rPr>
              <a:t>質疑で挙がった課題の整理</a:t>
            </a:r>
          </a:p>
        </p:txBody>
      </p:sp>
      <p:sp>
        <p:nvSpPr>
          <p:cNvPr id="8" name="TextBox 7"/>
          <p:cNvSpPr txBox="1"/>
          <p:nvPr/>
        </p:nvSpPr>
        <p:spPr>
          <a:xfrm>
            <a:off x="10881360" y="146304"/>
            <a:ext cx="1051560" cy="320040"/>
          </a:xfrm>
          <a:prstGeom prst="rect">
            <a:avLst/>
          </a:prstGeom>
          <a:noFill/>
        </p:spPr>
        <p:txBody>
          <a:bodyPr wrap="square" anchor="t" lIns="25400" rIns="25400" tIns="12700" bIns="12700">
            <a:spAutoFit/>
          </a:bodyPr>
          <a:lstStyle/>
          <a:p>
            <a:pPr algn="r">
              <a:lnSpc>
                <a:spcPct val="100000"/>
              </a:lnSpc>
            </a:pPr>
            <a:r>
              <a:rPr sz="1200" b="1" i="0">
                <a:solidFill>
                  <a:srgbClr val="BFD3E0"/>
                </a:solidFill>
                <a:latin typeface="Meiryo"/>
              </a:rPr>
              <a:t>3 / 4</a:t>
            </a:r>
          </a:p>
        </p:txBody>
      </p:sp>
      <p:sp>
        <p:nvSpPr>
          <p:cNvPr id="9" name="Rectangle 8"/>
          <p:cNvSpPr/>
          <p:nvPr/>
        </p:nvSpPr>
        <p:spPr>
          <a:xfrm>
            <a:off x="0" y="6565392"/>
            <a:ext cx="12191695" cy="292608"/>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574536"/>
            <a:ext cx="7315200" cy="274320"/>
          </a:xfrm>
          <a:prstGeom prst="rect">
            <a:avLst/>
          </a:prstGeom>
          <a:noFill/>
        </p:spPr>
        <p:txBody>
          <a:bodyPr wrap="square" anchor="ctr" lIns="25400" rIns="25400" tIns="12700" bIns="12700">
            <a:spAutoFit/>
          </a:bodyPr>
          <a:lstStyle/>
          <a:p>
            <a:pPr algn="l">
              <a:lnSpc>
                <a:spcPct val="100000"/>
              </a:lnSpc>
            </a:pPr>
            <a:r>
              <a:rPr sz="850" b="0" i="0">
                <a:solidFill>
                  <a:srgbClr val="8A939E"/>
                </a:solidFill>
                <a:latin typeface="Meiryo"/>
              </a:rPr>
              <a:t>Microsoft 365 Copilot Studio 活用ハッカソン｜事前相談会 報告</a:t>
            </a:r>
          </a:p>
        </p:txBody>
      </p:sp>
      <p:sp>
        <p:nvSpPr>
          <p:cNvPr id="11" name="TextBox 10"/>
          <p:cNvSpPr txBox="1"/>
          <p:nvPr/>
        </p:nvSpPr>
        <p:spPr>
          <a:xfrm>
            <a:off x="9265615" y="6574536"/>
            <a:ext cx="2423160" cy="274320"/>
          </a:xfrm>
          <a:prstGeom prst="rect">
            <a:avLst/>
          </a:prstGeom>
          <a:noFill/>
        </p:spPr>
        <p:txBody>
          <a:bodyPr wrap="square" anchor="ctr" lIns="25400" rIns="25400" tIns="12700" bIns="12700">
            <a:spAutoFit/>
          </a:bodyPr>
          <a:lstStyle/>
          <a:p>
            <a:pPr algn="r">
              <a:lnSpc>
                <a:spcPct val="100000"/>
              </a:lnSpc>
            </a:pPr>
            <a:r>
              <a:rPr sz="850" b="0" i="0">
                <a:solidFill>
                  <a:srgbClr val="8A939E"/>
                </a:solidFill>
                <a:latin typeface="Meiryo"/>
              </a:rPr>
              <a:t>社外秘 / Confidential</a:t>
            </a:r>
          </a:p>
        </p:txBody>
      </p:sp>
      <p:sp>
        <p:nvSpPr>
          <p:cNvPr id="12" name="TextBox 11"/>
          <p:cNvSpPr txBox="1"/>
          <p:nvPr/>
        </p:nvSpPr>
        <p:spPr>
          <a:xfrm>
            <a:off x="502920" y="1152144"/>
            <a:ext cx="11247120" cy="320040"/>
          </a:xfrm>
          <a:prstGeom prst="rect">
            <a:avLst/>
          </a:prstGeom>
          <a:noFill/>
        </p:spPr>
        <p:txBody>
          <a:bodyPr wrap="square" anchor="t" lIns="25400" rIns="25400" tIns="12700" bIns="12700">
            <a:spAutoFit/>
          </a:bodyPr>
          <a:lstStyle/>
          <a:p>
            <a:pPr algn="l">
              <a:lnSpc>
                <a:spcPct val="100000"/>
              </a:lnSpc>
            </a:pPr>
            <a:r>
              <a:rPr sz="1150" b="0" i="0">
                <a:solidFill>
                  <a:srgbClr val="252A31"/>
                </a:solidFill>
                <a:latin typeface="Meiryo"/>
              </a:rPr>
              <a:t>各チームの質疑で挙がった課題をカテゴリ別に整理。特にデータの取扱い・外部連携に関する論点が複数チームで共通している。</a:t>
            </a:r>
          </a:p>
        </p:txBody>
      </p:sp>
      <p:graphicFrame>
        <p:nvGraphicFramePr>
          <p:cNvPr id="13" name="Table 12"/>
          <p:cNvGraphicFramePr>
            <a:graphicFrameLocks noGrp="1"/>
          </p:cNvGraphicFramePr>
          <p:nvPr/>
        </p:nvGraphicFramePr>
        <p:xfrm>
          <a:off x="502920" y="1572768"/>
          <a:ext cx="11201400" cy="2907792"/>
        </p:xfrm>
        <a:graphic>
          <a:graphicData uri="http://schemas.openxmlformats.org/drawingml/2006/table">
            <a:tbl>
              <a:tblPr firstRow="1" bandRow="1">
                <a:tableStyleId>{5C22544A-7EE6-4342-B048-85BDC9FD1C3A}</a:tableStyleId>
              </a:tblPr>
              <a:tblGrid>
                <a:gridCol w="3840480"/>
                <a:gridCol w="5806440"/>
                <a:gridCol w="1554480"/>
              </a:tblGrid>
              <a:tr h="347472">
                <a:tc>
                  <a:txBody>
                    <a:bodyPr wrap="square"/>
                    <a:lstStyle/>
                    <a:p>
                      <a:pPr algn="ctr">
                        <a:lnSpc>
                          <a:spcPct val="98000"/>
                        </a:lnSpc>
                      </a:pPr>
                      <a:r>
                        <a:rPr sz="1050" b="1">
                          <a:solidFill>
                            <a:srgbClr val="FFFFFF"/>
                          </a:solidFill>
                          <a:latin typeface="Meiryo"/>
                        </a:rPr>
                        <a:t>カテゴリ</a:t>
                      </a:r>
                    </a:p>
                  </a:txBody>
                  <a:tcPr marL="63500" marR="63500" marT="25400" marB="25400" anchor="ctr">
                    <a:solidFill>
                      <a:srgbClr val="2E8B9E"/>
                    </a:solidFill>
                  </a:tcPr>
                </a:tc>
                <a:tc>
                  <a:txBody>
                    <a:bodyPr wrap="square"/>
                    <a:lstStyle/>
                    <a:p>
                      <a:pPr algn="ctr">
                        <a:lnSpc>
                          <a:spcPct val="98000"/>
                        </a:lnSpc>
                      </a:pPr>
                      <a:r>
                        <a:rPr sz="1050" b="1">
                          <a:solidFill>
                            <a:srgbClr val="FFFFFF"/>
                          </a:solidFill>
                          <a:latin typeface="Meiryo"/>
                        </a:rPr>
                        <a:t>主な論点</a:t>
                      </a:r>
                    </a:p>
                  </a:txBody>
                  <a:tcPr marL="63500" marR="63500" marT="25400" marB="25400" anchor="ctr">
                    <a:solidFill>
                      <a:srgbClr val="2E8B9E"/>
                    </a:solidFill>
                  </a:tcPr>
                </a:tc>
                <a:tc>
                  <a:txBody>
                    <a:bodyPr wrap="square"/>
                    <a:lstStyle/>
                    <a:p>
                      <a:pPr algn="ctr">
                        <a:lnSpc>
                          <a:spcPct val="98000"/>
                        </a:lnSpc>
                      </a:pPr>
                      <a:r>
                        <a:rPr sz="1050" b="1">
                          <a:solidFill>
                            <a:srgbClr val="FFFFFF"/>
                          </a:solidFill>
                          <a:latin typeface="Meiryo"/>
                        </a:rPr>
                        <a:t>該当チーム</a:t>
                      </a:r>
                    </a:p>
                  </a:txBody>
                  <a:tcPr marL="63500" marR="63500" marT="25400" marB="25400" anchor="ctr">
                    <a:solidFill>
                      <a:srgbClr val="2E8B9E"/>
                    </a:solidFill>
                  </a:tcPr>
                </a:tc>
              </a:tr>
              <a:tr h="365760">
                <a:tc>
                  <a:txBody>
                    <a:bodyPr wrap="square"/>
                    <a:lstStyle/>
                    <a:p>
                      <a:pPr algn="l">
                        <a:lnSpc>
                          <a:spcPct val="98000"/>
                        </a:lnSpc>
                      </a:pPr>
                      <a:r>
                        <a:rPr sz="980" b="1">
                          <a:solidFill>
                            <a:srgbClr val="1F385C"/>
                          </a:solidFill>
                          <a:latin typeface="Meiryo"/>
                        </a:rPr>
                        <a:t>読込ファイルのセキュリティ・ガバナンス</a:t>
                      </a:r>
                    </a:p>
                  </a:txBody>
                  <a:tcPr marL="63500" marR="63500" marT="25400" marB="25400" anchor="ctr">
                    <a:solidFill>
                      <a:srgbClr val="FFFFFF"/>
                    </a:solidFill>
                  </a:tcPr>
                </a:tc>
                <a:tc>
                  <a:txBody>
                    <a:bodyPr wrap="square"/>
                    <a:lstStyle/>
                    <a:p>
                      <a:pPr algn="l">
                        <a:lnSpc>
                          <a:spcPct val="98000"/>
                        </a:lnSpc>
                      </a:pPr>
                      <a:r>
                        <a:rPr sz="930" b="0">
                          <a:solidFill>
                            <a:srgbClr val="252A31"/>
                          </a:solidFill>
                          <a:latin typeface="Meiryo"/>
                        </a:rPr>
                        <a:t>社外秘・開発中案件・営業情報などをCopilot Studioに読み込ませてよいかの判断。</a:t>
                      </a:r>
                    </a:p>
                  </a:txBody>
                  <a:tcPr marL="63500" marR="63500" marT="25400" marB="25400" anchor="ctr">
                    <a:solidFill>
                      <a:srgbClr val="FFFFFF"/>
                    </a:solidFill>
                  </a:tcPr>
                </a:tc>
                <a:tc>
                  <a:txBody>
                    <a:bodyPr wrap="square"/>
                    <a:lstStyle/>
                    <a:p>
                      <a:pPr algn="ctr">
                        <a:lnSpc>
                          <a:spcPct val="98000"/>
                        </a:lnSpc>
                      </a:pPr>
                      <a:r>
                        <a:rPr sz="950" b="1">
                          <a:solidFill>
                            <a:srgbClr val="252A31"/>
                          </a:solidFill>
                          <a:latin typeface="Meiryo"/>
                        </a:rPr>
                        <a:t>9, 4</a:t>
                      </a:r>
                    </a:p>
                  </a:txBody>
                  <a:tcPr marL="63500" marR="63500" marT="25400" marB="25400" anchor="ctr">
                    <a:solidFill>
                      <a:srgbClr val="FFFFFF"/>
                    </a:solidFill>
                  </a:tcPr>
                </a:tc>
              </a:tr>
              <a:tr h="365760">
                <a:tc>
                  <a:txBody>
                    <a:bodyPr wrap="square"/>
                    <a:lstStyle/>
                    <a:p>
                      <a:pPr algn="l">
                        <a:lnSpc>
                          <a:spcPct val="98000"/>
                        </a:lnSpc>
                      </a:pPr>
                      <a:r>
                        <a:rPr sz="980" b="1">
                          <a:solidFill>
                            <a:srgbClr val="1F385C"/>
                          </a:solidFill>
                          <a:latin typeface="Meiryo"/>
                        </a:rPr>
                        <a:t>M365以外の製品との連携（Salesforce等）</a:t>
                      </a:r>
                    </a:p>
                  </a:txBody>
                  <a:tcPr marL="63500" marR="63500" marT="25400" marB="25400" anchor="ctr">
                    <a:solidFill>
                      <a:srgbClr val="F2F4F7"/>
                    </a:solidFill>
                  </a:tcPr>
                </a:tc>
                <a:tc>
                  <a:txBody>
                    <a:bodyPr wrap="square"/>
                    <a:lstStyle/>
                    <a:p>
                      <a:pPr algn="l">
                        <a:lnSpc>
                          <a:spcPct val="98000"/>
                        </a:lnSpc>
                      </a:pPr>
                      <a:r>
                        <a:rPr sz="930" b="0">
                          <a:solidFill>
                            <a:srgbClr val="252A31"/>
                          </a:solidFill>
                          <a:latin typeface="Meiryo"/>
                        </a:rPr>
                        <a:t>Salesforce等の外部システムからのデータ取得可否。案の成否を左右する論点。</a:t>
                      </a:r>
                    </a:p>
                  </a:txBody>
                  <a:tcPr marL="63500" marR="63500" marT="25400" marB="25400" anchor="ctr">
                    <a:solidFill>
                      <a:srgbClr val="F2F4F7"/>
                    </a:solidFill>
                  </a:tcPr>
                </a:tc>
                <a:tc>
                  <a:txBody>
                    <a:bodyPr wrap="square"/>
                    <a:lstStyle/>
                    <a:p>
                      <a:pPr algn="ctr">
                        <a:lnSpc>
                          <a:spcPct val="98000"/>
                        </a:lnSpc>
                      </a:pPr>
                      <a:r>
                        <a:rPr sz="950" b="1">
                          <a:solidFill>
                            <a:srgbClr val="252A31"/>
                          </a:solidFill>
                          <a:latin typeface="Meiryo"/>
                        </a:rPr>
                        <a:t>4, 9, 11</a:t>
                      </a:r>
                    </a:p>
                  </a:txBody>
                  <a:tcPr marL="63500" marR="63500" marT="25400" marB="25400" anchor="ctr">
                    <a:solidFill>
                      <a:srgbClr val="F2F4F7"/>
                    </a:solidFill>
                  </a:tcPr>
                </a:tc>
              </a:tr>
              <a:tr h="365760">
                <a:tc>
                  <a:txBody>
                    <a:bodyPr wrap="square"/>
                    <a:lstStyle/>
                    <a:p>
                      <a:pPr algn="l">
                        <a:lnSpc>
                          <a:spcPct val="98000"/>
                        </a:lnSpc>
                      </a:pPr>
                      <a:r>
                        <a:rPr sz="980" b="1">
                          <a:solidFill>
                            <a:srgbClr val="1F385C"/>
                          </a:solidFill>
                          <a:latin typeface="Meiryo"/>
                        </a:rPr>
                        <a:t>ファイルの格納場所・アクセス制約</a:t>
                      </a:r>
                    </a:p>
                  </a:txBody>
                  <a:tcPr marL="63500" marR="63500" marT="25400" marB="25400" anchor="ctr">
                    <a:solidFill>
                      <a:srgbClr val="FFFFFF"/>
                    </a:solidFill>
                  </a:tcPr>
                </a:tc>
                <a:tc>
                  <a:txBody>
                    <a:bodyPr wrap="square"/>
                    <a:lstStyle/>
                    <a:p>
                      <a:pPr algn="l">
                        <a:lnSpc>
                          <a:spcPct val="98000"/>
                        </a:lnSpc>
                      </a:pPr>
                      <a:r>
                        <a:rPr sz="930" b="0">
                          <a:solidFill>
                            <a:srgbClr val="252A31"/>
                          </a:solidFill>
                          <a:latin typeface="Meiryo"/>
                        </a:rPr>
                        <a:t>共有フォルダのパスは参照不可。SharePoint格納への移行と運用ルール整備が必要。</a:t>
                      </a:r>
                    </a:p>
                  </a:txBody>
                  <a:tcPr marL="63500" marR="63500" marT="25400" marB="25400" anchor="ctr">
                    <a:solidFill>
                      <a:srgbClr val="FFFFFF"/>
                    </a:solidFill>
                  </a:tcPr>
                </a:tc>
                <a:tc>
                  <a:txBody>
                    <a:bodyPr wrap="square"/>
                    <a:lstStyle/>
                    <a:p>
                      <a:pPr algn="ctr">
                        <a:lnSpc>
                          <a:spcPct val="98000"/>
                        </a:lnSpc>
                      </a:pPr>
                      <a:r>
                        <a:rPr sz="950" b="1">
                          <a:solidFill>
                            <a:srgbClr val="252A31"/>
                          </a:solidFill>
                          <a:latin typeface="Meiryo"/>
                        </a:rPr>
                        <a:t>5, 11</a:t>
                      </a:r>
                    </a:p>
                  </a:txBody>
                  <a:tcPr marL="63500" marR="63500" marT="25400" marB="25400" anchor="ctr">
                    <a:solidFill>
                      <a:srgbClr val="FFFFFF"/>
                    </a:solidFill>
                  </a:tcPr>
                </a:tc>
              </a:tr>
              <a:tr h="365760">
                <a:tc>
                  <a:txBody>
                    <a:bodyPr wrap="square"/>
                    <a:lstStyle/>
                    <a:p>
                      <a:pPr algn="l">
                        <a:lnSpc>
                          <a:spcPct val="98000"/>
                        </a:lnSpc>
                      </a:pPr>
                      <a:r>
                        <a:rPr sz="980" b="1">
                          <a:solidFill>
                            <a:srgbClr val="1F385C"/>
                          </a:solidFill>
                          <a:latin typeface="Meiryo"/>
                        </a:rPr>
                        <a:t>読込ファイルの形式・精度（Excel／PDF）</a:t>
                      </a:r>
                    </a:p>
                  </a:txBody>
                  <a:tcPr marL="63500" marR="63500" marT="25400" marB="25400" anchor="ctr">
                    <a:solidFill>
                      <a:srgbClr val="F2F4F7"/>
                    </a:solidFill>
                  </a:tcPr>
                </a:tc>
                <a:tc>
                  <a:txBody>
                    <a:bodyPr wrap="square"/>
                    <a:lstStyle/>
                    <a:p>
                      <a:pPr algn="l">
                        <a:lnSpc>
                          <a:spcPct val="98000"/>
                        </a:lnSpc>
                      </a:pPr>
                      <a:r>
                        <a:rPr sz="930" b="0">
                          <a:solidFill>
                            <a:srgbClr val="252A31"/>
                          </a:solidFill>
                          <a:latin typeface="Meiryo"/>
                        </a:rPr>
                        <a:t>Excel業務が多い中、PDF変換で読取精度が変わるか。まず試行して見極める。</a:t>
                      </a:r>
                    </a:p>
                  </a:txBody>
                  <a:tcPr marL="63500" marR="63500" marT="25400" marB="25400" anchor="ctr">
                    <a:solidFill>
                      <a:srgbClr val="F2F4F7"/>
                    </a:solidFill>
                  </a:tcPr>
                </a:tc>
                <a:tc>
                  <a:txBody>
                    <a:bodyPr wrap="square"/>
                    <a:lstStyle/>
                    <a:p>
                      <a:pPr algn="ctr">
                        <a:lnSpc>
                          <a:spcPct val="98000"/>
                        </a:lnSpc>
                      </a:pPr>
                      <a:r>
                        <a:rPr sz="950" b="1">
                          <a:solidFill>
                            <a:srgbClr val="252A31"/>
                          </a:solidFill>
                          <a:latin typeface="Meiryo"/>
                        </a:rPr>
                        <a:t>2</a:t>
                      </a:r>
                    </a:p>
                  </a:txBody>
                  <a:tcPr marL="63500" marR="63500" marT="25400" marB="25400" anchor="ctr">
                    <a:solidFill>
                      <a:srgbClr val="F2F4F7"/>
                    </a:solidFill>
                  </a:tcPr>
                </a:tc>
              </a:tr>
              <a:tr h="365760">
                <a:tc>
                  <a:txBody>
                    <a:bodyPr wrap="square"/>
                    <a:lstStyle/>
                    <a:p>
                      <a:pPr algn="l">
                        <a:lnSpc>
                          <a:spcPct val="98000"/>
                        </a:lnSpc>
                      </a:pPr>
                      <a:r>
                        <a:rPr sz="980" b="1">
                          <a:solidFill>
                            <a:srgbClr val="1F385C"/>
                          </a:solidFill>
                          <a:latin typeface="Meiryo"/>
                        </a:rPr>
                        <a:t>Copilot Studio／Automate の機能理解・使い分け</a:t>
                      </a:r>
                    </a:p>
                  </a:txBody>
                  <a:tcPr marL="63500" marR="63500" marT="25400" marB="25400" anchor="ctr">
                    <a:solidFill>
                      <a:srgbClr val="FFFFFF"/>
                    </a:solidFill>
                  </a:tcPr>
                </a:tc>
                <a:tc>
                  <a:txBody>
                    <a:bodyPr wrap="square"/>
                    <a:lstStyle/>
                    <a:p>
                      <a:pPr algn="l">
                        <a:lnSpc>
                          <a:spcPct val="98000"/>
                        </a:lnSpc>
                      </a:pPr>
                      <a:r>
                        <a:rPr sz="930" b="0">
                          <a:solidFill>
                            <a:srgbClr val="252A31"/>
                          </a:solidFill>
                          <a:latin typeface="Meiryo"/>
                        </a:rPr>
                        <a:t>エージェント化のメリット、ナレッジ（判断基準）運用、Automateとの役割分担。</a:t>
                      </a:r>
                    </a:p>
                  </a:txBody>
                  <a:tcPr marL="63500" marR="63500" marT="25400" marB="25400" anchor="ctr">
                    <a:solidFill>
                      <a:srgbClr val="FFFFFF"/>
                    </a:solidFill>
                  </a:tcPr>
                </a:tc>
                <a:tc>
                  <a:txBody>
                    <a:bodyPr wrap="square"/>
                    <a:lstStyle/>
                    <a:p>
                      <a:pPr algn="ctr">
                        <a:lnSpc>
                          <a:spcPct val="98000"/>
                        </a:lnSpc>
                      </a:pPr>
                      <a:r>
                        <a:rPr sz="950" b="1">
                          <a:solidFill>
                            <a:srgbClr val="252A31"/>
                          </a:solidFill>
                          <a:latin typeface="Meiryo"/>
                        </a:rPr>
                        <a:t>1, 7, 6, 11</a:t>
                      </a:r>
                    </a:p>
                  </a:txBody>
                  <a:tcPr marL="63500" marR="63500" marT="25400" marB="25400" anchor="ctr">
                    <a:solidFill>
                      <a:srgbClr val="FFFFFF"/>
                    </a:solidFill>
                  </a:tcPr>
                </a:tc>
              </a:tr>
              <a:tr h="365760">
                <a:tc>
                  <a:txBody>
                    <a:bodyPr wrap="square"/>
                    <a:lstStyle/>
                    <a:p>
                      <a:pPr algn="l">
                        <a:lnSpc>
                          <a:spcPct val="98000"/>
                        </a:lnSpc>
                      </a:pPr>
                      <a:r>
                        <a:rPr sz="980" b="1">
                          <a:solidFill>
                            <a:srgbClr val="1F385C"/>
                          </a:solidFill>
                          <a:latin typeface="Meiryo"/>
                        </a:rPr>
                        <a:t>ライセンス・利用環境</a:t>
                      </a:r>
                    </a:p>
                  </a:txBody>
                  <a:tcPr marL="63500" marR="63500" marT="25400" marB="25400" anchor="ctr">
                    <a:solidFill>
                      <a:srgbClr val="F2F4F7"/>
                    </a:solidFill>
                  </a:tcPr>
                </a:tc>
                <a:tc>
                  <a:txBody>
                    <a:bodyPr wrap="square"/>
                    <a:lstStyle/>
                    <a:p>
                      <a:pPr algn="l">
                        <a:lnSpc>
                          <a:spcPct val="98000"/>
                        </a:lnSpc>
                      </a:pPr>
                      <a:r>
                        <a:rPr sz="930" b="0">
                          <a:solidFill>
                            <a:srgbClr val="252A31"/>
                          </a:solidFill>
                          <a:latin typeface="Meiryo"/>
                        </a:rPr>
                        <a:t>Copilot StudioはE3等とは別に個別ライセンスの付与が必要。</a:t>
                      </a:r>
                    </a:p>
                  </a:txBody>
                  <a:tcPr marL="63500" marR="63500" marT="25400" marB="25400" anchor="ctr">
                    <a:solidFill>
                      <a:srgbClr val="F2F4F7"/>
                    </a:solidFill>
                  </a:tcPr>
                </a:tc>
                <a:tc>
                  <a:txBody>
                    <a:bodyPr wrap="square"/>
                    <a:lstStyle/>
                    <a:p>
                      <a:pPr algn="ctr">
                        <a:lnSpc>
                          <a:spcPct val="98000"/>
                        </a:lnSpc>
                      </a:pPr>
                      <a:r>
                        <a:rPr sz="950" b="1">
                          <a:solidFill>
                            <a:srgbClr val="252A31"/>
                          </a:solidFill>
                          <a:latin typeface="Meiryo"/>
                        </a:rPr>
                        <a:t>3</a:t>
                      </a:r>
                    </a:p>
                  </a:txBody>
                  <a:tcPr marL="63500" marR="63500" marT="25400" marB="25400" anchor="ctr">
                    <a:solidFill>
                      <a:srgbClr val="F2F4F7"/>
                    </a:solidFill>
                  </a:tcPr>
                </a:tc>
              </a:tr>
              <a:tr h="365760">
                <a:tc>
                  <a:txBody>
                    <a:bodyPr wrap="square"/>
                    <a:lstStyle/>
                    <a:p>
                      <a:pPr algn="l">
                        <a:lnSpc>
                          <a:spcPct val="98000"/>
                        </a:lnSpc>
                      </a:pPr>
                      <a:r>
                        <a:rPr sz="980" b="1">
                          <a:solidFill>
                            <a:srgbClr val="1F385C"/>
                          </a:solidFill>
                          <a:latin typeface="Meiryo"/>
                        </a:rPr>
                        <a:t>案の絞り込み・スコープ／効果試算</a:t>
                      </a:r>
                    </a:p>
                  </a:txBody>
                  <a:tcPr marL="63500" marR="63500" marT="25400" marB="25400" anchor="ctr">
                    <a:solidFill>
                      <a:srgbClr val="FFFFFF"/>
                    </a:solidFill>
                  </a:tcPr>
                </a:tc>
                <a:tc>
                  <a:txBody>
                    <a:bodyPr wrap="square"/>
                    <a:lstStyle/>
                    <a:p>
                      <a:pPr algn="l">
                        <a:lnSpc>
                          <a:spcPct val="98000"/>
                        </a:lnSpc>
                      </a:pPr>
                      <a:r>
                        <a:rPr sz="930" b="0">
                          <a:solidFill>
                            <a:srgbClr val="252A31"/>
                          </a:solidFill>
                          <a:latin typeface="Meiryo"/>
                        </a:rPr>
                        <a:t>1案が未確定、業務への落とし込みや削減効果の定量化が未着手のチームが存在。</a:t>
                      </a:r>
                    </a:p>
                  </a:txBody>
                  <a:tcPr marL="63500" marR="63500" marT="25400" marB="25400" anchor="ctr">
                    <a:solidFill>
                      <a:srgbClr val="FFFFFF"/>
                    </a:solidFill>
                  </a:tcPr>
                </a:tc>
                <a:tc>
                  <a:txBody>
                    <a:bodyPr wrap="square"/>
                    <a:lstStyle/>
                    <a:p>
                      <a:pPr algn="ctr">
                        <a:lnSpc>
                          <a:spcPct val="98000"/>
                        </a:lnSpc>
                      </a:pPr>
                      <a:r>
                        <a:rPr sz="950" b="1">
                          <a:solidFill>
                            <a:srgbClr val="252A31"/>
                          </a:solidFill>
                          <a:latin typeface="Meiryo"/>
                        </a:rPr>
                        <a:t>9, 6, 1, 11, 8</a:t>
                      </a:r>
                    </a:p>
                  </a:txBody>
                  <a:tcPr marL="63500" marR="63500" marT="25400" marB="25400" anchor="ctr">
                    <a:solidFill>
                      <a:srgbClr val="FFFFFF"/>
                    </a:solidFill>
                  </a:tcPr>
                </a:tc>
              </a:tr>
            </a:tbl>
          </a:graphicData>
        </a:graphic>
      </p:graphicFrame>
      <p:sp>
        <p:nvSpPr>
          <p:cNvPr id="14" name="Rectangle 13"/>
          <p:cNvSpPr/>
          <p:nvPr/>
        </p:nvSpPr>
        <p:spPr>
          <a:xfrm>
            <a:off x="502920" y="4892040"/>
            <a:ext cx="11201400" cy="1554480"/>
          </a:xfrm>
          <a:prstGeom prst="rect">
            <a:avLst/>
          </a:prstGeom>
          <a:solidFill>
            <a:srgbClr val="FC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4892040"/>
            <a:ext cx="128016" cy="1554480"/>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5020056"/>
            <a:ext cx="10789920" cy="365760"/>
          </a:xfrm>
          <a:prstGeom prst="rect">
            <a:avLst/>
          </a:prstGeom>
          <a:noFill/>
        </p:spPr>
        <p:txBody>
          <a:bodyPr wrap="square" anchor="t" lIns="25400" rIns="25400" tIns="12700" bIns="12700">
            <a:spAutoFit/>
          </a:bodyPr>
          <a:lstStyle/>
          <a:p>
            <a:pPr algn="l">
              <a:lnSpc>
                <a:spcPct val="100000"/>
              </a:lnSpc>
            </a:pPr>
            <a:r>
              <a:rPr sz="1300" b="1" i="0">
                <a:solidFill>
                  <a:srgbClr val="E8833A"/>
                </a:solidFill>
                <a:latin typeface="Meiryo"/>
              </a:rPr>
              <a:t>▲ 重要：読込ファイルのOK/NG判断について（事務局への相談依頼／既にお客様へ報告済み）</a:t>
            </a:r>
          </a:p>
        </p:txBody>
      </p:sp>
      <p:sp>
        <p:nvSpPr>
          <p:cNvPr id="17" name="TextBox 16"/>
          <p:cNvSpPr txBox="1"/>
          <p:nvPr/>
        </p:nvSpPr>
        <p:spPr>
          <a:xfrm>
            <a:off x="777240" y="5440680"/>
            <a:ext cx="10698480" cy="914400"/>
          </a:xfrm>
          <a:prstGeom prst="rect">
            <a:avLst/>
          </a:prstGeom>
          <a:noFill/>
        </p:spPr>
        <p:txBody>
          <a:bodyPr wrap="square" anchor="t" lIns="25400" rIns="25400" tIns="12700" bIns="12700">
            <a:spAutoFit/>
          </a:bodyPr>
          <a:lstStyle/>
          <a:p>
            <a:pPr algn="l">
              <a:lnSpc>
                <a:spcPct val="118000"/>
              </a:lnSpc>
            </a:pPr>
            <a:r>
              <a:rPr sz="1150" b="0" i="0">
                <a:solidFill>
                  <a:srgbClr val="252A31"/>
                </a:solidFill>
                <a:latin typeface="Meiryo"/>
              </a:rPr>
              <a:t>・読み込ませたいファイルのOK/NG判断が怪しい場合は、自チーム内での見解を添えて、早めに事務局へ相談いただきたい。</a:t>
            </a:r>
          </a:p>
          <a:p>
            <a:pPr algn="l">
              <a:lnSpc>
                <a:spcPct val="118000"/>
              </a:lnSpc>
            </a:pPr>
            <a:r>
              <a:rPr sz="1150" b="0" i="0">
                <a:solidFill>
                  <a:srgbClr val="252A31"/>
                </a:solidFill>
                <a:latin typeface="Meiryo"/>
              </a:rPr>
              <a:t>・事務局の判断結果によっては、チームで決めた案がそもそも頓挫する可能性もあるため、早期の対応・確認が必要と考えている。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E8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1051560"/>
          </a:xfrm>
          <a:prstGeom prst="rect">
            <a:avLst/>
          </a:prstGeom>
          <a:solidFill>
            <a:srgbClr val="1F3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51560"/>
            <a:ext cx="12191695" cy="45720"/>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6304"/>
            <a:ext cx="8686800" cy="274320"/>
          </a:xfrm>
          <a:prstGeom prst="rect">
            <a:avLst/>
          </a:prstGeom>
          <a:noFill/>
        </p:spPr>
        <p:txBody>
          <a:bodyPr wrap="square" anchor="t" lIns="25400" rIns="25400" tIns="12700" bIns="12700">
            <a:spAutoFit/>
          </a:bodyPr>
          <a:lstStyle/>
          <a:p>
            <a:pPr algn="l">
              <a:lnSpc>
                <a:spcPct val="100000"/>
              </a:lnSpc>
            </a:pPr>
            <a:r>
              <a:rPr sz="1100" b="1" i="0">
                <a:solidFill>
                  <a:srgbClr val="BFD3E0"/>
                </a:solidFill>
                <a:latin typeface="Meiryo"/>
              </a:rPr>
              <a:t>OVERALL ASSESSMENT</a:t>
            </a:r>
          </a:p>
        </p:txBody>
      </p:sp>
      <p:sp>
        <p:nvSpPr>
          <p:cNvPr id="7" name="TextBox 6"/>
          <p:cNvSpPr txBox="1"/>
          <p:nvPr/>
        </p:nvSpPr>
        <p:spPr>
          <a:xfrm>
            <a:off x="475488" y="402336"/>
            <a:ext cx="10058400" cy="594360"/>
          </a:xfrm>
          <a:prstGeom prst="rect">
            <a:avLst/>
          </a:prstGeom>
          <a:noFill/>
        </p:spPr>
        <p:txBody>
          <a:bodyPr wrap="square" anchor="ctr" lIns="25400" rIns="25400" tIns="12700" bIns="12700">
            <a:spAutoFit/>
          </a:bodyPr>
          <a:lstStyle/>
          <a:p>
            <a:pPr algn="l">
              <a:lnSpc>
                <a:spcPct val="100000"/>
              </a:lnSpc>
            </a:pPr>
            <a:r>
              <a:rPr sz="2500" b="1" i="0">
                <a:solidFill>
                  <a:srgbClr val="FFFFFF"/>
                </a:solidFill>
                <a:latin typeface="Meiryo"/>
              </a:rPr>
              <a:t>全体総括</a:t>
            </a:r>
          </a:p>
        </p:txBody>
      </p:sp>
      <p:sp>
        <p:nvSpPr>
          <p:cNvPr id="8" name="TextBox 7"/>
          <p:cNvSpPr txBox="1"/>
          <p:nvPr/>
        </p:nvSpPr>
        <p:spPr>
          <a:xfrm>
            <a:off x="10881360" y="146304"/>
            <a:ext cx="1051560" cy="320040"/>
          </a:xfrm>
          <a:prstGeom prst="rect">
            <a:avLst/>
          </a:prstGeom>
          <a:noFill/>
        </p:spPr>
        <p:txBody>
          <a:bodyPr wrap="square" anchor="t" lIns="25400" rIns="25400" tIns="12700" bIns="12700">
            <a:spAutoFit/>
          </a:bodyPr>
          <a:lstStyle/>
          <a:p>
            <a:pPr algn="r">
              <a:lnSpc>
                <a:spcPct val="100000"/>
              </a:lnSpc>
            </a:pPr>
            <a:r>
              <a:rPr sz="1200" b="1" i="0">
                <a:solidFill>
                  <a:srgbClr val="BFD3E0"/>
                </a:solidFill>
                <a:latin typeface="Meiryo"/>
              </a:rPr>
              <a:t>4 / 4</a:t>
            </a:r>
          </a:p>
        </p:txBody>
      </p:sp>
      <p:sp>
        <p:nvSpPr>
          <p:cNvPr id="9" name="Rectangle 8"/>
          <p:cNvSpPr/>
          <p:nvPr/>
        </p:nvSpPr>
        <p:spPr>
          <a:xfrm>
            <a:off x="0" y="6565392"/>
            <a:ext cx="12191695" cy="292608"/>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574536"/>
            <a:ext cx="7315200" cy="274320"/>
          </a:xfrm>
          <a:prstGeom prst="rect">
            <a:avLst/>
          </a:prstGeom>
          <a:noFill/>
        </p:spPr>
        <p:txBody>
          <a:bodyPr wrap="square" anchor="ctr" lIns="25400" rIns="25400" tIns="12700" bIns="12700">
            <a:spAutoFit/>
          </a:bodyPr>
          <a:lstStyle/>
          <a:p>
            <a:pPr algn="l">
              <a:lnSpc>
                <a:spcPct val="100000"/>
              </a:lnSpc>
            </a:pPr>
            <a:r>
              <a:rPr sz="850" b="0" i="0">
                <a:solidFill>
                  <a:srgbClr val="8A939E"/>
                </a:solidFill>
                <a:latin typeface="Meiryo"/>
              </a:rPr>
              <a:t>Microsoft 365 Copilot Studio 活用ハッカソン｜事前相談会 報告</a:t>
            </a:r>
          </a:p>
        </p:txBody>
      </p:sp>
      <p:sp>
        <p:nvSpPr>
          <p:cNvPr id="11" name="TextBox 10"/>
          <p:cNvSpPr txBox="1"/>
          <p:nvPr/>
        </p:nvSpPr>
        <p:spPr>
          <a:xfrm>
            <a:off x="9265615" y="6574536"/>
            <a:ext cx="2423160" cy="274320"/>
          </a:xfrm>
          <a:prstGeom prst="rect">
            <a:avLst/>
          </a:prstGeom>
          <a:noFill/>
        </p:spPr>
        <p:txBody>
          <a:bodyPr wrap="square" anchor="ctr" lIns="25400" rIns="25400" tIns="12700" bIns="12700">
            <a:spAutoFit/>
          </a:bodyPr>
          <a:lstStyle/>
          <a:p>
            <a:pPr algn="r">
              <a:lnSpc>
                <a:spcPct val="100000"/>
              </a:lnSpc>
            </a:pPr>
            <a:r>
              <a:rPr sz="850" b="0" i="0">
                <a:solidFill>
                  <a:srgbClr val="8A939E"/>
                </a:solidFill>
                <a:latin typeface="Meiryo"/>
              </a:rPr>
              <a:t>社外秘 / Confidential</a:t>
            </a:r>
          </a:p>
        </p:txBody>
      </p:sp>
      <p:sp>
        <p:nvSpPr>
          <p:cNvPr id="12" name="Rectangle 11"/>
          <p:cNvSpPr/>
          <p:nvPr/>
        </p:nvSpPr>
        <p:spPr>
          <a:xfrm>
            <a:off x="502920" y="1280160"/>
            <a:ext cx="11201400" cy="1143000"/>
          </a:xfrm>
          <a:prstGeom prst="rect">
            <a:avLst/>
          </a:prstGeom>
          <a:solidFill>
            <a:srgbClr val="1F3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1444752"/>
            <a:ext cx="10607040" cy="868680"/>
          </a:xfrm>
          <a:prstGeom prst="rect">
            <a:avLst/>
          </a:prstGeom>
          <a:noFill/>
        </p:spPr>
        <p:txBody>
          <a:bodyPr wrap="square" anchor="ctr" lIns="25400" rIns="25400" tIns="12700" bIns="12700">
            <a:spAutoFit/>
          </a:bodyPr>
          <a:lstStyle/>
          <a:p>
            <a:pPr algn="l">
              <a:lnSpc>
                <a:spcPct val="120000"/>
              </a:lnSpc>
            </a:pPr>
            <a:r>
              <a:rPr sz="1450" b="1" i="0">
                <a:solidFill>
                  <a:srgbClr val="FFFFFF"/>
                </a:solidFill>
                <a:latin typeface="Meiryo"/>
              </a:rPr>
              <a:t>全体として取り組み意欲が高く、各チームが期待以上に検討を進めているケースが多く見られる。</a:t>
            </a:r>
          </a:p>
          <a:p>
            <a:pPr algn="l">
              <a:lnSpc>
                <a:spcPct val="120000"/>
              </a:lnSpc>
            </a:pPr>
            <a:r>
              <a:rPr sz="1450" b="1" i="0">
                <a:solidFill>
                  <a:srgbClr val="FFFFFF"/>
                </a:solidFill>
                <a:latin typeface="Meiryo"/>
              </a:rPr>
              <a:t>一方で、一部のチームは1案への整理も未了であるなど、チーム間で既に差が出始めている。</a:t>
            </a:r>
          </a:p>
        </p:txBody>
      </p:sp>
      <p:sp>
        <p:nvSpPr>
          <p:cNvPr id="14" name="Rectangle 13"/>
          <p:cNvSpPr/>
          <p:nvPr/>
        </p:nvSpPr>
        <p:spPr>
          <a:xfrm>
            <a:off x="502920" y="2697480"/>
            <a:ext cx="3611880" cy="27889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2697480"/>
            <a:ext cx="3611880" cy="548640"/>
          </a:xfrm>
          <a:prstGeom prst="rect">
            <a:avLst/>
          </a:prstGeom>
          <a:solidFill>
            <a:srgbClr val="3F8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788920"/>
            <a:ext cx="3154680" cy="365760"/>
          </a:xfrm>
          <a:prstGeom prst="rect">
            <a:avLst/>
          </a:prstGeom>
          <a:noFill/>
        </p:spPr>
        <p:txBody>
          <a:bodyPr wrap="square" anchor="ctr" lIns="25400" rIns="25400" tIns="12700" bIns="12700">
            <a:spAutoFit/>
          </a:bodyPr>
          <a:lstStyle/>
          <a:p>
            <a:pPr algn="l">
              <a:lnSpc>
                <a:spcPct val="100000"/>
              </a:lnSpc>
            </a:pPr>
            <a:r>
              <a:rPr sz="1350" b="1" i="0">
                <a:solidFill>
                  <a:srgbClr val="FFFFFF"/>
                </a:solidFill>
                <a:latin typeface="Meiryo"/>
              </a:rPr>
              <a:t>先行・順調なチーム</a:t>
            </a:r>
          </a:p>
        </p:txBody>
      </p:sp>
      <p:sp>
        <p:nvSpPr>
          <p:cNvPr id="17" name="Rectangle 16"/>
          <p:cNvSpPr/>
          <p:nvPr/>
        </p:nvSpPr>
        <p:spPr>
          <a:xfrm>
            <a:off x="731520" y="3474720"/>
            <a:ext cx="91440" cy="91440"/>
          </a:xfrm>
          <a:prstGeom prst="rect">
            <a:avLst/>
          </a:prstGeom>
          <a:solidFill>
            <a:srgbClr val="3F8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374136"/>
            <a:ext cx="3017520" cy="594360"/>
          </a:xfrm>
          <a:prstGeom prst="rect">
            <a:avLst/>
          </a:prstGeom>
          <a:noFill/>
        </p:spPr>
        <p:txBody>
          <a:bodyPr wrap="square" anchor="t" lIns="25400" rIns="25400" tIns="12700" bIns="12700">
            <a:spAutoFit/>
          </a:bodyPr>
          <a:lstStyle/>
          <a:p>
            <a:pPr algn="l">
              <a:lnSpc>
                <a:spcPct val="105000"/>
              </a:lnSpc>
            </a:pPr>
            <a:r>
              <a:rPr sz="1080" b="0" i="0">
                <a:solidFill>
                  <a:srgbClr val="252A31"/>
                </a:solidFill>
                <a:latin typeface="Meiryo"/>
              </a:rPr>
              <a:t>チーム7・10は1案に絞り込み済みで、企画書の叩き台まで到達。</a:t>
            </a:r>
          </a:p>
        </p:txBody>
      </p:sp>
      <p:sp>
        <p:nvSpPr>
          <p:cNvPr id="19" name="Rectangle 18"/>
          <p:cNvSpPr/>
          <p:nvPr/>
        </p:nvSpPr>
        <p:spPr>
          <a:xfrm>
            <a:off x="731520" y="4133088"/>
            <a:ext cx="91440" cy="91440"/>
          </a:xfrm>
          <a:prstGeom prst="rect">
            <a:avLst/>
          </a:prstGeom>
          <a:solidFill>
            <a:srgbClr val="3F8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4032504"/>
            <a:ext cx="3017520" cy="594360"/>
          </a:xfrm>
          <a:prstGeom prst="rect">
            <a:avLst/>
          </a:prstGeom>
          <a:noFill/>
        </p:spPr>
        <p:txBody>
          <a:bodyPr wrap="square" anchor="t" lIns="25400" rIns="25400" tIns="12700" bIns="12700">
            <a:spAutoFit/>
          </a:bodyPr>
          <a:lstStyle/>
          <a:p>
            <a:pPr algn="l">
              <a:lnSpc>
                <a:spcPct val="105000"/>
              </a:lnSpc>
            </a:pPr>
            <a:r>
              <a:rPr sz="1080" b="0" i="0">
                <a:solidFill>
                  <a:srgbClr val="252A31"/>
                </a:solidFill>
                <a:latin typeface="Meiryo"/>
              </a:rPr>
              <a:t>対象業務・ナレッジ構成が明確で、実現可能性の見通しも良好。</a:t>
            </a:r>
          </a:p>
        </p:txBody>
      </p:sp>
      <p:sp>
        <p:nvSpPr>
          <p:cNvPr id="21" name="Rectangle 20"/>
          <p:cNvSpPr/>
          <p:nvPr/>
        </p:nvSpPr>
        <p:spPr>
          <a:xfrm>
            <a:off x="731520" y="4791456"/>
            <a:ext cx="91440" cy="91440"/>
          </a:xfrm>
          <a:prstGeom prst="rect">
            <a:avLst/>
          </a:prstGeom>
          <a:solidFill>
            <a:srgbClr val="3F8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4690872"/>
            <a:ext cx="3017520" cy="594360"/>
          </a:xfrm>
          <a:prstGeom prst="rect">
            <a:avLst/>
          </a:prstGeom>
          <a:noFill/>
        </p:spPr>
        <p:txBody>
          <a:bodyPr wrap="square" anchor="t" lIns="25400" rIns="25400" tIns="12700" bIns="12700">
            <a:spAutoFit/>
          </a:bodyPr>
          <a:lstStyle/>
          <a:p>
            <a:pPr algn="l">
              <a:lnSpc>
                <a:spcPct val="105000"/>
              </a:lnSpc>
            </a:pPr>
            <a:r>
              <a:rPr sz="1080" b="0" i="0">
                <a:solidFill>
                  <a:srgbClr val="252A31"/>
                </a:solidFill>
                <a:latin typeface="Meiryo"/>
              </a:rPr>
              <a:t>10月の役職者報告に向け、削減効果の定量化が次の焦点。</a:t>
            </a:r>
          </a:p>
        </p:txBody>
      </p:sp>
      <p:sp>
        <p:nvSpPr>
          <p:cNvPr id="23" name="Rectangle 22"/>
          <p:cNvSpPr/>
          <p:nvPr/>
        </p:nvSpPr>
        <p:spPr>
          <a:xfrm>
            <a:off x="4297680" y="2697480"/>
            <a:ext cx="3611880" cy="27889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297680" y="2697480"/>
            <a:ext cx="3611880" cy="548640"/>
          </a:xfrm>
          <a:prstGeom prst="rect">
            <a:avLst/>
          </a:prstGeom>
          <a:solidFill>
            <a:srgbClr val="C98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26280" y="2788920"/>
            <a:ext cx="3154680" cy="365760"/>
          </a:xfrm>
          <a:prstGeom prst="rect">
            <a:avLst/>
          </a:prstGeom>
          <a:noFill/>
        </p:spPr>
        <p:txBody>
          <a:bodyPr wrap="square" anchor="ctr" lIns="25400" rIns="25400" tIns="12700" bIns="12700">
            <a:spAutoFit/>
          </a:bodyPr>
          <a:lstStyle/>
          <a:p>
            <a:pPr algn="l">
              <a:lnSpc>
                <a:spcPct val="100000"/>
              </a:lnSpc>
            </a:pPr>
            <a:r>
              <a:rPr sz="1350" b="1" i="0">
                <a:solidFill>
                  <a:srgbClr val="FFFFFF"/>
                </a:solidFill>
                <a:latin typeface="Meiryo"/>
              </a:rPr>
              <a:t>フォローが必要なチーム</a:t>
            </a:r>
          </a:p>
        </p:txBody>
      </p:sp>
      <p:sp>
        <p:nvSpPr>
          <p:cNvPr id="26" name="Rectangle 25"/>
          <p:cNvSpPr/>
          <p:nvPr/>
        </p:nvSpPr>
        <p:spPr>
          <a:xfrm>
            <a:off x="4526280" y="3474720"/>
            <a:ext cx="91440" cy="91440"/>
          </a:xfrm>
          <a:prstGeom prst="rect">
            <a:avLst/>
          </a:prstGeom>
          <a:solidFill>
            <a:srgbClr val="C98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09160" y="3374136"/>
            <a:ext cx="3017520" cy="594360"/>
          </a:xfrm>
          <a:prstGeom prst="rect">
            <a:avLst/>
          </a:prstGeom>
          <a:noFill/>
        </p:spPr>
        <p:txBody>
          <a:bodyPr wrap="square" anchor="t" lIns="25400" rIns="25400" tIns="12700" bIns="12700">
            <a:spAutoFit/>
          </a:bodyPr>
          <a:lstStyle/>
          <a:p>
            <a:pPr algn="l">
              <a:lnSpc>
                <a:spcPct val="105000"/>
              </a:lnSpc>
            </a:pPr>
            <a:r>
              <a:rPr sz="1080" b="0" i="0">
                <a:solidFill>
                  <a:srgbClr val="252A31"/>
                </a:solidFill>
                <a:latin typeface="Meiryo"/>
              </a:rPr>
              <a:t>チーム9は各自の案を持ち寄った段階で、1案への集約が未了（Lv1）。</a:t>
            </a:r>
          </a:p>
        </p:txBody>
      </p:sp>
      <p:sp>
        <p:nvSpPr>
          <p:cNvPr id="28" name="Rectangle 27"/>
          <p:cNvSpPr/>
          <p:nvPr/>
        </p:nvSpPr>
        <p:spPr>
          <a:xfrm>
            <a:off x="4526280" y="4133088"/>
            <a:ext cx="91440" cy="91440"/>
          </a:xfrm>
          <a:prstGeom prst="rect">
            <a:avLst/>
          </a:prstGeom>
          <a:solidFill>
            <a:srgbClr val="C98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09160" y="4032504"/>
            <a:ext cx="3017520" cy="594360"/>
          </a:xfrm>
          <a:prstGeom prst="rect">
            <a:avLst/>
          </a:prstGeom>
          <a:noFill/>
        </p:spPr>
        <p:txBody>
          <a:bodyPr wrap="square" anchor="t" lIns="25400" rIns="25400" tIns="12700" bIns="12700">
            <a:spAutoFit/>
          </a:bodyPr>
          <a:lstStyle/>
          <a:p>
            <a:pPr algn="l">
              <a:lnSpc>
                <a:spcPct val="105000"/>
              </a:lnSpc>
            </a:pPr>
            <a:r>
              <a:rPr sz="1080" b="0" i="0">
                <a:solidFill>
                  <a:srgbClr val="252A31"/>
                </a:solidFill>
                <a:latin typeface="Meiryo"/>
              </a:rPr>
              <a:t>チーム1・8・11は2案から1案への選定が必要な段階（Lv2）。</a:t>
            </a:r>
          </a:p>
        </p:txBody>
      </p:sp>
      <p:sp>
        <p:nvSpPr>
          <p:cNvPr id="30" name="Rectangle 29"/>
          <p:cNvSpPr/>
          <p:nvPr/>
        </p:nvSpPr>
        <p:spPr>
          <a:xfrm>
            <a:off x="4526280" y="4791456"/>
            <a:ext cx="91440" cy="91440"/>
          </a:xfrm>
          <a:prstGeom prst="rect">
            <a:avLst/>
          </a:prstGeom>
          <a:solidFill>
            <a:srgbClr val="C98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09160" y="4690872"/>
            <a:ext cx="3017520" cy="594360"/>
          </a:xfrm>
          <a:prstGeom prst="rect">
            <a:avLst/>
          </a:prstGeom>
          <a:noFill/>
        </p:spPr>
        <p:txBody>
          <a:bodyPr wrap="square" anchor="t" lIns="25400" rIns="25400" tIns="12700" bIns="12700">
            <a:spAutoFit/>
          </a:bodyPr>
          <a:lstStyle/>
          <a:p>
            <a:pPr algn="l">
              <a:lnSpc>
                <a:spcPct val="105000"/>
              </a:lnSpc>
            </a:pPr>
            <a:r>
              <a:rPr sz="1080" b="0" i="0">
                <a:solidFill>
                  <a:srgbClr val="252A31"/>
                </a:solidFill>
                <a:latin typeface="Meiryo"/>
              </a:rPr>
              <a:t>外部連携・機密判断が案の前提となるチームは早期の方針確定が必須。</a:t>
            </a:r>
          </a:p>
        </p:txBody>
      </p:sp>
      <p:sp>
        <p:nvSpPr>
          <p:cNvPr id="32" name="Rectangle 31"/>
          <p:cNvSpPr/>
          <p:nvPr/>
        </p:nvSpPr>
        <p:spPr>
          <a:xfrm>
            <a:off x="8092440" y="2697480"/>
            <a:ext cx="3611880" cy="27889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92440" y="2697480"/>
            <a:ext cx="3611880" cy="548640"/>
          </a:xfrm>
          <a:prstGeom prst="rect">
            <a:avLst/>
          </a:prstGeom>
          <a:solidFill>
            <a:srgbClr val="2E8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21040" y="2788920"/>
            <a:ext cx="3154680" cy="365760"/>
          </a:xfrm>
          <a:prstGeom prst="rect">
            <a:avLst/>
          </a:prstGeom>
          <a:noFill/>
        </p:spPr>
        <p:txBody>
          <a:bodyPr wrap="square" anchor="ctr" lIns="25400" rIns="25400" tIns="12700" bIns="12700">
            <a:spAutoFit/>
          </a:bodyPr>
          <a:lstStyle/>
          <a:p>
            <a:pPr algn="l">
              <a:lnSpc>
                <a:spcPct val="100000"/>
              </a:lnSpc>
            </a:pPr>
            <a:r>
              <a:rPr sz="1350" b="1" i="0">
                <a:solidFill>
                  <a:srgbClr val="FFFFFF"/>
                </a:solidFill>
                <a:latin typeface="Meiryo"/>
              </a:rPr>
              <a:t>事務局からの提言</a:t>
            </a:r>
          </a:p>
        </p:txBody>
      </p:sp>
      <p:sp>
        <p:nvSpPr>
          <p:cNvPr id="35" name="Rectangle 34"/>
          <p:cNvSpPr/>
          <p:nvPr/>
        </p:nvSpPr>
        <p:spPr>
          <a:xfrm>
            <a:off x="8321040" y="3474720"/>
            <a:ext cx="91440" cy="91440"/>
          </a:xfrm>
          <a:prstGeom prst="rect">
            <a:avLst/>
          </a:prstGeom>
          <a:solidFill>
            <a:srgbClr val="2E8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03920" y="3374136"/>
            <a:ext cx="3017520" cy="594360"/>
          </a:xfrm>
          <a:prstGeom prst="rect">
            <a:avLst/>
          </a:prstGeom>
          <a:noFill/>
        </p:spPr>
        <p:txBody>
          <a:bodyPr wrap="square" anchor="t" lIns="25400" rIns="25400" tIns="12700" bIns="12700">
            <a:spAutoFit/>
          </a:bodyPr>
          <a:lstStyle/>
          <a:p>
            <a:pPr algn="l">
              <a:lnSpc>
                <a:spcPct val="105000"/>
              </a:lnSpc>
            </a:pPr>
            <a:r>
              <a:rPr sz="1080" b="0" i="0">
                <a:solidFill>
                  <a:srgbClr val="252A31"/>
                </a:solidFill>
                <a:latin typeface="Meiryo"/>
              </a:rPr>
              <a:t>読込ファイルのOK/NG判断は、怪しい場合ほど早めに事務局へ相談を。</a:t>
            </a:r>
          </a:p>
        </p:txBody>
      </p:sp>
      <p:sp>
        <p:nvSpPr>
          <p:cNvPr id="37" name="Rectangle 36"/>
          <p:cNvSpPr/>
          <p:nvPr/>
        </p:nvSpPr>
        <p:spPr>
          <a:xfrm>
            <a:off x="8321040" y="4133088"/>
            <a:ext cx="91440" cy="91440"/>
          </a:xfrm>
          <a:prstGeom prst="rect">
            <a:avLst/>
          </a:prstGeom>
          <a:solidFill>
            <a:srgbClr val="2E8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03920" y="4032504"/>
            <a:ext cx="3017520" cy="594360"/>
          </a:xfrm>
          <a:prstGeom prst="rect">
            <a:avLst/>
          </a:prstGeom>
          <a:noFill/>
        </p:spPr>
        <p:txBody>
          <a:bodyPr wrap="square" anchor="t" lIns="25400" rIns="25400" tIns="12700" bIns="12700">
            <a:spAutoFit/>
          </a:bodyPr>
          <a:lstStyle/>
          <a:p>
            <a:pPr algn="l">
              <a:lnSpc>
                <a:spcPct val="105000"/>
              </a:lnSpc>
            </a:pPr>
            <a:r>
              <a:rPr sz="1080" b="0" i="0">
                <a:solidFill>
                  <a:srgbClr val="252A31"/>
                </a:solidFill>
                <a:latin typeface="Meiryo"/>
              </a:rPr>
              <a:t>Salesforce等の外部連携可否は、案の成否に直結するため優先確定。</a:t>
            </a:r>
          </a:p>
        </p:txBody>
      </p:sp>
      <p:sp>
        <p:nvSpPr>
          <p:cNvPr id="39" name="Rectangle 38"/>
          <p:cNvSpPr/>
          <p:nvPr/>
        </p:nvSpPr>
        <p:spPr>
          <a:xfrm>
            <a:off x="8321040" y="4791456"/>
            <a:ext cx="91440" cy="91440"/>
          </a:xfrm>
          <a:prstGeom prst="rect">
            <a:avLst/>
          </a:prstGeom>
          <a:solidFill>
            <a:srgbClr val="2E8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503920" y="4690872"/>
            <a:ext cx="3017520" cy="594360"/>
          </a:xfrm>
          <a:prstGeom prst="rect">
            <a:avLst/>
          </a:prstGeom>
          <a:noFill/>
        </p:spPr>
        <p:txBody>
          <a:bodyPr wrap="square" anchor="t" lIns="25400" rIns="25400" tIns="12700" bIns="12700">
            <a:spAutoFit/>
          </a:bodyPr>
          <a:lstStyle/>
          <a:p>
            <a:pPr algn="l">
              <a:lnSpc>
                <a:spcPct val="105000"/>
              </a:lnSpc>
            </a:pPr>
            <a:r>
              <a:rPr sz="1080" b="0" i="0">
                <a:solidFill>
                  <a:srgbClr val="252A31"/>
                </a:solidFill>
                <a:latin typeface="Meiryo"/>
              </a:rPr>
              <a:t>7/17提出→8〜9月構築→10月発表に向け、差の縮小を伴走支援する。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