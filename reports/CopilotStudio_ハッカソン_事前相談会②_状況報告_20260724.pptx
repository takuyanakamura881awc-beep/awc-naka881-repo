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MICROSOFT 365 COPILOT STUDIO 活用ハッカソン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第2回 事前相談会の目的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52A31"/>
                </a:solidFill>
                <a:latin typeface="Meiryo"/>
              </a:rPr>
              <a:t>7月22日〜24日に実施した第2回 事前相談会では、第1回後に提出された各チームの企画書を前提に、構築フェーズへ進むための「進捗確認」「技術論点の整理」「ネクストアクションの明確化」を行った。本資料では、各チームの状況を一覧・個票で整理し、あわせて難易度・使用アプリの種類・10月発表の見込みを比較整理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9496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394960" cy="77724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468880"/>
            <a:ext cx="4846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</a:rPr>
              <a:t>進行面 ｜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724912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eiryo"/>
              </a:rPr>
              <a:t>進捗確認・伴走支援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383280"/>
            <a:ext cx="128016" cy="128016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29184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5C"/>
                </a:solidFill>
                <a:latin typeface="Meiryo"/>
              </a:rPr>
              <a:t>各チームの進捗状況の確認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575304"/>
            <a:ext cx="46177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1案の具体化・構築着手に向けた準備度を確認。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133088"/>
            <a:ext cx="128016" cy="128016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04164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5C"/>
                </a:solidFill>
                <a:latin typeface="Meiryo"/>
              </a:rPr>
              <a:t>ネクストアクションの整理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325112"/>
            <a:ext cx="46177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8月デモ化／9月発表準備／10月役職者向け発表に向け優先順位を明確化。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77440"/>
            <a:ext cx="539496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377440"/>
            <a:ext cx="5394960" cy="77724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2468880"/>
            <a:ext cx="48463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</a:rPr>
              <a:t>技術面 ｜ 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724912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eiryo"/>
              </a:rPr>
              <a:t>適合性・実現可能性の助言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1968" y="3383280"/>
            <a:ext cx="128016" cy="128016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329184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5C"/>
                </a:solidFill>
                <a:latin typeface="Meiryo"/>
              </a:rPr>
              <a:t>Copilot Studio／M365アプリの使い分け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3575304"/>
            <a:ext cx="46177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CS・Power Automate・SharePoint・Teams・Forms・Outlook等を助言。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01968" y="4133088"/>
            <a:ext cx="128016" cy="128016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404164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385C"/>
                </a:solidFill>
                <a:latin typeface="Meiryo"/>
              </a:rPr>
              <a:t>実現可能性・制約の早期論点化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4325112"/>
            <a:ext cx="46177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外部Web参照・M365外連携・共有フォルダ・情報区分・本番移行など。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0"/>
                </a:solidFill>
                <a:latin typeface="Meiryo"/>
              </a:rPr>
              <a:t>第2回は「企画書提出後の棚卸し」。特に外部参照禁止・M365外連携・本番移行・手順書整備など、事務局判断や横断整理が必要な論点が増加。本資料では各チームの難易度・使用アプリの種類も比較整理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0"/>
                </a:solidFill>
                <a:latin typeface="Meiryo"/>
              </a:rPr>
              <a:t>※ 特定案への誘導は行わず、各チームの主体的な意思決定を尊重しながら技術・運用・ガバナンス面の助言を実施。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PROGRESS SUMMARY ｜ 全11チーム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各チームの状況一覧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全11チームが企画書提出を経て原則1案に整理済み。進捗レベル・難易度・10月発表の見込みとあわせて一覧化。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1124712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6B7480"/>
                </a:solidFill>
                <a:latin typeface="Meiryo"/>
              </a:rPr>
              <a:t>進捗レベル ▶ Lv1:未絞込／Lv2:2案まで／Lv3:1案確定・理解途上／Lv4:To-Be・アーキ具体化／Lv5:定量効果まで概ね完成　（第2回実施済＝1・2・3・4・5・10・11）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6B7480"/>
                </a:solidFill>
                <a:latin typeface="Meiryo"/>
              </a:rPr>
              <a:t>10月見込み（基準＝10月デモに向けた道筋の明確さ）▶ ◎:道筋明確・自走可／○:壁打ち・スコープ調整で間に合う／△:要フォロー（作るものが未確定・再設計中）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75104"/>
          <a:ext cx="11201400" cy="4503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2834640"/>
                <a:gridCol w="3611880"/>
                <a:gridCol w="822960"/>
                <a:gridCol w="160020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チーム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進捗レベル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案概要（エージェント名）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第2回の主な論点・相談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難易度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</a:rPr>
                        <a:t>10月発表 見込み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様式チェックAI（カクニンジャ）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構築の優先順位・開発フォーマット/スケジュール提示の要望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T2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受付Cエラー原因ナビ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設計相談用のプロンプト見本が欲しい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加盟店防衛マネジメント支援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外部情報参照禁止のリスクと代替策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B03A2E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T4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市場・企業分析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外部Web参照禁止で現行案がガイドラインに抵触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B03A2E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C98A1B"/>
                          </a:solidFill>
                          <a:latin typeface="Meiryo"/>
                        </a:rPr>
                        <a:t>△ 要フォロー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自動リマインド（おはようリマインドくん）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タスク列の作り方・更新に伴う運用保守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3F8F5B"/>
                          </a:solidFill>
                          <a:latin typeface="Meiryo"/>
                        </a:rPr>
                        <a:t>◎ 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T6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PPT資料作成・会議招集（Forecast ONE）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6B7480"/>
                          </a:solidFill>
                          <a:latin typeface="Meiryo"/>
                        </a:rPr>
                        <a:t>（第2回未実施）Automate/CSの使い分け・役割分担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課金精算チェック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6B7480"/>
                          </a:solidFill>
                          <a:latin typeface="Meiryo"/>
                        </a:rPr>
                        <a:t>（第2回未実施）ナレッジと入力ファイルの分離構成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3F8F5B"/>
                          </a:solidFill>
                          <a:latin typeface="Meiryo"/>
                        </a:rPr>
                        <a:t>◎ 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T8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段取りAI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6B7480"/>
                          </a:solidFill>
                          <a:latin typeface="Meiryo"/>
                        </a:rPr>
                        <a:t>（第2回未実施）1案以外を裏で進めてよいか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レビュー進捗管理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6B7480"/>
                          </a:solidFill>
                          <a:latin typeface="Meiryo"/>
                        </a:rPr>
                        <a:t>（第2回未実施）社外秘/Salesforce/メール送付可否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T10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議事録ドラフト生成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Copilot回答の信頼性・メンター定例の進め方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50" b="1">
                          <a:solidFill>
                            <a:srgbClr val="1F385C"/>
                          </a:solidFill>
                          <a:latin typeface="Meiryo"/>
                        </a:rPr>
                        <a:t>T11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10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1">
                          <a:solidFill>
                            <a:srgbClr val="252A31"/>
                          </a:solidFill>
                          <a:latin typeface="Meiryo"/>
                        </a:rPr>
                        <a:t>社内LAN問合せBot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50" b="0">
                          <a:solidFill>
                            <a:srgbClr val="252A31"/>
                          </a:solidFill>
                          <a:latin typeface="Meiryo"/>
                        </a:rPr>
                        <a:t>本番環境移行・手順書/利用ルールの完成時期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○ 概ね順調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hevron 14"/>
          <p:cNvSpPr/>
          <p:nvPr/>
        </p:nvSpPr>
        <p:spPr>
          <a:xfrm>
            <a:off x="1115568" y="242087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1335024" y="242087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1554480" y="242087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1773936" y="2420874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1993392" y="2420874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393442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1" name="Chevron 20"/>
          <p:cNvSpPr/>
          <p:nvPr/>
        </p:nvSpPr>
        <p:spPr>
          <a:xfrm>
            <a:off x="1115568" y="2800350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1335024" y="2800350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1554480" y="2800350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1773936" y="2800350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1993392" y="2800350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2772918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7" name="Chevron 26"/>
          <p:cNvSpPr/>
          <p:nvPr/>
        </p:nvSpPr>
        <p:spPr>
          <a:xfrm>
            <a:off x="1115568" y="317982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1335024" y="317982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1554480" y="317982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1773936" y="3179826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1993392" y="3179826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3152394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33" name="Chevron 32"/>
          <p:cNvSpPr/>
          <p:nvPr/>
        </p:nvSpPr>
        <p:spPr>
          <a:xfrm>
            <a:off x="1115568" y="3559302"/>
            <a:ext cx="256032" cy="146304"/>
          </a:xfrm>
          <a:prstGeom prst="chevron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1335024" y="3559302"/>
            <a:ext cx="256032" cy="146304"/>
          </a:xfrm>
          <a:prstGeom prst="chevron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1554480" y="3559302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evron 35"/>
          <p:cNvSpPr/>
          <p:nvPr/>
        </p:nvSpPr>
        <p:spPr>
          <a:xfrm>
            <a:off x="1773936" y="3559302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1993392" y="3559302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3531870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C98A1B"/>
                </a:solidFill>
                <a:latin typeface="Meiryo"/>
              </a:rPr>
              <a:t>Lv2</a:t>
            </a:r>
          </a:p>
        </p:txBody>
      </p:sp>
      <p:sp>
        <p:nvSpPr>
          <p:cNvPr id="39" name="Chevron 38"/>
          <p:cNvSpPr/>
          <p:nvPr/>
        </p:nvSpPr>
        <p:spPr>
          <a:xfrm>
            <a:off x="1115568" y="3938778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>
            <a:off x="1335024" y="3938778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>
            <a:off x="1554480" y="3938778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1773936" y="3938778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evron 42"/>
          <p:cNvSpPr/>
          <p:nvPr/>
        </p:nvSpPr>
        <p:spPr>
          <a:xfrm>
            <a:off x="1993392" y="3938778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3911346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F8F5B"/>
                </a:solidFill>
                <a:latin typeface="Meiryo"/>
              </a:rPr>
              <a:t>Lv5</a:t>
            </a:r>
          </a:p>
        </p:txBody>
      </p:sp>
      <p:sp>
        <p:nvSpPr>
          <p:cNvPr id="45" name="Chevron 44"/>
          <p:cNvSpPr/>
          <p:nvPr/>
        </p:nvSpPr>
        <p:spPr>
          <a:xfrm>
            <a:off x="1115568" y="431825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1335024" y="431825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1554480" y="431825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1773936" y="4318254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1993392" y="4318254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" y="4290822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51" name="Chevron 50"/>
          <p:cNvSpPr/>
          <p:nvPr/>
        </p:nvSpPr>
        <p:spPr>
          <a:xfrm>
            <a:off x="1115568" y="4697730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1335024" y="4697730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evron 52"/>
          <p:cNvSpPr/>
          <p:nvPr/>
        </p:nvSpPr>
        <p:spPr>
          <a:xfrm>
            <a:off x="1554480" y="4697730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1773936" y="4697730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1993392" y="4697730"/>
            <a:ext cx="256032" cy="146304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4670298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F8F5B"/>
                </a:solidFill>
                <a:latin typeface="Meiryo"/>
              </a:rPr>
              <a:t>Lv5</a:t>
            </a:r>
          </a:p>
        </p:txBody>
      </p:sp>
      <p:sp>
        <p:nvSpPr>
          <p:cNvPr id="57" name="Chevron 56"/>
          <p:cNvSpPr/>
          <p:nvPr/>
        </p:nvSpPr>
        <p:spPr>
          <a:xfrm>
            <a:off x="1115568" y="507720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evron 57"/>
          <p:cNvSpPr/>
          <p:nvPr/>
        </p:nvSpPr>
        <p:spPr>
          <a:xfrm>
            <a:off x="1335024" y="507720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evron 58"/>
          <p:cNvSpPr/>
          <p:nvPr/>
        </p:nvSpPr>
        <p:spPr>
          <a:xfrm>
            <a:off x="1554480" y="507720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evron 59"/>
          <p:cNvSpPr/>
          <p:nvPr/>
        </p:nvSpPr>
        <p:spPr>
          <a:xfrm>
            <a:off x="1773936" y="5077206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evron 60"/>
          <p:cNvSpPr/>
          <p:nvPr/>
        </p:nvSpPr>
        <p:spPr>
          <a:xfrm>
            <a:off x="1993392" y="5077206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0280" y="5049774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  <p:sp>
        <p:nvSpPr>
          <p:cNvPr id="63" name="Chevron 62"/>
          <p:cNvSpPr/>
          <p:nvPr/>
        </p:nvSpPr>
        <p:spPr>
          <a:xfrm>
            <a:off x="1115568" y="5456682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evron 63"/>
          <p:cNvSpPr/>
          <p:nvPr/>
        </p:nvSpPr>
        <p:spPr>
          <a:xfrm>
            <a:off x="1335024" y="5456682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evron 64"/>
          <p:cNvSpPr/>
          <p:nvPr/>
        </p:nvSpPr>
        <p:spPr>
          <a:xfrm>
            <a:off x="1554480" y="5456682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evron 65"/>
          <p:cNvSpPr/>
          <p:nvPr/>
        </p:nvSpPr>
        <p:spPr>
          <a:xfrm>
            <a:off x="1773936" y="5456682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evron 66"/>
          <p:cNvSpPr/>
          <p:nvPr/>
        </p:nvSpPr>
        <p:spPr>
          <a:xfrm>
            <a:off x="1993392" y="5456682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429250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69" name="Chevron 68"/>
          <p:cNvSpPr/>
          <p:nvPr/>
        </p:nvSpPr>
        <p:spPr>
          <a:xfrm>
            <a:off x="1115568" y="5836158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evron 69"/>
          <p:cNvSpPr/>
          <p:nvPr/>
        </p:nvSpPr>
        <p:spPr>
          <a:xfrm>
            <a:off x="1335024" y="5836158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evron 70"/>
          <p:cNvSpPr/>
          <p:nvPr/>
        </p:nvSpPr>
        <p:spPr>
          <a:xfrm>
            <a:off x="1554480" y="5836158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evron 71"/>
          <p:cNvSpPr/>
          <p:nvPr/>
        </p:nvSpPr>
        <p:spPr>
          <a:xfrm>
            <a:off x="1773936" y="5836158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evron 72"/>
          <p:cNvSpPr/>
          <p:nvPr/>
        </p:nvSpPr>
        <p:spPr>
          <a:xfrm>
            <a:off x="1993392" y="5836158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0280" y="5808726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  <p:sp>
        <p:nvSpPr>
          <p:cNvPr id="75" name="Chevron 74"/>
          <p:cNvSpPr/>
          <p:nvPr/>
        </p:nvSpPr>
        <p:spPr>
          <a:xfrm>
            <a:off x="1115568" y="621563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evron 75"/>
          <p:cNvSpPr/>
          <p:nvPr/>
        </p:nvSpPr>
        <p:spPr>
          <a:xfrm>
            <a:off x="1335024" y="621563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evron 76"/>
          <p:cNvSpPr/>
          <p:nvPr/>
        </p:nvSpPr>
        <p:spPr>
          <a:xfrm>
            <a:off x="1554480" y="621563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evron 77"/>
          <p:cNvSpPr/>
          <p:nvPr/>
        </p:nvSpPr>
        <p:spPr>
          <a:xfrm>
            <a:off x="1773936" y="6215634"/>
            <a:ext cx="256032" cy="146304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evron 78"/>
          <p:cNvSpPr/>
          <p:nvPr/>
        </p:nvSpPr>
        <p:spPr>
          <a:xfrm>
            <a:off x="1993392" y="6215634"/>
            <a:ext cx="256032" cy="146304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6188202"/>
            <a:ext cx="45720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APPS ・ DIFFICULTY ・ VOLUME ｜ チーム別比較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使用アプリ（想定）・難易度・ボリュームの比較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9728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52A31"/>
                </a:solidFill>
                <a:latin typeface="Meiryo"/>
              </a:rPr>
              <a:t>各チームの取り組みに対して「想定される」使用アプリ（企画書＋相談会ベースの予想）を列で可視化し、難易度・ボリュームを併記（メンター担当検討の材料）。色タイル＝使用アプリ。全チームがCopilot Studioを使用。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609344"/>
          <a:ext cx="11201400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783080"/>
                <a:gridCol w="64008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548640"/>
              </a:tblGrid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</a:rPr>
                        <a:t>チーム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</a:rPr>
                        <a:t>案概要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</a:rPr>
                        <a:t>難易度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Copilot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Studio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Power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Automate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Share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Point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Teams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Outlook</a:t>
                      </a:r>
                    </a:p>
                  </a:txBody>
                  <a:tcPr marL="63500" marR="63500" marT="25400" marB="25400" anchor="ctr">
                    <a:solidFill>
                      <a:srgbClr val="0A6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Forms</a:t>
                      </a:r>
                    </a:p>
                  </a:txBody>
                  <a:tcPr marL="63500" marR="63500" marT="25400" marB="25400" anchor="ctr">
                    <a:solidFill>
                      <a:srgbClr val="1F8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252A31"/>
                          </a:solidFill>
                          <a:latin typeface="Meiryo"/>
                        </a:rPr>
                        <a:t>Power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252A31"/>
                          </a:solidFill>
                          <a:latin typeface="Meiryo"/>
                        </a:rPr>
                        <a:t>BI</a:t>
                      </a:r>
                    </a:p>
                  </a:txBody>
                  <a:tcPr marL="63500" marR="63500" marT="25400" marB="25400" anchor="ctr">
                    <a:solidFill>
                      <a:srgbClr val="E3B1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Excel</a:t>
                      </a:r>
                    </a:p>
                  </a:txBody>
                  <a:tcPr marL="63500" marR="63500" marT="25400" marB="25400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Word/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PPT</a:t>
                      </a:r>
                    </a:p>
                  </a:txBody>
                  <a:tcPr marL="63500" marR="63500" marT="25400" marB="25400" anchor="ctr">
                    <a:solidFill>
                      <a:srgbClr val="B04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外部/</a:t>
                      </a:r>
                    </a:p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その他</a:t>
                      </a:r>
                    </a:p>
                  </a:txBody>
                  <a:tcPr marL="63500" marR="63500" marT="25400" marB="25400" anchor="ctr">
                    <a:solidFill>
                      <a:srgbClr val="6B72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</a:rPr>
                        <a:t>ボリューム</a:t>
                      </a:r>
                    </a:p>
                  </a:txBody>
                  <a:tcPr marL="63500" marR="63500" marT="25400" marB="25400" anchor="ctr">
                    <a:solidFill>
                      <a:srgbClr val="1F385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様式チェックAI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T2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受付Cエラー原因ナビ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加盟店防衛マネジメント支援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B03A2E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E3B1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6B72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E8833A"/>
                          </a:solidFill>
                          <a:latin typeface="Meiryo"/>
                        </a:rPr>
                        <a:t>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T4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市場・企業分析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B03A2E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B04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6B72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C98A1B"/>
                          </a:solidFill>
                          <a:latin typeface="Meiryo"/>
                        </a:rPr>
                        <a:t>中〜大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自動リマインド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1F8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T6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PPT資料作成・会議招集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A6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B04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E8833A"/>
                          </a:solidFill>
                          <a:latin typeface="Meiryo"/>
                        </a:rPr>
                        <a:t>大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課金精算チェック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6B72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T8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段取りAI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A6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レビュー進捗管理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B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A6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6B72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E8833A"/>
                          </a:solidFill>
                          <a:latin typeface="Meiryo"/>
                        </a:rPr>
                        <a:t>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T10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議事録ドラフト生成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B04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2E8B9E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50" b="1">
                          <a:solidFill>
                            <a:srgbClr val="1F385C"/>
                          </a:solidFill>
                          <a:latin typeface="Meiryo"/>
                        </a:rPr>
                        <a:t>T11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1">
                          <a:solidFill>
                            <a:srgbClr val="252A31"/>
                          </a:solidFill>
                          <a:latin typeface="Meiryo"/>
                        </a:rPr>
                        <a:t>社内LAN問合せBot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C98A1B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745C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036C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 marL="63500" marR="63500" marT="25400" marB="25400" anchor="ctr">
                    <a:solidFill>
                      <a:srgbClr val="4B53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00" b="0">
                          <a:solidFill>
                            <a:srgbClr val="252A31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850" b="1">
                          <a:solidFill>
                            <a:srgbClr val="E8833A"/>
                          </a:solidFill>
                          <a:latin typeface="Meiryo"/>
                        </a:rPr>
                        <a:t>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5897880"/>
            <a:ext cx="11201400" cy="60350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925312"/>
            <a:ext cx="108356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252A31"/>
                </a:solidFill>
                <a:latin typeface="Meiryo"/>
              </a:rPr>
              <a:t>●＝想定される使用アプリ（列見出しの色＝各アプリ）。全チームがCopilot Studioを使用。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252A31"/>
                </a:solidFill>
                <a:latin typeface="Meiryo"/>
              </a:rPr>
              <a:t>「ボリューム」＝企画着手〜実業務での利用開始（リリース）までに必要な総作業量（開発対象＝エージェント/フロー＋読み込むナレッジ/資料の整備＋連携・権限・本番移行・運用/展開）。10月デモではなく実運用まで／小・中・大で暫定評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ISSUE CATEGORIZATION ｜ 横断的な論点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質疑で挙がった課題の整理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52144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2A31"/>
                </a:solidFill>
                <a:latin typeface="Meiryo"/>
              </a:rPr>
              <a:t>第2回の相談会（チーム1・2・3・4・5・10・11）で実際に挙がった論点のみを整理。構築に向けた具体的な進め方・制約・展開に関する相談が中心。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554480"/>
          <a:ext cx="1120139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589788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カテゴリ（第2回で挙がった論点）</a:t>
                      </a:r>
                    </a:p>
                  </a:txBody>
                  <a:tcPr marL="63500" marR="63500" marT="25400" marB="25400" anchor="ctr">
                    <a:solidFill>
                      <a:srgbClr val="2E8B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主な内容</a:t>
                      </a:r>
                    </a:p>
                  </a:txBody>
                  <a:tcPr marL="63500" marR="63500" marT="25400" marB="25400" anchor="ctr">
                    <a:solidFill>
                      <a:srgbClr val="2E8B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該当チーム</a:t>
                      </a:r>
                    </a:p>
                  </a:txBody>
                  <a:tcPr marL="63500" marR="63500" marT="25400" marB="25400" anchor="ctr">
                    <a:solidFill>
                      <a:srgbClr val="2E8B9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外部サイト参照・Web検索の制約／案の再設計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外部Web・IR情報の取得は原則禁止（相手先サーバ負荷・訴訟リスク）。抵触する案は練り直しが必要。代替は事前取得してナレッジ化。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3, 4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開発の進め方・基本フォーマット／スケジュール提示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何を優先しどの手順で進めるかの基本フォーマットが欲しい。8〜9月のスケジュール案内の要望。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1, 5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設計相談の進め方・プロンプト見本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成果物の作り方・使うアプリ・設定をCopilotチャットで相談する型と、プロンプト見本の提供要望。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1, 2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8月デモ設計・効果の見極め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タスク列を仮決め→サンプル数件→Automateで一本通すMVP。整形/ドラフトのみで効果が出るかの見極め。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4, 5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Copilot回答の信頼性・検証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Copilotチャットの回答をそのまま信じてよいか。根拠提示を求め、画面操作・実検証で精度を確認。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本番環境移行・展開時期・社内申請フロー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開発環境→本番環境移行の申請/決裁フロー、年度末（3月末）展開を見据えたスピード感・フェーズ設定。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手順書・利用ルール／運用保守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手順書・利用ルールの整備時期（項目出し・全量把握が重要）。Copilot Studio更新に伴う運用保守の懸念。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5, 11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930" b="1">
                          <a:solidFill>
                            <a:srgbClr val="1F385C"/>
                          </a:solidFill>
                          <a:latin typeface="Meiryo"/>
                        </a:rPr>
                        <a:t>メンター制・今後の進め方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8000"/>
                        </a:lnSpc>
                      </a:pPr>
                      <a:r>
                        <a:rPr sz="880" b="0">
                          <a:solidFill>
                            <a:srgbClr val="252A31"/>
                          </a:solidFill>
                          <a:latin typeface="Meiryo"/>
                        </a:rPr>
                        <a:t>8月以降のメンター定例（週次/隔週）の進め方を事務局から案内予定。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8000"/>
                        </a:lnSpc>
                      </a:pPr>
                      <a:r>
                        <a:rPr sz="900" b="1">
                          <a:solidFill>
                            <a:srgbClr val="252A31"/>
                          </a:solidFill>
                          <a:latin typeface="Meiryo"/>
                        </a:rPr>
                        <a:t>2, 10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4754880"/>
            <a:ext cx="11201400" cy="566928"/>
          </a:xfrm>
          <a:prstGeom prst="rect">
            <a:avLst/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754880"/>
            <a:ext cx="118872" cy="56692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82312"/>
            <a:ext cx="106984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52A31"/>
                </a:solidFill>
                <a:latin typeface="Meiryo"/>
              </a:rPr>
              <a:t>▲ 重要：外部Web参照・M365外システム連携・個人情報/機密情報の取り扱いはガイドライン上の制約がある。これらに依存する案は抵触時に再設計が必要となるため、可否は早めに事務局へ確認を（第2回ではチーム3・4が該当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OVERALL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全体総括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234440"/>
            <a:ext cx="11201400" cy="10515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37160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Meiryo"/>
              </a:rPr>
              <a:t>第1回→第2回で「未集約」チームは解消し、各チームが構築フェーズの具体論点へ移行。一方、外部Web参照・M365外連携・ファイル格納場所など、実装前に事務局判断が必要な論点が明確化した。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42032"/>
            <a:ext cx="3611880" cy="2423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42032"/>
            <a:ext cx="3611880" cy="50292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615184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</a:rPr>
              <a:t>先行・順調なチーム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255264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163824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T5：業務フロー・効果試算・M365標準活用が具体化。8月デモ化に着手可能。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3822192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30752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T7：固定ナレッジ＋入力ファイル照合の構成が明確。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4389120"/>
            <a:ext cx="91440" cy="9144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297680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T10・11：構成・前提は見えており、権限・運用項目の洗い出しが次フェーズ。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42032"/>
            <a:ext cx="3611880" cy="2423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542032"/>
            <a:ext cx="3611880" cy="50292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2615184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</a:rPr>
              <a:t>留意・支援が必要なチーム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3255264"/>
            <a:ext cx="91440" cy="9144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163824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T4：外部Web参照禁止で企画の中核が抵触し再設計中。作るものの再定義が最優先（唯一の△）。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3822192"/>
            <a:ext cx="91440" cy="9144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730752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T3・9：難易度・ボリュームが大。データのOK/NG整理とスコープ設定が前提（道筋はあり）。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8848" y="4389120"/>
            <a:ext cx="91440" cy="91440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4297680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T1・2・6：開発手順の型・プロンプト見本・アプリ使い分けの提供で加速。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2542032"/>
            <a:ext cx="3611880" cy="2423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542032"/>
            <a:ext cx="3611880" cy="50292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2615184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</a:rPr>
              <a:t>事務局からの提言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3255264"/>
            <a:ext cx="91440" cy="9144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3163824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ガバナンス判断を早めに（外部Web・M365外連携・社外秘ファイル読込）。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8" y="3822192"/>
            <a:ext cx="91440" cy="9144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3730752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8月は「一本通るデモ」優先。入力→処理→出力の流れを示す。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8" y="4389120"/>
            <a:ext cx="91440" cy="9144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4297680"/>
            <a:ext cx="3063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9月は発表資料・削減効果・運用項目・手順書/利用ルールの棚卸し。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1389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5C"/>
                </a:solidFill>
                <a:latin typeface="Meiryo"/>
              </a:rPr>
              <a:t>全体スケジュール</a:t>
            </a:r>
          </a:p>
        </p:txBody>
      </p:sp>
      <p:sp>
        <p:nvSpPr>
          <p:cNvPr id="42" name="Chevron 41"/>
          <p:cNvSpPr/>
          <p:nvPr/>
        </p:nvSpPr>
        <p:spPr>
          <a:xfrm>
            <a:off x="502920" y="5440680"/>
            <a:ext cx="1993392" cy="53035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7/9〜13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事前相談会①</a:t>
            </a:r>
          </a:p>
        </p:txBody>
      </p:sp>
      <p:sp>
        <p:nvSpPr>
          <p:cNvPr id="43" name="Chevron 42"/>
          <p:cNvSpPr/>
          <p:nvPr/>
        </p:nvSpPr>
        <p:spPr>
          <a:xfrm>
            <a:off x="2359151" y="5440680"/>
            <a:ext cx="1993392" cy="530352"/>
          </a:xfrm>
          <a:prstGeom prst="chevron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〜7/17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企画書提出</a:t>
            </a:r>
          </a:p>
        </p:txBody>
      </p:sp>
      <p:sp>
        <p:nvSpPr>
          <p:cNvPr id="44" name="Chevron 43"/>
          <p:cNvSpPr/>
          <p:nvPr/>
        </p:nvSpPr>
        <p:spPr>
          <a:xfrm>
            <a:off x="4215382" y="5440680"/>
            <a:ext cx="1993392" cy="530352"/>
          </a:xfrm>
          <a:prstGeom prst="chevron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7/22〜24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事前相談会②（今回）</a:t>
            </a:r>
          </a:p>
        </p:txBody>
      </p:sp>
      <p:sp>
        <p:nvSpPr>
          <p:cNvPr id="45" name="Chevron 44"/>
          <p:cNvSpPr/>
          <p:nvPr/>
        </p:nvSpPr>
        <p:spPr>
          <a:xfrm>
            <a:off x="6071613" y="5440680"/>
            <a:ext cx="1993392" cy="530352"/>
          </a:xfrm>
          <a:prstGeom prst="chevron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8月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構築・デモ化</a:t>
            </a:r>
          </a:p>
        </p:txBody>
      </p:sp>
      <p:sp>
        <p:nvSpPr>
          <p:cNvPr id="46" name="Chevron 45"/>
          <p:cNvSpPr/>
          <p:nvPr/>
        </p:nvSpPr>
        <p:spPr>
          <a:xfrm>
            <a:off x="7927844" y="5440680"/>
            <a:ext cx="1993392" cy="530352"/>
          </a:xfrm>
          <a:prstGeom prst="chevron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9月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発表準備・運用整理</a:t>
            </a:r>
          </a:p>
        </p:txBody>
      </p:sp>
      <p:sp>
        <p:nvSpPr>
          <p:cNvPr id="47" name="Chevron 46"/>
          <p:cNvSpPr/>
          <p:nvPr/>
        </p:nvSpPr>
        <p:spPr>
          <a:xfrm>
            <a:off x="9784075" y="5440680"/>
            <a:ext cx="1993392" cy="530352"/>
          </a:xfrm>
          <a:prstGeom prst="chevron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eiryo"/>
              </a:rPr>
              <a:t>最終発表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1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チーム1：様式チェックAI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10月見込み（○）の根拠：アプリ像は明確。開発手順の型と事務局のスケジュール提示があれば自走可（壁打ちで解消）。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カクニンジャ／加盟店提出様式の記載漏れ・形式不備を自動チェック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Studio／Copilot Chat／Excel／SharePoint（想定）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出力結果の揺れが残る。検証条件・判定基準と、AIが担う範囲/人が見る範囲の分離が必要。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第2回：構築フェーズで何を優先すべきか、開発の基本フォーマット・スケジュール提示への要望。第1回：回答範囲・フォーマット制御を確認。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8〜9月の進め方・運用設計の道筋を事務局から共有する方向。Copilot Studioは単なるチャットより回答範囲・形式を制御しやすい。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チェック項目を分解し、AI判断・自動化・人手確認の境界を設計。サンプル様式で再現性を確認。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2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チーム2：受付Cエラー原因ナビ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10月見込み（○）の根拠：対象エラーと回答テンプレを絞ればMVP化可。プロンプト見本で加速。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受付Cエラー原因ナビゲーター／カード会社向けセルフ解決エージェント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Studio／SharePoint／Teams・Web UI／Power Automate（想定）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エラーファイルの取り込み形式と、回答根拠となるFAQ・ガイドの整備が成否を左右。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第2回：設計内容を相談する際のプロンプト見本が欲しいとの要望。第1回：Excel/PDF読込精度が論点。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企画内容を貼り付け、必要な設定・使うべきアプリ・構成案をCopilot Chatに確認する進め方を助言。Excel/PDFは試行で見極める。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代表的なエラーパターンと回答テンプレートを絞り、MVP対象の入力・出力例を作成。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3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チーム3：加盟店防衛マネジメント支援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10月見込み（○）の根拠：エージェント構想は明確。使用データのOK/NGを整理しスコープを絞れば発表可（ボリューム大）。　｜　ボリューム（〜実業務利用）：大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加盟店防衛マネジメントエージェント／営業データ統合・リスク分析・訪問前サマリ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Power Automate／Power Query／SharePoint／Power BI／Copilot Studio／Salesforce・N-MARK等（取得可否が論点）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外部情報・Salesforce等の取得制約が大きい。データソースの棚卸しとOK/NG判断が必要。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第2回：外部IR等を参照したいが外部情報参照禁止のリスクと代替策。やりたいこと起点で考えるべきかも確認。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外部サイト自動参照は先方サイト負荷・リスク観点で原則NG。必要なら事前取得資料をナレッジ化。To-Beは既存フローに引きずられず設計。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使用データをM365内・M365外・外部Webに分類し、MVPで扱う範囲を再定義。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4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チーム4：市場・企業分析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8A1B"/>
                </a:solidFill>
                <a:latin typeface="Meiryo"/>
              </a:rPr>
              <a:t>Lv2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10月見込み（△）の根拠：外部Web参照禁止で企画の中核が抵触。代替ユースケースが未確定で再設計中＝作るものが定まっていない。　｜　ボリューム（〜実業務利用）：中〜大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市場・企業分析エージェント／企業名・キーワード起点の調査・提案書生成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Studio／Power Automate／SharePoint／Teams／Word・PPT／外部Web・RSS・APIは原則不可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企画価値の中心が外部情報取得の場合、ハッカソン条件下では実装効果が大きく低下。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第2回：外部サイトの情報取得が原則禁止となり、現行案がガイドラインに抵触する可能性を確認。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Webサーチを主機能とする場合は案の練り直しが必要。内部資料の整形・ドラフト化だけで効果が出るかを検討するよう助言。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外部参照なしで成立するユースケースへ再設計。過去調査DB・社内資料ベースの差分整理などに軸足変更を検討。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5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チーム5：自動リマインド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8F5B"/>
                </a:solidFill>
                <a:latin typeface="Meiryo"/>
              </a:rPr>
              <a:t>Lv5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10月見込み（◎）の根拠：業務フロー・効果・構成が具体化。8月デモの道筋が明確。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おはようリマインドくん／依頼事項の登録・通知・回答集約・未回答リマインド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Studio／Microsoft Forms／Power Automate／Teams／管理ダッシュボード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運用定着と依頼元の入力ルールが鍵。リマインド設計・回答形式の標準化が必要。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第2回：タスク列構成をどう始めるか、Copilot Studio更新に伴う運用保守リスク。第1回：共有フォルダ参照制約。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まずタスク列を仮決めし、3件程度のサンプルを作成してAutomateから一本通す。クラウド更新に伴う不具合は運用保守観点で考慮。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MVPは「1依頼登録→対象者通知→回答集約→未回答リマインド」の一連実行を8月中にデモ化。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6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チーム6：PPT資料作成・会議招集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難易度：中〜高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第2回：未実施（第1回＋企画書）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10月見込み（○）の根拠：構成は明確。ファイル収集/PPT生成/会議通知の役割分担を分けて検証すれば発表可（第2回未実施）。　｜　ボリューム（〜実業務利用）：大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Forecast ONE／フォーキャスト会議の資料作成と会議招集を自動化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Studio／Power Automate／SharePoint・OneDrive／Outlook／Teams／PowerPoint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ファイルサーバ・OneDrive/SharePoint格納、PPTの自動生成、会議招集の自動化可否を分けて検証が必要。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第2回トランスクリプト未添付。第1回：AutomateとCopilot Studioの違い、研修スケジュール、相談先を確認。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AutomateはAIではなく自動化ツールだが時間削減に重要。ファイル収集・PPT生成・会議通知の役割分担を明確化する必要。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3つの入力ファイル・前月PPT・出力PPT・会議通知のデータフローをM365内で再設計。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7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チーム7：課金精算チェック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8F5B"/>
                </a:solidFill>
                <a:latin typeface="Meiryo"/>
              </a:rPr>
              <a:t>Lv5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第2回：未実施（第1回＋企画書）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10月見込み（◎）の根拠：固定ナレッジ＋入力照合の構成が明確で実現性が高い（第2回未実施）。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加盟店課金精算チェックエージェント／請求・N-Mark・J-SCRUM・CNCデータの突合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Studio／SharePoint／ExcelまたはCSV／手動取得データ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外部システム連携は行わず人手取得データを前提。ファイル命名・フォルダ構成の維持が前提条件。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第2回トランスクリプト未添付。第1回：判断基準（ナレッジ）と毎月の入力ファイルを分ける構成を確認。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固定のチェックリストをナレッジとし、毎月の入力ファイルを都度読み込ませて照合・修正出力する設計は実現しやすい。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MVPは3種類程度のデータと固定チェック項目で突合結果レポートを作成。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8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チーム8：段取りAI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第2回：未実施（第1回＋企画書）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10月見込み（○）の根拠：会議調整/タスク抽出のどちらを軸にするか決めれば1本デモ可（第2回未実施）。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段取（Dandori）AI／会議調整・タスク整理・レビュー観点の蓄積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Studio／Power Automate／Outlook／Teams／SharePoint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予定表・会議室・メールへの権限、退職者除外や対象者候補の整備が必要。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第2回トランスクリプト未添付。第1回：発表対象の1案以外を裏で作ってよいかを確認。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最終発表は1案だが、2案目を並行して進めることは可。会議調整・タスク抽出を主軸に、レビュー観点蓄積は付加価値と整理。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会議調整とタスク抽出のどちらをMVPの中心にするかを確定し、1本のデモシナリオを作る。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9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チーム9：レビュー進捗管理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難易度：中〜高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第2回：未実施（第1回＋企画書）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10月見込み（○）の根拠：管理ツール構想は明確。社外秘/連携は別論点化し、メール検知→管理表→下書きに絞れば発表可（第2回未実施）。　｜　ボリューム（〜実業務利用）：大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レビュー進捗管理アシスタント／レビュー対象一覧・依頼・完了確認・リマインド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Studio／Power Automate／Outlook／Excel／Teams／共有ファイルサーバ（制約あり）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開発中案件・社外秘情報の扱い、ファイルサーバ参照、メール自動送信の可否を整理する必要。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第2回トランスクリプト未添付。第1回：社外秘ファイルやSalesforce取得、メール下書き・送付可否が論点。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管理ツール化の色が強くCopilot Studioで作りやすい一方、社外秘・共有サーバ・Salesforce等の扱いは事務局判断が必要。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まずメール検知→管理表反映→下書き作成までを対象に絞り、ファイルサーバ処理は別論点化。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10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チーム10：議事録ドラフト生成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10月見込み（○）の根拠：構成は明確。トランスクリプト権限とドラフト品質の検証を進めれば発表可。　｜　ボリューム（〜実業務利用）：中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対面クライテリア議事録ドラフト生成／資料・トランスクリプト・出席者情報から議事録を生成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Studio／Teamsトランスクリプト／SharePoint／議事録フォーマット／Word（想定）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トランスクリプト取得権限、会議形式・ライセンス、フォーマット転記の精度検証が必要。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第2回：Copilot Chatの回答をそのまま信じてよいか、今後のメンター定例の進め方を確認。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Copilot回答は必ず正解とは限らないため、根拠提示を求め画面操作・実検証で確認。8〜9月はメンター定例で伴走予定。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サンプル会議資料・トランスクリプト・議事録テンプレを用意し、ドラフト生成品質を確認。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778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FD3E0"/>
                </a:solidFill>
                <a:latin typeface="Meiryo"/>
              </a:rPr>
              <a:t>TEAM 11 DETAIL ｜ 状況整理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84048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eiryo"/>
              </a:rPr>
              <a:t>チーム11：社内LAN問合せBot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37160"/>
            <a:ext cx="1051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FD3E0"/>
                </a:solidFill>
                <a:latin typeface="Meiryo"/>
              </a:rPr>
              <a:t>16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Microsoft 365 Copilot Studio 活用ハッカソン｜第2回 事前相談会 報告（2026/7/22〜24）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5615" y="6574536"/>
            <a:ext cx="24231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A939E"/>
                </a:solidFill>
                <a:latin typeface="Meiryo"/>
              </a:rPr>
              <a:t>社外秘 /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34440"/>
            <a:ext cx="1234440" cy="384048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1案 絞込済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16152"/>
            <a:ext cx="8229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Meiryo"/>
              </a:rPr>
              <a:t>進捗</a:t>
            </a:r>
          </a:p>
        </p:txBody>
      </p:sp>
      <p:sp>
        <p:nvSpPr>
          <p:cNvPr id="14" name="Chevron 13"/>
          <p:cNvSpPr/>
          <p:nvPr/>
        </p:nvSpPr>
        <p:spPr>
          <a:xfrm>
            <a:off x="2395728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42616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889504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136392" y="1344168"/>
            <a:ext cx="274320" cy="164592"/>
          </a:xfrm>
          <a:prstGeom prst="chevron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383280" y="1344168"/>
            <a:ext cx="274320" cy="164592"/>
          </a:xfrm>
          <a:prstGeom prst="chevron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1216152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8B9E"/>
                </a:solidFill>
                <a:latin typeface="Meiryo"/>
              </a:rPr>
              <a:t>Lv4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234440"/>
            <a:ext cx="1554480" cy="384048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難易度：中〜高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234440"/>
            <a:ext cx="2194560" cy="384048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10月見込み：○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234440"/>
            <a:ext cx="3200400" cy="384048"/>
          </a:xfrm>
          <a:prstGeom prst="round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第2回：実施済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1120140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52A31"/>
                </a:solidFill>
                <a:latin typeface="Meiryo"/>
              </a:rPr>
              <a:t>▶ 10月見込み（○）の根拠：構成・前提は明確。FAQ整備・本番移行・運用項目の洗い出しを進めれば発表可。　｜　ボリューム（〜実業務利用）：大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1975104"/>
            <a:ext cx="3593592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取り組み内容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社内LAN問い合わせチャットボット／FAQ・申請種別案内の一次受付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1975104"/>
            <a:ext cx="3593592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使用アプリ・データ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Copilot Studio／SharePointナレッジ／TeamsまたはチャットUI／FAQ整備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975104"/>
            <a:ext cx="3593592" cy="14447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1975104"/>
            <a:ext cx="3593592" cy="3657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20824"/>
            <a:ext cx="326440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リスク・論点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32304"/>
            <a:ext cx="3264408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52A31"/>
                </a:solidFill>
                <a:latin typeface="Meiryo"/>
              </a:rPr>
              <a:t>FAQ整備、参照先ナレッジの品質、本番環境移行、利用ルール・運用保守が焦点。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5504688" cy="36576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主な質問・相談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第2回：開発環境から本番環境への移行、年度末展開、手順書・利用ルールを社長報告までに完了すべきか。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3566160"/>
            <a:ext cx="5504688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3566160"/>
            <a:ext cx="5504688" cy="36576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517550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</a:rPr>
              <a:t>回答・助言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005072"/>
            <a:ext cx="5175504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252A31"/>
                </a:solidFill>
                <a:latin typeface="Meiryo"/>
              </a:rPr>
              <a:t>手順書は完成していれば望ましいが10月時点では準備中でも可。項目出しと全量把握が重要。本番移行は社内申請フローを要確認。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1201400" cy="8686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102352"/>
            <a:ext cx="118872" cy="868680"/>
          </a:xfrm>
          <a:prstGeom prst="rect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75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85C"/>
                </a:solidFill>
                <a:latin typeface="Meiryo"/>
              </a:rPr>
              <a:t>ネクストアクション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52A31"/>
                </a:solidFill>
                <a:latin typeface="Meiryo"/>
              </a:rPr>
              <a:t>FAQをCopilot Studioが処理しやすい形式に整備し、Ph1→Ph2→Ph3展開の運用項目を洗い出す。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