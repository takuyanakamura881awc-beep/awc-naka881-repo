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MICROSOFT 365 COPILOT STUDIO 活用ハッカソン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第2回 事前相談会の目的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52A31"/>
                </a:solidFill>
                <a:latin typeface="Meiryo"/>
              </a:rPr>
              <a:t>7月22日〜24日に実施した第2回 事前相談会では、第1回後に提出された各チームの企画書を前提に、構築フェーズへ進むための「進捗確認」「技術論点の整理」「ネクストアクションの明確化」を行った。本資料では、各チームの状況を一覧・個票で整理し、あわせて難易度・使用アプリの種類・10月発表の見込みを比較整理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394960" cy="7772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進行面 ｜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進捗確認・伴走支援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383280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各チームの進捗状況の確認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1案の具体化・構築着手に向けた準備度を確認。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133088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ネクストアクションの整理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8月デモ化／9月発表準備／10月役職者向け発表に向け優先順位を明確化。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377440"/>
            <a:ext cx="5394960" cy="7772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技術面 ｜ TECHNOLOGY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適合性・実現可能性の助言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383280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Copilot Studio／M365アプリの使い分け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CS・Power Automate・SharePoint・Teams・Forms・Outlook等を助言。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01968" y="4133088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実現可能性・制約の早期論点化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142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外部Web参照・M365外連携・共有フォルダ・情報区分・本番移行など。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7480"/>
                </a:solidFill>
                <a:latin typeface="Meiryo"/>
              </a:rPr>
              <a:t>第2回は「企画書提出後の棚卸し」。特に外部参照禁止・M365外連携・本番移行・手順書整備など、事務局判断や横断整理が必要な論点が増加。本資料では各チームの難易度・使用アプリの種類も比較整理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0"/>
                </a:solidFill>
                <a:latin typeface="Meiryo"/>
              </a:rPr>
              <a:t>※ 特定案への誘導は行わず、各チームの主体的な意思決定を尊重しながら技術・運用・ガバナンス面の助言を実施。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PROGRESS SUMMARY ｜ 全11チーム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各チームの状況一覧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全11チームが企画書提出を経て原則1案に整理済み。進捗レベル・難易度・10月発表の見込みとあわせて一覧化。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46304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進捗レベル ▶ Lv1:未絞込／Lv2:2案まで／Lv3:1案確定・理解途上／Lv4:To-Be・アーキ具体化／Lv5:定量効果まで概ね完成　／　10月見込み ◎:順調 ○:概ね ○ △:要フォロー　（第2回実施済＝1・2・3・4・5・10・11）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75104"/>
          <a:ext cx="11201400" cy="450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828800"/>
                <a:gridCol w="2834640"/>
                <a:gridCol w="3611880"/>
                <a:gridCol w="822960"/>
                <a:gridCol w="1600200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進捗レベル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案概要（エージェント名）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第2回の主な論点・相談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10月発表 見込み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様式チェックAI（カクニンジャ）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構築の優先順位・開発フォーマット/スケジュール提示の要望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設計相談用のプロンプト見本が欲しい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外部情報参照禁止のリスクと代替策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△ 要フォロー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外部Web参照禁止で現行案がガイドラインに抵触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△ 要フォロー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自動リマインド（おはようリマインドくん）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タスク列の作り方・更新に伴う運用保守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3F8F5B"/>
                          </a:solidFill>
                          <a:latin typeface="Meiryo"/>
                        </a:rPr>
                        <a:t>◎ 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PPT資料作成・会議招集（Forecast ONE）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（第2回未実施）Automate/CSの使い分け・役割分担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（第2回未実施）ナレッジと入力ファイルの分離構成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3F8F5B"/>
                          </a:solidFill>
                          <a:latin typeface="Meiryo"/>
                        </a:rPr>
                        <a:t>◎ 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（第2回未実施）1案以外を裏で進めてよいか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（第2回未実施）社外秘/Salesforce/メール送付可否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△ 要フォロー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Copilot回答の信頼性・メンター定例の進め方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本番環境移行・手順書/利用ルールの完成時期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hevron 14"/>
          <p:cNvSpPr/>
          <p:nvPr/>
        </p:nvSpPr>
        <p:spPr>
          <a:xfrm>
            <a:off x="1115568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1335024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1554480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1773936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1993392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40280" y="239344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1" name="Chevron 20"/>
          <p:cNvSpPr/>
          <p:nvPr/>
        </p:nvSpPr>
        <p:spPr>
          <a:xfrm>
            <a:off x="1115568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1335024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1554480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1773936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1993392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277291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7" name="Chevron 26"/>
          <p:cNvSpPr/>
          <p:nvPr/>
        </p:nvSpPr>
        <p:spPr>
          <a:xfrm>
            <a:off x="1115568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1335024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1554480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1773936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1993392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80" y="315239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33" name="Chevron 32"/>
          <p:cNvSpPr/>
          <p:nvPr/>
        </p:nvSpPr>
        <p:spPr>
          <a:xfrm>
            <a:off x="1115568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1335024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1554480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1773936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1993392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40280" y="353187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39" name="Chevron 38"/>
          <p:cNvSpPr/>
          <p:nvPr/>
        </p:nvSpPr>
        <p:spPr>
          <a:xfrm>
            <a:off x="1115568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335024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1554480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1773936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1993392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40280" y="391134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45" name="Chevron 44"/>
          <p:cNvSpPr/>
          <p:nvPr/>
        </p:nvSpPr>
        <p:spPr>
          <a:xfrm>
            <a:off x="1115568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1335024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554480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hevron 47"/>
          <p:cNvSpPr/>
          <p:nvPr/>
        </p:nvSpPr>
        <p:spPr>
          <a:xfrm>
            <a:off x="1773936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1993392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40280" y="429082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51" name="Chevron 50"/>
          <p:cNvSpPr/>
          <p:nvPr/>
        </p:nvSpPr>
        <p:spPr>
          <a:xfrm>
            <a:off x="1115568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hevron 51"/>
          <p:cNvSpPr/>
          <p:nvPr/>
        </p:nvSpPr>
        <p:spPr>
          <a:xfrm>
            <a:off x="1335024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hevron 52"/>
          <p:cNvSpPr/>
          <p:nvPr/>
        </p:nvSpPr>
        <p:spPr>
          <a:xfrm>
            <a:off x="1554480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1773936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evron 54"/>
          <p:cNvSpPr/>
          <p:nvPr/>
        </p:nvSpPr>
        <p:spPr>
          <a:xfrm>
            <a:off x="1993392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40280" y="467029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57" name="Chevron 56"/>
          <p:cNvSpPr/>
          <p:nvPr/>
        </p:nvSpPr>
        <p:spPr>
          <a:xfrm>
            <a:off x="1115568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1335024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1554480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1773936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1993392" y="507720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80" y="504977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63" name="Chevron 62"/>
          <p:cNvSpPr/>
          <p:nvPr/>
        </p:nvSpPr>
        <p:spPr>
          <a:xfrm>
            <a:off x="1115568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hevron 63"/>
          <p:cNvSpPr/>
          <p:nvPr/>
        </p:nvSpPr>
        <p:spPr>
          <a:xfrm>
            <a:off x="1335024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hevron 64"/>
          <p:cNvSpPr/>
          <p:nvPr/>
        </p:nvSpPr>
        <p:spPr>
          <a:xfrm>
            <a:off x="1554480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hevron 65"/>
          <p:cNvSpPr/>
          <p:nvPr/>
        </p:nvSpPr>
        <p:spPr>
          <a:xfrm>
            <a:off x="1773936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hevron 66"/>
          <p:cNvSpPr/>
          <p:nvPr/>
        </p:nvSpPr>
        <p:spPr>
          <a:xfrm>
            <a:off x="1993392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40280" y="542925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69" name="Chevron 68"/>
          <p:cNvSpPr/>
          <p:nvPr/>
        </p:nvSpPr>
        <p:spPr>
          <a:xfrm>
            <a:off x="1115568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hevron 69"/>
          <p:cNvSpPr/>
          <p:nvPr/>
        </p:nvSpPr>
        <p:spPr>
          <a:xfrm>
            <a:off x="1335024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hevron 70"/>
          <p:cNvSpPr/>
          <p:nvPr/>
        </p:nvSpPr>
        <p:spPr>
          <a:xfrm>
            <a:off x="1554480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hevron 71"/>
          <p:cNvSpPr/>
          <p:nvPr/>
        </p:nvSpPr>
        <p:spPr>
          <a:xfrm>
            <a:off x="1773936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hevron 72"/>
          <p:cNvSpPr/>
          <p:nvPr/>
        </p:nvSpPr>
        <p:spPr>
          <a:xfrm>
            <a:off x="1993392" y="5836158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40280" y="580872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75" name="Chevron 74"/>
          <p:cNvSpPr/>
          <p:nvPr/>
        </p:nvSpPr>
        <p:spPr>
          <a:xfrm>
            <a:off x="1115568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hevron 75"/>
          <p:cNvSpPr/>
          <p:nvPr/>
        </p:nvSpPr>
        <p:spPr>
          <a:xfrm>
            <a:off x="1335024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hevron 76"/>
          <p:cNvSpPr/>
          <p:nvPr/>
        </p:nvSpPr>
        <p:spPr>
          <a:xfrm>
            <a:off x="1554480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hevron 77"/>
          <p:cNvSpPr/>
          <p:nvPr/>
        </p:nvSpPr>
        <p:spPr>
          <a:xfrm>
            <a:off x="1773936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hevron 78"/>
          <p:cNvSpPr/>
          <p:nvPr/>
        </p:nvSpPr>
        <p:spPr>
          <a:xfrm>
            <a:off x="1993392" y="621563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40280" y="618820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DIFFICULTY &amp; APPS ｜ チーム別比較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難易度・使用アプリの比較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1556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各チームの使用アプリを列（アプリ別）で可視化し、難易度・アプリ数（ボリューム）とあわせて比較（メンター担当検討の材料）。色タイル＝使用アプリ。全チームがCopilot Studioを使用。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609344"/>
          <a:ext cx="1120140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783080"/>
                <a:gridCol w="64008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548640"/>
              </a:tblGrid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</a:rPr>
                        <a:t>案概要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Copilot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Studio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Power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Automate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Share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Point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Teams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Outlook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Forms</a:t>
                      </a:r>
                    </a:p>
                  </a:txBody>
                  <a:tcPr marL="63500" marR="63500" marT="25400" marB="25400" anchor="ctr">
                    <a:solidFill>
                      <a:srgbClr val="1F8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252A31"/>
                          </a:solidFill>
                          <a:latin typeface="Meiryo"/>
                        </a:rPr>
                        <a:t>Power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252A31"/>
                          </a:solidFill>
                          <a:latin typeface="Meiryo"/>
                        </a:rPr>
                        <a:t>BI</a:t>
                      </a:r>
                    </a:p>
                  </a:txBody>
                  <a:tcPr marL="63500" marR="63500" marT="25400" marB="25400" anchor="ctr">
                    <a:solidFill>
                      <a:srgbClr val="E3B10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Excel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Word/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PPT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外部/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その他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Meiryo"/>
                        </a:rPr>
                        <a:t>アプリ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Meiryo"/>
                        </a:rPr>
                        <a:t>数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E3B10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1F8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5916168"/>
            <a:ext cx="11201400" cy="457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925312"/>
            <a:ext cx="1078992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52A31"/>
                </a:solidFill>
                <a:latin typeface="Meiryo"/>
              </a:rPr>
              <a:t>●＝使用アプリ（列見出しの色が各アプリ）。「アプリ数」＝使用アプリの種類数（実装ボリュームの目安）。難易度・見込みは暫定評価・要調整。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ISSUE CATEGORIZATION ｜ 横断的な論点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質疑で挙がった課題の整理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52144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第2回の相談会（チーム1・2・3・4・5・10・11）で実際に挙がった論点のみを整理。構築に向けた具体的な進め方・制約・展開に関する相談が中心。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554480"/>
          <a:ext cx="11201399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5897880"/>
                <a:gridCol w="1554480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カテゴリ（第2回で挙がった論点）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主な内容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該当チーム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外部サイト参照・Web検索の制約／案の再設計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外部Web・IR情報の取得は原則禁止（相手先サーバ負荷・訴訟リスク）。抵触する案は練り直しが必要。代替は事前取得してナレッジ化。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3, 4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開発の進め方・基本フォーマット／スケジュール提示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何を優先しどの手順で進めるかの基本フォーマットが欲しい。8〜9月のスケジュール案内の要望。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1, 5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設計相談の進め方・プロンプト見本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成果物の作り方・使うアプリ・設定をCopilotチャットで相談する型と、プロンプト見本の提供要望。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1, 2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8月デモ設計・効果の見極め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タスク列を仮決め→サンプル数件→Automateで一本通すMVP。整形/ドラフトのみで効果が出るかの見極め。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4, 5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Copilot回答の信頼性・検証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Copilotチャットの回答をそのまま信じてよいか。根拠提示を求め、画面操作・実検証で精度を確認。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本番環境移行・展開時期・社内申請フロー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開発環境→本番環境移行の申請/決裁フロー、年度末（3月末）展開を見据えたスピード感・フェーズ設定。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手順書・利用ルール／運用保守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手順書・利用ルールの整備時期（項目出し・全量把握が重要）。Copilot Studio更新に伴う運用保守の懸念。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5, 11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メンター制・今後の進め方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8月以降のメンター定例（週次/隔週）の進め方を事務局から案内予定。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2, 10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754880"/>
            <a:ext cx="11201400" cy="566928"/>
          </a:xfrm>
          <a:prstGeom prst="rect">
            <a:avLst/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54880"/>
            <a:ext cx="118872" cy="5669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82312"/>
            <a:ext cx="1069848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252A31"/>
                </a:solidFill>
                <a:latin typeface="Meiryo"/>
              </a:rPr>
              <a:t>▲ 重要：外部Web参照・M365外システム連携・個人情報/機密情報の取り扱いはガイドライン上の制約がある。これらに依存する案は抵触時に再設計が必要となるため、可否は早めに事務局へ確認を（第2回ではチーム3・4が該当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OVERALL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全体総括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234440"/>
            <a:ext cx="11201400" cy="10515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FFFFFF"/>
                </a:solidFill>
                <a:latin typeface="Meiryo"/>
              </a:rPr>
              <a:t>第1回→第2回で「未集約」チームは解消し、各チームが構築フェーズの具体論点へ移行。一方、外部Web参照・M365外連携・ファイル格納場所など、実装前に事務局判断が必要な論点が明確化した。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42032"/>
            <a:ext cx="3611880" cy="50292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先行・順調なチーム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3255264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T5：業務フロー・効果試算・M365標準活用が具体化。8月デモ化に着手可能。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3822192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T7：固定ナレッジ＋入力ファイル照合の構成が明確。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89120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T10・11：構成・前提は見えており、権限・運用項目の洗い出しが次フェーズ。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2542032"/>
            <a:ext cx="3611880" cy="50292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9884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フォローが必要なチーム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98848" y="3255264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T4：外部Web参照禁止で企画価値の中核が揺らぎ、再設計が必要。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822192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T3・9：Salesforce・社外秘・外部/共有サーバ等の扱いが重要論点。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98848" y="4389120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T1・2・6：構築ステップ・プロンプト例・アプリ使い分けの具体化支援が必要。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244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2440" y="2542032"/>
            <a:ext cx="3611880" cy="5029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9360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事務局からの提言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93608" y="3255264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648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ガバナンス判断を早めに（外部Web・M365外連携・社外秘ファイル読込）。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93608" y="3822192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8月は「一本通るデモ」優先。入力→処理→出力の流れを示す。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8" y="4389120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9月は発表資料・削減効果・運用項目・手順書/利用ルールの棚卸し。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13892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5C"/>
                </a:solidFill>
                <a:latin typeface="Meiryo"/>
              </a:rPr>
              <a:t>全体スケジュール</a:t>
            </a:r>
          </a:p>
        </p:txBody>
      </p:sp>
      <p:sp>
        <p:nvSpPr>
          <p:cNvPr id="42" name="Chevron 41"/>
          <p:cNvSpPr/>
          <p:nvPr/>
        </p:nvSpPr>
        <p:spPr>
          <a:xfrm>
            <a:off x="502920" y="5440680"/>
            <a:ext cx="1993392" cy="53035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7/9〜13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事前相談会①</a:t>
            </a:r>
          </a:p>
        </p:txBody>
      </p:sp>
      <p:sp>
        <p:nvSpPr>
          <p:cNvPr id="43" name="Chevron 42"/>
          <p:cNvSpPr/>
          <p:nvPr/>
        </p:nvSpPr>
        <p:spPr>
          <a:xfrm>
            <a:off x="2359151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〜7/17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企画書提出</a:t>
            </a:r>
          </a:p>
        </p:txBody>
      </p:sp>
      <p:sp>
        <p:nvSpPr>
          <p:cNvPr id="44" name="Chevron 43"/>
          <p:cNvSpPr/>
          <p:nvPr/>
        </p:nvSpPr>
        <p:spPr>
          <a:xfrm>
            <a:off x="4215382" y="5440680"/>
            <a:ext cx="1993392" cy="530352"/>
          </a:xfrm>
          <a:prstGeom prst="chevron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7/22〜24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事前相談会②（今回）</a:t>
            </a:r>
          </a:p>
        </p:txBody>
      </p:sp>
      <p:sp>
        <p:nvSpPr>
          <p:cNvPr id="45" name="Chevron 44"/>
          <p:cNvSpPr/>
          <p:nvPr/>
        </p:nvSpPr>
        <p:spPr>
          <a:xfrm>
            <a:off x="6071613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8月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構築・デモ化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7927844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9月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発表準備・運用整理</a:t>
            </a:r>
          </a:p>
        </p:txBody>
      </p:sp>
      <p:sp>
        <p:nvSpPr>
          <p:cNvPr id="47" name="Chevron 46"/>
          <p:cNvSpPr/>
          <p:nvPr/>
        </p:nvSpPr>
        <p:spPr>
          <a:xfrm>
            <a:off x="9784075" y="5440680"/>
            <a:ext cx="1993392" cy="530352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最終発表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チーム1：様式チェックAI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カクニンジャ／加盟店提出様式の記載漏れ・形式不備を自動チェック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Studio／Copilot Chat／Excel／SharePoint（想定）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出力結果の揺れが残る。検証条件・判定基準と、AIが担う範囲/人が見る範囲の分離が必要。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第2回：構築フェーズで何を優先すべきか、開発の基本フォーマット・スケジュール提示への要望。第1回：回答範囲・フォーマット制御を確認。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8〜9月の進め方・運用設計の道筋を事務局から共有する方向。Copilot Studioは単なるチャットより回答範囲・形式を制御しやすい。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チェック項目を分解し、AI判断・自動化・人手確認の境界を設計。サンプル様式で再現性を確認。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2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チーム2：受付Cエラー原因ナビ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受付Cエラー原因ナビゲーター／カード会社向けセルフ解決エージェント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Studio／SharePoint／Teams・Web UI／Power Automate（想定）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エラーファイルの取り込み形式と、回答根拠となるFAQ・ガイドの整備が成否を左右。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第2回：設計内容を相談する際のプロンプト見本が欲しいとの要望。第1回：Excel/PDF読込精度が論点。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企画内容を貼り付け、必要な設定・使うべきアプリ・構成案をCopilot Chatに確認する進め方を助言。Excel/PDFは試行で見極める。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代表的なエラーパターンと回答テンプレートを絞り、MVP対象の入力・出力例を作成。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3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チーム3：加盟店防衛マネジメント支援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加盟店防衛マネジメントエージェント／営業データ統合・リスク分析・訪問前サマリ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Power Automate／Power Query／SharePoint／Power BI／Copilot Studio／Salesforce・N-MARK等（取得可否が論点）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外部情報・Salesforce等の取得制約が大きい。データソースの棚卸しとOK/NG判断が必要。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第2回：外部IR等を参照したいが外部情報参照禁止のリスクと代替策。やりたいこと起点で考えるべきかも確認。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外部サイト自動参照は先方サイト負荷・リスク観点で原則NG。必要なら事前取得資料をナレッジ化。To-Beは既存フローに引きずられず設計。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使用データをM365内・M365外・外部Webに分類し、MVPで扱う範囲を再定義。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4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チーム4：市場・企業分析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市場・企業分析エージェント／企業名・キーワード起点の調査・提案書生成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Automate／SharePoint／Teams／Word・PPT／外部Web・RSS・APIは原則不可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企画価値の中心が外部情報取得の場合、ハッカソン条件下では実装効果が大きく低下。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第2回：外部サイトの情報取得が原則禁止となり、現行案がガイドラインに抵触する可能性を確認。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Webサーチを主機能とする場合は案の練り直しが必要。内部資料の整形・ドラフト化だけで効果が出るかを検討するよう助言。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外部参照なしで成立するユースケースへ再設計。過去調査DB・社内資料ベースの差分整理などに軸足変更を検討。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5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チーム5：自動リマインド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おはようリマインドくん／依頼事項の登録・通知・回答集約・未回答リマインド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Studio／Microsoft Forms／Power Automate／Teams／管理ダッシュボード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運用定着と依頼元の入力ルールが鍵。リマインド設計・回答形式の標準化が必要。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第2回：タスク列構成をどう始めるか、Copilot Studio更新に伴う運用保守リスク。第1回：共有フォルダ参照制約。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まずタスク列を仮決めし、3件程度のサンプルを作成してAutomateから一本通す。クラウド更新に伴う不具合は運用保守観点で考慮。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MVPは「1依頼登録→対象者通知→回答集約→未回答リマインド」の一連実行を8月中にデモ化。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6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チーム6：PPT資料作成・会議招集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Forecast ONE／フォーキャスト会議の資料作成と会議招集を自動化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Automate／SharePoint・OneDrive／Outlook／Teams／PowerPoint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ファイルサーバ・OneDrive/SharePoint格納、PPTの自動生成、会議招集の自動化可否を分けて検証が必要。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第2回トランスクリプト未添付。第1回：AutomateとCopilot Studioの違い、研修スケジュール、相談先を確認。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AutomateはAIではなく自動化ツールだが時間削減に重要。ファイル収集・PPT生成・会議通知の役割分担を明確化する必要。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3つの入力ファイル・前月PPT・出力PPT・会議通知のデータフローをM365内で再設計。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7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チーム7：課金精算チェック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加盟店課金精算チェックエージェント／請求・N-Mark・J-SCRUM・CNCデータの突合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Studio／SharePoint／ExcelまたはCSV／手動取得データ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外部システム連携は行わず人手取得データを前提。ファイル命名・フォルダ構成の維持が前提条件。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第2回トランスクリプト未添付。第1回：判断基準（ナレッジ）と毎月の入力ファイルを分ける構成を確認。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固定のチェックリストをナレッジとし、毎月の入力ファイルを都度読み込ませて照合・修正出力する設計は実現しやすい。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MVPは3種類程度のデータと固定チェック項目で突合結果レポートを作成。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8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チーム8：段取りAI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段取（Dandori）AI／会議調整・タスク整理・レビュー観点の蓄積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Automate／Outlook／Teams／SharePoint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予定表・会議室・メールへの権限、退職者除外や対象者候補の整備が必要。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第2回トランスクリプト未添付。第1回：発表対象の1案以外を裏で作ってよいかを確認。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最終発表は1案だが、2案目を並行して進めることは可。会議調整・タスク抽出を主軸に、レビュー観点蓄積は付加価値と整理。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会議調整とタスク抽出のどちらをMVPの中心にするかを確定し、1本のデモシナリオを作る。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9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チーム9：レビュー進捗管理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レビュー進捗管理アシスタント／レビュー対象一覧・依頼・完了確認・リマインド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Automate／Outlook／Excel／Teams／共有ファイルサーバ（制約あり）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開発中案件・社外秘情報の扱い、ファイルサーバ参照、メール自動送信の可否を整理する必要。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第2回トランスクリプト未添付。第1回：社外秘ファイルやSalesforce取得、メール下書き・送付可否が論点。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管理ツール化の色が強くCopilot Studioで作りやすい一方、社外秘・共有サーバ・Salesforce等の扱いは事務局判断が必要。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まずメール検知→管理表反映→下書き作成までを対象に絞り、ファイルサーバ処理は別論点化。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10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チーム10：議事録ドラフト生成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対面クライテリア議事録ドラフト生成／資料・トランスクリプト・出席者情報から議事録を生成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Studio／Teamsトランスクリプト／SharePoint／議事録フォーマット／Word（想定）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トランスクリプト取得権限、会議形式・ライセンス、フォーマット転記の精度検証が必要。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第2回：Copilot Chatの回答をそのまま信じてよいか、今後のメンター定例の進め方を確認。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Copilot回答は必ず正解とは限らないため、根拠提示を求め画面操作・実検証で確認。8〜9月はメンター定例で伴走予定。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サンプル会議資料・トランスクリプト・議事録テンプレを用意し、ドラフト生成品質を確認。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チーム11：社内LAN問合せBot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社内LAN問い合わせチャットボット／FAQ・申請種別案内の一次受付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Studio／SharePointナレッジ／TeamsまたはチャットUI／FAQ整備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FAQ整備、参照先ナレッジの品質、本番環境移行、利用ルール・運用保守が焦点。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第2回：開発環境から本番環境への移行、年度末展開、手順書・利用ルールを社長報告までに完了すべきか。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手順書は完成していれば望ましいが10月時点では準備中でも可。項目出しと全量把握が重要。本番移行は社内申請フローを要確認。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FAQをCopilot Studioが処理しやすい形式に整備し、Ph1→Ph2→Ph3展開の運用項目を洗い出す。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