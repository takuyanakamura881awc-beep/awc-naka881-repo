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212848"/>
            <a:ext cx="1371600" cy="5486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91640"/>
            <a:ext cx="10058400" cy="365760"/>
          </a:xfrm>
          <a:prstGeom prst="rect">
            <a:avLst/>
          </a:prstGeom>
          <a:noFill/>
        </p:spPr>
        <p:txBody>
          <a:bodyPr wrap="square" anchor="t" lIns="25400" rIns="25400" tIns="12700" bIns="12700">
            <a:spAutoFit/>
          </a:bodyPr>
          <a:lstStyle/>
          <a:p>
            <a:pPr algn="l">
              <a:lnSpc>
                <a:spcPct val="100000"/>
              </a:lnSpc>
            </a:pPr>
            <a:r>
              <a:rPr sz="1200" b="1" i="0">
                <a:solidFill>
                  <a:srgbClr val="2E8B9E"/>
                </a:solidFill>
                <a:latin typeface="Meiryo"/>
              </a:rPr>
              <a:t>MICROSOFT 365 COPILOT STUDIO 活用ハッカソン</a:t>
            </a:r>
          </a:p>
        </p:txBody>
      </p:sp>
      <p:sp>
        <p:nvSpPr>
          <p:cNvPr id="5" name="TextBox 4"/>
          <p:cNvSpPr txBox="1"/>
          <p:nvPr/>
        </p:nvSpPr>
        <p:spPr>
          <a:xfrm>
            <a:off x="877824" y="2450592"/>
            <a:ext cx="10424160" cy="1371600"/>
          </a:xfrm>
          <a:prstGeom prst="rect">
            <a:avLst/>
          </a:prstGeom>
          <a:noFill/>
        </p:spPr>
        <p:txBody>
          <a:bodyPr wrap="square" anchor="t" lIns="25400" rIns="25400" tIns="12700" bIns="12700">
            <a:spAutoFit/>
          </a:bodyPr>
          <a:lstStyle/>
          <a:p>
            <a:pPr algn="l">
              <a:lnSpc>
                <a:spcPct val="116000"/>
              </a:lnSpc>
            </a:pPr>
            <a:r>
              <a:rPr sz="3600" b="1" i="0">
                <a:solidFill>
                  <a:srgbClr val="FFFFFF"/>
                </a:solidFill>
                <a:latin typeface="Meiryo"/>
              </a:rPr>
              <a:t>第2回 事前相談会</a:t>
            </a:r>
          </a:p>
          <a:p>
            <a:pPr algn="l">
              <a:lnSpc>
                <a:spcPct val="116000"/>
              </a:lnSpc>
            </a:pPr>
            <a:r>
              <a:rPr sz="3600" b="1" i="0">
                <a:solidFill>
                  <a:srgbClr val="FFFFFF"/>
                </a:solidFill>
                <a:latin typeface="Meiryo"/>
              </a:rPr>
              <a:t>チームごとの状況報告</a:t>
            </a:r>
          </a:p>
        </p:txBody>
      </p:sp>
      <p:sp>
        <p:nvSpPr>
          <p:cNvPr id="6" name="TextBox 5"/>
          <p:cNvSpPr txBox="1"/>
          <p:nvPr/>
        </p:nvSpPr>
        <p:spPr>
          <a:xfrm>
            <a:off x="914400" y="4160520"/>
            <a:ext cx="10058400" cy="685800"/>
          </a:xfrm>
          <a:prstGeom prst="rect">
            <a:avLst/>
          </a:prstGeom>
          <a:noFill/>
        </p:spPr>
        <p:txBody>
          <a:bodyPr wrap="square" anchor="t" lIns="25400" rIns="25400" tIns="12700" bIns="12700">
            <a:spAutoFit/>
          </a:bodyPr>
          <a:lstStyle/>
          <a:p>
            <a:pPr algn="l">
              <a:lnSpc>
                <a:spcPct val="120000"/>
              </a:lnSpc>
            </a:pPr>
            <a:r>
              <a:rPr sz="1350" b="0" i="0">
                <a:solidFill>
                  <a:srgbClr val="BFD3E0"/>
                </a:solidFill>
                <a:latin typeface="Meiryo"/>
              </a:rPr>
              <a:t>全11チームの進捗状況・使用アプリ・難易度／10月発表に向けた見込みと課題</a:t>
            </a:r>
          </a:p>
        </p:txBody>
      </p:sp>
      <p:sp>
        <p:nvSpPr>
          <p:cNvPr id="7" name="TextBox 6"/>
          <p:cNvSpPr txBox="1"/>
          <p:nvPr/>
        </p:nvSpPr>
        <p:spPr>
          <a:xfrm>
            <a:off x="914400" y="5577840"/>
            <a:ext cx="5486400" cy="274320"/>
          </a:xfrm>
          <a:prstGeom prst="rect">
            <a:avLst/>
          </a:prstGeom>
          <a:noFill/>
        </p:spPr>
        <p:txBody>
          <a:bodyPr wrap="square" anchor="t" lIns="25400" rIns="25400" tIns="12700" bIns="12700">
            <a:spAutoFit/>
          </a:bodyPr>
          <a:lstStyle/>
          <a:p>
            <a:pPr algn="l">
              <a:lnSpc>
                <a:spcPct val="100000"/>
              </a:lnSpc>
            </a:pPr>
            <a:r>
              <a:rPr sz="1100" b="0" i="0">
                <a:solidFill>
                  <a:srgbClr val="BFD3E0"/>
                </a:solidFill>
                <a:latin typeface="Meiryo"/>
              </a:rPr>
              <a:t>実施日：2026年7月22日（水）〜 7月24日（金）</a:t>
            </a:r>
          </a:p>
        </p:txBody>
      </p:sp>
      <p:sp>
        <p:nvSpPr>
          <p:cNvPr id="8" name="TextBox 7"/>
          <p:cNvSpPr txBox="1"/>
          <p:nvPr/>
        </p:nvSpPr>
        <p:spPr>
          <a:xfrm>
            <a:off x="914400" y="5897880"/>
            <a:ext cx="5486400" cy="274320"/>
          </a:xfrm>
          <a:prstGeom prst="rect">
            <a:avLst/>
          </a:prstGeom>
          <a:noFill/>
        </p:spPr>
        <p:txBody>
          <a:bodyPr wrap="square" anchor="t" lIns="25400" rIns="25400" tIns="12700" bIns="12700">
            <a:spAutoFit/>
          </a:bodyPr>
          <a:lstStyle/>
          <a:p>
            <a:pPr algn="l">
              <a:lnSpc>
                <a:spcPct val="100000"/>
              </a:lnSpc>
            </a:pPr>
            <a:r>
              <a:rPr sz="1100" b="0" i="0">
                <a:solidFill>
                  <a:srgbClr val="BFD3E0"/>
                </a:solidFill>
                <a:latin typeface="Meiryo"/>
              </a:rPr>
              <a:t>報告日：2026年7月24日</a:t>
            </a:r>
          </a:p>
        </p:txBody>
      </p:sp>
      <p:sp>
        <p:nvSpPr>
          <p:cNvPr id="9" name="TextBox 8"/>
          <p:cNvSpPr txBox="1"/>
          <p:nvPr/>
        </p:nvSpPr>
        <p:spPr>
          <a:xfrm>
            <a:off x="8351215" y="5897880"/>
            <a:ext cx="2926080" cy="274320"/>
          </a:xfrm>
          <a:prstGeom prst="rect">
            <a:avLst/>
          </a:prstGeom>
          <a:noFill/>
        </p:spPr>
        <p:txBody>
          <a:bodyPr wrap="square" anchor="t" lIns="25400" rIns="25400" tIns="12700" bIns="12700">
            <a:spAutoFit/>
          </a:bodyPr>
          <a:lstStyle/>
          <a:p>
            <a:pPr algn="r">
              <a:lnSpc>
                <a:spcPct val="100000"/>
              </a:lnSpc>
            </a:pPr>
            <a:r>
              <a:rPr sz="1000" b="0" i="0">
                <a:solidFill>
                  <a:srgbClr val="6B7480"/>
                </a:solidFill>
                <a:latin typeface="Meiryo"/>
              </a:rPr>
              <a:t>社外秘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PURPOSE ｜ 第2回 事前相談会の位置づけ</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本日の目的と進め方</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2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TextBox 8"/>
          <p:cNvSpPr txBox="1"/>
          <p:nvPr/>
        </p:nvSpPr>
        <p:spPr>
          <a:xfrm>
            <a:off x="502920" y="1207008"/>
            <a:ext cx="11155680" cy="685800"/>
          </a:xfrm>
          <a:prstGeom prst="rect">
            <a:avLst/>
          </a:prstGeom>
          <a:noFill/>
        </p:spPr>
        <p:txBody>
          <a:bodyPr wrap="square" anchor="t" lIns="25400" rIns="25400" tIns="12700" bIns="12700">
            <a:spAutoFit/>
          </a:bodyPr>
          <a:lstStyle/>
          <a:p>
            <a:pPr algn="l">
              <a:lnSpc>
                <a:spcPct val="120000"/>
              </a:lnSpc>
            </a:pPr>
            <a:r>
              <a:rPr sz="1250" b="0" i="0">
                <a:solidFill>
                  <a:srgbClr val="252A31"/>
                </a:solidFill>
                <a:latin typeface="Meiryo"/>
              </a:rPr>
              <a:t>7月22日〜24日に、第1回後に提出された企画書を前提として第2回 事前相談会を実施した。本資料は、事務局への進捗報告として各チームの状況を整理し、10月発表に向けた課題と依頼事項をまとめたものである。</a:t>
            </a:r>
          </a:p>
        </p:txBody>
      </p:sp>
      <p:sp>
        <p:nvSpPr>
          <p:cNvPr id="10" name="Rectangle 9"/>
          <p:cNvSpPr/>
          <p:nvPr/>
        </p:nvSpPr>
        <p:spPr>
          <a:xfrm>
            <a:off x="548640" y="2057400"/>
            <a:ext cx="5394960"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057400"/>
            <a:ext cx="5394960" cy="73152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846320" cy="256032"/>
          </a:xfrm>
          <a:prstGeom prst="rect">
            <a:avLst/>
          </a:prstGeom>
          <a:noFill/>
        </p:spPr>
        <p:txBody>
          <a:bodyPr wrap="square" anchor="t" lIns="25400" rIns="25400" tIns="12700" bIns="12700">
            <a:spAutoFit/>
          </a:bodyPr>
          <a:lstStyle/>
          <a:p>
            <a:pPr algn="l">
              <a:lnSpc>
                <a:spcPct val="100000"/>
              </a:lnSpc>
            </a:pPr>
            <a:r>
              <a:rPr sz="1000" b="1" i="0">
                <a:solidFill>
                  <a:srgbClr val="FFFFFF"/>
                </a:solidFill>
                <a:latin typeface="Meiryo"/>
              </a:rPr>
              <a:t>進行面 ｜ PROGRESS</a:t>
            </a:r>
          </a:p>
        </p:txBody>
      </p:sp>
      <p:sp>
        <p:nvSpPr>
          <p:cNvPr id="13" name="TextBox 12"/>
          <p:cNvSpPr txBox="1"/>
          <p:nvPr/>
        </p:nvSpPr>
        <p:spPr>
          <a:xfrm>
            <a:off x="822960" y="2386584"/>
            <a:ext cx="4846320" cy="347472"/>
          </a:xfrm>
          <a:prstGeom prst="rect">
            <a:avLst/>
          </a:prstGeom>
          <a:noFill/>
        </p:spPr>
        <p:txBody>
          <a:bodyPr wrap="square" anchor="t" lIns="25400" rIns="25400" tIns="12700" bIns="12700">
            <a:spAutoFit/>
          </a:bodyPr>
          <a:lstStyle/>
          <a:p>
            <a:pPr algn="l">
              <a:lnSpc>
                <a:spcPct val="100000"/>
              </a:lnSpc>
            </a:pPr>
            <a:r>
              <a:rPr sz="1550" b="1" i="0">
                <a:solidFill>
                  <a:srgbClr val="FFFFFF"/>
                </a:solidFill>
                <a:latin typeface="Meiryo"/>
              </a:rPr>
              <a:t>進捗の確認と次アクションの整理</a:t>
            </a:r>
          </a:p>
        </p:txBody>
      </p:sp>
      <p:sp>
        <p:nvSpPr>
          <p:cNvPr id="14" name="Rectangle 13"/>
          <p:cNvSpPr/>
          <p:nvPr/>
        </p:nvSpPr>
        <p:spPr>
          <a:xfrm>
            <a:off x="822960" y="2971800"/>
            <a:ext cx="118872" cy="1188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880360"/>
            <a:ext cx="4617720" cy="256032"/>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各チームの進捗状況の確認</a:t>
            </a:r>
          </a:p>
        </p:txBody>
      </p:sp>
      <p:sp>
        <p:nvSpPr>
          <p:cNvPr id="16" name="TextBox 15"/>
          <p:cNvSpPr txBox="1"/>
          <p:nvPr/>
        </p:nvSpPr>
        <p:spPr>
          <a:xfrm>
            <a:off x="1033272" y="3145536"/>
            <a:ext cx="4617720" cy="457200"/>
          </a:xfrm>
          <a:prstGeom prst="rect">
            <a:avLst/>
          </a:prstGeom>
          <a:noFill/>
        </p:spPr>
        <p:txBody>
          <a:bodyPr wrap="square" anchor="t" lIns="25400" rIns="25400" tIns="12700" bIns="12700">
            <a:spAutoFit/>
          </a:bodyPr>
          <a:lstStyle/>
          <a:p>
            <a:pPr algn="l">
              <a:lnSpc>
                <a:spcPct val="108000"/>
              </a:lnSpc>
            </a:pPr>
            <a:r>
              <a:rPr sz="1050" b="0" i="0">
                <a:solidFill>
                  <a:srgbClr val="252A31"/>
                </a:solidFill>
                <a:latin typeface="Meiryo"/>
              </a:rPr>
              <a:t>企画の具体化の度合いと、構築に着手できる準備が整っているかを確認。</a:t>
            </a:r>
          </a:p>
        </p:txBody>
      </p:sp>
      <p:sp>
        <p:nvSpPr>
          <p:cNvPr id="17" name="Rectangle 16"/>
          <p:cNvSpPr/>
          <p:nvPr/>
        </p:nvSpPr>
        <p:spPr>
          <a:xfrm>
            <a:off x="822960" y="3648456"/>
            <a:ext cx="118872" cy="1188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557016"/>
            <a:ext cx="4617720" cy="256032"/>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次アクションの整理</a:t>
            </a:r>
          </a:p>
        </p:txBody>
      </p:sp>
      <p:sp>
        <p:nvSpPr>
          <p:cNvPr id="19" name="TextBox 18"/>
          <p:cNvSpPr txBox="1"/>
          <p:nvPr/>
        </p:nvSpPr>
        <p:spPr>
          <a:xfrm>
            <a:off x="1033272" y="3822192"/>
            <a:ext cx="4617720" cy="457200"/>
          </a:xfrm>
          <a:prstGeom prst="rect">
            <a:avLst/>
          </a:prstGeom>
          <a:noFill/>
        </p:spPr>
        <p:txBody>
          <a:bodyPr wrap="square" anchor="t" lIns="25400" rIns="25400" tIns="12700" bIns="12700">
            <a:spAutoFit/>
          </a:bodyPr>
          <a:lstStyle/>
          <a:p>
            <a:pPr algn="l">
              <a:lnSpc>
                <a:spcPct val="108000"/>
              </a:lnSpc>
            </a:pPr>
            <a:r>
              <a:rPr sz="1050" b="0" i="0">
                <a:solidFill>
                  <a:srgbClr val="252A31"/>
                </a:solidFill>
                <a:latin typeface="Meiryo"/>
              </a:rPr>
              <a:t>8月：動くデモ／9月：発表準備／10月：発表 に向けた優先順位を明確化。</a:t>
            </a:r>
          </a:p>
        </p:txBody>
      </p:sp>
      <p:sp>
        <p:nvSpPr>
          <p:cNvPr id="20" name="Rectangle 19"/>
          <p:cNvSpPr/>
          <p:nvPr/>
        </p:nvSpPr>
        <p:spPr>
          <a:xfrm>
            <a:off x="6309360" y="2057400"/>
            <a:ext cx="5394960"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057400"/>
            <a:ext cx="5394960" cy="73152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2148840"/>
            <a:ext cx="4846320" cy="256032"/>
          </a:xfrm>
          <a:prstGeom prst="rect">
            <a:avLst/>
          </a:prstGeom>
          <a:noFill/>
        </p:spPr>
        <p:txBody>
          <a:bodyPr wrap="square" anchor="t" lIns="25400" rIns="25400" tIns="12700" bIns="12700">
            <a:spAutoFit/>
          </a:bodyPr>
          <a:lstStyle/>
          <a:p>
            <a:pPr algn="l">
              <a:lnSpc>
                <a:spcPct val="100000"/>
              </a:lnSpc>
            </a:pPr>
            <a:r>
              <a:rPr sz="1000" b="1" i="0">
                <a:solidFill>
                  <a:srgbClr val="FFFFFF"/>
                </a:solidFill>
                <a:latin typeface="Meiryo"/>
              </a:rPr>
              <a:t>技術面 ｜ TECHNOLOGY</a:t>
            </a:r>
          </a:p>
        </p:txBody>
      </p:sp>
      <p:sp>
        <p:nvSpPr>
          <p:cNvPr id="23" name="TextBox 22"/>
          <p:cNvSpPr txBox="1"/>
          <p:nvPr/>
        </p:nvSpPr>
        <p:spPr>
          <a:xfrm>
            <a:off x="6583680" y="2386584"/>
            <a:ext cx="4846320" cy="347472"/>
          </a:xfrm>
          <a:prstGeom prst="rect">
            <a:avLst/>
          </a:prstGeom>
          <a:noFill/>
        </p:spPr>
        <p:txBody>
          <a:bodyPr wrap="square" anchor="t" lIns="25400" rIns="25400" tIns="12700" bIns="12700">
            <a:spAutoFit/>
          </a:bodyPr>
          <a:lstStyle/>
          <a:p>
            <a:pPr algn="l">
              <a:lnSpc>
                <a:spcPct val="100000"/>
              </a:lnSpc>
            </a:pPr>
            <a:r>
              <a:rPr sz="1550" b="1" i="0">
                <a:solidFill>
                  <a:srgbClr val="FFFFFF"/>
                </a:solidFill>
                <a:latin typeface="Meiryo"/>
              </a:rPr>
              <a:t>適合性と実現可能性の助言</a:t>
            </a:r>
          </a:p>
        </p:txBody>
      </p:sp>
      <p:sp>
        <p:nvSpPr>
          <p:cNvPr id="24" name="Rectangle 23"/>
          <p:cNvSpPr/>
          <p:nvPr/>
        </p:nvSpPr>
        <p:spPr>
          <a:xfrm>
            <a:off x="6583680" y="2971800"/>
            <a:ext cx="118872" cy="1188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880360"/>
            <a:ext cx="4617720" cy="256032"/>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使うアプリの適合性</a:t>
            </a:r>
          </a:p>
        </p:txBody>
      </p:sp>
      <p:sp>
        <p:nvSpPr>
          <p:cNvPr id="26" name="TextBox 25"/>
          <p:cNvSpPr txBox="1"/>
          <p:nvPr/>
        </p:nvSpPr>
        <p:spPr>
          <a:xfrm>
            <a:off x="6793992" y="3145536"/>
            <a:ext cx="4617720" cy="457200"/>
          </a:xfrm>
          <a:prstGeom prst="rect">
            <a:avLst/>
          </a:prstGeom>
          <a:noFill/>
        </p:spPr>
        <p:txBody>
          <a:bodyPr wrap="square" anchor="t" lIns="25400" rIns="25400" tIns="12700" bIns="12700">
            <a:spAutoFit/>
          </a:bodyPr>
          <a:lstStyle/>
          <a:p>
            <a:pPr algn="l">
              <a:lnSpc>
                <a:spcPct val="108000"/>
              </a:lnSpc>
            </a:pPr>
            <a:r>
              <a:rPr sz="1050" b="0" i="0">
                <a:solidFill>
                  <a:srgbClr val="252A31"/>
                </a:solidFill>
                <a:latin typeface="Meiryo"/>
              </a:rPr>
              <a:t>Copilot Studio・Power Automate・SharePoint・Teams等の使い分けを助言。</a:t>
            </a:r>
          </a:p>
        </p:txBody>
      </p:sp>
      <p:sp>
        <p:nvSpPr>
          <p:cNvPr id="27" name="Rectangle 26"/>
          <p:cNvSpPr/>
          <p:nvPr/>
        </p:nvSpPr>
        <p:spPr>
          <a:xfrm>
            <a:off x="6583680" y="3648456"/>
            <a:ext cx="118872" cy="1188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3557016"/>
            <a:ext cx="4617720" cy="256032"/>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実現可能性と制約の早期確認</a:t>
            </a:r>
          </a:p>
        </p:txBody>
      </p:sp>
      <p:sp>
        <p:nvSpPr>
          <p:cNvPr id="29" name="TextBox 28"/>
          <p:cNvSpPr txBox="1"/>
          <p:nvPr/>
        </p:nvSpPr>
        <p:spPr>
          <a:xfrm>
            <a:off x="6793992" y="3822192"/>
            <a:ext cx="4617720" cy="457200"/>
          </a:xfrm>
          <a:prstGeom prst="rect">
            <a:avLst/>
          </a:prstGeom>
          <a:noFill/>
        </p:spPr>
        <p:txBody>
          <a:bodyPr wrap="square" anchor="t" lIns="25400" rIns="25400" tIns="12700" bIns="12700">
            <a:spAutoFit/>
          </a:bodyPr>
          <a:lstStyle/>
          <a:p>
            <a:pPr algn="l">
              <a:lnSpc>
                <a:spcPct val="108000"/>
              </a:lnSpc>
            </a:pPr>
            <a:r>
              <a:rPr sz="1050" b="0" i="0">
                <a:solidFill>
                  <a:srgbClr val="252A31"/>
                </a:solidFill>
                <a:latin typeface="Meiryo"/>
              </a:rPr>
              <a:t>外部Web参照、M365外システム連携、資料の保管場所、本番移行などを論点化。</a:t>
            </a:r>
          </a:p>
        </p:txBody>
      </p:sp>
      <p:sp>
        <p:nvSpPr>
          <p:cNvPr id="30" name="TextBox 29"/>
          <p:cNvSpPr txBox="1"/>
          <p:nvPr/>
        </p:nvSpPr>
        <p:spPr>
          <a:xfrm>
            <a:off x="548640" y="4480560"/>
            <a:ext cx="11064240" cy="365760"/>
          </a:xfrm>
          <a:prstGeom prst="rect">
            <a:avLst/>
          </a:prstGeom>
          <a:noFill/>
        </p:spPr>
        <p:txBody>
          <a:bodyPr wrap="square" anchor="t" lIns="25400" rIns="25400" tIns="12700" bIns="12700">
            <a:spAutoFit/>
          </a:bodyPr>
          <a:lstStyle/>
          <a:p>
            <a:pPr algn="l">
              <a:lnSpc>
                <a:spcPct val="100000"/>
              </a:lnSpc>
            </a:pPr>
            <a:r>
              <a:rPr sz="1050" b="0" i="1">
                <a:solidFill>
                  <a:srgbClr val="6B7480"/>
                </a:solidFill>
                <a:latin typeface="Meiryo"/>
              </a:rPr>
              <a:t>※ 特定の案へ誘導することはせず、各チームの主体的な判断を尊重しながら技術・運用・ガバナンス面の助言を実施。</a:t>
            </a:r>
          </a:p>
        </p:txBody>
      </p:sp>
      <p:sp>
        <p:nvSpPr>
          <p:cNvPr id="31" name="TextBox 30"/>
          <p:cNvSpPr txBox="1"/>
          <p:nvPr/>
        </p:nvSpPr>
        <p:spPr>
          <a:xfrm>
            <a:off x="502920" y="5029200"/>
            <a:ext cx="5486400" cy="274320"/>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本日の流れ</a:t>
            </a:r>
          </a:p>
        </p:txBody>
      </p:sp>
      <p:sp>
        <p:nvSpPr>
          <p:cNvPr id="32" name="Rectangle 31"/>
          <p:cNvSpPr/>
          <p:nvPr/>
        </p:nvSpPr>
        <p:spPr>
          <a:xfrm>
            <a:off x="502920" y="5349240"/>
            <a:ext cx="2212848"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367528"/>
            <a:ext cx="2212848" cy="420624"/>
          </a:xfrm>
          <a:prstGeom prst="rect">
            <a:avLst/>
          </a:prstGeom>
          <a:noFill/>
        </p:spPr>
        <p:txBody>
          <a:bodyPr wrap="square" anchor="ctr" lIns="25400" rIns="25400" tIns="12700" bIns="12700">
            <a:spAutoFit/>
          </a:bodyPr>
          <a:lstStyle/>
          <a:p>
            <a:pPr algn="ctr">
              <a:lnSpc>
                <a:spcPct val="100000"/>
              </a:lnSpc>
            </a:pPr>
            <a:r>
              <a:rPr sz="1050" b="1" i="0">
                <a:solidFill>
                  <a:srgbClr val="1F385C"/>
                </a:solidFill>
                <a:latin typeface="Meiryo"/>
              </a:rPr>
              <a:t>① サマリ（結論）</a:t>
            </a:r>
          </a:p>
        </p:txBody>
      </p:sp>
      <p:sp>
        <p:nvSpPr>
          <p:cNvPr id="34" name="Rectangle 33"/>
          <p:cNvSpPr/>
          <p:nvPr/>
        </p:nvSpPr>
        <p:spPr>
          <a:xfrm>
            <a:off x="2770632" y="5349240"/>
            <a:ext cx="2212848"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70632" y="5367528"/>
            <a:ext cx="2212848" cy="420624"/>
          </a:xfrm>
          <a:prstGeom prst="rect">
            <a:avLst/>
          </a:prstGeom>
          <a:noFill/>
        </p:spPr>
        <p:txBody>
          <a:bodyPr wrap="square" anchor="ctr" lIns="25400" rIns="25400" tIns="12700" bIns="12700">
            <a:spAutoFit/>
          </a:bodyPr>
          <a:lstStyle/>
          <a:p>
            <a:pPr algn="ctr">
              <a:lnSpc>
                <a:spcPct val="100000"/>
              </a:lnSpc>
            </a:pPr>
            <a:r>
              <a:rPr sz="1050" b="1" i="0">
                <a:solidFill>
                  <a:srgbClr val="1F385C"/>
                </a:solidFill>
                <a:latin typeface="Meiryo"/>
              </a:rPr>
              <a:t>② 各チームの状況一覧</a:t>
            </a:r>
          </a:p>
        </p:txBody>
      </p:sp>
      <p:sp>
        <p:nvSpPr>
          <p:cNvPr id="36" name="Rectangle 35"/>
          <p:cNvSpPr/>
          <p:nvPr/>
        </p:nvSpPr>
        <p:spPr>
          <a:xfrm>
            <a:off x="5038344" y="5349240"/>
            <a:ext cx="2212848"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38344" y="5367528"/>
            <a:ext cx="2212848" cy="420624"/>
          </a:xfrm>
          <a:prstGeom prst="rect">
            <a:avLst/>
          </a:prstGeom>
          <a:noFill/>
        </p:spPr>
        <p:txBody>
          <a:bodyPr wrap="square" anchor="ctr" lIns="25400" rIns="25400" tIns="12700" bIns="12700">
            <a:spAutoFit/>
          </a:bodyPr>
          <a:lstStyle/>
          <a:p>
            <a:pPr algn="ctr">
              <a:lnSpc>
                <a:spcPct val="100000"/>
              </a:lnSpc>
            </a:pPr>
            <a:r>
              <a:rPr sz="1050" b="1" i="0">
                <a:solidFill>
                  <a:srgbClr val="1F385C"/>
                </a:solidFill>
                <a:latin typeface="Meiryo"/>
              </a:rPr>
              <a:t>③ 使用アプリ・難易度</a:t>
            </a:r>
          </a:p>
        </p:txBody>
      </p:sp>
      <p:sp>
        <p:nvSpPr>
          <p:cNvPr id="38" name="Rectangle 37"/>
          <p:cNvSpPr/>
          <p:nvPr/>
        </p:nvSpPr>
        <p:spPr>
          <a:xfrm>
            <a:off x="7306056" y="5349240"/>
            <a:ext cx="2212848"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06056" y="5367528"/>
            <a:ext cx="2212848" cy="420624"/>
          </a:xfrm>
          <a:prstGeom prst="rect">
            <a:avLst/>
          </a:prstGeom>
          <a:noFill/>
        </p:spPr>
        <p:txBody>
          <a:bodyPr wrap="square" anchor="ctr" lIns="25400" rIns="25400" tIns="12700" bIns="12700">
            <a:spAutoFit/>
          </a:bodyPr>
          <a:lstStyle/>
          <a:p>
            <a:pPr algn="ctr">
              <a:lnSpc>
                <a:spcPct val="100000"/>
              </a:lnSpc>
            </a:pPr>
            <a:r>
              <a:rPr sz="1050" b="1" i="0">
                <a:solidFill>
                  <a:srgbClr val="1F385C"/>
                </a:solidFill>
                <a:latin typeface="Meiryo"/>
              </a:rPr>
              <a:t>④ 課題は大きく3点</a:t>
            </a:r>
          </a:p>
        </p:txBody>
      </p:sp>
      <p:sp>
        <p:nvSpPr>
          <p:cNvPr id="40" name="Rectangle 39"/>
          <p:cNvSpPr/>
          <p:nvPr/>
        </p:nvSpPr>
        <p:spPr>
          <a:xfrm>
            <a:off x="9573768" y="5349240"/>
            <a:ext cx="2212848"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73768" y="5367528"/>
            <a:ext cx="2212848" cy="420624"/>
          </a:xfrm>
          <a:prstGeom prst="rect">
            <a:avLst/>
          </a:prstGeom>
          <a:noFill/>
        </p:spPr>
        <p:txBody>
          <a:bodyPr wrap="square" anchor="ctr" lIns="25400" rIns="25400" tIns="12700" bIns="12700">
            <a:spAutoFit/>
          </a:bodyPr>
          <a:lstStyle/>
          <a:p>
            <a:pPr algn="ctr">
              <a:lnSpc>
                <a:spcPct val="100000"/>
              </a:lnSpc>
            </a:pPr>
            <a:r>
              <a:rPr sz="1050" b="1" i="0">
                <a:solidFill>
                  <a:srgbClr val="1F385C"/>
                </a:solidFill>
                <a:latin typeface="Meiryo"/>
              </a:rPr>
              <a:t>⑤ 各チームの個別状況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EXECUTIVE SUMMARY ｜ 結論</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サマリ</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3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207008"/>
            <a:ext cx="11201400" cy="749808"/>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243584"/>
            <a:ext cx="10607040" cy="676656"/>
          </a:xfrm>
          <a:prstGeom prst="rect">
            <a:avLst/>
          </a:prstGeom>
          <a:noFill/>
        </p:spPr>
        <p:txBody>
          <a:bodyPr wrap="square" anchor="ctr" lIns="25400" rIns="25400" tIns="12700" bIns="12700">
            <a:spAutoFit/>
          </a:bodyPr>
          <a:lstStyle/>
          <a:p>
            <a:pPr algn="l">
              <a:lnSpc>
                <a:spcPct val="100000"/>
              </a:lnSpc>
            </a:pPr>
            <a:r>
              <a:rPr sz="1400" b="1" i="0">
                <a:solidFill>
                  <a:srgbClr val="FFFFFF"/>
                </a:solidFill>
                <a:latin typeface="Meiryo"/>
              </a:rPr>
              <a:t>全11チームが企画を1案に固め、構築フェーズへ移行。10チームは10月発表に間に合う見込みで、要フォローは1チーム。</a:t>
            </a:r>
          </a:p>
        </p:txBody>
      </p:sp>
      <p:sp>
        <p:nvSpPr>
          <p:cNvPr id="11" name="Rectangle 10"/>
          <p:cNvSpPr/>
          <p:nvPr/>
        </p:nvSpPr>
        <p:spPr>
          <a:xfrm>
            <a:off x="502920" y="2194560"/>
            <a:ext cx="2743200" cy="17556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194560"/>
            <a:ext cx="2743200" cy="438912"/>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240280"/>
            <a:ext cx="2743200" cy="347472"/>
          </a:xfrm>
          <a:prstGeom prst="rect">
            <a:avLst/>
          </a:prstGeom>
          <a:noFill/>
        </p:spPr>
        <p:txBody>
          <a:bodyPr wrap="square" anchor="ctr" lIns="25400" rIns="25400" tIns="12700" bIns="12700">
            <a:spAutoFit/>
          </a:bodyPr>
          <a:lstStyle/>
          <a:p>
            <a:pPr algn="ctr">
              <a:lnSpc>
                <a:spcPct val="100000"/>
              </a:lnSpc>
            </a:pPr>
            <a:r>
              <a:rPr sz="1250" b="1" i="0">
                <a:solidFill>
                  <a:srgbClr val="FFFFFF"/>
                </a:solidFill>
                <a:latin typeface="Meiryo"/>
              </a:rPr>
              <a:t>◎ 先行</a:t>
            </a:r>
          </a:p>
        </p:txBody>
      </p:sp>
      <p:sp>
        <p:nvSpPr>
          <p:cNvPr id="14" name="TextBox 13"/>
          <p:cNvSpPr txBox="1"/>
          <p:nvPr/>
        </p:nvSpPr>
        <p:spPr>
          <a:xfrm>
            <a:off x="502920" y="2706624"/>
            <a:ext cx="2743200" cy="502920"/>
          </a:xfrm>
          <a:prstGeom prst="rect">
            <a:avLst/>
          </a:prstGeom>
          <a:noFill/>
        </p:spPr>
        <p:txBody>
          <a:bodyPr wrap="square" anchor="t" lIns="25400" rIns="25400" tIns="12700" bIns="12700">
            <a:spAutoFit/>
          </a:bodyPr>
          <a:lstStyle/>
          <a:p>
            <a:pPr algn="ctr">
              <a:lnSpc>
                <a:spcPct val="100000"/>
              </a:lnSpc>
            </a:pPr>
            <a:r>
              <a:rPr sz="2400" b="1" i="0">
                <a:solidFill>
                  <a:srgbClr val="1F385C"/>
                </a:solidFill>
                <a:latin typeface="Meiryo"/>
              </a:rPr>
              <a:t>2チーム</a:t>
            </a:r>
          </a:p>
        </p:txBody>
      </p:sp>
      <p:sp>
        <p:nvSpPr>
          <p:cNvPr id="15" name="TextBox 14"/>
          <p:cNvSpPr txBox="1"/>
          <p:nvPr/>
        </p:nvSpPr>
        <p:spPr>
          <a:xfrm>
            <a:off x="640080" y="3218688"/>
            <a:ext cx="2468880" cy="256032"/>
          </a:xfrm>
          <a:prstGeom prst="rect">
            <a:avLst/>
          </a:prstGeom>
          <a:noFill/>
        </p:spPr>
        <p:txBody>
          <a:bodyPr wrap="square" anchor="t" lIns="25400" rIns="25400" tIns="12700" bIns="12700">
            <a:spAutoFit/>
          </a:bodyPr>
          <a:lstStyle/>
          <a:p>
            <a:pPr algn="ctr">
              <a:lnSpc>
                <a:spcPct val="100000"/>
              </a:lnSpc>
            </a:pPr>
            <a:r>
              <a:rPr sz="1000" b="1" i="0">
                <a:solidFill>
                  <a:srgbClr val="252A31"/>
                </a:solidFill>
                <a:latin typeface="Meiryo"/>
              </a:rPr>
              <a:t>チーム5・7</a:t>
            </a:r>
          </a:p>
        </p:txBody>
      </p:sp>
      <p:sp>
        <p:nvSpPr>
          <p:cNvPr id="16" name="TextBox 15"/>
          <p:cNvSpPr txBox="1"/>
          <p:nvPr/>
        </p:nvSpPr>
        <p:spPr>
          <a:xfrm>
            <a:off x="640080" y="3493008"/>
            <a:ext cx="2468880" cy="411480"/>
          </a:xfrm>
          <a:prstGeom prst="rect">
            <a:avLst/>
          </a:prstGeom>
          <a:noFill/>
        </p:spPr>
        <p:txBody>
          <a:bodyPr wrap="square" anchor="t" lIns="25400" rIns="25400" tIns="12700" bIns="12700">
            <a:spAutoFit/>
          </a:bodyPr>
          <a:lstStyle/>
          <a:p>
            <a:pPr algn="ctr">
              <a:lnSpc>
                <a:spcPct val="108000"/>
              </a:lnSpc>
            </a:pPr>
            <a:r>
              <a:rPr sz="880" b="0" i="0">
                <a:solidFill>
                  <a:srgbClr val="6B7480"/>
                </a:solidFill>
                <a:latin typeface="Meiryo"/>
              </a:rPr>
              <a:t>業務の流れ・効果・構成まで</a:t>
            </a:r>
          </a:p>
          <a:p>
            <a:pPr algn="ctr">
              <a:lnSpc>
                <a:spcPct val="108000"/>
              </a:lnSpc>
            </a:pPr>
            <a:r>
              <a:rPr sz="880" b="0" i="0">
                <a:solidFill>
                  <a:srgbClr val="6B7480"/>
                </a:solidFill>
                <a:latin typeface="Meiryo"/>
              </a:rPr>
              <a:t>具体化済み</a:t>
            </a:r>
          </a:p>
        </p:txBody>
      </p:sp>
      <p:sp>
        <p:nvSpPr>
          <p:cNvPr id="17" name="Rectangle 16"/>
          <p:cNvSpPr/>
          <p:nvPr/>
        </p:nvSpPr>
        <p:spPr>
          <a:xfrm>
            <a:off x="3383280" y="2194560"/>
            <a:ext cx="4892040" cy="17556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83280" y="2194560"/>
            <a:ext cx="4892040" cy="43891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240280"/>
            <a:ext cx="4892040" cy="347472"/>
          </a:xfrm>
          <a:prstGeom prst="rect">
            <a:avLst/>
          </a:prstGeom>
          <a:noFill/>
        </p:spPr>
        <p:txBody>
          <a:bodyPr wrap="square" anchor="ctr" lIns="25400" rIns="25400" tIns="12700" bIns="12700">
            <a:spAutoFit/>
          </a:bodyPr>
          <a:lstStyle/>
          <a:p>
            <a:pPr algn="ctr">
              <a:lnSpc>
                <a:spcPct val="100000"/>
              </a:lnSpc>
            </a:pPr>
            <a:r>
              <a:rPr sz="1250" b="1" i="0">
                <a:solidFill>
                  <a:srgbClr val="FFFFFF"/>
                </a:solidFill>
                <a:latin typeface="Meiryo"/>
              </a:rPr>
              <a:t>○ 概ね順調</a:t>
            </a:r>
          </a:p>
        </p:txBody>
      </p:sp>
      <p:sp>
        <p:nvSpPr>
          <p:cNvPr id="20" name="TextBox 19"/>
          <p:cNvSpPr txBox="1"/>
          <p:nvPr/>
        </p:nvSpPr>
        <p:spPr>
          <a:xfrm>
            <a:off x="3383280" y="2706624"/>
            <a:ext cx="4892040" cy="502920"/>
          </a:xfrm>
          <a:prstGeom prst="rect">
            <a:avLst/>
          </a:prstGeom>
          <a:noFill/>
        </p:spPr>
        <p:txBody>
          <a:bodyPr wrap="square" anchor="t" lIns="25400" rIns="25400" tIns="12700" bIns="12700">
            <a:spAutoFit/>
          </a:bodyPr>
          <a:lstStyle/>
          <a:p>
            <a:pPr algn="ctr">
              <a:lnSpc>
                <a:spcPct val="100000"/>
              </a:lnSpc>
            </a:pPr>
            <a:r>
              <a:rPr sz="2400" b="1" i="0">
                <a:solidFill>
                  <a:srgbClr val="1F385C"/>
                </a:solidFill>
                <a:latin typeface="Meiryo"/>
              </a:rPr>
              <a:t>8チーム</a:t>
            </a:r>
          </a:p>
        </p:txBody>
      </p:sp>
      <p:sp>
        <p:nvSpPr>
          <p:cNvPr id="21" name="TextBox 20"/>
          <p:cNvSpPr txBox="1"/>
          <p:nvPr/>
        </p:nvSpPr>
        <p:spPr>
          <a:xfrm>
            <a:off x="3520440" y="3218688"/>
            <a:ext cx="4617720" cy="256032"/>
          </a:xfrm>
          <a:prstGeom prst="rect">
            <a:avLst/>
          </a:prstGeom>
          <a:noFill/>
        </p:spPr>
        <p:txBody>
          <a:bodyPr wrap="square" anchor="t" lIns="25400" rIns="25400" tIns="12700" bIns="12700">
            <a:spAutoFit/>
          </a:bodyPr>
          <a:lstStyle/>
          <a:p>
            <a:pPr algn="ctr">
              <a:lnSpc>
                <a:spcPct val="100000"/>
              </a:lnSpc>
            </a:pPr>
            <a:r>
              <a:rPr sz="1000" b="1" i="0">
                <a:solidFill>
                  <a:srgbClr val="252A31"/>
                </a:solidFill>
                <a:latin typeface="Meiryo"/>
              </a:rPr>
              <a:t>チーム1・2・3・6・8・9・10・11</a:t>
            </a:r>
          </a:p>
        </p:txBody>
      </p:sp>
      <p:sp>
        <p:nvSpPr>
          <p:cNvPr id="22" name="TextBox 21"/>
          <p:cNvSpPr txBox="1"/>
          <p:nvPr/>
        </p:nvSpPr>
        <p:spPr>
          <a:xfrm>
            <a:off x="3520440" y="3493008"/>
            <a:ext cx="4617720" cy="411480"/>
          </a:xfrm>
          <a:prstGeom prst="rect">
            <a:avLst/>
          </a:prstGeom>
          <a:noFill/>
        </p:spPr>
        <p:txBody>
          <a:bodyPr wrap="square" anchor="t" lIns="25400" rIns="25400" tIns="12700" bIns="12700">
            <a:spAutoFit/>
          </a:bodyPr>
          <a:lstStyle/>
          <a:p>
            <a:pPr algn="ctr">
              <a:lnSpc>
                <a:spcPct val="108000"/>
              </a:lnSpc>
            </a:pPr>
            <a:r>
              <a:rPr sz="880" b="0" i="0">
                <a:solidFill>
                  <a:srgbClr val="6B7480"/>
                </a:solidFill>
                <a:latin typeface="Meiryo"/>
              </a:rPr>
              <a:t>不明点はCopilotとの相談で解消でき、</a:t>
            </a:r>
          </a:p>
          <a:p>
            <a:pPr algn="ctr">
              <a:lnSpc>
                <a:spcPct val="108000"/>
              </a:lnSpc>
            </a:pPr>
            <a:r>
              <a:rPr sz="880" b="0" i="0">
                <a:solidFill>
                  <a:srgbClr val="6B7480"/>
                </a:solidFill>
                <a:latin typeface="Meiryo"/>
              </a:rPr>
              <a:t>作業量が多い場合も範囲を絞れば発表可能</a:t>
            </a:r>
          </a:p>
        </p:txBody>
      </p:sp>
      <p:sp>
        <p:nvSpPr>
          <p:cNvPr id="23" name="Rectangle 22"/>
          <p:cNvSpPr/>
          <p:nvPr/>
        </p:nvSpPr>
        <p:spPr>
          <a:xfrm>
            <a:off x="8458200" y="2194560"/>
            <a:ext cx="3246120" cy="17556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58200" y="2194560"/>
            <a:ext cx="3246120" cy="438912"/>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58200" y="2240280"/>
            <a:ext cx="3246120" cy="347472"/>
          </a:xfrm>
          <a:prstGeom prst="rect">
            <a:avLst/>
          </a:prstGeom>
          <a:noFill/>
        </p:spPr>
        <p:txBody>
          <a:bodyPr wrap="square" anchor="ctr" lIns="25400" rIns="25400" tIns="12700" bIns="12700">
            <a:spAutoFit/>
          </a:bodyPr>
          <a:lstStyle/>
          <a:p>
            <a:pPr algn="ctr">
              <a:lnSpc>
                <a:spcPct val="100000"/>
              </a:lnSpc>
            </a:pPr>
            <a:r>
              <a:rPr sz="1250" b="1" i="0">
                <a:solidFill>
                  <a:srgbClr val="FFFFFF"/>
                </a:solidFill>
                <a:latin typeface="Meiryo"/>
              </a:rPr>
              <a:t>△ 要フォロー</a:t>
            </a:r>
          </a:p>
        </p:txBody>
      </p:sp>
      <p:sp>
        <p:nvSpPr>
          <p:cNvPr id="26" name="TextBox 25"/>
          <p:cNvSpPr txBox="1"/>
          <p:nvPr/>
        </p:nvSpPr>
        <p:spPr>
          <a:xfrm>
            <a:off x="8458200" y="2706624"/>
            <a:ext cx="3246120" cy="502920"/>
          </a:xfrm>
          <a:prstGeom prst="rect">
            <a:avLst/>
          </a:prstGeom>
          <a:noFill/>
        </p:spPr>
        <p:txBody>
          <a:bodyPr wrap="square" anchor="t" lIns="25400" rIns="25400" tIns="12700" bIns="12700">
            <a:spAutoFit/>
          </a:bodyPr>
          <a:lstStyle/>
          <a:p>
            <a:pPr algn="ctr">
              <a:lnSpc>
                <a:spcPct val="100000"/>
              </a:lnSpc>
            </a:pPr>
            <a:r>
              <a:rPr sz="2400" b="1" i="0">
                <a:solidFill>
                  <a:srgbClr val="1F385C"/>
                </a:solidFill>
                <a:latin typeface="Meiryo"/>
              </a:rPr>
              <a:t>1チーム</a:t>
            </a:r>
          </a:p>
        </p:txBody>
      </p:sp>
      <p:sp>
        <p:nvSpPr>
          <p:cNvPr id="27" name="TextBox 26"/>
          <p:cNvSpPr txBox="1"/>
          <p:nvPr/>
        </p:nvSpPr>
        <p:spPr>
          <a:xfrm>
            <a:off x="8595360" y="3218688"/>
            <a:ext cx="2971800" cy="256032"/>
          </a:xfrm>
          <a:prstGeom prst="rect">
            <a:avLst/>
          </a:prstGeom>
          <a:noFill/>
        </p:spPr>
        <p:txBody>
          <a:bodyPr wrap="square" anchor="t" lIns="25400" rIns="25400" tIns="12700" bIns="12700">
            <a:spAutoFit/>
          </a:bodyPr>
          <a:lstStyle/>
          <a:p>
            <a:pPr algn="ctr">
              <a:lnSpc>
                <a:spcPct val="100000"/>
              </a:lnSpc>
            </a:pPr>
            <a:r>
              <a:rPr sz="1000" b="1" i="0">
                <a:solidFill>
                  <a:srgbClr val="252A31"/>
                </a:solidFill>
                <a:latin typeface="Meiryo"/>
              </a:rPr>
              <a:t>チーム4</a:t>
            </a:r>
          </a:p>
        </p:txBody>
      </p:sp>
      <p:sp>
        <p:nvSpPr>
          <p:cNvPr id="28" name="TextBox 27"/>
          <p:cNvSpPr txBox="1"/>
          <p:nvPr/>
        </p:nvSpPr>
        <p:spPr>
          <a:xfrm>
            <a:off x="8595360" y="3493008"/>
            <a:ext cx="2971800" cy="411480"/>
          </a:xfrm>
          <a:prstGeom prst="rect">
            <a:avLst/>
          </a:prstGeom>
          <a:noFill/>
        </p:spPr>
        <p:txBody>
          <a:bodyPr wrap="square" anchor="t" lIns="25400" rIns="25400" tIns="12700" bIns="12700">
            <a:spAutoFit/>
          </a:bodyPr>
          <a:lstStyle/>
          <a:p>
            <a:pPr algn="ctr">
              <a:lnSpc>
                <a:spcPct val="108000"/>
              </a:lnSpc>
            </a:pPr>
            <a:r>
              <a:rPr sz="880" b="0" i="0">
                <a:solidFill>
                  <a:srgbClr val="6B7480"/>
                </a:solidFill>
                <a:latin typeface="Meiryo"/>
              </a:rPr>
              <a:t>外部Web参照の禁止で再設計中。</a:t>
            </a:r>
          </a:p>
          <a:p>
            <a:pPr algn="ctr">
              <a:lnSpc>
                <a:spcPct val="108000"/>
              </a:lnSpc>
            </a:pPr>
            <a:r>
              <a:rPr sz="880" b="0" i="0">
                <a:solidFill>
                  <a:srgbClr val="6B7480"/>
                </a:solidFill>
                <a:latin typeface="Meiryo"/>
              </a:rPr>
              <a:t>作るものの再定義が最優先</a:t>
            </a:r>
          </a:p>
        </p:txBody>
      </p:sp>
      <p:sp>
        <p:nvSpPr>
          <p:cNvPr id="29" name="Rectangle 28"/>
          <p:cNvSpPr/>
          <p:nvPr/>
        </p:nvSpPr>
        <p:spPr>
          <a:xfrm>
            <a:off x="502920" y="4160520"/>
            <a:ext cx="11201400"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178808"/>
            <a:ext cx="10881360" cy="420624"/>
          </a:xfrm>
          <a:prstGeom prst="rect">
            <a:avLst/>
          </a:prstGeom>
          <a:noFill/>
        </p:spPr>
        <p:txBody>
          <a:bodyPr wrap="square" anchor="ctr" lIns="25400" rIns="25400" tIns="12700" bIns="12700">
            <a:spAutoFit/>
          </a:bodyPr>
          <a:lstStyle/>
          <a:p>
            <a:pPr algn="l">
              <a:lnSpc>
                <a:spcPct val="100000"/>
              </a:lnSpc>
            </a:pPr>
            <a:r>
              <a:rPr sz="1100" b="1" i="0">
                <a:solidFill>
                  <a:srgbClr val="1F385C"/>
                </a:solidFill>
                <a:latin typeface="Meiryo"/>
              </a:rPr>
              <a:t>事務局への依頼（重点3点） ▶ ① 使えるデータ・環境の可否判断を早期に　② 進め方の型とスケジュールの提示　③ 8月は「一本通す」デモに集中する方針の共有</a:t>
            </a:r>
          </a:p>
        </p:txBody>
      </p:sp>
      <p:sp>
        <p:nvSpPr>
          <p:cNvPr id="31" name="TextBox 30"/>
          <p:cNvSpPr txBox="1"/>
          <p:nvPr/>
        </p:nvSpPr>
        <p:spPr>
          <a:xfrm>
            <a:off x="502920" y="4864608"/>
            <a:ext cx="5486400" cy="274320"/>
          </a:xfrm>
          <a:prstGeom prst="rect">
            <a:avLst/>
          </a:prstGeom>
          <a:noFill/>
        </p:spPr>
        <p:txBody>
          <a:bodyPr wrap="square" anchor="t" lIns="25400" rIns="25400" tIns="12700" bIns="12700">
            <a:spAutoFit/>
          </a:bodyPr>
          <a:lstStyle/>
          <a:p>
            <a:pPr algn="l">
              <a:lnSpc>
                <a:spcPct val="100000"/>
              </a:lnSpc>
            </a:pPr>
            <a:r>
              <a:rPr sz="1150" b="1" i="0">
                <a:solidFill>
                  <a:srgbClr val="1F385C"/>
                </a:solidFill>
                <a:latin typeface="Meiryo"/>
              </a:rPr>
              <a:t>全体スケジュール</a:t>
            </a:r>
          </a:p>
        </p:txBody>
      </p:sp>
      <p:sp>
        <p:nvSpPr>
          <p:cNvPr id="32" name="Chevron 31"/>
          <p:cNvSpPr/>
          <p:nvPr/>
        </p:nvSpPr>
        <p:spPr>
          <a:xfrm>
            <a:off x="502920" y="5193792"/>
            <a:ext cx="1993392" cy="51206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7/9〜13</a:t>
            </a:r>
          </a:p>
          <a:p>
            <a:pPr algn="ctr"/>
            <a:r>
              <a:rPr sz="750">
                <a:solidFill>
                  <a:srgbClr val="FFFFFF"/>
                </a:solidFill>
                <a:latin typeface="Meiryo"/>
              </a:rPr>
              <a:t>事前相談会①</a:t>
            </a:r>
          </a:p>
        </p:txBody>
      </p:sp>
      <p:sp>
        <p:nvSpPr>
          <p:cNvPr id="33" name="Chevron 32"/>
          <p:cNvSpPr/>
          <p:nvPr/>
        </p:nvSpPr>
        <p:spPr>
          <a:xfrm>
            <a:off x="2359151" y="5193792"/>
            <a:ext cx="1993392" cy="512064"/>
          </a:xfrm>
          <a:prstGeom prst="chevron">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〜7/17</a:t>
            </a:r>
          </a:p>
          <a:p>
            <a:pPr algn="ctr"/>
            <a:r>
              <a:rPr sz="750">
                <a:solidFill>
                  <a:srgbClr val="FFFFFF"/>
                </a:solidFill>
                <a:latin typeface="Meiryo"/>
              </a:rPr>
              <a:t>企画書 提出</a:t>
            </a:r>
          </a:p>
        </p:txBody>
      </p:sp>
      <p:sp>
        <p:nvSpPr>
          <p:cNvPr id="34" name="Chevron 33"/>
          <p:cNvSpPr/>
          <p:nvPr/>
        </p:nvSpPr>
        <p:spPr>
          <a:xfrm>
            <a:off x="4215382" y="5193792"/>
            <a:ext cx="1993392" cy="512064"/>
          </a:xfrm>
          <a:prstGeom prst="chevron">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7/22〜24</a:t>
            </a:r>
          </a:p>
          <a:p>
            <a:pPr algn="ctr"/>
            <a:r>
              <a:rPr sz="750">
                <a:solidFill>
                  <a:srgbClr val="FFFFFF"/>
                </a:solidFill>
                <a:latin typeface="Meiryo"/>
              </a:rPr>
              <a:t>事前相談会②（今回）</a:t>
            </a:r>
          </a:p>
        </p:txBody>
      </p:sp>
      <p:sp>
        <p:nvSpPr>
          <p:cNvPr id="35" name="Chevron 34"/>
          <p:cNvSpPr/>
          <p:nvPr/>
        </p:nvSpPr>
        <p:spPr>
          <a:xfrm>
            <a:off x="6071613" y="5193792"/>
            <a:ext cx="1993392" cy="512064"/>
          </a:xfrm>
          <a:prstGeom prst="chevron">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8月</a:t>
            </a:r>
          </a:p>
          <a:p>
            <a:pPr algn="ctr"/>
            <a:r>
              <a:rPr sz="750">
                <a:solidFill>
                  <a:srgbClr val="FFFFFF"/>
                </a:solidFill>
                <a:latin typeface="Meiryo"/>
              </a:rPr>
              <a:t>構築・デモ作成</a:t>
            </a:r>
          </a:p>
        </p:txBody>
      </p:sp>
      <p:sp>
        <p:nvSpPr>
          <p:cNvPr id="36" name="Chevron 35"/>
          <p:cNvSpPr/>
          <p:nvPr/>
        </p:nvSpPr>
        <p:spPr>
          <a:xfrm>
            <a:off x="7927844" y="5193792"/>
            <a:ext cx="1993392" cy="512064"/>
          </a:xfrm>
          <a:prstGeom prst="chevron">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9月</a:t>
            </a:r>
          </a:p>
          <a:p>
            <a:pPr algn="ctr"/>
            <a:r>
              <a:rPr sz="750">
                <a:solidFill>
                  <a:srgbClr val="FFFFFF"/>
                </a:solidFill>
                <a:latin typeface="Meiryo"/>
              </a:rPr>
              <a:t>発表準備・運用整理</a:t>
            </a:r>
          </a:p>
        </p:txBody>
      </p:sp>
      <p:sp>
        <p:nvSpPr>
          <p:cNvPr id="37" name="Chevron 36"/>
          <p:cNvSpPr/>
          <p:nvPr/>
        </p:nvSpPr>
        <p:spPr>
          <a:xfrm>
            <a:off x="9784075" y="5193792"/>
            <a:ext cx="1993392" cy="512064"/>
          </a:xfrm>
          <a:prstGeom prst="chevron">
            <a:avLst/>
          </a:prstGeom>
          <a:solidFill>
            <a:srgbClr val="1425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76200" tIns="12700" bIns="12700"/>
          <a:lstStyle/>
          <a:p>
            <a:pPr algn="ctr"/>
            <a:r>
              <a:rPr sz="1000" b="1">
                <a:solidFill>
                  <a:srgbClr val="FFFFFF"/>
                </a:solidFill>
                <a:latin typeface="Meiryo"/>
              </a:rPr>
              <a:t>10月初旬</a:t>
            </a:r>
          </a:p>
          <a:p>
            <a:pPr algn="ctr"/>
            <a:r>
              <a:rPr sz="750">
                <a:solidFill>
                  <a:srgbClr val="FFFFFF"/>
                </a:solidFill>
                <a:latin typeface="Meiryo"/>
              </a:rPr>
              <a:t>最終発表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PROGRESS SUMMARY ｜ 全11チーム</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各チームの状況一覧</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4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TextBox 8"/>
          <p:cNvSpPr txBox="1"/>
          <p:nvPr/>
        </p:nvSpPr>
        <p:spPr>
          <a:xfrm>
            <a:off x="502920" y="1152144"/>
            <a:ext cx="11247120" cy="27432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全11チームが1案に確定。進捗の段階・難易度・10月発表の見込みをあわせて一覧化。</a:t>
            </a:r>
          </a:p>
        </p:txBody>
      </p:sp>
      <p:sp>
        <p:nvSpPr>
          <p:cNvPr id="10" name="TextBox 9"/>
          <p:cNvSpPr txBox="1"/>
          <p:nvPr/>
        </p:nvSpPr>
        <p:spPr>
          <a:xfrm>
            <a:off x="502920" y="1463040"/>
            <a:ext cx="11247120" cy="502920"/>
          </a:xfrm>
          <a:prstGeom prst="rect">
            <a:avLst/>
          </a:prstGeom>
          <a:noFill/>
        </p:spPr>
        <p:txBody>
          <a:bodyPr wrap="square" anchor="t" lIns="25400" rIns="25400" tIns="12700" bIns="12700">
            <a:spAutoFit/>
          </a:bodyPr>
          <a:lstStyle/>
          <a:p>
            <a:pPr algn="l">
              <a:lnSpc>
                <a:spcPct val="115000"/>
              </a:lnSpc>
            </a:pPr>
            <a:r>
              <a:rPr sz="860" b="0" i="0">
                <a:solidFill>
                  <a:srgbClr val="6B7480"/>
                </a:solidFill>
                <a:latin typeface="Meiryo"/>
              </a:rPr>
              <a:t>進捗の段階 ▶ ①案の絞り込み中　②2案から選定中　③1案確定（内容の詰めは途上）　④設計まで具体化　⑤効果試算まで完了　／　第2回 実施済み＝チーム1・2・3・4・5・10・11</a:t>
            </a:r>
          </a:p>
          <a:p>
            <a:pPr algn="l">
              <a:lnSpc>
                <a:spcPct val="115000"/>
              </a:lnSpc>
            </a:pPr>
            <a:r>
              <a:rPr sz="860" b="0" i="0">
                <a:solidFill>
                  <a:srgbClr val="6B7480"/>
                </a:solidFill>
                <a:latin typeface="Meiryo"/>
              </a:rPr>
              <a:t>10月発表の見込み（基準＝発表に向けた道筋の明確さ）▶ ◎ 道筋が明確で自走できる　○ Copilotとの相談や範囲の絞り込みで間に合う　△ 要フォロー（作るものが未確定・再設計中）</a:t>
            </a:r>
          </a:p>
        </p:txBody>
      </p:sp>
      <p:graphicFrame>
        <p:nvGraphicFramePr>
          <p:cNvPr id="11" name="Table 10"/>
          <p:cNvGraphicFramePr>
            <a:graphicFrameLocks noGrp="1"/>
          </p:cNvGraphicFramePr>
          <p:nvPr/>
        </p:nvGraphicFramePr>
        <p:xfrm>
          <a:off x="502920" y="2011680"/>
          <a:ext cx="11201399" cy="4332425"/>
        </p:xfrm>
        <a:graphic>
          <a:graphicData uri="http://schemas.openxmlformats.org/drawingml/2006/table">
            <a:tbl>
              <a:tblPr firstRow="1" bandRow="1">
                <a:tableStyleId>{5C22544A-7EE6-4342-B048-85BDC9FD1C3A}</a:tableStyleId>
              </a:tblPr>
              <a:tblGrid>
                <a:gridCol w="749808"/>
                <a:gridCol w="2084831"/>
                <a:gridCol w="2514600"/>
                <a:gridCol w="3520440"/>
                <a:gridCol w="777240"/>
                <a:gridCol w="1554480"/>
              </a:tblGrid>
              <a:tr h="329184">
                <a:tc>
                  <a:txBody>
                    <a:bodyPr wrap="square"/>
                    <a:lstStyle/>
                    <a:p>
                      <a:pPr algn="ctr">
                        <a:lnSpc>
                          <a:spcPct val="96000"/>
                        </a:lnSpc>
                      </a:pPr>
                      <a:r>
                        <a:rPr sz="95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6000"/>
                        </a:lnSpc>
                      </a:pPr>
                      <a:r>
                        <a:rPr sz="950" b="1">
                          <a:solidFill>
                            <a:srgbClr val="FFFFFF"/>
                          </a:solidFill>
                          <a:latin typeface="Meiryo"/>
                        </a:rPr>
                        <a:t>進捗の段階</a:t>
                      </a:r>
                    </a:p>
                  </a:txBody>
                  <a:tcPr marL="63500" marR="63500" marT="25400" marB="25400" anchor="ctr">
                    <a:solidFill>
                      <a:srgbClr val="1F385C"/>
                    </a:solidFill>
                  </a:tcPr>
                </a:tc>
                <a:tc>
                  <a:txBody>
                    <a:bodyPr wrap="square"/>
                    <a:lstStyle/>
                    <a:p>
                      <a:pPr algn="ctr">
                        <a:lnSpc>
                          <a:spcPct val="96000"/>
                        </a:lnSpc>
                      </a:pPr>
                      <a:r>
                        <a:rPr sz="950" b="1">
                          <a:solidFill>
                            <a:srgbClr val="FFFFFF"/>
                          </a:solidFill>
                          <a:latin typeface="Meiryo"/>
                        </a:rPr>
                        <a:t>取り組み内容</a:t>
                      </a:r>
                    </a:p>
                  </a:txBody>
                  <a:tcPr marL="63500" marR="63500" marT="25400" marB="25400" anchor="ctr">
                    <a:solidFill>
                      <a:srgbClr val="1F385C"/>
                    </a:solidFill>
                  </a:tcPr>
                </a:tc>
                <a:tc>
                  <a:txBody>
                    <a:bodyPr wrap="square"/>
                    <a:lstStyle/>
                    <a:p>
                      <a:pPr algn="ctr">
                        <a:lnSpc>
                          <a:spcPct val="96000"/>
                        </a:lnSpc>
                      </a:pPr>
                      <a:r>
                        <a:rPr sz="950" b="1">
                          <a:solidFill>
                            <a:srgbClr val="FFFFFF"/>
                          </a:solidFill>
                          <a:latin typeface="Meiryo"/>
                        </a:rPr>
                        <a:t>第2回の主な論点・相談</a:t>
                      </a:r>
                    </a:p>
                  </a:txBody>
                  <a:tcPr marL="63500" marR="63500" marT="25400" marB="25400" anchor="ctr">
                    <a:solidFill>
                      <a:srgbClr val="1F385C"/>
                    </a:solidFill>
                  </a:tcPr>
                </a:tc>
                <a:tc>
                  <a:txBody>
                    <a:bodyPr wrap="square"/>
                    <a:lstStyle/>
                    <a:p>
                      <a:pPr algn="ctr">
                        <a:lnSpc>
                          <a:spcPct val="96000"/>
                        </a:lnSpc>
                      </a:pPr>
                      <a:r>
                        <a:rPr sz="950" b="1">
                          <a:solidFill>
                            <a:srgbClr val="FFFFFF"/>
                          </a:solidFill>
                          <a:latin typeface="Meiryo"/>
                        </a:rPr>
                        <a:t>難易度</a:t>
                      </a:r>
                    </a:p>
                  </a:txBody>
                  <a:tcPr marL="63500" marR="63500" marT="25400" marB="25400" anchor="ctr">
                    <a:solidFill>
                      <a:srgbClr val="1F385C"/>
                    </a:solidFill>
                  </a:tcPr>
                </a:tc>
                <a:tc>
                  <a:txBody>
                    <a:bodyPr wrap="square"/>
                    <a:lstStyle/>
                    <a:p>
                      <a:pPr algn="ctr">
                        <a:lnSpc>
                          <a:spcPct val="96000"/>
                        </a:lnSpc>
                      </a:pPr>
                      <a:r>
                        <a:rPr sz="950" b="1">
                          <a:solidFill>
                            <a:srgbClr val="FFFFFF"/>
                          </a:solidFill>
                          <a:latin typeface="Meiryo"/>
                        </a:rPr>
                        <a:t>10月発表 見込み</a:t>
                      </a:r>
                    </a:p>
                  </a:txBody>
                  <a:tcPr marL="63500" marR="63500" marT="25400" marB="25400" anchor="ctr">
                    <a:solidFill>
                      <a:srgbClr val="1F385C"/>
                    </a:solidFill>
                  </a:tcPr>
                </a:tc>
              </a:tr>
              <a:tr h="363931">
                <a:tc>
                  <a:txBody>
                    <a:bodyPr wrap="square"/>
                    <a:lstStyle/>
                    <a:p>
                      <a:pPr algn="ctr">
                        <a:lnSpc>
                          <a:spcPct val="96000"/>
                        </a:lnSpc>
                      </a:pPr>
                      <a:r>
                        <a:rPr sz="950" b="1">
                          <a:solidFill>
                            <a:srgbClr val="1F385C"/>
                          </a:solidFill>
                          <a:latin typeface="Meiryo"/>
                        </a:rPr>
                        <a:t>チーム1</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加盟店提出様式の自動チェック</a:t>
                      </a:r>
                    </a:p>
                  </a:txBody>
                  <a:tcPr marL="63500" marR="63500" marT="25400" marB="25400" anchor="ctr">
                    <a:solidFill>
                      <a:srgbClr val="FFFFFF"/>
                    </a:solidFill>
                  </a:tcPr>
                </a:tc>
                <a:tc>
                  <a:txBody>
                    <a:bodyPr wrap="square"/>
                    <a:lstStyle/>
                    <a:p>
                      <a:pPr algn="l">
                        <a:lnSpc>
                          <a:spcPct val="96000"/>
                        </a:lnSpc>
                      </a:pPr>
                      <a:r>
                        <a:rPr sz="850" b="0">
                          <a:solidFill>
                            <a:srgbClr val="252A31"/>
                          </a:solidFill>
                          <a:latin typeface="Meiryo"/>
                        </a:rPr>
                        <a:t>構築の優先順位・開発手順の型／スケジュールの提示要望</a:t>
                      </a:r>
                    </a:p>
                  </a:txBody>
                  <a:tcPr marL="63500" marR="63500" marT="25400" marB="25400" anchor="ctr">
                    <a:solidFill>
                      <a:srgbClr val="FFFFFF"/>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FFFFF"/>
                    </a:solidFill>
                  </a:tcPr>
                </a:tc>
              </a:tr>
              <a:tr h="363931">
                <a:tc>
                  <a:txBody>
                    <a:bodyPr wrap="square"/>
                    <a:lstStyle/>
                    <a:p>
                      <a:pPr algn="ctr">
                        <a:lnSpc>
                          <a:spcPct val="96000"/>
                        </a:lnSpc>
                      </a:pPr>
                      <a:r>
                        <a:rPr sz="950" b="1">
                          <a:solidFill>
                            <a:srgbClr val="1F385C"/>
                          </a:solidFill>
                          <a:latin typeface="Meiryo"/>
                        </a:rPr>
                        <a:t>チーム2</a:t>
                      </a:r>
                    </a:p>
                  </a:txBody>
                  <a:tcPr marL="63500" marR="63500" marT="25400" marB="25400" anchor="ctr">
                    <a:solidFill>
                      <a:srgbClr val="F2F4F7"/>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80" b="1">
                          <a:solidFill>
                            <a:srgbClr val="252A31"/>
                          </a:solidFill>
                          <a:latin typeface="Meiryo"/>
                        </a:rPr>
                        <a:t>受付Cエラーの原因案内</a:t>
                      </a:r>
                    </a:p>
                  </a:txBody>
                  <a:tcPr marL="63500" marR="63500" marT="25400" marB="25400" anchor="ctr">
                    <a:solidFill>
                      <a:srgbClr val="F2F4F7"/>
                    </a:solidFill>
                  </a:tcPr>
                </a:tc>
                <a:tc>
                  <a:txBody>
                    <a:bodyPr wrap="square"/>
                    <a:lstStyle/>
                    <a:p>
                      <a:pPr algn="l">
                        <a:lnSpc>
                          <a:spcPct val="96000"/>
                        </a:lnSpc>
                      </a:pPr>
                      <a:r>
                        <a:rPr sz="850" b="0">
                          <a:solidFill>
                            <a:srgbClr val="252A31"/>
                          </a:solidFill>
                          <a:latin typeface="Meiryo"/>
                        </a:rPr>
                        <a:t>設計相談に使うプロンプト（指示文）の見本が欲しい</a:t>
                      </a:r>
                    </a:p>
                  </a:txBody>
                  <a:tcPr marL="63500" marR="63500" marT="25400" marB="25400" anchor="ctr">
                    <a:solidFill>
                      <a:srgbClr val="F2F4F7"/>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2F4F7"/>
                    </a:solidFill>
                  </a:tcPr>
                </a:tc>
              </a:tr>
              <a:tr h="363931">
                <a:tc>
                  <a:txBody>
                    <a:bodyPr wrap="square"/>
                    <a:lstStyle/>
                    <a:p>
                      <a:pPr algn="ctr">
                        <a:lnSpc>
                          <a:spcPct val="96000"/>
                        </a:lnSpc>
                      </a:pPr>
                      <a:r>
                        <a:rPr sz="950" b="1">
                          <a:solidFill>
                            <a:srgbClr val="1F385C"/>
                          </a:solidFill>
                          <a:latin typeface="Meiryo"/>
                        </a:rPr>
                        <a:t>チーム3</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加盟店防衛マネジメント支援</a:t>
                      </a:r>
                    </a:p>
                  </a:txBody>
                  <a:tcPr marL="63500" marR="63500" marT="25400" marB="25400" anchor="ctr">
                    <a:solidFill>
                      <a:srgbClr val="FFFFFF"/>
                    </a:solidFill>
                  </a:tcPr>
                </a:tc>
                <a:tc>
                  <a:txBody>
                    <a:bodyPr wrap="square"/>
                    <a:lstStyle/>
                    <a:p>
                      <a:pPr algn="l">
                        <a:lnSpc>
                          <a:spcPct val="96000"/>
                        </a:lnSpc>
                      </a:pPr>
                      <a:r>
                        <a:rPr sz="850" b="0">
                          <a:solidFill>
                            <a:srgbClr val="252A31"/>
                          </a:solidFill>
                          <a:latin typeface="Meiryo"/>
                        </a:rPr>
                        <a:t>外部情報の参照が禁止となるリスクと代替策</a:t>
                      </a:r>
                    </a:p>
                  </a:txBody>
                  <a:tcPr marL="63500" marR="63500" marT="25400" marB="25400" anchor="ctr">
                    <a:solidFill>
                      <a:srgbClr val="FFFFFF"/>
                    </a:solidFill>
                  </a:tcPr>
                </a:tc>
                <a:tc>
                  <a:txBody>
                    <a:bodyPr wrap="square"/>
                    <a:lstStyle/>
                    <a:p>
                      <a:pPr algn="ctr">
                        <a:lnSpc>
                          <a:spcPct val="96000"/>
                        </a:lnSpc>
                      </a:pPr>
                      <a:r>
                        <a:rPr sz="950" b="1">
                          <a:solidFill>
                            <a:srgbClr val="B03A2E"/>
                          </a:solidFill>
                          <a:latin typeface="Meiryo"/>
                        </a:rPr>
                        <a:t>高</a:t>
                      </a:r>
                    </a:p>
                  </a:txBody>
                  <a:tcPr marL="63500" marR="63500" marT="25400" marB="25400" anchor="ctr">
                    <a:solidFill>
                      <a:srgbClr val="FFFFFF"/>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FFFFF"/>
                    </a:solidFill>
                  </a:tcPr>
                </a:tc>
              </a:tr>
              <a:tr h="363931">
                <a:tc>
                  <a:txBody>
                    <a:bodyPr wrap="square"/>
                    <a:lstStyle/>
                    <a:p>
                      <a:pPr algn="ctr">
                        <a:lnSpc>
                          <a:spcPct val="96000"/>
                        </a:lnSpc>
                      </a:pPr>
                      <a:r>
                        <a:rPr sz="950" b="1">
                          <a:solidFill>
                            <a:srgbClr val="1F385C"/>
                          </a:solidFill>
                          <a:latin typeface="Meiryo"/>
                        </a:rPr>
                        <a:t>チーム4</a:t>
                      </a:r>
                    </a:p>
                  </a:txBody>
                  <a:tcPr marL="63500" marR="63500" marT="25400" marB="25400" anchor="ctr">
                    <a:solidFill>
                      <a:srgbClr val="F2F4F7"/>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80" b="1">
                          <a:solidFill>
                            <a:srgbClr val="252A31"/>
                          </a:solidFill>
                          <a:latin typeface="Meiryo"/>
                        </a:rPr>
                        <a:t>市場・企業分析</a:t>
                      </a:r>
                    </a:p>
                  </a:txBody>
                  <a:tcPr marL="63500" marR="63500" marT="25400" marB="25400" anchor="ctr">
                    <a:solidFill>
                      <a:srgbClr val="F2F4F7"/>
                    </a:solidFill>
                  </a:tcPr>
                </a:tc>
                <a:tc>
                  <a:txBody>
                    <a:bodyPr wrap="square"/>
                    <a:lstStyle/>
                    <a:p>
                      <a:pPr algn="l">
                        <a:lnSpc>
                          <a:spcPct val="96000"/>
                        </a:lnSpc>
                      </a:pPr>
                      <a:r>
                        <a:rPr sz="850" b="0">
                          <a:solidFill>
                            <a:srgbClr val="252A31"/>
                          </a:solidFill>
                          <a:latin typeface="Meiryo"/>
                        </a:rPr>
                        <a:t>外部Web参照の禁止により、現在の案がガイドラインに抵触</a:t>
                      </a:r>
                    </a:p>
                  </a:txBody>
                  <a:tcPr marL="63500" marR="63500" marT="25400" marB="25400" anchor="ctr">
                    <a:solidFill>
                      <a:srgbClr val="F2F4F7"/>
                    </a:solidFill>
                  </a:tcPr>
                </a:tc>
                <a:tc>
                  <a:txBody>
                    <a:bodyPr wrap="square"/>
                    <a:lstStyle/>
                    <a:p>
                      <a:pPr algn="ctr">
                        <a:lnSpc>
                          <a:spcPct val="96000"/>
                        </a:lnSpc>
                      </a:pPr>
                      <a:r>
                        <a:rPr sz="950" b="1">
                          <a:solidFill>
                            <a:srgbClr val="B03A2E"/>
                          </a:solidFill>
                          <a:latin typeface="Meiryo"/>
                        </a:rPr>
                        <a:t>高</a:t>
                      </a:r>
                    </a:p>
                  </a:txBody>
                  <a:tcPr marL="63500" marR="63500" marT="25400" marB="25400" anchor="ctr">
                    <a:solidFill>
                      <a:srgbClr val="F2F4F7"/>
                    </a:solidFill>
                  </a:tcPr>
                </a:tc>
                <a:tc>
                  <a:txBody>
                    <a:bodyPr wrap="square"/>
                    <a:lstStyle/>
                    <a:p>
                      <a:pPr algn="ctr">
                        <a:lnSpc>
                          <a:spcPct val="96000"/>
                        </a:lnSpc>
                      </a:pPr>
                      <a:r>
                        <a:rPr sz="900" b="1">
                          <a:solidFill>
                            <a:srgbClr val="C98A1B"/>
                          </a:solidFill>
                          <a:latin typeface="Meiryo"/>
                        </a:rPr>
                        <a:t>△ 要フォロー</a:t>
                      </a:r>
                    </a:p>
                  </a:txBody>
                  <a:tcPr marL="63500" marR="63500" marT="25400" marB="25400" anchor="ctr">
                    <a:solidFill>
                      <a:srgbClr val="F2F4F7"/>
                    </a:solidFill>
                  </a:tcPr>
                </a:tc>
              </a:tr>
              <a:tr h="363931">
                <a:tc>
                  <a:txBody>
                    <a:bodyPr wrap="square"/>
                    <a:lstStyle/>
                    <a:p>
                      <a:pPr algn="ctr">
                        <a:lnSpc>
                          <a:spcPct val="96000"/>
                        </a:lnSpc>
                      </a:pPr>
                      <a:r>
                        <a:rPr sz="950" b="1">
                          <a:solidFill>
                            <a:srgbClr val="1F385C"/>
                          </a:solidFill>
                          <a:latin typeface="Meiryo"/>
                        </a:rPr>
                        <a:t>チーム5</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依頼事項の自動リマインド</a:t>
                      </a:r>
                    </a:p>
                  </a:txBody>
                  <a:tcPr marL="63500" marR="63500" marT="25400" marB="25400" anchor="ctr">
                    <a:solidFill>
                      <a:srgbClr val="FFFFFF"/>
                    </a:solidFill>
                  </a:tcPr>
                </a:tc>
                <a:tc>
                  <a:txBody>
                    <a:bodyPr wrap="square"/>
                    <a:lstStyle/>
                    <a:p>
                      <a:pPr algn="l">
                        <a:lnSpc>
                          <a:spcPct val="96000"/>
                        </a:lnSpc>
                      </a:pPr>
                      <a:r>
                        <a:rPr sz="850" b="0">
                          <a:solidFill>
                            <a:srgbClr val="252A31"/>
                          </a:solidFill>
                          <a:latin typeface="Meiryo"/>
                        </a:rPr>
                        <a:t>管理表の項目立ての進め方／サービス更新に伴う保守</a:t>
                      </a:r>
                    </a:p>
                  </a:txBody>
                  <a:tcPr marL="63500" marR="63500" marT="25400" marB="25400" anchor="ctr">
                    <a:solidFill>
                      <a:srgbClr val="FFFFFF"/>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900" b="1">
                          <a:solidFill>
                            <a:srgbClr val="3F8F5B"/>
                          </a:solidFill>
                          <a:latin typeface="Meiryo"/>
                        </a:rPr>
                        <a:t>◎ 順調</a:t>
                      </a:r>
                    </a:p>
                  </a:txBody>
                  <a:tcPr marL="63500" marR="63500" marT="25400" marB="25400" anchor="ctr">
                    <a:solidFill>
                      <a:srgbClr val="FFFFFF"/>
                    </a:solidFill>
                  </a:tcPr>
                </a:tc>
              </a:tr>
              <a:tr h="363931">
                <a:tc>
                  <a:txBody>
                    <a:bodyPr wrap="square"/>
                    <a:lstStyle/>
                    <a:p>
                      <a:pPr algn="ctr">
                        <a:lnSpc>
                          <a:spcPct val="96000"/>
                        </a:lnSpc>
                      </a:pPr>
                      <a:r>
                        <a:rPr sz="950" b="1">
                          <a:solidFill>
                            <a:srgbClr val="1F385C"/>
                          </a:solidFill>
                          <a:latin typeface="Meiryo"/>
                        </a:rPr>
                        <a:t>チーム6</a:t>
                      </a:r>
                    </a:p>
                  </a:txBody>
                  <a:tcPr marL="63500" marR="63500" marT="25400" marB="25400" anchor="ctr">
                    <a:solidFill>
                      <a:srgbClr val="F2F4F7"/>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80" b="1">
                          <a:solidFill>
                            <a:srgbClr val="252A31"/>
                          </a:solidFill>
                          <a:latin typeface="Meiryo"/>
                        </a:rPr>
                        <a:t>会議資料作成と会議招集の自動化</a:t>
                      </a:r>
                    </a:p>
                  </a:txBody>
                  <a:tcPr marL="63500" marR="63500" marT="25400" marB="25400" anchor="ctr">
                    <a:solidFill>
                      <a:srgbClr val="F2F4F7"/>
                    </a:solidFill>
                  </a:tcPr>
                </a:tc>
                <a:tc>
                  <a:txBody>
                    <a:bodyPr wrap="square"/>
                    <a:lstStyle/>
                    <a:p>
                      <a:pPr algn="l">
                        <a:lnSpc>
                          <a:spcPct val="96000"/>
                        </a:lnSpc>
                      </a:pPr>
                      <a:r>
                        <a:rPr sz="850" b="0">
                          <a:solidFill>
                            <a:srgbClr val="6B7480"/>
                          </a:solidFill>
                          <a:latin typeface="Meiryo"/>
                        </a:rPr>
                        <a:t>（第2回未実施）Power AutomateとCopilot Studioの役割分担</a:t>
                      </a:r>
                    </a:p>
                  </a:txBody>
                  <a:tcPr marL="63500" marR="63500" marT="25400" marB="25400" anchor="ctr">
                    <a:solidFill>
                      <a:srgbClr val="F2F4F7"/>
                    </a:solidFill>
                  </a:tcPr>
                </a:tc>
                <a:tc>
                  <a:txBody>
                    <a:bodyPr wrap="square"/>
                    <a:lstStyle/>
                    <a:p>
                      <a:pPr algn="ctr">
                        <a:lnSpc>
                          <a:spcPct val="96000"/>
                        </a:lnSpc>
                      </a:pPr>
                      <a:r>
                        <a:rPr sz="950" b="1">
                          <a:solidFill>
                            <a:srgbClr val="C98A1B"/>
                          </a:solidFill>
                          <a:latin typeface="Meiryo"/>
                        </a:rPr>
                        <a:t>中〜高</a:t>
                      </a:r>
                    </a:p>
                  </a:txBody>
                  <a:tcPr marL="63500" marR="63500" marT="25400" marB="25400" anchor="ctr">
                    <a:solidFill>
                      <a:srgbClr val="F2F4F7"/>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2F4F7"/>
                    </a:solidFill>
                  </a:tcPr>
                </a:tc>
              </a:tr>
              <a:tr h="363931">
                <a:tc>
                  <a:txBody>
                    <a:bodyPr wrap="square"/>
                    <a:lstStyle/>
                    <a:p>
                      <a:pPr algn="ctr">
                        <a:lnSpc>
                          <a:spcPct val="96000"/>
                        </a:lnSpc>
                      </a:pPr>
                      <a:r>
                        <a:rPr sz="950" b="1">
                          <a:solidFill>
                            <a:srgbClr val="1F385C"/>
                          </a:solidFill>
                          <a:latin typeface="Meiryo"/>
                        </a:rPr>
                        <a:t>チーム7</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加盟店課金精算のチェック</a:t>
                      </a:r>
                    </a:p>
                  </a:txBody>
                  <a:tcPr marL="63500" marR="63500" marT="25400" marB="25400" anchor="ctr">
                    <a:solidFill>
                      <a:srgbClr val="FFFFFF"/>
                    </a:solidFill>
                  </a:tcPr>
                </a:tc>
                <a:tc>
                  <a:txBody>
                    <a:bodyPr wrap="square"/>
                    <a:lstStyle/>
                    <a:p>
                      <a:pPr algn="l">
                        <a:lnSpc>
                          <a:spcPct val="96000"/>
                        </a:lnSpc>
                      </a:pPr>
                      <a:r>
                        <a:rPr sz="850" b="0">
                          <a:solidFill>
                            <a:srgbClr val="6B7480"/>
                          </a:solidFill>
                          <a:latin typeface="Meiryo"/>
                        </a:rPr>
                        <a:t>（第2回未実施）判断基準と毎月の入力ファイルを分ける構成</a:t>
                      </a:r>
                    </a:p>
                  </a:txBody>
                  <a:tcPr marL="63500" marR="63500" marT="25400" marB="25400" anchor="ctr">
                    <a:solidFill>
                      <a:srgbClr val="FFFFFF"/>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900" b="1">
                          <a:solidFill>
                            <a:srgbClr val="3F8F5B"/>
                          </a:solidFill>
                          <a:latin typeface="Meiryo"/>
                        </a:rPr>
                        <a:t>◎ 順調</a:t>
                      </a:r>
                    </a:p>
                  </a:txBody>
                  <a:tcPr marL="63500" marR="63500" marT="25400" marB="25400" anchor="ctr">
                    <a:solidFill>
                      <a:srgbClr val="FFFFFF"/>
                    </a:solidFill>
                  </a:tcPr>
                </a:tc>
              </a:tr>
              <a:tr h="363931">
                <a:tc>
                  <a:txBody>
                    <a:bodyPr wrap="square"/>
                    <a:lstStyle/>
                    <a:p>
                      <a:pPr algn="ctr">
                        <a:lnSpc>
                          <a:spcPct val="96000"/>
                        </a:lnSpc>
                      </a:pPr>
                      <a:r>
                        <a:rPr sz="950" b="1">
                          <a:solidFill>
                            <a:srgbClr val="1F385C"/>
                          </a:solidFill>
                          <a:latin typeface="Meiryo"/>
                        </a:rPr>
                        <a:t>チーム8</a:t>
                      </a:r>
                    </a:p>
                  </a:txBody>
                  <a:tcPr marL="63500" marR="63500" marT="25400" marB="25400" anchor="ctr">
                    <a:solidFill>
                      <a:srgbClr val="F2F4F7"/>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80" b="1">
                          <a:solidFill>
                            <a:srgbClr val="252A31"/>
                          </a:solidFill>
                          <a:latin typeface="Meiryo"/>
                        </a:rPr>
                        <a:t>会議調整・タスク整理の支援</a:t>
                      </a:r>
                    </a:p>
                  </a:txBody>
                  <a:tcPr marL="63500" marR="63500" marT="25400" marB="25400" anchor="ctr">
                    <a:solidFill>
                      <a:srgbClr val="F2F4F7"/>
                    </a:solidFill>
                  </a:tcPr>
                </a:tc>
                <a:tc>
                  <a:txBody>
                    <a:bodyPr wrap="square"/>
                    <a:lstStyle/>
                    <a:p>
                      <a:pPr algn="l">
                        <a:lnSpc>
                          <a:spcPct val="96000"/>
                        </a:lnSpc>
                      </a:pPr>
                      <a:r>
                        <a:rPr sz="850" b="0">
                          <a:solidFill>
                            <a:srgbClr val="6B7480"/>
                          </a:solidFill>
                          <a:latin typeface="Meiryo"/>
                        </a:rPr>
                        <a:t>（第2回未実施）発表する1案以外を並行して進めてよいか</a:t>
                      </a:r>
                    </a:p>
                  </a:txBody>
                  <a:tcPr marL="63500" marR="63500" marT="25400" marB="25400" anchor="ctr">
                    <a:solidFill>
                      <a:srgbClr val="F2F4F7"/>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2F4F7"/>
                    </a:solidFill>
                  </a:tcPr>
                </a:tc>
              </a:tr>
              <a:tr h="363931">
                <a:tc>
                  <a:txBody>
                    <a:bodyPr wrap="square"/>
                    <a:lstStyle/>
                    <a:p>
                      <a:pPr algn="ctr">
                        <a:lnSpc>
                          <a:spcPct val="96000"/>
                        </a:lnSpc>
                      </a:pPr>
                      <a:r>
                        <a:rPr sz="950" b="1">
                          <a:solidFill>
                            <a:srgbClr val="1F385C"/>
                          </a:solidFill>
                          <a:latin typeface="Meiryo"/>
                        </a:rPr>
                        <a:t>チーム9</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レビュー進捗の管理</a:t>
                      </a:r>
                    </a:p>
                  </a:txBody>
                  <a:tcPr marL="63500" marR="63500" marT="25400" marB="25400" anchor="ctr">
                    <a:solidFill>
                      <a:srgbClr val="FFFFFF"/>
                    </a:solidFill>
                  </a:tcPr>
                </a:tc>
                <a:tc>
                  <a:txBody>
                    <a:bodyPr wrap="square"/>
                    <a:lstStyle/>
                    <a:p>
                      <a:pPr algn="l">
                        <a:lnSpc>
                          <a:spcPct val="96000"/>
                        </a:lnSpc>
                      </a:pPr>
                      <a:r>
                        <a:rPr sz="850" b="0">
                          <a:solidFill>
                            <a:srgbClr val="6B7480"/>
                          </a:solidFill>
                          <a:latin typeface="Meiryo"/>
                        </a:rPr>
                        <a:t>（第2回未実施）社外秘資料・外部システム連携・メール送付の可否</a:t>
                      </a:r>
                    </a:p>
                  </a:txBody>
                  <a:tcPr marL="63500" marR="63500" marT="25400" marB="25400" anchor="ctr">
                    <a:solidFill>
                      <a:srgbClr val="FFFFFF"/>
                    </a:solidFill>
                  </a:tcPr>
                </a:tc>
                <a:tc>
                  <a:txBody>
                    <a:bodyPr wrap="square"/>
                    <a:lstStyle/>
                    <a:p>
                      <a:pPr algn="ctr">
                        <a:lnSpc>
                          <a:spcPct val="96000"/>
                        </a:lnSpc>
                      </a:pPr>
                      <a:r>
                        <a:rPr sz="950" b="1">
                          <a:solidFill>
                            <a:srgbClr val="C98A1B"/>
                          </a:solidFill>
                          <a:latin typeface="Meiryo"/>
                        </a:rPr>
                        <a:t>中〜高</a:t>
                      </a:r>
                    </a:p>
                  </a:txBody>
                  <a:tcPr marL="63500" marR="63500" marT="25400" marB="25400" anchor="ctr">
                    <a:solidFill>
                      <a:srgbClr val="FFFFFF"/>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FFFFF"/>
                    </a:solidFill>
                  </a:tcPr>
                </a:tc>
              </a:tr>
              <a:tr h="363931">
                <a:tc>
                  <a:txBody>
                    <a:bodyPr wrap="square"/>
                    <a:lstStyle/>
                    <a:p>
                      <a:pPr algn="ctr">
                        <a:lnSpc>
                          <a:spcPct val="96000"/>
                        </a:lnSpc>
                      </a:pPr>
                      <a:r>
                        <a:rPr sz="950" b="1">
                          <a:solidFill>
                            <a:srgbClr val="1F385C"/>
                          </a:solidFill>
                          <a:latin typeface="Meiryo"/>
                        </a:rPr>
                        <a:t>チーム10</a:t>
                      </a:r>
                    </a:p>
                  </a:txBody>
                  <a:tcPr marL="63500" marR="63500" marT="25400" marB="25400" anchor="ctr">
                    <a:solidFill>
                      <a:srgbClr val="F2F4F7"/>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80" b="1">
                          <a:solidFill>
                            <a:srgbClr val="252A31"/>
                          </a:solidFill>
                          <a:latin typeface="Meiryo"/>
                        </a:rPr>
                        <a:t>対面会議の議事録ドラフト生成</a:t>
                      </a:r>
                    </a:p>
                  </a:txBody>
                  <a:tcPr marL="63500" marR="63500" marT="25400" marB="25400" anchor="ctr">
                    <a:solidFill>
                      <a:srgbClr val="F2F4F7"/>
                    </a:solidFill>
                  </a:tcPr>
                </a:tc>
                <a:tc>
                  <a:txBody>
                    <a:bodyPr wrap="square"/>
                    <a:lstStyle/>
                    <a:p>
                      <a:pPr algn="l">
                        <a:lnSpc>
                          <a:spcPct val="96000"/>
                        </a:lnSpc>
                      </a:pPr>
                      <a:r>
                        <a:rPr sz="850" b="0">
                          <a:solidFill>
                            <a:srgbClr val="252A31"/>
                          </a:solidFill>
                          <a:latin typeface="Meiryo"/>
                        </a:rPr>
                        <a:t>Copilotの回答をそのまま信じてよいか／今後の定例の進め方</a:t>
                      </a:r>
                    </a:p>
                  </a:txBody>
                  <a:tcPr marL="63500" marR="63500" marT="25400" marB="25400" anchor="ctr">
                    <a:solidFill>
                      <a:srgbClr val="F2F4F7"/>
                    </a:solidFill>
                  </a:tcPr>
                </a:tc>
                <a:tc>
                  <a:txBody>
                    <a:bodyPr wrap="square"/>
                    <a:lstStyle/>
                    <a:p>
                      <a:pPr algn="ctr">
                        <a:lnSpc>
                          <a:spcPct val="96000"/>
                        </a:lnSpc>
                      </a:pPr>
                      <a:r>
                        <a:rPr sz="9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2F4F7"/>
                    </a:solidFill>
                  </a:tcPr>
                </a:tc>
              </a:tr>
              <a:tr h="363931">
                <a:tc>
                  <a:txBody>
                    <a:bodyPr wrap="square"/>
                    <a:lstStyle/>
                    <a:p>
                      <a:pPr algn="ctr">
                        <a:lnSpc>
                          <a:spcPct val="96000"/>
                        </a:lnSpc>
                      </a:pPr>
                      <a:r>
                        <a:rPr sz="950" b="1">
                          <a:solidFill>
                            <a:srgbClr val="1F385C"/>
                          </a:solidFill>
                          <a:latin typeface="Meiryo"/>
                        </a:rPr>
                        <a:t>チーム11</a:t>
                      </a:r>
                    </a:p>
                  </a:txBody>
                  <a:tcPr marL="63500" marR="63500" marT="25400" marB="25400" anchor="ctr">
                    <a:solidFill>
                      <a:srgbClr val="FFFFFF"/>
                    </a:solidFill>
                  </a:tcPr>
                </a:tc>
                <a:tc>
                  <a:txBody>
                    <a:bodyPr wrap="square"/>
                    <a:lstStyle/>
                    <a:p>
                      <a:pPr algn="l">
                        <a:lnSpc>
                          <a:spcPct val="96000"/>
                        </a:lnSpc>
                      </a:pPr>
                      <a:r>
                        <a:rPr sz="10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80" b="1">
                          <a:solidFill>
                            <a:srgbClr val="252A31"/>
                          </a:solidFill>
                          <a:latin typeface="Meiryo"/>
                        </a:rPr>
                        <a:t>社内LAN問い合わせチャットボット</a:t>
                      </a:r>
                    </a:p>
                  </a:txBody>
                  <a:tcPr marL="63500" marR="63500" marT="25400" marB="25400" anchor="ctr">
                    <a:solidFill>
                      <a:srgbClr val="FFFFFF"/>
                    </a:solidFill>
                  </a:tcPr>
                </a:tc>
                <a:tc>
                  <a:txBody>
                    <a:bodyPr wrap="square"/>
                    <a:lstStyle/>
                    <a:p>
                      <a:pPr algn="l">
                        <a:lnSpc>
                          <a:spcPct val="96000"/>
                        </a:lnSpc>
                      </a:pPr>
                      <a:r>
                        <a:rPr sz="850" b="0">
                          <a:solidFill>
                            <a:srgbClr val="252A31"/>
                          </a:solidFill>
                          <a:latin typeface="Meiryo"/>
                        </a:rPr>
                        <a:t>本番環境への移行、手順書・利用ルールの完成時期</a:t>
                      </a:r>
                    </a:p>
                  </a:txBody>
                  <a:tcPr marL="63500" marR="63500" marT="25400" marB="25400" anchor="ctr">
                    <a:solidFill>
                      <a:srgbClr val="FFFFFF"/>
                    </a:solidFill>
                  </a:tcPr>
                </a:tc>
                <a:tc>
                  <a:txBody>
                    <a:bodyPr wrap="square"/>
                    <a:lstStyle/>
                    <a:p>
                      <a:pPr algn="ctr">
                        <a:lnSpc>
                          <a:spcPct val="96000"/>
                        </a:lnSpc>
                      </a:pPr>
                      <a:r>
                        <a:rPr sz="950" b="1">
                          <a:solidFill>
                            <a:srgbClr val="C98A1B"/>
                          </a:solidFill>
                          <a:latin typeface="Meiryo"/>
                        </a:rPr>
                        <a:t>中〜高</a:t>
                      </a:r>
                    </a:p>
                  </a:txBody>
                  <a:tcPr marL="63500" marR="63500" marT="25400" marB="25400" anchor="ctr">
                    <a:solidFill>
                      <a:srgbClr val="FFFFFF"/>
                    </a:solidFill>
                  </a:tcPr>
                </a:tc>
                <a:tc>
                  <a:txBody>
                    <a:bodyPr wrap="square"/>
                    <a:lstStyle/>
                    <a:p>
                      <a:pPr algn="ctr">
                        <a:lnSpc>
                          <a:spcPct val="96000"/>
                        </a:lnSpc>
                      </a:pPr>
                      <a:r>
                        <a:rPr sz="900" b="1">
                          <a:solidFill>
                            <a:srgbClr val="2E8B9E"/>
                          </a:solidFill>
                          <a:latin typeface="Meiryo"/>
                        </a:rPr>
                        <a:t>○ 概ね順調</a:t>
                      </a:r>
                    </a:p>
                  </a:txBody>
                  <a:tcPr marL="63500" marR="63500" marT="25400" marB="25400" anchor="ctr">
                    <a:solidFill>
                      <a:srgbClr val="FFFFFF"/>
                    </a:solidFill>
                  </a:tcPr>
                </a:tc>
              </a:tr>
            </a:tbl>
          </a:graphicData>
        </a:graphic>
      </p:graphicFrame>
      <p:sp>
        <p:nvSpPr>
          <p:cNvPr id="12" name="Chevron 11"/>
          <p:cNvSpPr/>
          <p:nvPr/>
        </p:nvSpPr>
        <p:spPr>
          <a:xfrm>
            <a:off x="1344168" y="244967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1559052" y="244967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1773936" y="244967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1988820" y="2449677"/>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203704" y="2449677"/>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55164" y="2417673"/>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③ 1案確定</a:t>
            </a:r>
          </a:p>
        </p:txBody>
      </p:sp>
      <p:sp>
        <p:nvSpPr>
          <p:cNvPr id="18" name="Chevron 17"/>
          <p:cNvSpPr/>
          <p:nvPr/>
        </p:nvSpPr>
        <p:spPr>
          <a:xfrm>
            <a:off x="1344168" y="2813608"/>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evron 18"/>
          <p:cNvSpPr/>
          <p:nvPr/>
        </p:nvSpPr>
        <p:spPr>
          <a:xfrm>
            <a:off x="1559052" y="2813608"/>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1773936" y="2813608"/>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1988820" y="2813608"/>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203704" y="2813608"/>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5164" y="2781604"/>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③ 1案確定</a:t>
            </a:r>
          </a:p>
        </p:txBody>
      </p:sp>
      <p:sp>
        <p:nvSpPr>
          <p:cNvPr id="24" name="Chevron 23"/>
          <p:cNvSpPr/>
          <p:nvPr/>
        </p:nvSpPr>
        <p:spPr>
          <a:xfrm>
            <a:off x="1344168" y="3177539"/>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evron 24"/>
          <p:cNvSpPr/>
          <p:nvPr/>
        </p:nvSpPr>
        <p:spPr>
          <a:xfrm>
            <a:off x="1559052" y="3177539"/>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1773936" y="3177539"/>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1988820" y="3177539"/>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203704" y="3177539"/>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55164" y="3145535"/>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③ 1案確定</a:t>
            </a:r>
          </a:p>
        </p:txBody>
      </p:sp>
      <p:sp>
        <p:nvSpPr>
          <p:cNvPr id="30" name="Chevron 29"/>
          <p:cNvSpPr/>
          <p:nvPr/>
        </p:nvSpPr>
        <p:spPr>
          <a:xfrm>
            <a:off x="1344168" y="3541470"/>
            <a:ext cx="237744"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1559052" y="3541470"/>
            <a:ext cx="237744"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1773936" y="3541470"/>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1988820" y="3541470"/>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203704" y="3541470"/>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55164" y="3509466"/>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C98A1B"/>
                </a:solidFill>
                <a:latin typeface="Meiryo"/>
              </a:rPr>
              <a:t>② 2案選定中</a:t>
            </a:r>
          </a:p>
        </p:txBody>
      </p:sp>
      <p:sp>
        <p:nvSpPr>
          <p:cNvPr id="36" name="Chevron 35"/>
          <p:cNvSpPr/>
          <p:nvPr/>
        </p:nvSpPr>
        <p:spPr>
          <a:xfrm>
            <a:off x="1344168" y="3905401"/>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1559052" y="3905401"/>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1773936" y="3905401"/>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1988820" y="3905401"/>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203704" y="3905401"/>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55164" y="3873397"/>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3F8F5B"/>
                </a:solidFill>
                <a:latin typeface="Meiryo"/>
              </a:rPr>
              <a:t>⑤ 効果試算済</a:t>
            </a:r>
          </a:p>
        </p:txBody>
      </p:sp>
      <p:sp>
        <p:nvSpPr>
          <p:cNvPr id="42" name="Chevron 41"/>
          <p:cNvSpPr/>
          <p:nvPr/>
        </p:nvSpPr>
        <p:spPr>
          <a:xfrm>
            <a:off x="1344168" y="426933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1559052" y="426933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1773936" y="426933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1988820" y="426933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203704" y="426933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55164" y="4237328"/>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③ 1案確定</a:t>
            </a:r>
          </a:p>
        </p:txBody>
      </p:sp>
      <p:sp>
        <p:nvSpPr>
          <p:cNvPr id="48" name="Chevron 47"/>
          <p:cNvSpPr/>
          <p:nvPr/>
        </p:nvSpPr>
        <p:spPr>
          <a:xfrm>
            <a:off x="1344168" y="4633263"/>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evron 48"/>
          <p:cNvSpPr/>
          <p:nvPr/>
        </p:nvSpPr>
        <p:spPr>
          <a:xfrm>
            <a:off x="1559052" y="4633263"/>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1773936" y="4633263"/>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1988820" y="4633263"/>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203704" y="4633263"/>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455164" y="4601259"/>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3F8F5B"/>
                </a:solidFill>
                <a:latin typeface="Meiryo"/>
              </a:rPr>
              <a:t>⑤ 効果試算済</a:t>
            </a:r>
          </a:p>
        </p:txBody>
      </p:sp>
      <p:sp>
        <p:nvSpPr>
          <p:cNvPr id="54" name="Chevron 53"/>
          <p:cNvSpPr/>
          <p:nvPr/>
        </p:nvSpPr>
        <p:spPr>
          <a:xfrm>
            <a:off x="1344168" y="4997194"/>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evron 54"/>
          <p:cNvSpPr/>
          <p:nvPr/>
        </p:nvSpPr>
        <p:spPr>
          <a:xfrm>
            <a:off x="1559052" y="4997194"/>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1773936" y="4997194"/>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1988820" y="4997194"/>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203704" y="4997194"/>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455164" y="4965190"/>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④ 設計具体化</a:t>
            </a:r>
          </a:p>
        </p:txBody>
      </p:sp>
      <p:sp>
        <p:nvSpPr>
          <p:cNvPr id="60" name="Chevron 59"/>
          <p:cNvSpPr/>
          <p:nvPr/>
        </p:nvSpPr>
        <p:spPr>
          <a:xfrm>
            <a:off x="1344168" y="5361125"/>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Chevron 60"/>
          <p:cNvSpPr/>
          <p:nvPr/>
        </p:nvSpPr>
        <p:spPr>
          <a:xfrm>
            <a:off x="1559052" y="5361125"/>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1773936" y="5361125"/>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1988820" y="5361125"/>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203704" y="5361125"/>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455164" y="5329121"/>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③ 1案確定</a:t>
            </a:r>
          </a:p>
        </p:txBody>
      </p:sp>
      <p:sp>
        <p:nvSpPr>
          <p:cNvPr id="66" name="Chevron 65"/>
          <p:cNvSpPr/>
          <p:nvPr/>
        </p:nvSpPr>
        <p:spPr>
          <a:xfrm>
            <a:off x="1344168" y="5725056"/>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1559052" y="5725056"/>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1773936" y="5725056"/>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1988820" y="5725056"/>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203704" y="5725056"/>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455164" y="5693052"/>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④ 設計具体化</a:t>
            </a:r>
          </a:p>
        </p:txBody>
      </p:sp>
      <p:sp>
        <p:nvSpPr>
          <p:cNvPr id="72" name="Chevron 71"/>
          <p:cNvSpPr/>
          <p:nvPr/>
        </p:nvSpPr>
        <p:spPr>
          <a:xfrm>
            <a:off x="1344168" y="608898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Chevron 72"/>
          <p:cNvSpPr/>
          <p:nvPr/>
        </p:nvSpPr>
        <p:spPr>
          <a:xfrm>
            <a:off x="1559052" y="608898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Chevron 73"/>
          <p:cNvSpPr/>
          <p:nvPr/>
        </p:nvSpPr>
        <p:spPr>
          <a:xfrm>
            <a:off x="1773936" y="608898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Chevron 74"/>
          <p:cNvSpPr/>
          <p:nvPr/>
        </p:nvSpPr>
        <p:spPr>
          <a:xfrm>
            <a:off x="1988820" y="6088987"/>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2203704" y="6088987"/>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455164" y="6056983"/>
            <a:ext cx="914400" cy="219456"/>
          </a:xfrm>
          <a:prstGeom prst="rect">
            <a:avLst/>
          </a:prstGeom>
          <a:noFill/>
        </p:spPr>
        <p:txBody>
          <a:bodyPr wrap="square" anchor="ctr" lIns="25400" rIns="25400" tIns="12700" bIns="12700">
            <a:spAutoFit/>
          </a:bodyPr>
          <a:lstStyle/>
          <a:p>
            <a:pPr algn="l">
              <a:lnSpc>
                <a:spcPct val="100000"/>
              </a:lnSpc>
            </a:pPr>
            <a:r>
              <a:rPr sz="700" b="1" i="0">
                <a:solidFill>
                  <a:srgbClr val="2E8B9E"/>
                </a:solidFill>
                <a:latin typeface="Meiryo"/>
              </a:rPr>
              <a:t>④ 設計具体化</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APPS ・ DIFFICULTY ・ VOLUME ｜ メンター検討の材料</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使用アプリ（想定）・難易度・ボリュームの比較</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5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TextBox 8"/>
          <p:cNvSpPr txBox="1"/>
          <p:nvPr/>
        </p:nvSpPr>
        <p:spPr>
          <a:xfrm>
            <a:off x="502920" y="1097280"/>
            <a:ext cx="11247120" cy="457200"/>
          </a:xfrm>
          <a:prstGeom prst="rect">
            <a:avLst/>
          </a:prstGeom>
          <a:noFill/>
        </p:spPr>
        <p:txBody>
          <a:bodyPr wrap="square" anchor="t" lIns="25400" rIns="25400" tIns="12700" bIns="12700">
            <a:spAutoFit/>
          </a:bodyPr>
          <a:lstStyle/>
          <a:p>
            <a:pPr algn="l">
              <a:lnSpc>
                <a:spcPct val="110000"/>
              </a:lnSpc>
            </a:pPr>
            <a:r>
              <a:rPr sz="950" b="0" i="0">
                <a:solidFill>
                  <a:srgbClr val="252A31"/>
                </a:solidFill>
                <a:latin typeface="Meiryo"/>
              </a:rPr>
              <a:t>各チームの取り組みから想定される使用アプリ（企画書と相談会の内容にもとづく予想）を列で示し、難易度・ボリューム・主な制約を併記。全チームがCopilot Studioを使用する。</a:t>
            </a:r>
          </a:p>
        </p:txBody>
      </p:sp>
      <p:graphicFrame>
        <p:nvGraphicFramePr>
          <p:cNvPr id="10" name="Table 9"/>
          <p:cNvGraphicFramePr>
            <a:graphicFrameLocks noGrp="1"/>
          </p:cNvGraphicFramePr>
          <p:nvPr/>
        </p:nvGraphicFramePr>
        <p:xfrm>
          <a:off x="502920" y="1591056"/>
          <a:ext cx="11201399" cy="4229100"/>
        </p:xfrm>
        <a:graphic>
          <a:graphicData uri="http://schemas.openxmlformats.org/drawingml/2006/table">
            <a:tbl>
              <a:tblPr firstRow="1" bandRow="1">
                <a:tableStyleId>{5C22544A-7EE6-4342-B048-85BDC9FD1C3A}</a:tableStyleId>
              </a:tblPr>
              <a:tblGrid>
                <a:gridCol w="658368"/>
                <a:gridCol w="1874519"/>
                <a:gridCol w="548640"/>
                <a:gridCol w="548640"/>
                <a:gridCol w="548640"/>
                <a:gridCol w="548640"/>
                <a:gridCol w="548640"/>
                <a:gridCol w="548640"/>
                <a:gridCol w="548640"/>
                <a:gridCol w="548640"/>
                <a:gridCol w="548640"/>
                <a:gridCol w="548640"/>
                <a:gridCol w="548640"/>
                <a:gridCol w="621792"/>
                <a:gridCol w="2011680"/>
              </a:tblGrid>
              <a:tr h="457200">
                <a:tc>
                  <a:txBody>
                    <a:bodyPr wrap="square"/>
                    <a:lstStyle/>
                    <a:p>
                      <a:pPr algn="ctr">
                        <a:lnSpc>
                          <a:spcPct val="96000"/>
                        </a:lnSpc>
                      </a:pPr>
                      <a:r>
                        <a:rPr sz="80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6000"/>
                        </a:lnSpc>
                      </a:pPr>
                      <a:r>
                        <a:rPr sz="800" b="1">
                          <a:solidFill>
                            <a:srgbClr val="FFFFFF"/>
                          </a:solidFill>
                          <a:latin typeface="Meiryo"/>
                        </a:rPr>
                        <a:t>取り組み内容</a:t>
                      </a:r>
                    </a:p>
                  </a:txBody>
                  <a:tcPr marL="63500" marR="63500" marT="25400" marB="25400" anchor="ctr">
                    <a:solidFill>
                      <a:srgbClr val="1F385C"/>
                    </a:solidFill>
                  </a:tcPr>
                </a:tc>
                <a:tc>
                  <a:txBody>
                    <a:bodyPr wrap="square"/>
                    <a:lstStyle/>
                    <a:p>
                      <a:pPr algn="ctr">
                        <a:lnSpc>
                          <a:spcPct val="96000"/>
                        </a:lnSpc>
                      </a:pPr>
                      <a:r>
                        <a:rPr sz="750" b="1">
                          <a:solidFill>
                            <a:srgbClr val="FFFFFF"/>
                          </a:solidFill>
                          <a:latin typeface="Meiryo"/>
                        </a:rPr>
                        <a:t>難易</a:t>
                      </a:r>
                    </a:p>
                    <a:p>
                      <a:pPr algn="ctr">
                        <a:lnSpc>
                          <a:spcPct val="96000"/>
                        </a:lnSpc>
                      </a:pPr>
                      <a:r>
                        <a:rPr sz="750" b="1">
                          <a:solidFill>
                            <a:srgbClr val="FFFFFF"/>
                          </a:solidFill>
                          <a:latin typeface="Meiryo"/>
                        </a:rPr>
                        <a:t>度</a:t>
                      </a:r>
                    </a:p>
                  </a:txBody>
                  <a:tcPr marL="63500" marR="63500" marT="25400" marB="25400" anchor="ctr">
                    <a:solidFill>
                      <a:srgbClr val="1F385C"/>
                    </a:solidFill>
                  </a:tcPr>
                </a:tc>
                <a:tc>
                  <a:txBody>
                    <a:bodyPr wrap="square"/>
                    <a:lstStyle/>
                    <a:p>
                      <a:pPr algn="ctr">
                        <a:lnSpc>
                          <a:spcPct val="96000"/>
                        </a:lnSpc>
                      </a:pPr>
                      <a:r>
                        <a:rPr sz="650" b="1">
                          <a:solidFill>
                            <a:srgbClr val="FFFFFF"/>
                          </a:solidFill>
                          <a:latin typeface="Meiryo"/>
                        </a:rPr>
                        <a:t>Copilot</a:t>
                      </a:r>
                    </a:p>
                    <a:p>
                      <a:pPr algn="ctr">
                        <a:lnSpc>
                          <a:spcPct val="96000"/>
                        </a:lnSpc>
                      </a:pPr>
                      <a:r>
                        <a:rPr sz="650" b="1">
                          <a:solidFill>
                            <a:srgbClr val="FFFFFF"/>
                          </a:solidFill>
                          <a:latin typeface="Meiryo"/>
                        </a:rPr>
                        <a:t>Studio</a:t>
                      </a:r>
                    </a:p>
                  </a:txBody>
                  <a:tcPr marL="63500" marR="63500" marT="25400" marB="25400" anchor="ctr">
                    <a:solidFill>
                      <a:srgbClr val="745CA6"/>
                    </a:solidFill>
                  </a:tcPr>
                </a:tc>
                <a:tc>
                  <a:txBody>
                    <a:bodyPr wrap="square"/>
                    <a:lstStyle/>
                    <a:p>
                      <a:pPr algn="ctr">
                        <a:lnSpc>
                          <a:spcPct val="96000"/>
                        </a:lnSpc>
                      </a:pPr>
                      <a:r>
                        <a:rPr sz="650" b="1">
                          <a:solidFill>
                            <a:srgbClr val="FFFFFF"/>
                          </a:solidFill>
                          <a:latin typeface="Meiryo"/>
                        </a:rPr>
                        <a:t>Power</a:t>
                      </a:r>
                    </a:p>
                    <a:p>
                      <a:pPr algn="ctr">
                        <a:lnSpc>
                          <a:spcPct val="96000"/>
                        </a:lnSpc>
                      </a:pPr>
                      <a:r>
                        <a:rPr sz="650" b="1">
                          <a:solidFill>
                            <a:srgbClr val="FFFFFF"/>
                          </a:solidFill>
                          <a:latin typeface="Meiryo"/>
                        </a:rPr>
                        <a:t>Automate</a:t>
                      </a:r>
                    </a:p>
                  </a:txBody>
                  <a:tcPr marL="63500" marR="63500" marT="25400" marB="25400" anchor="ctr">
                    <a:solidFill>
                      <a:srgbClr val="0B72C4"/>
                    </a:solidFill>
                  </a:tcPr>
                </a:tc>
                <a:tc>
                  <a:txBody>
                    <a:bodyPr wrap="square"/>
                    <a:lstStyle/>
                    <a:p>
                      <a:pPr algn="ctr">
                        <a:lnSpc>
                          <a:spcPct val="96000"/>
                        </a:lnSpc>
                      </a:pPr>
                      <a:r>
                        <a:rPr sz="650" b="1">
                          <a:solidFill>
                            <a:srgbClr val="FFFFFF"/>
                          </a:solidFill>
                          <a:latin typeface="Meiryo"/>
                        </a:rPr>
                        <a:t>Share</a:t>
                      </a:r>
                    </a:p>
                    <a:p>
                      <a:pPr algn="ctr">
                        <a:lnSpc>
                          <a:spcPct val="96000"/>
                        </a:lnSpc>
                      </a:pPr>
                      <a:r>
                        <a:rPr sz="650" b="1">
                          <a:solidFill>
                            <a:srgbClr val="FFFFFF"/>
                          </a:solidFill>
                          <a:latin typeface="Meiryo"/>
                        </a:rPr>
                        <a:t>Point</a:t>
                      </a:r>
                    </a:p>
                  </a:txBody>
                  <a:tcPr marL="63500" marR="63500" marT="25400" marB="25400" anchor="ctr">
                    <a:solidFill>
                      <a:srgbClr val="036C70"/>
                    </a:solidFill>
                  </a:tcPr>
                </a:tc>
                <a:tc>
                  <a:txBody>
                    <a:bodyPr wrap="square"/>
                    <a:lstStyle/>
                    <a:p>
                      <a:pPr algn="ctr">
                        <a:lnSpc>
                          <a:spcPct val="96000"/>
                        </a:lnSpc>
                      </a:pPr>
                      <a:r>
                        <a:rPr sz="650" b="1">
                          <a:solidFill>
                            <a:srgbClr val="FFFFFF"/>
                          </a:solidFill>
                          <a:latin typeface="Meiryo"/>
                        </a:rPr>
                        <a:t>Teams</a:t>
                      </a:r>
                    </a:p>
                  </a:txBody>
                  <a:tcPr marL="63500" marR="63500" marT="25400" marB="25400" anchor="ctr">
                    <a:solidFill>
                      <a:srgbClr val="4B53BC"/>
                    </a:solidFill>
                  </a:tcPr>
                </a:tc>
                <a:tc>
                  <a:txBody>
                    <a:bodyPr wrap="square"/>
                    <a:lstStyle/>
                    <a:p>
                      <a:pPr algn="ctr">
                        <a:lnSpc>
                          <a:spcPct val="96000"/>
                        </a:lnSpc>
                      </a:pPr>
                      <a:r>
                        <a:rPr sz="650" b="1">
                          <a:solidFill>
                            <a:srgbClr val="FFFFFF"/>
                          </a:solidFill>
                          <a:latin typeface="Meiryo"/>
                        </a:rPr>
                        <a:t>Outlook</a:t>
                      </a:r>
                    </a:p>
                  </a:txBody>
                  <a:tcPr marL="63500" marR="63500" marT="25400" marB="25400" anchor="ctr">
                    <a:solidFill>
                      <a:srgbClr val="0A6FC2"/>
                    </a:solidFill>
                  </a:tcPr>
                </a:tc>
                <a:tc>
                  <a:txBody>
                    <a:bodyPr wrap="square"/>
                    <a:lstStyle/>
                    <a:p>
                      <a:pPr algn="ctr">
                        <a:lnSpc>
                          <a:spcPct val="96000"/>
                        </a:lnSpc>
                      </a:pPr>
                      <a:r>
                        <a:rPr sz="650" b="1">
                          <a:solidFill>
                            <a:srgbClr val="FFFFFF"/>
                          </a:solidFill>
                          <a:latin typeface="Meiryo"/>
                        </a:rPr>
                        <a:t>Forms</a:t>
                      </a:r>
                    </a:p>
                  </a:txBody>
                  <a:tcPr marL="63500" marR="63500" marT="25400" marB="25400" anchor="ctr">
                    <a:solidFill>
                      <a:srgbClr val="1F8A70"/>
                    </a:solidFill>
                  </a:tcPr>
                </a:tc>
                <a:tc>
                  <a:txBody>
                    <a:bodyPr wrap="square"/>
                    <a:lstStyle/>
                    <a:p>
                      <a:pPr algn="ctr">
                        <a:lnSpc>
                          <a:spcPct val="96000"/>
                        </a:lnSpc>
                      </a:pPr>
                      <a:r>
                        <a:rPr sz="650" b="1">
                          <a:solidFill>
                            <a:srgbClr val="FFFFFF"/>
                          </a:solidFill>
                          <a:latin typeface="Meiryo"/>
                        </a:rPr>
                        <a:t>Power</a:t>
                      </a:r>
                    </a:p>
                    <a:p>
                      <a:pPr algn="ctr">
                        <a:lnSpc>
                          <a:spcPct val="96000"/>
                        </a:lnSpc>
                      </a:pPr>
                      <a:r>
                        <a:rPr sz="650" b="1">
                          <a:solidFill>
                            <a:srgbClr val="FFFFFF"/>
                          </a:solidFill>
                          <a:latin typeface="Meiryo"/>
                        </a:rPr>
                        <a:t>BI</a:t>
                      </a:r>
                    </a:p>
                  </a:txBody>
                  <a:tcPr marL="63500" marR="63500" marT="25400" marB="25400" anchor="ctr">
                    <a:solidFill>
                      <a:srgbClr val="C99A06"/>
                    </a:solidFill>
                  </a:tcPr>
                </a:tc>
                <a:tc>
                  <a:txBody>
                    <a:bodyPr wrap="square"/>
                    <a:lstStyle/>
                    <a:p>
                      <a:pPr algn="ctr">
                        <a:lnSpc>
                          <a:spcPct val="96000"/>
                        </a:lnSpc>
                      </a:pPr>
                      <a:r>
                        <a:rPr sz="650" b="1">
                          <a:solidFill>
                            <a:srgbClr val="FFFFFF"/>
                          </a:solidFill>
                          <a:latin typeface="Meiryo"/>
                        </a:rPr>
                        <a:t>Excel</a:t>
                      </a:r>
                    </a:p>
                  </a:txBody>
                  <a:tcPr marL="63500" marR="63500" marT="25400" marB="25400" anchor="ctr">
                    <a:solidFill>
                      <a:srgbClr val="217346"/>
                    </a:solidFill>
                  </a:tcPr>
                </a:tc>
                <a:tc>
                  <a:txBody>
                    <a:bodyPr wrap="square"/>
                    <a:lstStyle/>
                    <a:p>
                      <a:pPr algn="ctr">
                        <a:lnSpc>
                          <a:spcPct val="96000"/>
                        </a:lnSpc>
                      </a:pPr>
                      <a:r>
                        <a:rPr sz="650" b="1">
                          <a:solidFill>
                            <a:srgbClr val="FFFFFF"/>
                          </a:solidFill>
                          <a:latin typeface="Meiryo"/>
                        </a:rPr>
                        <a:t>Word/</a:t>
                      </a:r>
                    </a:p>
                    <a:p>
                      <a:pPr algn="ctr">
                        <a:lnSpc>
                          <a:spcPct val="96000"/>
                        </a:lnSpc>
                      </a:pPr>
                      <a:r>
                        <a:rPr sz="650" b="1">
                          <a:solidFill>
                            <a:srgbClr val="FFFFFF"/>
                          </a:solidFill>
                          <a:latin typeface="Meiryo"/>
                        </a:rPr>
                        <a:t>PPT</a:t>
                      </a:r>
                    </a:p>
                  </a:txBody>
                  <a:tcPr marL="63500" marR="63500" marT="25400" marB="25400" anchor="ctr">
                    <a:solidFill>
                      <a:srgbClr val="B0472A"/>
                    </a:solidFill>
                  </a:tcPr>
                </a:tc>
                <a:tc>
                  <a:txBody>
                    <a:bodyPr wrap="square"/>
                    <a:lstStyle/>
                    <a:p>
                      <a:pPr algn="ctr">
                        <a:lnSpc>
                          <a:spcPct val="96000"/>
                        </a:lnSpc>
                      </a:pPr>
                      <a:r>
                        <a:rPr sz="650" b="1">
                          <a:solidFill>
                            <a:srgbClr val="FFFFFF"/>
                          </a:solidFill>
                          <a:latin typeface="Meiryo"/>
                        </a:rPr>
                        <a:t>外部/</a:t>
                      </a:r>
                    </a:p>
                    <a:p>
                      <a:pPr algn="ctr">
                        <a:lnSpc>
                          <a:spcPct val="96000"/>
                        </a:lnSpc>
                      </a:pPr>
                      <a:r>
                        <a:rPr sz="650" b="1">
                          <a:solidFill>
                            <a:srgbClr val="FFFFFF"/>
                          </a:solidFill>
                          <a:latin typeface="Meiryo"/>
                        </a:rPr>
                        <a:t>その他</a:t>
                      </a:r>
                    </a:p>
                  </a:txBody>
                  <a:tcPr marL="63500" marR="63500" marT="25400" marB="25400" anchor="ctr">
                    <a:solidFill>
                      <a:srgbClr val="6B7280"/>
                    </a:solidFill>
                  </a:tcPr>
                </a:tc>
                <a:tc>
                  <a:txBody>
                    <a:bodyPr wrap="square"/>
                    <a:lstStyle/>
                    <a:p>
                      <a:pPr algn="ctr">
                        <a:lnSpc>
                          <a:spcPct val="96000"/>
                        </a:lnSpc>
                      </a:pPr>
                      <a:r>
                        <a:rPr sz="700" b="1">
                          <a:solidFill>
                            <a:srgbClr val="FFFFFF"/>
                          </a:solidFill>
                          <a:latin typeface="Meiryo"/>
                        </a:rPr>
                        <a:t>ボリ</a:t>
                      </a:r>
                    </a:p>
                    <a:p>
                      <a:pPr algn="ctr">
                        <a:lnSpc>
                          <a:spcPct val="96000"/>
                        </a:lnSpc>
                      </a:pPr>
                      <a:r>
                        <a:rPr sz="700" b="1">
                          <a:solidFill>
                            <a:srgbClr val="FFFFFF"/>
                          </a:solidFill>
                          <a:latin typeface="Meiryo"/>
                        </a:rPr>
                        <a:t>ューム</a:t>
                      </a:r>
                    </a:p>
                  </a:txBody>
                  <a:tcPr marL="63500" marR="63500" marT="25400" marB="25400" anchor="ctr">
                    <a:solidFill>
                      <a:srgbClr val="1F385C"/>
                    </a:solidFill>
                  </a:tcPr>
                </a:tc>
                <a:tc>
                  <a:txBody>
                    <a:bodyPr wrap="square"/>
                    <a:lstStyle/>
                    <a:p>
                      <a:pPr algn="ctr">
                        <a:lnSpc>
                          <a:spcPct val="96000"/>
                        </a:lnSpc>
                      </a:pPr>
                      <a:r>
                        <a:rPr sz="800" b="1">
                          <a:solidFill>
                            <a:srgbClr val="FFFFFF"/>
                          </a:solidFill>
                          <a:latin typeface="Meiryo"/>
                        </a:rPr>
                        <a:t>主な制約・留意点</a:t>
                      </a:r>
                    </a:p>
                  </a:txBody>
                  <a:tcPr marL="63500" marR="63500" marT="25400" marB="25400" anchor="ctr">
                    <a:solidFill>
                      <a:srgbClr val="1F385C"/>
                    </a:solidFill>
                  </a:tcPr>
                </a:tc>
              </a:tr>
              <a:tr h="342900">
                <a:tc>
                  <a:txBody>
                    <a:bodyPr wrap="square"/>
                    <a:lstStyle/>
                    <a:p>
                      <a:pPr algn="ctr">
                        <a:lnSpc>
                          <a:spcPct val="96000"/>
                        </a:lnSpc>
                      </a:pPr>
                      <a:r>
                        <a:rPr sz="850" b="1">
                          <a:solidFill>
                            <a:srgbClr val="1F385C"/>
                          </a:solidFill>
                          <a:latin typeface="Meiryo"/>
                        </a:rPr>
                        <a:t>チーム1</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加盟店提出様式の自動チェック</a:t>
                      </a:r>
                    </a:p>
                  </a:txBody>
                  <a:tcPr marL="63500" marR="63500" marT="25400" marB="25400" anchor="ctr">
                    <a:solidFill>
                      <a:srgbClr val="FFFFFF"/>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21734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M365内で完結／判定基準の作り込みが要</a:t>
                      </a:r>
                    </a:p>
                  </a:txBody>
                  <a:tcPr marL="63500" marR="63500" marT="25400" marB="25400" anchor="ctr">
                    <a:solidFill>
                      <a:srgbClr val="FFFFFF"/>
                    </a:solidFill>
                  </a:tcPr>
                </a:tc>
              </a:tr>
              <a:tr h="342900">
                <a:tc>
                  <a:txBody>
                    <a:bodyPr wrap="square"/>
                    <a:lstStyle/>
                    <a:p>
                      <a:pPr algn="ctr">
                        <a:lnSpc>
                          <a:spcPct val="96000"/>
                        </a:lnSpc>
                      </a:pPr>
                      <a:r>
                        <a:rPr sz="850" b="1">
                          <a:solidFill>
                            <a:srgbClr val="1F385C"/>
                          </a:solidFill>
                          <a:latin typeface="Meiryo"/>
                        </a:rPr>
                        <a:t>チーム2</a:t>
                      </a:r>
                    </a:p>
                  </a:txBody>
                  <a:tcPr marL="63500" marR="63500" marT="25400" marB="25400" anchor="ctr">
                    <a:solidFill>
                      <a:srgbClr val="F2F4F7"/>
                    </a:solidFill>
                  </a:tcPr>
                </a:tc>
                <a:tc>
                  <a:txBody>
                    <a:bodyPr wrap="square"/>
                    <a:lstStyle/>
                    <a:p>
                      <a:pPr algn="l">
                        <a:lnSpc>
                          <a:spcPct val="96000"/>
                        </a:lnSpc>
                      </a:pPr>
                      <a:r>
                        <a:rPr sz="780" b="1">
                          <a:solidFill>
                            <a:srgbClr val="252A31"/>
                          </a:solidFill>
                          <a:latin typeface="Meiryo"/>
                        </a:rPr>
                        <a:t>受付Cエラーの原因案内</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l">
                        <a:lnSpc>
                          <a:spcPct val="96000"/>
                        </a:lnSpc>
                      </a:pPr>
                      <a:r>
                        <a:rPr sz="750" b="0">
                          <a:solidFill>
                            <a:srgbClr val="252A31"/>
                          </a:solidFill>
                          <a:latin typeface="Meiryo"/>
                        </a:rPr>
                        <a:t>FAQ・ガイドの整備が前提</a:t>
                      </a:r>
                    </a:p>
                  </a:txBody>
                  <a:tcPr marL="63500" marR="63500" marT="25400" marB="25400" anchor="ctr">
                    <a:solidFill>
                      <a:srgbClr val="F2F4F7"/>
                    </a:solidFill>
                  </a:tcPr>
                </a:tc>
              </a:tr>
              <a:tr h="342900">
                <a:tc>
                  <a:txBody>
                    <a:bodyPr wrap="square"/>
                    <a:lstStyle/>
                    <a:p>
                      <a:pPr algn="ctr">
                        <a:lnSpc>
                          <a:spcPct val="96000"/>
                        </a:lnSpc>
                      </a:pPr>
                      <a:r>
                        <a:rPr sz="850" b="1">
                          <a:solidFill>
                            <a:srgbClr val="1F385C"/>
                          </a:solidFill>
                          <a:latin typeface="Meiryo"/>
                        </a:rPr>
                        <a:t>チーム3</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加盟店防衛マネジメント支援</a:t>
                      </a:r>
                    </a:p>
                  </a:txBody>
                  <a:tcPr marL="63500" marR="63500" marT="25400" marB="25400" anchor="ctr">
                    <a:solidFill>
                      <a:srgbClr val="FFFFFF"/>
                    </a:solidFill>
                  </a:tcPr>
                </a:tc>
                <a:tc>
                  <a:txBody>
                    <a:bodyPr wrap="square"/>
                    <a:lstStyle/>
                    <a:p>
                      <a:pPr algn="ctr">
                        <a:lnSpc>
                          <a:spcPct val="96000"/>
                        </a:lnSpc>
                      </a:pPr>
                      <a:r>
                        <a:rPr sz="850" b="1">
                          <a:solidFill>
                            <a:srgbClr val="B03A2E"/>
                          </a:solidFill>
                          <a:latin typeface="Meiryo"/>
                        </a:rPr>
                        <a:t>高</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C99A0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6B7280"/>
                    </a:solidFill>
                  </a:tcPr>
                </a:tc>
                <a:tc>
                  <a:txBody>
                    <a:bodyPr wrap="square"/>
                    <a:lstStyle/>
                    <a:p>
                      <a:pPr algn="ctr">
                        <a:lnSpc>
                          <a:spcPct val="96000"/>
                        </a:lnSpc>
                      </a:pPr>
                      <a:r>
                        <a:rPr sz="850" b="1">
                          <a:solidFill>
                            <a:srgbClr val="E8833A"/>
                          </a:solidFill>
                          <a:latin typeface="Meiryo"/>
                        </a:rPr>
                        <a:t>大</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外部Web・営業システム等の取得制約が大</a:t>
                      </a:r>
                    </a:p>
                  </a:txBody>
                  <a:tcPr marL="63500" marR="63500" marT="25400" marB="25400" anchor="ctr">
                    <a:solidFill>
                      <a:srgbClr val="FFFFFF"/>
                    </a:solidFill>
                  </a:tcPr>
                </a:tc>
              </a:tr>
              <a:tr h="342900">
                <a:tc>
                  <a:txBody>
                    <a:bodyPr wrap="square"/>
                    <a:lstStyle/>
                    <a:p>
                      <a:pPr algn="ctr">
                        <a:lnSpc>
                          <a:spcPct val="96000"/>
                        </a:lnSpc>
                      </a:pPr>
                      <a:r>
                        <a:rPr sz="850" b="1">
                          <a:solidFill>
                            <a:srgbClr val="1F385C"/>
                          </a:solidFill>
                          <a:latin typeface="Meiryo"/>
                        </a:rPr>
                        <a:t>チーム4</a:t>
                      </a:r>
                    </a:p>
                  </a:txBody>
                  <a:tcPr marL="63500" marR="63500" marT="25400" marB="25400" anchor="ctr">
                    <a:solidFill>
                      <a:srgbClr val="F2F4F7"/>
                    </a:solidFill>
                  </a:tcPr>
                </a:tc>
                <a:tc>
                  <a:txBody>
                    <a:bodyPr wrap="square"/>
                    <a:lstStyle/>
                    <a:p>
                      <a:pPr algn="l">
                        <a:lnSpc>
                          <a:spcPct val="96000"/>
                        </a:lnSpc>
                      </a:pPr>
                      <a:r>
                        <a:rPr sz="780" b="1">
                          <a:solidFill>
                            <a:srgbClr val="252A31"/>
                          </a:solidFill>
                          <a:latin typeface="Meiryo"/>
                        </a:rPr>
                        <a:t>市場・企業分析</a:t>
                      </a:r>
                    </a:p>
                  </a:txBody>
                  <a:tcPr marL="63500" marR="63500" marT="25400" marB="25400" anchor="ctr">
                    <a:solidFill>
                      <a:srgbClr val="F2F4F7"/>
                    </a:solidFill>
                  </a:tcPr>
                </a:tc>
                <a:tc>
                  <a:txBody>
                    <a:bodyPr wrap="square"/>
                    <a:lstStyle/>
                    <a:p>
                      <a:pPr algn="ctr">
                        <a:lnSpc>
                          <a:spcPct val="96000"/>
                        </a:lnSpc>
                      </a:pPr>
                      <a:r>
                        <a:rPr sz="850" b="1">
                          <a:solidFill>
                            <a:srgbClr val="B03A2E"/>
                          </a:solidFill>
                          <a:latin typeface="Meiryo"/>
                        </a:rPr>
                        <a:t>高</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B0472A"/>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6B7280"/>
                    </a:solidFill>
                  </a:tcPr>
                </a:tc>
                <a:tc>
                  <a:txBody>
                    <a:bodyPr wrap="square"/>
                    <a:lstStyle/>
                    <a:p>
                      <a:pPr algn="ctr">
                        <a:lnSpc>
                          <a:spcPct val="96000"/>
                        </a:lnSpc>
                      </a:pPr>
                      <a:r>
                        <a:rPr sz="850" b="1">
                          <a:solidFill>
                            <a:srgbClr val="C98A1B"/>
                          </a:solidFill>
                          <a:latin typeface="Meiryo"/>
                        </a:rPr>
                        <a:t>中〜大</a:t>
                      </a:r>
                    </a:p>
                  </a:txBody>
                  <a:tcPr marL="63500" marR="63500" marT="25400" marB="25400" anchor="ctr">
                    <a:solidFill>
                      <a:srgbClr val="F2F4F7"/>
                    </a:solidFill>
                  </a:tcPr>
                </a:tc>
                <a:tc>
                  <a:txBody>
                    <a:bodyPr wrap="square"/>
                    <a:lstStyle/>
                    <a:p>
                      <a:pPr algn="l">
                        <a:lnSpc>
                          <a:spcPct val="96000"/>
                        </a:lnSpc>
                      </a:pPr>
                      <a:r>
                        <a:rPr sz="750" b="0">
                          <a:solidFill>
                            <a:srgbClr val="252A31"/>
                          </a:solidFill>
                          <a:latin typeface="Meiryo"/>
                        </a:rPr>
                        <a:t>外部Web禁止のため案の再設計が必要</a:t>
                      </a:r>
                    </a:p>
                  </a:txBody>
                  <a:tcPr marL="63500" marR="63500" marT="25400" marB="25400" anchor="ctr">
                    <a:solidFill>
                      <a:srgbClr val="F2F4F7"/>
                    </a:solidFill>
                  </a:tcPr>
                </a:tc>
              </a:tr>
              <a:tr h="342900">
                <a:tc>
                  <a:txBody>
                    <a:bodyPr wrap="square"/>
                    <a:lstStyle/>
                    <a:p>
                      <a:pPr algn="ctr">
                        <a:lnSpc>
                          <a:spcPct val="96000"/>
                        </a:lnSpc>
                      </a:pPr>
                      <a:r>
                        <a:rPr sz="850" b="1">
                          <a:solidFill>
                            <a:srgbClr val="1F385C"/>
                          </a:solidFill>
                          <a:latin typeface="Meiryo"/>
                        </a:rPr>
                        <a:t>チーム5</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依頼事項の自動リマインド</a:t>
                      </a:r>
                    </a:p>
                  </a:txBody>
                  <a:tcPr marL="63500" marR="63500" marT="25400" marB="25400" anchor="ctr">
                    <a:solidFill>
                      <a:srgbClr val="FFFFFF"/>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1F8A70"/>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M365標準のみ／制約は小さい</a:t>
                      </a:r>
                    </a:p>
                  </a:txBody>
                  <a:tcPr marL="63500" marR="63500" marT="25400" marB="25400" anchor="ctr">
                    <a:solidFill>
                      <a:srgbClr val="FFFFFF"/>
                    </a:solidFill>
                  </a:tcPr>
                </a:tc>
              </a:tr>
              <a:tr h="342900">
                <a:tc>
                  <a:txBody>
                    <a:bodyPr wrap="square"/>
                    <a:lstStyle/>
                    <a:p>
                      <a:pPr algn="ctr">
                        <a:lnSpc>
                          <a:spcPct val="96000"/>
                        </a:lnSpc>
                      </a:pPr>
                      <a:r>
                        <a:rPr sz="850" b="1">
                          <a:solidFill>
                            <a:srgbClr val="1F385C"/>
                          </a:solidFill>
                          <a:latin typeface="Meiryo"/>
                        </a:rPr>
                        <a:t>チーム6</a:t>
                      </a:r>
                    </a:p>
                  </a:txBody>
                  <a:tcPr marL="63500" marR="63500" marT="25400" marB="25400" anchor="ctr">
                    <a:solidFill>
                      <a:srgbClr val="F2F4F7"/>
                    </a:solidFill>
                  </a:tcPr>
                </a:tc>
                <a:tc>
                  <a:txBody>
                    <a:bodyPr wrap="square"/>
                    <a:lstStyle/>
                    <a:p>
                      <a:pPr algn="l">
                        <a:lnSpc>
                          <a:spcPct val="96000"/>
                        </a:lnSpc>
                      </a:pPr>
                      <a:r>
                        <a:rPr sz="780" b="1">
                          <a:solidFill>
                            <a:srgbClr val="252A31"/>
                          </a:solidFill>
                          <a:latin typeface="Meiryo"/>
                        </a:rPr>
                        <a:t>会議資料作成と会議招集の自動化</a:t>
                      </a:r>
                    </a:p>
                  </a:txBody>
                  <a:tcPr marL="63500" marR="63500" marT="25400" marB="25400" anchor="ctr">
                    <a:solidFill>
                      <a:srgbClr val="F2F4F7"/>
                    </a:solidFill>
                  </a:tcPr>
                </a:tc>
                <a:tc>
                  <a:txBody>
                    <a:bodyPr wrap="square"/>
                    <a:lstStyle/>
                    <a:p>
                      <a:pPr algn="ctr">
                        <a:lnSpc>
                          <a:spcPct val="96000"/>
                        </a:lnSpc>
                      </a:pPr>
                      <a:r>
                        <a:rPr sz="850" b="1">
                          <a:solidFill>
                            <a:srgbClr val="C98A1B"/>
                          </a:solidFill>
                          <a:latin typeface="Meiryo"/>
                        </a:rPr>
                        <a:t>中〜高</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A6FC2"/>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B0472A"/>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E8833A"/>
                          </a:solidFill>
                          <a:latin typeface="Meiryo"/>
                        </a:rPr>
                        <a:t>大</a:t>
                      </a:r>
                    </a:p>
                  </a:txBody>
                  <a:tcPr marL="63500" marR="63500" marT="25400" marB="25400" anchor="ctr">
                    <a:solidFill>
                      <a:srgbClr val="F2F4F7"/>
                    </a:solidFill>
                  </a:tcPr>
                </a:tc>
                <a:tc>
                  <a:txBody>
                    <a:bodyPr wrap="square"/>
                    <a:lstStyle/>
                    <a:p>
                      <a:pPr algn="l">
                        <a:lnSpc>
                          <a:spcPct val="96000"/>
                        </a:lnSpc>
                      </a:pPr>
                      <a:r>
                        <a:rPr sz="750" b="0">
                          <a:solidFill>
                            <a:srgbClr val="252A31"/>
                          </a:solidFill>
                          <a:latin typeface="Meiryo"/>
                        </a:rPr>
                        <a:t>共有サーバ参照・資料自動生成の検証が要</a:t>
                      </a:r>
                    </a:p>
                  </a:txBody>
                  <a:tcPr marL="63500" marR="63500" marT="25400" marB="25400" anchor="ctr">
                    <a:solidFill>
                      <a:srgbClr val="F2F4F7"/>
                    </a:solidFill>
                  </a:tcPr>
                </a:tc>
              </a:tr>
              <a:tr h="342900">
                <a:tc>
                  <a:txBody>
                    <a:bodyPr wrap="square"/>
                    <a:lstStyle/>
                    <a:p>
                      <a:pPr algn="ctr">
                        <a:lnSpc>
                          <a:spcPct val="96000"/>
                        </a:lnSpc>
                      </a:pPr>
                      <a:r>
                        <a:rPr sz="850" b="1">
                          <a:solidFill>
                            <a:srgbClr val="1F385C"/>
                          </a:solidFill>
                          <a:latin typeface="Meiryo"/>
                        </a:rPr>
                        <a:t>チーム7</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加盟店課金精算のチェック</a:t>
                      </a:r>
                    </a:p>
                  </a:txBody>
                  <a:tcPr marL="63500" marR="63500" marT="25400" marB="25400" anchor="ctr">
                    <a:solidFill>
                      <a:srgbClr val="FFFFFF"/>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21734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6B7280"/>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外部連携なし（データは人手取得が前提）</a:t>
                      </a:r>
                    </a:p>
                  </a:txBody>
                  <a:tcPr marL="63500" marR="63500" marT="25400" marB="25400" anchor="ctr">
                    <a:solidFill>
                      <a:srgbClr val="FFFFFF"/>
                    </a:solidFill>
                  </a:tcPr>
                </a:tc>
              </a:tr>
              <a:tr h="342900">
                <a:tc>
                  <a:txBody>
                    <a:bodyPr wrap="square"/>
                    <a:lstStyle/>
                    <a:p>
                      <a:pPr algn="ctr">
                        <a:lnSpc>
                          <a:spcPct val="96000"/>
                        </a:lnSpc>
                      </a:pPr>
                      <a:r>
                        <a:rPr sz="850" b="1">
                          <a:solidFill>
                            <a:srgbClr val="1F385C"/>
                          </a:solidFill>
                          <a:latin typeface="Meiryo"/>
                        </a:rPr>
                        <a:t>チーム8</a:t>
                      </a:r>
                    </a:p>
                  </a:txBody>
                  <a:tcPr marL="63500" marR="63500" marT="25400" marB="25400" anchor="ctr">
                    <a:solidFill>
                      <a:srgbClr val="F2F4F7"/>
                    </a:solidFill>
                  </a:tcPr>
                </a:tc>
                <a:tc>
                  <a:txBody>
                    <a:bodyPr wrap="square"/>
                    <a:lstStyle/>
                    <a:p>
                      <a:pPr algn="l">
                        <a:lnSpc>
                          <a:spcPct val="96000"/>
                        </a:lnSpc>
                      </a:pPr>
                      <a:r>
                        <a:rPr sz="780" b="1">
                          <a:solidFill>
                            <a:srgbClr val="252A31"/>
                          </a:solidFill>
                          <a:latin typeface="Meiryo"/>
                        </a:rPr>
                        <a:t>会議調整・タスク整理の支援</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A6FC2"/>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l">
                        <a:lnSpc>
                          <a:spcPct val="96000"/>
                        </a:lnSpc>
                      </a:pPr>
                      <a:r>
                        <a:rPr sz="750" b="0">
                          <a:solidFill>
                            <a:srgbClr val="252A31"/>
                          </a:solidFill>
                          <a:latin typeface="Meiryo"/>
                        </a:rPr>
                        <a:t>予定表・会議室・メールの権限整備が要</a:t>
                      </a:r>
                    </a:p>
                  </a:txBody>
                  <a:tcPr marL="63500" marR="63500" marT="25400" marB="25400" anchor="ctr">
                    <a:solidFill>
                      <a:srgbClr val="F2F4F7"/>
                    </a:solidFill>
                  </a:tcPr>
                </a:tc>
              </a:tr>
              <a:tr h="342900">
                <a:tc>
                  <a:txBody>
                    <a:bodyPr wrap="square"/>
                    <a:lstStyle/>
                    <a:p>
                      <a:pPr algn="ctr">
                        <a:lnSpc>
                          <a:spcPct val="96000"/>
                        </a:lnSpc>
                      </a:pPr>
                      <a:r>
                        <a:rPr sz="850" b="1">
                          <a:solidFill>
                            <a:srgbClr val="1F385C"/>
                          </a:solidFill>
                          <a:latin typeface="Meiryo"/>
                        </a:rPr>
                        <a:t>チーム9</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レビュー進捗の管理</a:t>
                      </a:r>
                    </a:p>
                  </a:txBody>
                  <a:tcPr marL="63500" marR="63500" marT="25400" marB="25400" anchor="ctr">
                    <a:solidFill>
                      <a:srgbClr val="FFFFFF"/>
                    </a:solidFill>
                  </a:tcPr>
                </a:tc>
                <a:tc>
                  <a:txBody>
                    <a:bodyPr wrap="square"/>
                    <a:lstStyle/>
                    <a:p>
                      <a:pPr algn="ctr">
                        <a:lnSpc>
                          <a:spcPct val="96000"/>
                        </a:lnSpc>
                      </a:pPr>
                      <a:r>
                        <a:rPr sz="850" b="1">
                          <a:solidFill>
                            <a:srgbClr val="C98A1B"/>
                          </a:solidFill>
                          <a:latin typeface="Meiryo"/>
                        </a:rPr>
                        <a:t>中〜高</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B72C4"/>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A6FC2"/>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21734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6B7280"/>
                    </a:solidFill>
                  </a:tcPr>
                </a:tc>
                <a:tc>
                  <a:txBody>
                    <a:bodyPr wrap="square"/>
                    <a:lstStyle/>
                    <a:p>
                      <a:pPr algn="ctr">
                        <a:lnSpc>
                          <a:spcPct val="96000"/>
                        </a:lnSpc>
                      </a:pPr>
                      <a:r>
                        <a:rPr sz="850" b="1">
                          <a:solidFill>
                            <a:srgbClr val="E8833A"/>
                          </a:solidFill>
                          <a:latin typeface="Meiryo"/>
                        </a:rPr>
                        <a:t>大</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社外秘資料・共有サーバ・メール送信の可否</a:t>
                      </a:r>
                    </a:p>
                  </a:txBody>
                  <a:tcPr marL="63500" marR="63500" marT="25400" marB="25400" anchor="ctr">
                    <a:solidFill>
                      <a:srgbClr val="FFFFFF"/>
                    </a:solidFill>
                  </a:tcPr>
                </a:tc>
              </a:tr>
              <a:tr h="342900">
                <a:tc>
                  <a:txBody>
                    <a:bodyPr wrap="square"/>
                    <a:lstStyle/>
                    <a:p>
                      <a:pPr algn="ctr">
                        <a:lnSpc>
                          <a:spcPct val="96000"/>
                        </a:lnSpc>
                      </a:pPr>
                      <a:r>
                        <a:rPr sz="850" b="1">
                          <a:solidFill>
                            <a:srgbClr val="1F385C"/>
                          </a:solidFill>
                          <a:latin typeface="Meiryo"/>
                        </a:rPr>
                        <a:t>チーム10</a:t>
                      </a:r>
                    </a:p>
                  </a:txBody>
                  <a:tcPr marL="63500" marR="63500" marT="25400" marB="25400" anchor="ctr">
                    <a:solidFill>
                      <a:srgbClr val="F2F4F7"/>
                    </a:solidFill>
                  </a:tcPr>
                </a:tc>
                <a:tc>
                  <a:txBody>
                    <a:bodyPr wrap="square"/>
                    <a:lstStyle/>
                    <a:p>
                      <a:pPr algn="l">
                        <a:lnSpc>
                          <a:spcPct val="96000"/>
                        </a:lnSpc>
                      </a:pPr>
                      <a:r>
                        <a:rPr sz="780" b="1">
                          <a:solidFill>
                            <a:srgbClr val="252A31"/>
                          </a:solidFill>
                          <a:latin typeface="Meiryo"/>
                        </a:rPr>
                        <a:t>対面会議の議事録ドラフト生成</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B0472A"/>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2F4F7"/>
                    </a:solidFill>
                  </a:tcPr>
                </a:tc>
                <a:tc>
                  <a:txBody>
                    <a:bodyPr wrap="square"/>
                    <a:lstStyle/>
                    <a:p>
                      <a:pPr algn="ctr">
                        <a:lnSpc>
                          <a:spcPct val="96000"/>
                        </a:lnSpc>
                      </a:pPr>
                      <a:r>
                        <a:rPr sz="850" b="1">
                          <a:solidFill>
                            <a:srgbClr val="2E8B9E"/>
                          </a:solidFill>
                          <a:latin typeface="Meiryo"/>
                        </a:rPr>
                        <a:t>中</a:t>
                      </a:r>
                    </a:p>
                  </a:txBody>
                  <a:tcPr marL="63500" marR="63500" marT="25400" marB="25400" anchor="ctr">
                    <a:solidFill>
                      <a:srgbClr val="F2F4F7"/>
                    </a:solidFill>
                  </a:tcPr>
                </a:tc>
                <a:tc>
                  <a:txBody>
                    <a:bodyPr wrap="square"/>
                    <a:lstStyle/>
                    <a:p>
                      <a:pPr algn="l">
                        <a:lnSpc>
                          <a:spcPct val="96000"/>
                        </a:lnSpc>
                      </a:pPr>
                      <a:r>
                        <a:rPr sz="750" b="0">
                          <a:solidFill>
                            <a:srgbClr val="252A31"/>
                          </a:solidFill>
                          <a:latin typeface="Meiryo"/>
                        </a:rPr>
                        <a:t>文字起こしの取得権限・転記精度の検証</a:t>
                      </a:r>
                    </a:p>
                  </a:txBody>
                  <a:tcPr marL="63500" marR="63500" marT="25400" marB="25400" anchor="ctr">
                    <a:solidFill>
                      <a:srgbClr val="F2F4F7"/>
                    </a:solidFill>
                  </a:tcPr>
                </a:tc>
              </a:tr>
              <a:tr h="342900">
                <a:tc>
                  <a:txBody>
                    <a:bodyPr wrap="square"/>
                    <a:lstStyle/>
                    <a:p>
                      <a:pPr algn="ctr">
                        <a:lnSpc>
                          <a:spcPct val="96000"/>
                        </a:lnSpc>
                      </a:pPr>
                      <a:r>
                        <a:rPr sz="850" b="1">
                          <a:solidFill>
                            <a:srgbClr val="1F385C"/>
                          </a:solidFill>
                          <a:latin typeface="Meiryo"/>
                        </a:rPr>
                        <a:t>チーム11</a:t>
                      </a:r>
                    </a:p>
                  </a:txBody>
                  <a:tcPr marL="63500" marR="63500" marT="25400" marB="25400" anchor="ctr">
                    <a:solidFill>
                      <a:srgbClr val="FFFFFF"/>
                    </a:solidFill>
                  </a:tcPr>
                </a:tc>
                <a:tc>
                  <a:txBody>
                    <a:bodyPr wrap="square"/>
                    <a:lstStyle/>
                    <a:p>
                      <a:pPr algn="l">
                        <a:lnSpc>
                          <a:spcPct val="96000"/>
                        </a:lnSpc>
                      </a:pPr>
                      <a:r>
                        <a:rPr sz="780" b="1">
                          <a:solidFill>
                            <a:srgbClr val="252A31"/>
                          </a:solidFill>
                          <a:latin typeface="Meiryo"/>
                        </a:rPr>
                        <a:t>社内LAN問い合わせチャットボット</a:t>
                      </a:r>
                    </a:p>
                  </a:txBody>
                  <a:tcPr marL="63500" marR="63500" marT="25400" marB="25400" anchor="ctr">
                    <a:solidFill>
                      <a:srgbClr val="FFFFFF"/>
                    </a:solidFill>
                  </a:tcPr>
                </a:tc>
                <a:tc>
                  <a:txBody>
                    <a:bodyPr wrap="square"/>
                    <a:lstStyle/>
                    <a:p>
                      <a:pPr algn="ctr">
                        <a:lnSpc>
                          <a:spcPct val="96000"/>
                        </a:lnSpc>
                      </a:pPr>
                      <a:r>
                        <a:rPr sz="850" b="1">
                          <a:solidFill>
                            <a:srgbClr val="C98A1B"/>
                          </a:solidFill>
                          <a:latin typeface="Meiryo"/>
                        </a:rPr>
                        <a:t>中〜高</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745CA6"/>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036C70"/>
                    </a:solidFill>
                  </a:tcPr>
                </a:tc>
                <a:tc>
                  <a:txBody>
                    <a:bodyPr wrap="square"/>
                    <a:lstStyle/>
                    <a:p>
                      <a:pPr algn="ctr">
                        <a:lnSpc>
                          <a:spcPct val="96000"/>
                        </a:lnSpc>
                      </a:pPr>
                      <a:r>
                        <a:rPr sz="850" b="1">
                          <a:solidFill>
                            <a:srgbClr val="FFFFFF"/>
                          </a:solidFill>
                          <a:latin typeface="Meiryo"/>
                        </a:rPr>
                        <a:t>●</a:t>
                      </a:r>
                    </a:p>
                  </a:txBody>
                  <a:tcPr marL="63500" marR="63500" marT="25400" marB="25400" anchor="ctr">
                    <a:solidFill>
                      <a:srgbClr val="4B53BC"/>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l">
                        <a:lnSpc>
                          <a:spcPct val="96000"/>
                        </a:lnSpc>
                      </a:pPr>
                      <a:r>
                        <a:rPr sz="800" b="0">
                          <a:solidFill>
                            <a:srgbClr val="252A31"/>
                          </a:solidFill>
                          <a:latin typeface="Meiryo"/>
                        </a:rPr>
                        <a:t/>
                      </a:r>
                    </a:p>
                  </a:txBody>
                  <a:tcPr marL="63500" marR="63500" marT="25400" marB="25400" anchor="ctr">
                    <a:solidFill>
                      <a:srgbClr val="FFFFFF"/>
                    </a:solidFill>
                  </a:tcPr>
                </a:tc>
                <a:tc>
                  <a:txBody>
                    <a:bodyPr wrap="square"/>
                    <a:lstStyle/>
                    <a:p>
                      <a:pPr algn="ctr">
                        <a:lnSpc>
                          <a:spcPct val="96000"/>
                        </a:lnSpc>
                      </a:pPr>
                      <a:r>
                        <a:rPr sz="850" b="1">
                          <a:solidFill>
                            <a:srgbClr val="E8833A"/>
                          </a:solidFill>
                          <a:latin typeface="Meiryo"/>
                        </a:rPr>
                        <a:t>大</a:t>
                      </a:r>
                    </a:p>
                  </a:txBody>
                  <a:tcPr marL="63500" marR="63500" marT="25400" marB="25400" anchor="ctr">
                    <a:solidFill>
                      <a:srgbClr val="FFFFFF"/>
                    </a:solidFill>
                  </a:tcPr>
                </a:tc>
                <a:tc>
                  <a:txBody>
                    <a:bodyPr wrap="square"/>
                    <a:lstStyle/>
                    <a:p>
                      <a:pPr algn="l">
                        <a:lnSpc>
                          <a:spcPct val="96000"/>
                        </a:lnSpc>
                      </a:pPr>
                      <a:r>
                        <a:rPr sz="750" b="0">
                          <a:solidFill>
                            <a:srgbClr val="252A31"/>
                          </a:solidFill>
                          <a:latin typeface="Meiryo"/>
                        </a:rPr>
                        <a:t>本番移行・FAQ品質・運用保守が焦点</a:t>
                      </a:r>
                    </a:p>
                  </a:txBody>
                  <a:tcPr marL="63500" marR="63500" marT="25400" marB="25400" anchor="ctr">
                    <a:solidFill>
                      <a:srgbClr val="FFFFFF"/>
                    </a:solidFill>
                  </a:tcPr>
                </a:tc>
              </a:tr>
            </a:tbl>
          </a:graphicData>
        </a:graphic>
      </p:graphicFrame>
      <p:sp>
        <p:nvSpPr>
          <p:cNvPr id="11" name="Rectangle 10"/>
          <p:cNvSpPr/>
          <p:nvPr/>
        </p:nvSpPr>
        <p:spPr>
          <a:xfrm>
            <a:off x="502920" y="5875020"/>
            <a:ext cx="11201400" cy="530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893308"/>
            <a:ext cx="10835640" cy="512064"/>
          </a:xfrm>
          <a:prstGeom prst="rect">
            <a:avLst/>
          </a:prstGeom>
          <a:noFill/>
        </p:spPr>
        <p:txBody>
          <a:bodyPr wrap="square" anchor="t" lIns="25400" rIns="25400" tIns="12700" bIns="12700">
            <a:spAutoFit/>
          </a:bodyPr>
          <a:lstStyle/>
          <a:p>
            <a:pPr algn="l">
              <a:lnSpc>
                <a:spcPct val="114000"/>
              </a:lnSpc>
            </a:pPr>
            <a:r>
              <a:rPr sz="819" b="0" i="0">
                <a:solidFill>
                  <a:srgbClr val="252A31"/>
                </a:solidFill>
                <a:latin typeface="Meiryo"/>
              </a:rPr>
              <a:t>● ＝ 想定される使用アプリ（列見出しの色が各アプリ）。難易度：中＝M365標準で実現しやすい／中〜高＝連携・運用の検証項目が多い／高＝外部連携や制約が大きく再設計や判断を伴う。</a:t>
            </a:r>
          </a:p>
          <a:p>
            <a:pPr algn="l">
              <a:lnSpc>
                <a:spcPct val="114000"/>
              </a:lnSpc>
            </a:pPr>
            <a:r>
              <a:rPr sz="819" b="0" i="0">
                <a:solidFill>
                  <a:srgbClr val="252A31"/>
                </a:solidFill>
                <a:latin typeface="Meiryo"/>
              </a:rPr>
              <a:t>ボリューム ＝ 企画着手から実業務で使い始める（リリース）までに必要な総作業量。開発するもの＋読み込む資料の整備＋連携・権限・本番移行・運用展開を含む（10月のデモまでではない）。※暫定評価</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ISSUES ｜ 事務局への依頼事項</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第2回で挙がった課題は、大きく3点</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6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TextBox 8"/>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200" b="0" i="0">
                <a:solidFill>
                  <a:srgbClr val="252A31"/>
                </a:solidFill>
                <a:latin typeface="Meiryo"/>
              </a:rPr>
              <a:t>第2回（チーム1・2・3・4・5・10・11）で実際に挙がった論点を集約すると、次の3点に整理できる。</a:t>
            </a:r>
          </a:p>
        </p:txBody>
      </p:sp>
      <p:sp>
        <p:nvSpPr>
          <p:cNvPr id="10" name="Rectangle 9"/>
          <p:cNvSpPr/>
          <p:nvPr/>
        </p:nvSpPr>
        <p:spPr>
          <a:xfrm>
            <a:off x="502920" y="1627632"/>
            <a:ext cx="1120140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627632"/>
            <a:ext cx="3017520" cy="14173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1627632"/>
            <a:ext cx="731520" cy="1417320"/>
          </a:xfrm>
          <a:prstGeom prst="rect">
            <a:avLst/>
          </a:prstGeom>
          <a:noFill/>
        </p:spPr>
        <p:txBody>
          <a:bodyPr wrap="square" anchor="ctr" lIns="25400" rIns="25400" tIns="12700" bIns="12700">
            <a:spAutoFit/>
          </a:bodyPr>
          <a:lstStyle/>
          <a:p>
            <a:pPr algn="ctr">
              <a:lnSpc>
                <a:spcPct val="100000"/>
              </a:lnSpc>
            </a:pPr>
            <a:r>
              <a:rPr sz="3000" b="1" i="0">
                <a:solidFill>
                  <a:srgbClr val="FFFFFF"/>
                </a:solidFill>
                <a:latin typeface="Meiryo"/>
              </a:rPr>
              <a:t>1</a:t>
            </a:r>
          </a:p>
        </p:txBody>
      </p:sp>
      <p:sp>
        <p:nvSpPr>
          <p:cNvPr id="13" name="TextBox 12"/>
          <p:cNvSpPr txBox="1"/>
          <p:nvPr/>
        </p:nvSpPr>
        <p:spPr>
          <a:xfrm>
            <a:off x="1371600" y="1883664"/>
            <a:ext cx="2011680" cy="411480"/>
          </a:xfrm>
          <a:prstGeom prst="rect">
            <a:avLst/>
          </a:prstGeom>
          <a:noFill/>
        </p:spPr>
        <p:txBody>
          <a:bodyPr wrap="square" anchor="t" lIns="25400" rIns="25400" tIns="12700" bIns="12700">
            <a:spAutoFit/>
          </a:bodyPr>
          <a:lstStyle/>
          <a:p>
            <a:pPr algn="l">
              <a:lnSpc>
                <a:spcPct val="105000"/>
              </a:lnSpc>
            </a:pPr>
            <a:r>
              <a:rPr sz="1350" b="1" i="0">
                <a:solidFill>
                  <a:srgbClr val="FFFFFF"/>
                </a:solidFill>
                <a:latin typeface="Meiryo"/>
              </a:rPr>
              <a:t>使えるデータ・環境</a:t>
            </a:r>
          </a:p>
        </p:txBody>
      </p:sp>
      <p:sp>
        <p:nvSpPr>
          <p:cNvPr id="14" name="TextBox 13"/>
          <p:cNvSpPr txBox="1"/>
          <p:nvPr/>
        </p:nvSpPr>
        <p:spPr>
          <a:xfrm>
            <a:off x="1371600" y="2340864"/>
            <a:ext cx="2011680" cy="274320"/>
          </a:xfrm>
          <a:prstGeom prst="rect">
            <a:avLst/>
          </a:prstGeom>
          <a:noFill/>
        </p:spPr>
        <p:txBody>
          <a:bodyPr wrap="square" anchor="t" lIns="25400" rIns="25400" tIns="12700" bIns="12700">
            <a:spAutoFit/>
          </a:bodyPr>
          <a:lstStyle/>
          <a:p>
            <a:pPr algn="l">
              <a:lnSpc>
                <a:spcPct val="100000"/>
              </a:lnSpc>
            </a:pPr>
            <a:r>
              <a:rPr sz="950" b="0" i="0">
                <a:solidFill>
                  <a:srgbClr val="BFD3E0"/>
                </a:solidFill>
                <a:latin typeface="Meiryo"/>
              </a:rPr>
              <a:t>ガバナンス・制約</a:t>
            </a:r>
          </a:p>
        </p:txBody>
      </p:sp>
      <p:sp>
        <p:nvSpPr>
          <p:cNvPr id="15" name="Rectangle 14"/>
          <p:cNvSpPr/>
          <p:nvPr/>
        </p:nvSpPr>
        <p:spPr>
          <a:xfrm>
            <a:off x="3749039" y="1787652"/>
            <a:ext cx="82296" cy="82296"/>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22775" y="1696212"/>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外部Webの参照・M365外システム連携・機密情報は原則不可。依存する案は再設計が必要　… チーム3・4</a:t>
            </a:r>
          </a:p>
        </p:txBody>
      </p:sp>
      <p:sp>
        <p:nvSpPr>
          <p:cNvPr id="17" name="Rectangle 16"/>
          <p:cNvSpPr/>
          <p:nvPr/>
        </p:nvSpPr>
        <p:spPr>
          <a:xfrm>
            <a:off x="3749039" y="2061972"/>
            <a:ext cx="82296" cy="82296"/>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22775" y="1970532"/>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開発環境から本番環境への移行は、社内の申請・決裁フローを要確認　… チーム11</a:t>
            </a:r>
          </a:p>
        </p:txBody>
      </p:sp>
      <p:sp>
        <p:nvSpPr>
          <p:cNvPr id="19" name="TextBox 18"/>
          <p:cNvSpPr txBox="1"/>
          <p:nvPr/>
        </p:nvSpPr>
        <p:spPr>
          <a:xfrm>
            <a:off x="3749039" y="2734056"/>
            <a:ext cx="7772400" cy="274320"/>
          </a:xfrm>
          <a:prstGeom prst="rect">
            <a:avLst/>
          </a:prstGeom>
          <a:noFill/>
        </p:spPr>
        <p:txBody>
          <a:bodyPr wrap="square" anchor="t" lIns="25400" rIns="25400" tIns="12700" bIns="12700">
            <a:spAutoFit/>
          </a:bodyPr>
          <a:lstStyle/>
          <a:p>
            <a:pPr algn="l">
              <a:lnSpc>
                <a:spcPct val="100000"/>
              </a:lnSpc>
            </a:pPr>
            <a:r>
              <a:rPr sz="940" b="1" i="0">
                <a:solidFill>
                  <a:srgbClr val="E8833A"/>
                </a:solidFill>
                <a:latin typeface="Meiryo"/>
              </a:rPr>
              <a:t>▶ 事務局へ：可否の判断を早期に。抵触すると案そのものが頓挫するため最優先で確認したい。</a:t>
            </a:r>
          </a:p>
        </p:txBody>
      </p:sp>
      <p:sp>
        <p:nvSpPr>
          <p:cNvPr id="20" name="Rectangle 19"/>
          <p:cNvSpPr/>
          <p:nvPr/>
        </p:nvSpPr>
        <p:spPr>
          <a:xfrm>
            <a:off x="502920" y="3191256"/>
            <a:ext cx="1120140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191256"/>
            <a:ext cx="3017520" cy="141732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191256"/>
            <a:ext cx="731520" cy="1417320"/>
          </a:xfrm>
          <a:prstGeom prst="rect">
            <a:avLst/>
          </a:prstGeom>
          <a:noFill/>
        </p:spPr>
        <p:txBody>
          <a:bodyPr wrap="square" anchor="ctr" lIns="25400" rIns="25400" tIns="12700" bIns="12700">
            <a:spAutoFit/>
          </a:bodyPr>
          <a:lstStyle/>
          <a:p>
            <a:pPr algn="ctr">
              <a:lnSpc>
                <a:spcPct val="100000"/>
              </a:lnSpc>
            </a:pPr>
            <a:r>
              <a:rPr sz="3000" b="1" i="0">
                <a:solidFill>
                  <a:srgbClr val="FFFFFF"/>
                </a:solidFill>
                <a:latin typeface="Meiryo"/>
              </a:rPr>
              <a:t>2</a:t>
            </a:r>
          </a:p>
        </p:txBody>
      </p:sp>
      <p:sp>
        <p:nvSpPr>
          <p:cNvPr id="23" name="TextBox 22"/>
          <p:cNvSpPr txBox="1"/>
          <p:nvPr/>
        </p:nvSpPr>
        <p:spPr>
          <a:xfrm>
            <a:off x="1371600" y="3447288"/>
            <a:ext cx="2011680" cy="411480"/>
          </a:xfrm>
          <a:prstGeom prst="rect">
            <a:avLst/>
          </a:prstGeom>
          <a:noFill/>
        </p:spPr>
        <p:txBody>
          <a:bodyPr wrap="square" anchor="t" lIns="25400" rIns="25400" tIns="12700" bIns="12700">
            <a:spAutoFit/>
          </a:bodyPr>
          <a:lstStyle/>
          <a:p>
            <a:pPr algn="l">
              <a:lnSpc>
                <a:spcPct val="105000"/>
              </a:lnSpc>
            </a:pPr>
            <a:r>
              <a:rPr sz="1350" b="1" i="0">
                <a:solidFill>
                  <a:srgbClr val="FFFFFF"/>
                </a:solidFill>
                <a:latin typeface="Meiryo"/>
              </a:rPr>
              <a:t>進め方の型</a:t>
            </a:r>
          </a:p>
        </p:txBody>
      </p:sp>
      <p:sp>
        <p:nvSpPr>
          <p:cNvPr id="24" name="TextBox 23"/>
          <p:cNvSpPr txBox="1"/>
          <p:nvPr/>
        </p:nvSpPr>
        <p:spPr>
          <a:xfrm>
            <a:off x="1371600" y="3904488"/>
            <a:ext cx="2011680" cy="274320"/>
          </a:xfrm>
          <a:prstGeom prst="rect">
            <a:avLst/>
          </a:prstGeom>
          <a:noFill/>
        </p:spPr>
        <p:txBody>
          <a:bodyPr wrap="square" anchor="t" lIns="25400" rIns="25400" tIns="12700" bIns="12700">
            <a:spAutoFit/>
          </a:bodyPr>
          <a:lstStyle/>
          <a:p>
            <a:pPr algn="l">
              <a:lnSpc>
                <a:spcPct val="100000"/>
              </a:lnSpc>
            </a:pPr>
            <a:r>
              <a:rPr sz="950" b="0" i="0">
                <a:solidFill>
                  <a:srgbClr val="BFD3E0"/>
                </a:solidFill>
                <a:latin typeface="Meiryo"/>
              </a:rPr>
              <a:t>構築フェーズの支援</a:t>
            </a:r>
          </a:p>
        </p:txBody>
      </p:sp>
      <p:sp>
        <p:nvSpPr>
          <p:cNvPr id="25" name="Rectangle 24"/>
          <p:cNvSpPr/>
          <p:nvPr/>
        </p:nvSpPr>
        <p:spPr>
          <a:xfrm>
            <a:off x="3749039" y="3351276"/>
            <a:ext cx="82296" cy="82296"/>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22775" y="3259836"/>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開発手順の型（基本フォーマット）と8〜9月のスケジュール提示　… チーム1・5</a:t>
            </a:r>
          </a:p>
        </p:txBody>
      </p:sp>
      <p:sp>
        <p:nvSpPr>
          <p:cNvPr id="27" name="Rectangle 26"/>
          <p:cNvSpPr/>
          <p:nvPr/>
        </p:nvSpPr>
        <p:spPr>
          <a:xfrm>
            <a:off x="3749039" y="3625596"/>
            <a:ext cx="82296" cy="82296"/>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22775" y="3534156"/>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設計相談の進め方と、指示文（プロンプト）の見本　… チーム1・2</a:t>
            </a:r>
          </a:p>
        </p:txBody>
      </p:sp>
      <p:sp>
        <p:nvSpPr>
          <p:cNvPr id="29" name="Rectangle 28"/>
          <p:cNvSpPr/>
          <p:nvPr/>
        </p:nvSpPr>
        <p:spPr>
          <a:xfrm>
            <a:off x="3749039" y="3899916"/>
            <a:ext cx="82296" cy="82296"/>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22775" y="3808476"/>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Copilotの回答は鵜呑みにせず、根拠の提示と実機確認で精度を担保　… チーム10</a:t>
            </a:r>
          </a:p>
        </p:txBody>
      </p:sp>
      <p:sp>
        <p:nvSpPr>
          <p:cNvPr id="31" name="TextBox 30"/>
          <p:cNvSpPr txBox="1"/>
          <p:nvPr/>
        </p:nvSpPr>
        <p:spPr>
          <a:xfrm>
            <a:off x="3749039" y="4297680"/>
            <a:ext cx="7772400" cy="274320"/>
          </a:xfrm>
          <a:prstGeom prst="rect">
            <a:avLst/>
          </a:prstGeom>
          <a:noFill/>
        </p:spPr>
        <p:txBody>
          <a:bodyPr wrap="square" anchor="t" lIns="25400" rIns="25400" tIns="12700" bIns="12700">
            <a:spAutoFit/>
          </a:bodyPr>
          <a:lstStyle/>
          <a:p>
            <a:pPr algn="l">
              <a:lnSpc>
                <a:spcPct val="100000"/>
              </a:lnSpc>
            </a:pPr>
            <a:r>
              <a:rPr sz="940" b="1" i="0">
                <a:solidFill>
                  <a:srgbClr val="1F385C"/>
                </a:solidFill>
                <a:latin typeface="Meiryo"/>
              </a:rPr>
              <a:t>▶ 事務局へ：進め方の型・スケジュール・指示文の見本を配布いただきたい。</a:t>
            </a:r>
          </a:p>
        </p:txBody>
      </p:sp>
      <p:sp>
        <p:nvSpPr>
          <p:cNvPr id="32" name="Rectangle 31"/>
          <p:cNvSpPr/>
          <p:nvPr/>
        </p:nvSpPr>
        <p:spPr>
          <a:xfrm>
            <a:off x="502920" y="4754880"/>
            <a:ext cx="1120140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54880"/>
            <a:ext cx="3017520" cy="141732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4754880"/>
            <a:ext cx="731520" cy="1417320"/>
          </a:xfrm>
          <a:prstGeom prst="rect">
            <a:avLst/>
          </a:prstGeom>
          <a:noFill/>
        </p:spPr>
        <p:txBody>
          <a:bodyPr wrap="square" anchor="ctr" lIns="25400" rIns="25400" tIns="12700" bIns="12700">
            <a:spAutoFit/>
          </a:bodyPr>
          <a:lstStyle/>
          <a:p>
            <a:pPr algn="ctr">
              <a:lnSpc>
                <a:spcPct val="100000"/>
              </a:lnSpc>
            </a:pPr>
            <a:r>
              <a:rPr sz="3000" b="1" i="0">
                <a:solidFill>
                  <a:srgbClr val="FFFFFF"/>
                </a:solidFill>
                <a:latin typeface="Meiryo"/>
              </a:rPr>
              <a:t>3</a:t>
            </a:r>
          </a:p>
        </p:txBody>
      </p:sp>
      <p:sp>
        <p:nvSpPr>
          <p:cNvPr id="35" name="TextBox 34"/>
          <p:cNvSpPr txBox="1"/>
          <p:nvPr/>
        </p:nvSpPr>
        <p:spPr>
          <a:xfrm>
            <a:off x="1371600" y="5010912"/>
            <a:ext cx="2011680" cy="411480"/>
          </a:xfrm>
          <a:prstGeom prst="rect">
            <a:avLst/>
          </a:prstGeom>
          <a:noFill/>
        </p:spPr>
        <p:txBody>
          <a:bodyPr wrap="square" anchor="t" lIns="25400" rIns="25400" tIns="12700" bIns="12700">
            <a:spAutoFit/>
          </a:bodyPr>
          <a:lstStyle/>
          <a:p>
            <a:pPr algn="l">
              <a:lnSpc>
                <a:spcPct val="105000"/>
              </a:lnSpc>
            </a:pPr>
            <a:r>
              <a:rPr sz="1350" b="1" i="0">
                <a:solidFill>
                  <a:srgbClr val="FFFFFF"/>
                </a:solidFill>
                <a:latin typeface="Meiryo"/>
              </a:rPr>
              <a:t>10月以降の展開</a:t>
            </a:r>
          </a:p>
        </p:txBody>
      </p:sp>
      <p:sp>
        <p:nvSpPr>
          <p:cNvPr id="36" name="TextBox 35"/>
          <p:cNvSpPr txBox="1"/>
          <p:nvPr/>
        </p:nvSpPr>
        <p:spPr>
          <a:xfrm>
            <a:off x="1371600" y="5468112"/>
            <a:ext cx="2011680" cy="274320"/>
          </a:xfrm>
          <a:prstGeom prst="rect">
            <a:avLst/>
          </a:prstGeom>
          <a:noFill/>
        </p:spPr>
        <p:txBody>
          <a:bodyPr wrap="square" anchor="t" lIns="25400" rIns="25400" tIns="12700" bIns="12700">
            <a:spAutoFit/>
          </a:bodyPr>
          <a:lstStyle/>
          <a:p>
            <a:pPr algn="l">
              <a:lnSpc>
                <a:spcPct val="100000"/>
              </a:lnSpc>
            </a:pPr>
            <a:r>
              <a:rPr sz="950" b="0" i="0">
                <a:solidFill>
                  <a:srgbClr val="BFD3E0"/>
                </a:solidFill>
                <a:latin typeface="Meiryo"/>
              </a:rPr>
              <a:t>運用・定着</a:t>
            </a:r>
          </a:p>
        </p:txBody>
      </p:sp>
      <p:sp>
        <p:nvSpPr>
          <p:cNvPr id="37" name="Rectangle 36"/>
          <p:cNvSpPr/>
          <p:nvPr/>
        </p:nvSpPr>
        <p:spPr>
          <a:xfrm>
            <a:off x="3749039" y="4914900"/>
            <a:ext cx="82296" cy="82296"/>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22775" y="4823460"/>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8月のデモは範囲を絞り「入力→処理→出力」を一本通す／効果の見極め　… チーム4・5</a:t>
            </a:r>
          </a:p>
        </p:txBody>
      </p:sp>
      <p:sp>
        <p:nvSpPr>
          <p:cNvPr id="39" name="Rectangle 38"/>
          <p:cNvSpPr/>
          <p:nvPr/>
        </p:nvSpPr>
        <p:spPr>
          <a:xfrm>
            <a:off x="3749039" y="5189220"/>
            <a:ext cx="82296" cy="82296"/>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22775" y="5097780"/>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手順書・利用ルールの整備（項目の洗い出しと全体量の把握）と更新に伴う運用保守　… チーム5・11</a:t>
            </a:r>
          </a:p>
        </p:txBody>
      </p:sp>
      <p:sp>
        <p:nvSpPr>
          <p:cNvPr id="41" name="Rectangle 40"/>
          <p:cNvSpPr/>
          <p:nvPr/>
        </p:nvSpPr>
        <p:spPr>
          <a:xfrm>
            <a:off x="3749039" y="5463540"/>
            <a:ext cx="82296" cy="82296"/>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922775" y="5372100"/>
            <a:ext cx="7680960" cy="274320"/>
          </a:xfrm>
          <a:prstGeom prst="rect">
            <a:avLst/>
          </a:prstGeom>
          <a:noFill/>
        </p:spPr>
        <p:txBody>
          <a:bodyPr wrap="square" anchor="t" lIns="25400" rIns="25400" tIns="12700" bIns="12700">
            <a:spAutoFit/>
          </a:bodyPr>
          <a:lstStyle/>
          <a:p>
            <a:pPr algn="l">
              <a:lnSpc>
                <a:spcPct val="100000"/>
              </a:lnSpc>
            </a:pPr>
            <a:r>
              <a:rPr sz="960" b="0" i="0">
                <a:solidFill>
                  <a:srgbClr val="252A31"/>
                </a:solidFill>
                <a:latin typeface="Meiryo"/>
              </a:rPr>
              <a:t>8月以降の定例（週次／隔週）の進め方の案内　… チーム2・10</a:t>
            </a:r>
          </a:p>
        </p:txBody>
      </p:sp>
      <p:sp>
        <p:nvSpPr>
          <p:cNvPr id="43" name="TextBox 42"/>
          <p:cNvSpPr txBox="1"/>
          <p:nvPr/>
        </p:nvSpPr>
        <p:spPr>
          <a:xfrm>
            <a:off x="3749039" y="5861304"/>
            <a:ext cx="7772400" cy="274320"/>
          </a:xfrm>
          <a:prstGeom prst="rect">
            <a:avLst/>
          </a:prstGeom>
          <a:noFill/>
        </p:spPr>
        <p:txBody>
          <a:bodyPr wrap="square" anchor="t" lIns="25400" rIns="25400" tIns="12700" bIns="12700">
            <a:spAutoFit/>
          </a:bodyPr>
          <a:lstStyle/>
          <a:p>
            <a:pPr algn="l">
              <a:lnSpc>
                <a:spcPct val="100000"/>
              </a:lnSpc>
            </a:pPr>
            <a:r>
              <a:rPr sz="940" b="1" i="0">
                <a:solidFill>
                  <a:srgbClr val="2E8B9E"/>
                </a:solidFill>
                <a:latin typeface="Meiryo"/>
              </a:rPr>
              <a:t>▶ 事務局へ：展開・運用の枠組みと定例の進め方を案内いただきたい。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761488"/>
            <a:ext cx="1371600" cy="5486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365760"/>
          </a:xfrm>
          <a:prstGeom prst="rect">
            <a:avLst/>
          </a:prstGeom>
          <a:noFill/>
        </p:spPr>
        <p:txBody>
          <a:bodyPr wrap="square" anchor="t" lIns="25400" rIns="25400" tIns="12700" bIns="12700">
            <a:spAutoFit/>
          </a:bodyPr>
          <a:lstStyle/>
          <a:p>
            <a:pPr algn="l">
              <a:lnSpc>
                <a:spcPct val="100000"/>
              </a:lnSpc>
            </a:pPr>
            <a:r>
              <a:rPr sz="1200" b="1" i="0">
                <a:solidFill>
                  <a:srgbClr val="2E8B9E"/>
                </a:solidFill>
                <a:latin typeface="Meiryo"/>
              </a:rPr>
              <a:t>TEAM DETAIL</a:t>
            </a:r>
          </a:p>
        </p:txBody>
      </p:sp>
      <p:sp>
        <p:nvSpPr>
          <p:cNvPr id="5" name="TextBox 4"/>
          <p:cNvSpPr txBox="1"/>
          <p:nvPr/>
        </p:nvSpPr>
        <p:spPr>
          <a:xfrm>
            <a:off x="877824" y="3017520"/>
            <a:ext cx="10424160" cy="777240"/>
          </a:xfrm>
          <a:prstGeom prst="rect">
            <a:avLst/>
          </a:prstGeom>
          <a:noFill/>
        </p:spPr>
        <p:txBody>
          <a:bodyPr wrap="square" anchor="t" lIns="25400" rIns="25400" tIns="12700" bIns="12700">
            <a:spAutoFit/>
          </a:bodyPr>
          <a:lstStyle/>
          <a:p>
            <a:pPr algn="l">
              <a:lnSpc>
                <a:spcPct val="100000"/>
              </a:lnSpc>
            </a:pPr>
            <a:r>
              <a:rPr sz="3200" b="1" i="0">
                <a:solidFill>
                  <a:srgbClr val="FFFFFF"/>
                </a:solidFill>
                <a:latin typeface="Meiryo"/>
              </a:rPr>
              <a:t>各チームの個別状況</a:t>
            </a:r>
          </a:p>
        </p:txBody>
      </p:sp>
      <p:sp>
        <p:nvSpPr>
          <p:cNvPr id="6" name="TextBox 5"/>
          <p:cNvSpPr txBox="1"/>
          <p:nvPr/>
        </p:nvSpPr>
        <p:spPr>
          <a:xfrm>
            <a:off x="914400" y="3931920"/>
            <a:ext cx="10058400" cy="365760"/>
          </a:xfrm>
          <a:prstGeom prst="rect">
            <a:avLst/>
          </a:prstGeom>
          <a:noFill/>
        </p:spPr>
        <p:txBody>
          <a:bodyPr wrap="square" anchor="t" lIns="25400" rIns="25400" tIns="12700" bIns="12700">
            <a:spAutoFit/>
          </a:bodyPr>
          <a:lstStyle/>
          <a:p>
            <a:pPr algn="l">
              <a:lnSpc>
                <a:spcPct val="100000"/>
              </a:lnSpc>
            </a:pPr>
            <a:r>
              <a:rPr sz="1300" b="0" i="0">
                <a:solidFill>
                  <a:srgbClr val="BFD3E0"/>
                </a:solidFill>
                <a:latin typeface="Meiryo"/>
              </a:rPr>
              <a:t>チーム1〜11／1チーム1枚：取り組み内容・使用アプリ・論点・相談内容と助言・次アクション</a:t>
            </a:r>
          </a:p>
        </p:txBody>
      </p:sp>
      <p:sp>
        <p:nvSpPr>
          <p:cNvPr id="7" name="Rounded Rectangle 6"/>
          <p:cNvSpPr/>
          <p:nvPr/>
        </p:nvSpPr>
        <p:spPr>
          <a:xfrm>
            <a:off x="914400"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チーム1</a:t>
            </a:r>
          </a:p>
        </p:txBody>
      </p:sp>
      <p:sp>
        <p:nvSpPr>
          <p:cNvPr id="8" name="Rounded Rectangle 7"/>
          <p:cNvSpPr/>
          <p:nvPr/>
        </p:nvSpPr>
        <p:spPr>
          <a:xfrm>
            <a:off x="1847088"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チーム2</a:t>
            </a:r>
          </a:p>
        </p:txBody>
      </p:sp>
      <p:sp>
        <p:nvSpPr>
          <p:cNvPr id="9" name="Rounded Rectangle 8"/>
          <p:cNvSpPr/>
          <p:nvPr/>
        </p:nvSpPr>
        <p:spPr>
          <a:xfrm>
            <a:off x="2779776"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チーム3</a:t>
            </a:r>
          </a:p>
        </p:txBody>
      </p:sp>
      <p:sp>
        <p:nvSpPr>
          <p:cNvPr id="10" name="Rounded Rectangle 9"/>
          <p:cNvSpPr/>
          <p:nvPr/>
        </p:nvSpPr>
        <p:spPr>
          <a:xfrm>
            <a:off x="3712464"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チーム4</a:t>
            </a:r>
          </a:p>
        </p:txBody>
      </p:sp>
      <p:sp>
        <p:nvSpPr>
          <p:cNvPr id="11" name="Rounded Rectangle 10"/>
          <p:cNvSpPr/>
          <p:nvPr/>
        </p:nvSpPr>
        <p:spPr>
          <a:xfrm>
            <a:off x="4645152"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チーム5</a:t>
            </a:r>
          </a:p>
        </p:txBody>
      </p:sp>
      <p:sp>
        <p:nvSpPr>
          <p:cNvPr id="12" name="Rounded Rectangle 11"/>
          <p:cNvSpPr/>
          <p:nvPr/>
        </p:nvSpPr>
        <p:spPr>
          <a:xfrm>
            <a:off x="5577840"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チーム6</a:t>
            </a:r>
          </a:p>
        </p:txBody>
      </p:sp>
      <p:sp>
        <p:nvSpPr>
          <p:cNvPr id="13" name="Rounded Rectangle 12"/>
          <p:cNvSpPr/>
          <p:nvPr/>
        </p:nvSpPr>
        <p:spPr>
          <a:xfrm>
            <a:off x="6510528"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チーム7</a:t>
            </a:r>
          </a:p>
        </p:txBody>
      </p:sp>
      <p:sp>
        <p:nvSpPr>
          <p:cNvPr id="14" name="Rounded Rectangle 13"/>
          <p:cNvSpPr/>
          <p:nvPr/>
        </p:nvSpPr>
        <p:spPr>
          <a:xfrm>
            <a:off x="7443216"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チーム8</a:t>
            </a:r>
          </a:p>
        </p:txBody>
      </p:sp>
      <p:sp>
        <p:nvSpPr>
          <p:cNvPr id="15" name="Rounded Rectangle 14"/>
          <p:cNvSpPr/>
          <p:nvPr/>
        </p:nvSpPr>
        <p:spPr>
          <a:xfrm>
            <a:off x="8375904"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チーム9</a:t>
            </a:r>
          </a:p>
        </p:txBody>
      </p:sp>
      <p:sp>
        <p:nvSpPr>
          <p:cNvPr id="16" name="Rounded Rectangle 15"/>
          <p:cNvSpPr/>
          <p:nvPr/>
        </p:nvSpPr>
        <p:spPr>
          <a:xfrm>
            <a:off x="9308592"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チーム10</a:t>
            </a:r>
          </a:p>
        </p:txBody>
      </p:sp>
      <p:sp>
        <p:nvSpPr>
          <p:cNvPr id="17" name="Rounded Rectangle 16"/>
          <p:cNvSpPr/>
          <p:nvPr/>
        </p:nvSpPr>
        <p:spPr>
          <a:xfrm>
            <a:off x="10241280" y="4800600"/>
            <a:ext cx="841248" cy="402336"/>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000" b="1">
                <a:solidFill>
                  <a:srgbClr val="FFFFFF"/>
                </a:solidFill>
                <a:latin typeface="Meiryo"/>
              </a:rPr>
              <a:t>チーム11</a:t>
            </a:r>
          </a:p>
        </p:txBody>
      </p:sp>
      <p:sp>
        <p:nvSpPr>
          <p:cNvPr id="18" name="TextBox 17"/>
          <p:cNvSpPr txBox="1"/>
          <p:nvPr/>
        </p:nvSpPr>
        <p:spPr>
          <a:xfrm>
            <a:off x="10881360" y="5897880"/>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1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チーム1：加盟店提出様式の自動チェック</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8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カクニンジャ</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③ 1案確定</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10月発表の見込み（○）の根拠：作るものは明確。開発手順の型とスケジュール提示があれば自走できる。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加盟店から提出される様式の記載漏れ・形式不備をAIがチェックする。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Copilot チャット ／ Excel ／ SharePoint（想定）</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AIの判定結果にばらつきが出る可能性。判定基準と「AIに任せる範囲／人が確認する範囲」の切り分けが必要。</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第2回：構築フェーズで何を優先すべきか。開発手順の型（基本フォーマット）と8〜9月のスケジュール提示が欲しい。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8〜9月の進め方は事務局から共有する方針。Copilot Studioは通常のチャットより回答範囲・出力形式を制御しやすい点が利点。</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チェック項目を分解し、AI判断・自動化・人の確認の境界を設計。サンプル様式で結果の再現性を確認する。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2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チーム2：受付Cエラーの原因案内</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9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受付Cエラー原因ナビゲーター</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③ 1案確定</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10月発表の見込み（○）の根拠：対象エラーと回答テンプレートを絞れば動くデモを作れる。指示文の見本で加速。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カード会社が受付エラーの原因を自分で解決できるよう、AIが原因と対処を案内する。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SharePoint ／ Teams・Web画面 ／ Power Automate（想定）</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エラーファイルの取り込み形式と、回答の根拠となるFAQ・ガイドの整備状況が成否を左右する。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第2回：Copilotに設計や成果物を相談するときの指示文（プロンプト）の見本が欲しい。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企画内容をそのまま貼り付け、「必要な設定・使うべきアプリ・構成案」を尋ねる進め方を助言。ファイル形式は試して見極める。</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代表的なエラーパターンと回答テンプレートを絞り、最初に作る範囲の入力・出力例を用意する。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3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チーム3：加盟店防衛マネジメント支援</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10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加盟店防衛マネジメントエージェント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③ 1案確定</a:t>
            </a:r>
          </a:p>
        </p:txBody>
      </p:sp>
      <p:sp>
        <p:nvSpPr>
          <p:cNvPr id="19" name="Rounded Rectangle 18"/>
          <p:cNvSpPr/>
          <p:nvPr/>
        </p:nvSpPr>
        <p:spPr>
          <a:xfrm>
            <a:off x="7406640" y="1243584"/>
            <a:ext cx="1234440" cy="36576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高</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10月発表の見込み（○）の根拠：構想は明確。使うデータの可否を整理し範囲を絞れば発表できる（作業量は大）。　｜　ボリューム（実業務で使い始めるまで）：大</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営業データを統合し、リスク分析や訪問前のサマリをAIが作成する。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Power Automate ／ Power Query ／ SharePoint ／ Power BI ／ Copilot Studio ／ 営業システム等（取得可否が論点）</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外部情報・営業システムからの取得制約が大きい。使うデータを洗い出し、可否の判断を得る必要がある。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第2回：外部のIR情報等を参照したいが、外部情報の参照禁止によるリスクと代替策を知りたい。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外部サイトの自動参照は相手先サーバへの負荷などの観点から原則不可。必要な資料は事前に取得し参照資料として登録する方法が現実的。</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使うデータを「M365内／M365外／外部Web」に分類し、最初に作る範囲を再定義する。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4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チーム4：市場・企業分析</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11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市場・企業分析エージェント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② 2案から選定中</a:t>
            </a:r>
          </a:p>
        </p:txBody>
      </p:sp>
      <p:sp>
        <p:nvSpPr>
          <p:cNvPr id="19" name="Rounded Rectangle 18"/>
          <p:cNvSpPr/>
          <p:nvPr/>
        </p:nvSpPr>
        <p:spPr>
          <a:xfrm>
            <a:off x="7406640" y="1243584"/>
            <a:ext cx="1234440" cy="36576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高</a:t>
            </a:r>
          </a:p>
        </p:txBody>
      </p:sp>
      <p:sp>
        <p:nvSpPr>
          <p:cNvPr id="20" name="Rounded Rectangle 19"/>
          <p:cNvSpPr/>
          <p:nvPr/>
        </p:nvSpPr>
        <p:spPr>
          <a:xfrm>
            <a:off x="8732520" y="1243584"/>
            <a:ext cx="1325880" cy="365760"/>
          </a:xfrm>
          <a:prstGeom prst="round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10月発表の見込み（△）の根拠：外部Web参照の禁止で企画の中心が抵触。代替案が未確定で、作るものが定まっていない。　｜　ボリューム（実業務で使い始めるまで）：中〜大</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企業名やキーワードを起点に、調査結果の整理と提案書のドラフトをAIが作成する。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Power Automate ／ SharePoint ／ Teams ／ Word・PowerPoint（外部Web・RSS・APIは原則不可）</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企画の中心が外部情報の取得であるため、今回の条件下では実装できる効果が大きく下がる。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第2回：外部サイトからの情報取得が原則禁止となり、現在の案がガイドラインに抵触する可能性を確認したい。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Web検索が主機能となる場合は案の練り直しが必要。手元の資料を整えてドラフト化するだけで効果が出るかを検討するよう助言。</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外部参照なしで成立する使い方に再設計する（過去の調査結果や社内資料をもとにした整理など）。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5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チーム5：依頼事項の自動リマインド</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12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おはようリマインドくん</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3F8F5B"/>
                </a:solidFill>
                <a:latin typeface="Meiryo"/>
              </a:rPr>
              <a:t>⑤ 効果試算まで完了</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10月発表の見込み（◎）の根拠：業務の流れ・効果・構成まで具体化済み。8月のデモまで道筋が明確。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依頼事項の登録・通知・回答集約・未回答者へのリマインドを自動化する。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Microsoft Forms ／ Power Automate ／ Teams ／ 管理ダッシュボード</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運用の定着と、依頼元の入力ルールが鍵。リマインドの設計と回答形式の標準化が必要。</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第2回：管理表の項目立てをどう始めるか。Copilot Studioの更新に伴う保守リスクも知りたい。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まず項目を仮決めし、3件程度のサンプルで Power Automate から一連の流れを通す。更新による不具合は運用保守の観点で考慮が必要。</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「依頼1件の登録→対象者へ通知→回答集約→未回答リマインド」を8月中に動くデモにする。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6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チーム6：会議資料作成と会議招集の自動化</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13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Forecast ONE</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③ 1案確定</a:t>
            </a:r>
          </a:p>
        </p:txBody>
      </p:sp>
      <p:sp>
        <p:nvSpPr>
          <p:cNvPr id="19" name="Rounded Rectangle 18"/>
          <p:cNvSpPr/>
          <p:nvPr/>
        </p:nvSpPr>
        <p:spPr>
          <a:xfrm>
            <a:off x="7406640" y="1243584"/>
            <a:ext cx="1234440" cy="365760"/>
          </a:xfrm>
          <a:prstGeom prst="round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中〜高</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未実施</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10月発表の見込み（○）の根拠：構成は明確。資料収集・資料生成・会議通知を分けて検証すれば発表できる。　｜　ボリューム（実業務で使い始めるまで）：大</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フォーキャスト会議の資料作成と、会議の招集をあわせて自動化する。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Power Automate ／ SharePoint・OneDrive ／ Outlook ／ Teams ／ PowerPoint</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資料の保管場所、資料の自動生成、会議招集の自動化は、それぞれ分けて実現性を検証する必要がある。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第2回は未実施。第1回では Power Automate と Copilot Studio の違い、研修の予定、困ったときの相談先を確認。</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Power AutomateはAIではなく自動化の道具だが、時間削減には重要。資料収集・資料生成・会議通知の役割分担を明確にする必要がある。</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3つの入力資料・前月資料・出力資料・会議通知について、データの流れをM365内で整理する。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7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チーム7：加盟店課金精算のチェック</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14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加盟店課金精算チェックエージェント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3F8F5B"/>
                </a:solidFill>
                <a:latin typeface="Meiryo"/>
              </a:rPr>
              <a:t>⑤ 効果試算まで完了</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未実施</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10月発表の見込み（◎）の根拠：固定の判断基準＋毎月の入力照合という構成が明確で、実現性が高い。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請求データと関連システムのデータを突き合わせ、差異をAIがチェックする。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SharePoint ／ Excel または CSV ／ 人手で取得したデータ</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外部システムと直接つながず人手取得データを前提とするため、ファイル名やフォルダ構成の維持が前提条件になる。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第2回は未実施。第1回では、判断基準と毎月の入力ファイルを分ける構成について確認。</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固定のチェックリストを判断基準として登録し、毎月の入力ファイルは都度読み込んで照合・修正出力する構成は実現しやすい。</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まず3種類程度のデータと固定のチェック項目で、突合結果のレポートを作成する。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8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チーム8：会議調整・タスク整理の支援</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15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段取（Dandori）AI</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④ 設計まで具体化</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未実施</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10月発表の見込み（○）の根拠：会議調整とタスク整理のどちらを軸にするか決めれば、デモを1本作れる。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会議の調整、タスクの洗い出し、レビュー観点の蓄積をAIが支援する。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Power Automate ／ Outlook ／ Teams ／ SharePoint</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予定表・会議室・メールへのアクセス権限、対象者リストの整備が必要。</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第2回は未実施。第1回では、発表する1案以外の案も並行して進めてよいかを確認。</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発表は1案だが、2案目を並行して進めることは問題ない。会議調整・タスク洗い出しを主軸に、レビュー観点の蓄積は付加価値と整理。</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会議調整とタスク洗い出しのどちらを中心にするか決め、デモの筋書きを1本作る。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9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チーム9：レビュー進捗の管理</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16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レビュー進捗管理アシスタント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③ 1案確定</a:t>
            </a:r>
          </a:p>
        </p:txBody>
      </p:sp>
      <p:sp>
        <p:nvSpPr>
          <p:cNvPr id="19" name="Rounded Rectangle 18"/>
          <p:cNvSpPr/>
          <p:nvPr/>
        </p:nvSpPr>
        <p:spPr>
          <a:xfrm>
            <a:off x="7406640" y="1243584"/>
            <a:ext cx="1234440" cy="365760"/>
          </a:xfrm>
          <a:prstGeom prst="round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中〜高</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未実施</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10月発表の見込み（○）の根拠：構想は明確。社外秘・外部連携は別課題として切り出し、範囲を絞れば発表できる。　｜　ボリューム（実業務で使い始めるまで）：大</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レビュー対象の一覧化、依頼、完了確認、リマインドまでを自動化する。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Power Automate ／ Outlook ／ Excel ／ Teams ／ 共有ファイルサーバ（制約あり）</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開発中案件・社外秘情報の扱い、共有サーバの参照、メール自動送信の可否を整理する必要がある。</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第2回は未実施。第1回では、社外秘ファイルや外部システムからの取得、メールの下書き・送付可否が論点。</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管理ツールとしての性格が強くCopilot Studioで作りやすい一方、社外秘・共有サーバ・外部システムの扱いは事務局の判断が必要。</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まずメール検知→管理表への反映→下書き作成までに絞り、共有サーバの処理は別課題として切り出す。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10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チーム10：対面会議の議事録ドラフト生成</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17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議事録ドラフト生成エージェント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④ 設計まで具体化</a:t>
            </a:r>
          </a:p>
        </p:txBody>
      </p:sp>
      <p:sp>
        <p:nvSpPr>
          <p:cNvPr id="19" name="Rounded Rectangle 18"/>
          <p:cNvSpPr/>
          <p:nvPr/>
        </p:nvSpPr>
        <p:spPr>
          <a:xfrm>
            <a:off x="7406640" y="1243584"/>
            <a:ext cx="123444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10月発表の見込み（○）の根拠：構成は明確。文字起こしの権限とドラフト品質の検証を進めれば発表できる。　｜　ボリューム（実業務で使い始めるまで）：中</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会議資料・文字起こし・出席者情報から、議事録のドラフトをAIが作成する。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Teams の文字起こし ／ SharePoint ／ 議事録フォーマット ／ Word（想定）</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文字起こしの取得権限、会議形式やライセンス、決まった書式への転記精度の検証が必要。</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第2回：Copilotチャットの回答をそのまま信じて進めてよいか。今後の定例の進め方も知りたい。</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Copilotの回答は必ず正解とは限らないため、根拠の提示を求め、実際の画面操作で確認する。8〜9月は定例で伴走予定。</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サンプルの会議資料・文字起こし・議事録テンプレートを用意し、ドラフトの品質を確認する。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8778240" cy="274320"/>
          </a:xfrm>
          <a:prstGeom prst="rect">
            <a:avLst/>
          </a:prstGeom>
          <a:noFill/>
        </p:spPr>
        <p:txBody>
          <a:bodyPr wrap="square" anchor="t" lIns="25400" rIns="25400" tIns="12700" bIns="12700">
            <a:spAutoFit/>
          </a:bodyPr>
          <a:lstStyle/>
          <a:p>
            <a:pPr algn="l">
              <a:lnSpc>
                <a:spcPct val="100000"/>
              </a:lnSpc>
            </a:pPr>
            <a:r>
              <a:rPr sz="1000" b="1" i="0">
                <a:solidFill>
                  <a:srgbClr val="BFD3E0"/>
                </a:solidFill>
                <a:latin typeface="Meiryo"/>
              </a:rPr>
              <a:t>TEAM 11 ｜ 個別状況</a:t>
            </a:r>
          </a:p>
        </p:txBody>
      </p:sp>
      <p:sp>
        <p:nvSpPr>
          <p:cNvPr id="5" name="TextBox 4"/>
          <p:cNvSpPr txBox="1"/>
          <p:nvPr/>
        </p:nvSpPr>
        <p:spPr>
          <a:xfrm>
            <a:off x="475488" y="365760"/>
            <a:ext cx="10241280" cy="548640"/>
          </a:xfrm>
          <a:prstGeom prst="rect">
            <a:avLst/>
          </a:prstGeom>
          <a:noFill/>
        </p:spPr>
        <p:txBody>
          <a:bodyPr wrap="square" anchor="ctr" lIns="25400" rIns="25400" tIns="12700" bIns="12700">
            <a:spAutoFit/>
          </a:bodyPr>
          <a:lstStyle/>
          <a:p>
            <a:pPr algn="l">
              <a:lnSpc>
                <a:spcPct val="100000"/>
              </a:lnSpc>
            </a:pPr>
            <a:r>
              <a:rPr sz="2300" b="1" i="0">
                <a:solidFill>
                  <a:srgbClr val="FFFFFF"/>
                </a:solidFill>
                <a:latin typeface="Meiryo"/>
              </a:rPr>
              <a:t>チーム11：社内LAN問い合わせチャットボット</a:t>
            </a:r>
          </a:p>
        </p:txBody>
      </p:sp>
      <p:sp>
        <p:nvSpPr>
          <p:cNvPr id="6" name="TextBox 5"/>
          <p:cNvSpPr txBox="1"/>
          <p:nvPr/>
        </p:nvSpPr>
        <p:spPr>
          <a:xfrm>
            <a:off x="10881360" y="118872"/>
            <a:ext cx="1051560" cy="320040"/>
          </a:xfrm>
          <a:prstGeom prst="rect">
            <a:avLst/>
          </a:prstGeom>
          <a:noFill/>
        </p:spPr>
        <p:txBody>
          <a:bodyPr wrap="square" anchor="t" lIns="25400" rIns="25400" tIns="12700" bIns="12700">
            <a:spAutoFit/>
          </a:bodyPr>
          <a:lstStyle/>
          <a:p>
            <a:pPr algn="r">
              <a:lnSpc>
                <a:spcPct val="100000"/>
              </a:lnSpc>
            </a:pPr>
            <a:r>
              <a:rPr sz="1100" b="1" i="0">
                <a:solidFill>
                  <a:srgbClr val="BFD3E0"/>
                </a:solidFill>
                <a:latin typeface="Meiryo"/>
              </a:rPr>
              <a:t>18 / 18</a:t>
            </a:r>
          </a:p>
        </p:txBody>
      </p:sp>
      <p:sp>
        <p:nvSpPr>
          <p:cNvPr id="7" name="TextBox 6"/>
          <p:cNvSpPr txBox="1"/>
          <p:nvPr/>
        </p:nvSpPr>
        <p:spPr>
          <a:xfrm>
            <a:off x="502920" y="6473952"/>
            <a:ext cx="8229600" cy="274320"/>
          </a:xfrm>
          <a:prstGeom prst="rect">
            <a:avLst/>
          </a:prstGeom>
          <a:noFill/>
        </p:spPr>
        <p:txBody>
          <a:bodyPr wrap="square" anchor="ctr" lIns="25400" rIns="25400" tIns="12700" bIns="12700">
            <a:spAutoFit/>
          </a:bodyPr>
          <a:lstStyle/>
          <a:p>
            <a:pPr algn="l">
              <a:lnSpc>
                <a:spcPct val="100000"/>
              </a:lnSpc>
            </a:pPr>
            <a:r>
              <a:rPr sz="850" b="0" i="0">
                <a:solidFill>
                  <a:srgbClr val="6B7480"/>
                </a:solidFill>
                <a:latin typeface="Meiryo"/>
              </a:rPr>
              <a:t>Microsoft 365 Copilot Studio 活用ハッカソン｜第2回 事前相談会 状況報告（2026年7月22日〜24日 実施）</a:t>
            </a:r>
          </a:p>
        </p:txBody>
      </p:sp>
      <p:sp>
        <p:nvSpPr>
          <p:cNvPr id="8" name="TextBox 7"/>
          <p:cNvSpPr txBox="1"/>
          <p:nvPr/>
        </p:nvSpPr>
        <p:spPr>
          <a:xfrm>
            <a:off x="9265615" y="6473952"/>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6B7480"/>
                </a:solidFill>
                <a:latin typeface="Meiryo"/>
              </a:rPr>
              <a:t>社外秘 / Confidential</a:t>
            </a:r>
          </a:p>
        </p:txBody>
      </p:sp>
      <p:sp>
        <p:nvSpPr>
          <p:cNvPr id="9" name="Rectangle 8"/>
          <p:cNvSpPr/>
          <p:nvPr/>
        </p:nvSpPr>
        <p:spPr>
          <a:xfrm>
            <a:off x="502920" y="1188720"/>
            <a:ext cx="11201400" cy="47548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188720"/>
            <a:ext cx="109728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エージェント名</a:t>
            </a:r>
          </a:p>
        </p:txBody>
      </p:sp>
      <p:sp>
        <p:nvSpPr>
          <p:cNvPr id="11" name="TextBox 10"/>
          <p:cNvSpPr txBox="1"/>
          <p:nvPr/>
        </p:nvSpPr>
        <p:spPr>
          <a:xfrm>
            <a:off x="1783080" y="1188720"/>
            <a:ext cx="2468880" cy="475488"/>
          </a:xfrm>
          <a:prstGeom prst="rect">
            <a:avLst/>
          </a:prstGeom>
          <a:noFill/>
        </p:spPr>
        <p:txBody>
          <a:bodyPr wrap="square" anchor="ctr" lIns="25400" rIns="25400" tIns="12700" bIns="12700">
            <a:spAutoFit/>
          </a:bodyPr>
          <a:lstStyle/>
          <a:p>
            <a:pPr algn="l">
              <a:lnSpc>
                <a:spcPct val="100000"/>
              </a:lnSpc>
            </a:pPr>
            <a:r>
              <a:rPr sz="950" b="1" i="0">
                <a:solidFill>
                  <a:srgbClr val="1F385C"/>
                </a:solidFill>
                <a:latin typeface="Meiryo"/>
              </a:rPr>
              <a:t>社内LAN問い合わせチャットボット</a:t>
            </a:r>
          </a:p>
        </p:txBody>
      </p:sp>
      <p:sp>
        <p:nvSpPr>
          <p:cNvPr id="12" name="TextBox 11"/>
          <p:cNvSpPr txBox="1"/>
          <p:nvPr/>
        </p:nvSpPr>
        <p:spPr>
          <a:xfrm>
            <a:off x="4343400" y="1188720"/>
            <a:ext cx="502920" cy="475488"/>
          </a:xfrm>
          <a:prstGeom prst="rect">
            <a:avLst/>
          </a:prstGeom>
          <a:noFill/>
        </p:spPr>
        <p:txBody>
          <a:bodyPr wrap="square" anchor="ctr" lIns="25400" rIns="25400" tIns="12700" bIns="12700">
            <a:spAutoFit/>
          </a:bodyPr>
          <a:lstStyle/>
          <a:p>
            <a:pPr algn="l">
              <a:lnSpc>
                <a:spcPct val="100000"/>
              </a:lnSpc>
            </a:pPr>
            <a:r>
              <a:rPr sz="800" b="1" i="0">
                <a:solidFill>
                  <a:srgbClr val="6B7480"/>
                </a:solidFill>
                <a:latin typeface="Meiryo"/>
              </a:rPr>
              <a:t>進捗</a:t>
            </a:r>
          </a:p>
        </p:txBody>
      </p:sp>
      <p:sp>
        <p:nvSpPr>
          <p:cNvPr id="13" name="Chevron 12"/>
          <p:cNvSpPr/>
          <p:nvPr/>
        </p:nvSpPr>
        <p:spPr>
          <a:xfrm>
            <a:off x="4937760"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5152644"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5367528"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5582412" y="1353312"/>
            <a:ext cx="237744"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5797296" y="1353312"/>
            <a:ext cx="237744"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1188720"/>
            <a:ext cx="1280160" cy="475488"/>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④ 設計まで具体化</a:t>
            </a:r>
          </a:p>
        </p:txBody>
      </p:sp>
      <p:sp>
        <p:nvSpPr>
          <p:cNvPr id="19" name="Rounded Rectangle 18"/>
          <p:cNvSpPr/>
          <p:nvPr/>
        </p:nvSpPr>
        <p:spPr>
          <a:xfrm>
            <a:off x="7406640" y="1243584"/>
            <a:ext cx="1234440" cy="365760"/>
          </a:xfrm>
          <a:prstGeom prst="round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難易度 中〜高</a:t>
            </a:r>
          </a:p>
        </p:txBody>
      </p:sp>
      <p:sp>
        <p:nvSpPr>
          <p:cNvPr id="20" name="Rounded Rectangle 19"/>
          <p:cNvSpPr/>
          <p:nvPr/>
        </p:nvSpPr>
        <p:spPr>
          <a:xfrm>
            <a:off x="8732520" y="1243584"/>
            <a:ext cx="1325880" cy="365760"/>
          </a:xfrm>
          <a:prstGeom prst="round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10月見込み ○</a:t>
            </a:r>
          </a:p>
        </p:txBody>
      </p:sp>
      <p:sp>
        <p:nvSpPr>
          <p:cNvPr id="21" name="Rounded Rectangle 20"/>
          <p:cNvSpPr/>
          <p:nvPr/>
        </p:nvSpPr>
        <p:spPr>
          <a:xfrm>
            <a:off x="10149840" y="1243584"/>
            <a:ext cx="1463040" cy="365760"/>
          </a:xfrm>
          <a:prstGeom prst="round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900" b="1">
                <a:solidFill>
                  <a:srgbClr val="FFFFFF"/>
                </a:solidFill>
                <a:latin typeface="Meiryo"/>
              </a:rPr>
              <a:t>第2回 実施済</a:t>
            </a:r>
          </a:p>
        </p:txBody>
      </p:sp>
      <p:sp>
        <p:nvSpPr>
          <p:cNvPr id="22" name="TextBox 21"/>
          <p:cNvSpPr txBox="1"/>
          <p:nvPr/>
        </p:nvSpPr>
        <p:spPr>
          <a:xfrm>
            <a:off x="502920" y="1764792"/>
            <a:ext cx="11201400" cy="201168"/>
          </a:xfrm>
          <a:prstGeom prst="rect">
            <a:avLst/>
          </a:prstGeom>
          <a:noFill/>
        </p:spPr>
        <p:txBody>
          <a:bodyPr wrap="square" anchor="ctr" lIns="25400" rIns="25400" tIns="12700" bIns="12700">
            <a:spAutoFit/>
          </a:bodyPr>
          <a:lstStyle/>
          <a:p>
            <a:pPr algn="l">
              <a:lnSpc>
                <a:spcPct val="100000"/>
              </a:lnSpc>
            </a:pPr>
            <a:r>
              <a:rPr sz="860" b="0" i="0">
                <a:solidFill>
                  <a:srgbClr val="252A31"/>
                </a:solidFill>
                <a:latin typeface="Meiryo"/>
              </a:rPr>
              <a:t>10月発表の見込み（○）の根拠：構成・前提は明確。FAQ整備・本番移行・運用項目の洗い出しを進めれば発表できる。　｜　ボリューム（実業務で使い始めるまで）：大</a:t>
            </a:r>
          </a:p>
        </p:txBody>
      </p:sp>
      <p:sp>
        <p:nvSpPr>
          <p:cNvPr id="23" name="Rectangle 22"/>
          <p:cNvSpPr/>
          <p:nvPr/>
        </p:nvSpPr>
        <p:spPr>
          <a:xfrm>
            <a:off x="502920"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048256"/>
            <a:ext cx="3593592"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取り組み内容</a:t>
            </a:r>
          </a:p>
        </p:txBody>
      </p:sp>
      <p:sp>
        <p:nvSpPr>
          <p:cNvPr id="26" name="TextBox 25"/>
          <p:cNvSpPr txBox="1"/>
          <p:nvPr/>
        </p:nvSpPr>
        <p:spPr>
          <a:xfrm>
            <a:off x="649224"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社内LANに関するFAQや申請種別の案内を、チャットボットが一次受付する。</a:t>
            </a:r>
          </a:p>
        </p:txBody>
      </p:sp>
      <p:sp>
        <p:nvSpPr>
          <p:cNvPr id="27" name="Rectangle 26"/>
          <p:cNvSpPr/>
          <p:nvPr/>
        </p:nvSpPr>
        <p:spPr>
          <a:xfrm>
            <a:off x="4306824"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06824" y="2048256"/>
            <a:ext cx="3593592"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3128"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使用アプリ・データ（想定）</a:t>
            </a:r>
          </a:p>
        </p:txBody>
      </p:sp>
      <p:sp>
        <p:nvSpPr>
          <p:cNvPr id="30" name="TextBox 29"/>
          <p:cNvSpPr txBox="1"/>
          <p:nvPr/>
        </p:nvSpPr>
        <p:spPr>
          <a:xfrm>
            <a:off x="4453128"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Copilot Studio ／ SharePoint（参照資料） ／ Teams またはチャット画面 ／ FAQ</a:t>
            </a:r>
          </a:p>
        </p:txBody>
      </p:sp>
      <p:sp>
        <p:nvSpPr>
          <p:cNvPr id="31" name="Rectangle 30"/>
          <p:cNvSpPr/>
          <p:nvPr/>
        </p:nvSpPr>
        <p:spPr>
          <a:xfrm>
            <a:off x="8110728" y="2048256"/>
            <a:ext cx="3593592" cy="142646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0728" y="2048256"/>
            <a:ext cx="3593592" cy="347472"/>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2" y="2084832"/>
            <a:ext cx="3300984"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リスク・論点</a:t>
            </a:r>
          </a:p>
        </p:txBody>
      </p:sp>
      <p:sp>
        <p:nvSpPr>
          <p:cNvPr id="34" name="TextBox 33"/>
          <p:cNvSpPr txBox="1"/>
          <p:nvPr/>
        </p:nvSpPr>
        <p:spPr>
          <a:xfrm>
            <a:off x="8257032" y="2468880"/>
            <a:ext cx="3300984" cy="914400"/>
          </a:xfrm>
          <a:prstGeom prst="rect">
            <a:avLst/>
          </a:prstGeom>
          <a:noFill/>
        </p:spPr>
        <p:txBody>
          <a:bodyPr wrap="square" anchor="t" lIns="25400" rIns="25400" tIns="12700" bIns="12700">
            <a:spAutoFit/>
          </a:bodyPr>
          <a:lstStyle/>
          <a:p>
            <a:pPr algn="l">
              <a:lnSpc>
                <a:spcPct val="114000"/>
              </a:lnSpc>
            </a:pPr>
            <a:r>
              <a:rPr sz="960" b="0" i="0">
                <a:solidFill>
                  <a:srgbClr val="252A31"/>
                </a:solidFill>
                <a:latin typeface="Meiryo"/>
              </a:rPr>
              <a:t>FAQの整備状況と参照資料の品質、本番環境への移行、利用ルールと運用保守が焦点。</a:t>
            </a:r>
          </a:p>
        </p:txBody>
      </p:sp>
      <p:sp>
        <p:nvSpPr>
          <p:cNvPr id="35" name="Rectangle 34"/>
          <p:cNvSpPr/>
          <p:nvPr/>
        </p:nvSpPr>
        <p:spPr>
          <a:xfrm>
            <a:off x="502920"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639312"/>
            <a:ext cx="5504688" cy="347472"/>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相談された内容</a:t>
            </a:r>
          </a:p>
        </p:txBody>
      </p:sp>
      <p:sp>
        <p:nvSpPr>
          <p:cNvPr id="38" name="TextBox 37"/>
          <p:cNvSpPr txBox="1"/>
          <p:nvPr/>
        </p:nvSpPr>
        <p:spPr>
          <a:xfrm>
            <a:off x="649224"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第2回：開発環境から本番環境への移行、年度末の展開、手順書・利用ルールを社長報告までに完成させるべきか。</a:t>
            </a:r>
          </a:p>
        </p:txBody>
      </p:sp>
      <p:sp>
        <p:nvSpPr>
          <p:cNvPr id="39" name="Rectangle 38"/>
          <p:cNvSpPr/>
          <p:nvPr/>
        </p:nvSpPr>
        <p:spPr>
          <a:xfrm>
            <a:off x="6190488" y="3639312"/>
            <a:ext cx="5504688"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0488" y="3639312"/>
            <a:ext cx="5504688" cy="347472"/>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36792" y="3675888"/>
            <a:ext cx="5212080" cy="274320"/>
          </a:xfrm>
          <a:prstGeom prst="rect">
            <a:avLst/>
          </a:prstGeom>
          <a:noFill/>
        </p:spPr>
        <p:txBody>
          <a:bodyPr wrap="square" anchor="ctr" lIns="25400" rIns="25400" tIns="12700" bIns="12700">
            <a:spAutoFit/>
          </a:bodyPr>
          <a:lstStyle/>
          <a:p>
            <a:pPr algn="l">
              <a:lnSpc>
                <a:spcPct val="100000"/>
              </a:lnSpc>
            </a:pPr>
            <a:r>
              <a:rPr sz="1050" b="1" i="0">
                <a:solidFill>
                  <a:srgbClr val="FFFFFF"/>
                </a:solidFill>
                <a:latin typeface="Meiryo"/>
              </a:rPr>
              <a:t>助言した内容</a:t>
            </a:r>
          </a:p>
        </p:txBody>
      </p:sp>
      <p:sp>
        <p:nvSpPr>
          <p:cNvPr id="42" name="TextBox 41"/>
          <p:cNvSpPr txBox="1"/>
          <p:nvPr/>
        </p:nvSpPr>
        <p:spPr>
          <a:xfrm>
            <a:off x="6336792" y="4041648"/>
            <a:ext cx="5212080" cy="877824"/>
          </a:xfrm>
          <a:prstGeom prst="rect">
            <a:avLst/>
          </a:prstGeom>
          <a:noFill/>
        </p:spPr>
        <p:txBody>
          <a:bodyPr wrap="square" anchor="t" lIns="25400" rIns="25400" tIns="12700" bIns="12700">
            <a:spAutoFit/>
          </a:bodyPr>
          <a:lstStyle/>
          <a:p>
            <a:pPr algn="l">
              <a:lnSpc>
                <a:spcPct val="114000"/>
              </a:lnSpc>
            </a:pPr>
            <a:r>
              <a:rPr sz="940" b="0" i="0">
                <a:solidFill>
                  <a:srgbClr val="252A31"/>
                </a:solidFill>
                <a:latin typeface="Meiryo"/>
              </a:rPr>
              <a:t>手順書は完成していれば望ましいが、10月時点では準備中でも可。項目の洗い出しと全体量の把握が重要。本番移行は社内の申請フローを要確認。</a:t>
            </a:r>
          </a:p>
        </p:txBody>
      </p:sp>
      <p:sp>
        <p:nvSpPr>
          <p:cNvPr id="43" name="Rectangle 42"/>
          <p:cNvSpPr/>
          <p:nvPr/>
        </p:nvSpPr>
        <p:spPr>
          <a:xfrm>
            <a:off x="502920" y="5175504"/>
            <a:ext cx="112014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3232" y="5248656"/>
            <a:ext cx="10881360" cy="256032"/>
          </a:xfrm>
          <a:prstGeom prst="rect">
            <a:avLst/>
          </a:prstGeom>
          <a:noFill/>
        </p:spPr>
        <p:txBody>
          <a:bodyPr wrap="square" anchor="t" lIns="25400" rIns="25400" tIns="12700" bIns="12700">
            <a:spAutoFit/>
          </a:bodyPr>
          <a:lstStyle/>
          <a:p>
            <a:pPr algn="l">
              <a:lnSpc>
                <a:spcPct val="100000"/>
              </a:lnSpc>
            </a:pPr>
            <a:r>
              <a:rPr sz="1050" b="1" i="0">
                <a:solidFill>
                  <a:srgbClr val="1F385C"/>
                </a:solidFill>
                <a:latin typeface="Meiryo"/>
              </a:rPr>
              <a:t>次アクション</a:t>
            </a:r>
          </a:p>
        </p:txBody>
      </p:sp>
      <p:sp>
        <p:nvSpPr>
          <p:cNvPr id="45" name="TextBox 44"/>
          <p:cNvSpPr txBox="1"/>
          <p:nvPr/>
        </p:nvSpPr>
        <p:spPr>
          <a:xfrm>
            <a:off x="713232" y="5522976"/>
            <a:ext cx="10881360" cy="411480"/>
          </a:xfrm>
          <a:prstGeom prst="rect">
            <a:avLst/>
          </a:prstGeom>
          <a:noFill/>
        </p:spPr>
        <p:txBody>
          <a:bodyPr wrap="square" anchor="t" lIns="25400" rIns="25400" tIns="12700" bIns="12700">
            <a:spAutoFit/>
          </a:bodyPr>
          <a:lstStyle/>
          <a:p>
            <a:pPr algn="l">
              <a:lnSpc>
                <a:spcPct val="110000"/>
              </a:lnSpc>
            </a:pPr>
            <a:r>
              <a:rPr sz="1019" b="0" i="0">
                <a:solidFill>
                  <a:srgbClr val="252A31"/>
                </a:solidFill>
                <a:latin typeface="Meiryo"/>
              </a:rPr>
              <a:t>FAQをCopilot Studioが扱いやすい形に整備し、段階展開（第1〜第3フェーズ）の運用項目を洗い出す。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