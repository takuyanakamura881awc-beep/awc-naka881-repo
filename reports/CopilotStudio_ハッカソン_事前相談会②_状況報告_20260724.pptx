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MICROSOFT 365 COPILOT STUDIO 活用ハッカソン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第2回 事前相談会の目的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80160"/>
            <a:ext cx="111556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252A31"/>
                </a:solidFill>
                <a:latin typeface="Meiryo"/>
              </a:rPr>
              <a:t>7月22日〜24日に実施した第2回 事前相談会では、第1回後に提出された各チームの企画書を前提に、構築フェーズへ進むための「進捗確認」「技術論点の整理」「ネクストアクションの明確化」を行った。本資料では、各チームの状況を一覧・個票で整理し、あわせてメンター担当検討の材料を提示する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77440"/>
            <a:ext cx="5394960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77440"/>
            <a:ext cx="5394960" cy="77724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2468880"/>
            <a:ext cx="4846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</a:rPr>
              <a:t>進行面 ｜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72491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eiryo"/>
              </a:rPr>
              <a:t>進捗確認・伴走支援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3383280"/>
            <a:ext cx="128016" cy="128016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3291840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各チームの進捗状況の確認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3575304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1案の具体化・構築着手に向けた準備度を確認。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133088"/>
            <a:ext cx="128016" cy="128016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0704" y="4041648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ネクストアクションの整理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" y="4325112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8月デモ化／9月発表準備／10月役職者向け発表に向け優先順位を明確化。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377440"/>
            <a:ext cx="5394960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377440"/>
            <a:ext cx="5394960" cy="7772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8" y="2468880"/>
            <a:ext cx="4846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</a:rPr>
              <a:t>技術面 ｜ TECHNOLOGY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2724912"/>
            <a:ext cx="4846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eiryo"/>
              </a:rPr>
              <a:t>適合性・実現可能性の助言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1968" y="3383280"/>
            <a:ext cx="128016" cy="12801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3291840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Copilot Studio／M365アプリの使い分け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1424" y="3575304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CS・Power Automate・SharePoint・Teams・Forms・Outlook等を助言。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01968" y="4133088"/>
            <a:ext cx="128016" cy="128016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1424" y="4041648"/>
            <a:ext cx="4572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1F385C"/>
                </a:solidFill>
                <a:latin typeface="Meiryo"/>
              </a:rPr>
              <a:t>実現可能性・制約の早期論点化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21424" y="4325112"/>
            <a:ext cx="461772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外部Web参照・M365外連携・共有フォルダ・情報区分・本番移行など。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074920"/>
            <a:ext cx="11064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B7480"/>
                </a:solidFill>
                <a:latin typeface="Meiryo"/>
              </a:rPr>
              <a:t>第2回は「企画書提出後の棚卸し」。特に外部参照禁止・M365外連携・本番移行・手順書整備など、事務局判断や横断整理が必要な論点が増加。本資料では難易度・使用アプリ・メンター担当案も比較整理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6B7480"/>
                </a:solidFill>
                <a:latin typeface="Meiryo"/>
              </a:rPr>
              <a:t>※ 特定案への誘導は行わず、各チームの主体的な意思決定を尊重しながら技術・運用・ガバナンス面の助言を実施。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PROGRESS SUMMARY ｜ 全11チーム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各チームの状況一覧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112471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全11チームが企画書提出を経て原則1案に整理済み。進捗レベル（Lv1〜5）・難易度・メンター担当案とあわせて一覧化。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46304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6B7480"/>
                </a:solidFill>
                <a:latin typeface="Meiryo"/>
              </a:rPr>
              <a:t>進捗レベル ▶ Lv1:未絞込／Lv2:2案まで／Lv3:1案確定・理解途上／Lv4:To-Be・アーキ具体化／Lv5:定量効果まで概ね完成　　第2回実施済み＝1・2・3・4・5・10・11（他は第1回＋企画書で暫定）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02920" y="1975104"/>
          <a:ext cx="11201399" cy="4503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"/>
                <a:gridCol w="1874519"/>
                <a:gridCol w="3063240"/>
                <a:gridCol w="3319272"/>
                <a:gridCol w="960120"/>
                <a:gridCol w="1417320"/>
              </a:tblGrid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チーム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進捗レベル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案概要（エージェント名）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第2回の主な論点・相談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難易度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メンター案</a:t>
                      </a:r>
                    </a:p>
                  </a:txBody>
                  <a:tcPr marL="63500" marR="63500" marT="25400" marB="25400" anchor="ctr">
                    <a:solidFill>
                      <a:srgbClr val="1F385C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様式チェックAI（カクニンジャ）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構築の優先順位・開発フォーマット/スケジュール提示の要望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45A8C"/>
                          </a:solidFill>
                          <a:latin typeface="Meiryo"/>
                        </a:rPr>
                        <a:t>中村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T2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受付Cエラー原因ナビ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設計相談用のプロンプト見本が欲しい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45A8C"/>
                          </a:solidFill>
                          <a:latin typeface="Meiryo"/>
                        </a:rPr>
                        <a:t>中村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加盟店防衛マネジメント支援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外部情報参照禁止のリスクと代替策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7D5B"/>
                          </a:solidFill>
                          <a:latin typeface="Meiryo"/>
                        </a:rPr>
                        <a:t>甲佐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T4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市場・企業分析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外部Web参照禁止で現行案がガイドラインに抵触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7D5B"/>
                          </a:solidFill>
                          <a:latin typeface="Meiryo"/>
                        </a:rPr>
                        <a:t>甲佐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自動リマインド（おはようリマインドくん）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タスク列の作り方・更新に伴う運用保守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45A8C"/>
                          </a:solidFill>
                          <a:latin typeface="Meiryo"/>
                        </a:rPr>
                        <a:t>中村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T6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PPT資料作成・会議招集（Forecast ONE）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（第2回未実施）Automate/CSの使い分け・役割分担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7D5B"/>
                          </a:solidFill>
                          <a:latin typeface="Meiryo"/>
                        </a:rPr>
                        <a:t>甲佐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課金精算チェック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（第2回未実施）ナレッジと入力ファイルの分離構成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45A8C"/>
                          </a:solidFill>
                          <a:latin typeface="Meiryo"/>
                        </a:rPr>
                        <a:t>中村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T8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段取りAI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（第2回未実施）1案以外を裏で進めてよいか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45A8C"/>
                          </a:solidFill>
                          <a:latin typeface="Meiryo"/>
                        </a:rPr>
                        <a:t>中村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レビュー進捗管理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6B7480"/>
                          </a:solidFill>
                          <a:latin typeface="Meiryo"/>
                        </a:rPr>
                        <a:t>（第2回未実施）社外秘/Salesforce/メール送付可否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7D5B"/>
                          </a:solidFill>
                          <a:latin typeface="Meiryo"/>
                        </a:rPr>
                        <a:t>甲佐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T10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議事録ドラフト生成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Copilot回答の信頼性・メンター定例の進め方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45A8C"/>
                          </a:solidFill>
                          <a:latin typeface="Meiryo"/>
                        </a:rPr>
                        <a:t>中村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7947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50" b="1">
                          <a:solidFill>
                            <a:srgbClr val="1F385C"/>
                          </a:solidFill>
                          <a:latin typeface="Meiryo"/>
                        </a:rPr>
                        <a:t>T11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1000" b="0">
                          <a:solidFill>
                            <a:srgbClr val="252A31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社内LAN問合せBot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50" b="0">
                          <a:solidFill>
                            <a:srgbClr val="252A31"/>
                          </a:solidFill>
                          <a:latin typeface="Meiryo"/>
                        </a:rPr>
                        <a:t>本番環境移行・手順書/利用ルールの完成時期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7D5B"/>
                          </a:solidFill>
                          <a:latin typeface="Meiryo"/>
                        </a:rPr>
                        <a:t>甲佐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Chevron 14"/>
          <p:cNvSpPr/>
          <p:nvPr/>
        </p:nvSpPr>
        <p:spPr>
          <a:xfrm>
            <a:off x="1179576" y="242087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1399032" y="242087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1618488" y="242087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1837944" y="242087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evron 18"/>
          <p:cNvSpPr/>
          <p:nvPr/>
        </p:nvSpPr>
        <p:spPr>
          <a:xfrm>
            <a:off x="2057400" y="242087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04288" y="2393442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1" name="Chevron 20"/>
          <p:cNvSpPr/>
          <p:nvPr/>
        </p:nvSpPr>
        <p:spPr>
          <a:xfrm>
            <a:off x="1179576" y="2800350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evron 21"/>
          <p:cNvSpPr/>
          <p:nvPr/>
        </p:nvSpPr>
        <p:spPr>
          <a:xfrm>
            <a:off x="1399032" y="2800350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1618488" y="2800350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evron 23"/>
          <p:cNvSpPr/>
          <p:nvPr/>
        </p:nvSpPr>
        <p:spPr>
          <a:xfrm>
            <a:off x="1837944" y="2800350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evron 24"/>
          <p:cNvSpPr/>
          <p:nvPr/>
        </p:nvSpPr>
        <p:spPr>
          <a:xfrm>
            <a:off x="2057400" y="2800350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04288" y="2772918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7" name="Chevron 26"/>
          <p:cNvSpPr/>
          <p:nvPr/>
        </p:nvSpPr>
        <p:spPr>
          <a:xfrm>
            <a:off x="1179576" y="317982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Chevron 27"/>
          <p:cNvSpPr/>
          <p:nvPr/>
        </p:nvSpPr>
        <p:spPr>
          <a:xfrm>
            <a:off x="1399032" y="317982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evron 28"/>
          <p:cNvSpPr/>
          <p:nvPr/>
        </p:nvSpPr>
        <p:spPr>
          <a:xfrm>
            <a:off x="1618488" y="317982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Chevron 29"/>
          <p:cNvSpPr/>
          <p:nvPr/>
        </p:nvSpPr>
        <p:spPr>
          <a:xfrm>
            <a:off x="1837944" y="3179826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Chevron 30"/>
          <p:cNvSpPr/>
          <p:nvPr/>
        </p:nvSpPr>
        <p:spPr>
          <a:xfrm>
            <a:off x="2057400" y="3179826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04288" y="3152394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33" name="Chevron 32"/>
          <p:cNvSpPr/>
          <p:nvPr/>
        </p:nvSpPr>
        <p:spPr>
          <a:xfrm>
            <a:off x="1179576" y="3559302"/>
            <a:ext cx="256032" cy="146304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1399032" y="3559302"/>
            <a:ext cx="256032" cy="146304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Chevron 34"/>
          <p:cNvSpPr/>
          <p:nvPr/>
        </p:nvSpPr>
        <p:spPr>
          <a:xfrm>
            <a:off x="1618488" y="355930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hevron 35"/>
          <p:cNvSpPr/>
          <p:nvPr/>
        </p:nvSpPr>
        <p:spPr>
          <a:xfrm>
            <a:off x="1837944" y="355930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2057400" y="355930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304288" y="3531870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C98A1B"/>
                </a:solidFill>
                <a:latin typeface="Meiryo"/>
              </a:rPr>
              <a:t>Lv2</a:t>
            </a:r>
          </a:p>
        </p:txBody>
      </p:sp>
      <p:sp>
        <p:nvSpPr>
          <p:cNvPr id="39" name="Chevron 38"/>
          <p:cNvSpPr/>
          <p:nvPr/>
        </p:nvSpPr>
        <p:spPr>
          <a:xfrm>
            <a:off x="1179576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1399032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hevron 40"/>
          <p:cNvSpPr/>
          <p:nvPr/>
        </p:nvSpPr>
        <p:spPr>
          <a:xfrm>
            <a:off x="1618488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hevron 41"/>
          <p:cNvSpPr/>
          <p:nvPr/>
        </p:nvSpPr>
        <p:spPr>
          <a:xfrm>
            <a:off x="1837944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2057400" y="3938778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04288" y="3911346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45" name="Chevron 44"/>
          <p:cNvSpPr/>
          <p:nvPr/>
        </p:nvSpPr>
        <p:spPr>
          <a:xfrm>
            <a:off x="1179576" y="431825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1399032" y="431825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Chevron 46"/>
          <p:cNvSpPr/>
          <p:nvPr/>
        </p:nvSpPr>
        <p:spPr>
          <a:xfrm>
            <a:off x="1618488" y="431825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hevron 47"/>
          <p:cNvSpPr/>
          <p:nvPr/>
        </p:nvSpPr>
        <p:spPr>
          <a:xfrm>
            <a:off x="1837944" y="431825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2057400" y="431825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304288" y="4290822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51" name="Chevron 50"/>
          <p:cNvSpPr/>
          <p:nvPr/>
        </p:nvSpPr>
        <p:spPr>
          <a:xfrm>
            <a:off x="1179576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Chevron 51"/>
          <p:cNvSpPr/>
          <p:nvPr/>
        </p:nvSpPr>
        <p:spPr>
          <a:xfrm>
            <a:off x="1399032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hevron 52"/>
          <p:cNvSpPr/>
          <p:nvPr/>
        </p:nvSpPr>
        <p:spPr>
          <a:xfrm>
            <a:off x="1618488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hevron 53"/>
          <p:cNvSpPr/>
          <p:nvPr/>
        </p:nvSpPr>
        <p:spPr>
          <a:xfrm>
            <a:off x="1837944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hevron 54"/>
          <p:cNvSpPr/>
          <p:nvPr/>
        </p:nvSpPr>
        <p:spPr>
          <a:xfrm>
            <a:off x="2057400" y="4697730"/>
            <a:ext cx="256032" cy="146304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04288" y="4670298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57" name="Chevron 56"/>
          <p:cNvSpPr/>
          <p:nvPr/>
        </p:nvSpPr>
        <p:spPr>
          <a:xfrm>
            <a:off x="1179576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hevron 57"/>
          <p:cNvSpPr/>
          <p:nvPr/>
        </p:nvSpPr>
        <p:spPr>
          <a:xfrm>
            <a:off x="1399032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evron 58"/>
          <p:cNvSpPr/>
          <p:nvPr/>
        </p:nvSpPr>
        <p:spPr>
          <a:xfrm>
            <a:off x="1618488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hevron 59"/>
          <p:cNvSpPr/>
          <p:nvPr/>
        </p:nvSpPr>
        <p:spPr>
          <a:xfrm>
            <a:off x="1837944" y="5077206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hevron 60"/>
          <p:cNvSpPr/>
          <p:nvPr/>
        </p:nvSpPr>
        <p:spPr>
          <a:xfrm>
            <a:off x="2057400" y="5077206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304288" y="5049774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63" name="Chevron 62"/>
          <p:cNvSpPr/>
          <p:nvPr/>
        </p:nvSpPr>
        <p:spPr>
          <a:xfrm>
            <a:off x="1179576" y="5456682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hevron 63"/>
          <p:cNvSpPr/>
          <p:nvPr/>
        </p:nvSpPr>
        <p:spPr>
          <a:xfrm>
            <a:off x="1399032" y="5456682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hevron 64"/>
          <p:cNvSpPr/>
          <p:nvPr/>
        </p:nvSpPr>
        <p:spPr>
          <a:xfrm>
            <a:off x="1618488" y="5456682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hevron 65"/>
          <p:cNvSpPr/>
          <p:nvPr/>
        </p:nvSpPr>
        <p:spPr>
          <a:xfrm>
            <a:off x="1837944" y="545668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hevron 66"/>
          <p:cNvSpPr/>
          <p:nvPr/>
        </p:nvSpPr>
        <p:spPr>
          <a:xfrm>
            <a:off x="2057400" y="5456682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304288" y="5429250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69" name="Chevron 68"/>
          <p:cNvSpPr/>
          <p:nvPr/>
        </p:nvSpPr>
        <p:spPr>
          <a:xfrm>
            <a:off x="1179576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Chevron 69"/>
          <p:cNvSpPr/>
          <p:nvPr/>
        </p:nvSpPr>
        <p:spPr>
          <a:xfrm>
            <a:off x="1399032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Chevron 70"/>
          <p:cNvSpPr/>
          <p:nvPr/>
        </p:nvSpPr>
        <p:spPr>
          <a:xfrm>
            <a:off x="1618488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Chevron 71"/>
          <p:cNvSpPr/>
          <p:nvPr/>
        </p:nvSpPr>
        <p:spPr>
          <a:xfrm>
            <a:off x="1837944" y="5836158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Chevron 72"/>
          <p:cNvSpPr/>
          <p:nvPr/>
        </p:nvSpPr>
        <p:spPr>
          <a:xfrm>
            <a:off x="2057400" y="5836158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304288" y="5808726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75" name="Chevron 74"/>
          <p:cNvSpPr/>
          <p:nvPr/>
        </p:nvSpPr>
        <p:spPr>
          <a:xfrm>
            <a:off x="1179576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Chevron 75"/>
          <p:cNvSpPr/>
          <p:nvPr/>
        </p:nvSpPr>
        <p:spPr>
          <a:xfrm>
            <a:off x="1399032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hevron 76"/>
          <p:cNvSpPr/>
          <p:nvPr/>
        </p:nvSpPr>
        <p:spPr>
          <a:xfrm>
            <a:off x="1618488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Chevron 77"/>
          <p:cNvSpPr/>
          <p:nvPr/>
        </p:nvSpPr>
        <p:spPr>
          <a:xfrm>
            <a:off x="1837944" y="6215634"/>
            <a:ext cx="256032" cy="146304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Chevron 78"/>
          <p:cNvSpPr/>
          <p:nvPr/>
        </p:nvSpPr>
        <p:spPr>
          <a:xfrm>
            <a:off x="2057400" y="6215634"/>
            <a:ext cx="256032" cy="146304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304288" y="6188202"/>
            <a:ext cx="457200" cy="2194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MENTOR ASSIGNMENT ｜ 担当決めの検討材料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メンター担当検討（難易度・使用アプリ比較）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52144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各チームに中村・甲佐のいずれかがメンターとして伴走予定。難易度・使用アプリの種類・外部連携/制約の重さを比較し、担当案を提示（入れ替え可）。難易度・制約の重いチームを甲佐、M365標準・業務設計中心を中村に寄せた配分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737360"/>
          <a:ext cx="11201400" cy="39136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2240280"/>
                <a:gridCol w="868680"/>
                <a:gridCol w="2880360"/>
                <a:gridCol w="3108960"/>
                <a:gridCol w="1600200"/>
              </a:tblGrid>
              <a:tr h="292608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チーム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案概要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難易度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主要アプリ（種類数）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外部連携・制約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FFFFFF"/>
                          </a:solidFill>
                          <a:latin typeface="Meiryo"/>
                        </a:rPr>
                        <a:t>メンター案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60" b="1">
                          <a:solidFill>
                            <a:srgbClr val="252A31"/>
                          </a:solidFill>
                          <a:latin typeface="Meiryo"/>
                        </a:rPr>
                        <a:t>様式チェックAI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19" b="0">
                          <a:solidFill>
                            <a:srgbClr val="252A31"/>
                          </a:solidFill>
                          <a:latin typeface="Meiryo"/>
                        </a:rPr>
                        <a:t>CS・Chat・Excel・SP（4）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M365内中心／判定基準の作り込みが肝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45A8C"/>
                          </a:solidFill>
                          <a:latin typeface="Meiryo"/>
                        </a:rPr>
                        <a:t>中村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T2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60" b="1">
                          <a:solidFill>
                            <a:srgbClr val="252A31"/>
                          </a:solidFill>
                          <a:latin typeface="Meiryo"/>
                        </a:rPr>
                        <a:t>受付Cエラー原因ナビ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19" b="0">
                          <a:solidFill>
                            <a:srgbClr val="252A31"/>
                          </a:solidFill>
                          <a:latin typeface="Meiryo"/>
                        </a:rPr>
                        <a:t>CS・SP・Teams・PA（4）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FAQ・ガイド整備が成否を左右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45A8C"/>
                          </a:solidFill>
                          <a:latin typeface="Meiryo"/>
                        </a:rPr>
                        <a:t>中村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T3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60" b="1">
                          <a:solidFill>
                            <a:srgbClr val="252A31"/>
                          </a:solidFill>
                          <a:latin typeface="Meiryo"/>
                        </a:rPr>
                        <a:t>加盟店防衛マネジメント支援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19" b="0">
                          <a:solidFill>
                            <a:srgbClr val="252A31"/>
                          </a:solidFill>
                          <a:latin typeface="Meiryo"/>
                        </a:rPr>
                        <a:t>PA・PQuery・SP・PBI・CS・SF等（6+）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外部Web・Salesforce等の取得制約が大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7D5B"/>
                          </a:solidFill>
                          <a:latin typeface="Meiryo"/>
                        </a:rPr>
                        <a:t>甲佐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T4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60" b="1">
                          <a:solidFill>
                            <a:srgbClr val="252A31"/>
                          </a:solidFill>
                          <a:latin typeface="Meiryo"/>
                        </a:rPr>
                        <a:t>市場・企業分析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B03A2E"/>
                          </a:solidFill>
                          <a:latin typeface="Meiryo"/>
                        </a:rPr>
                        <a:t>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19" b="0">
                          <a:solidFill>
                            <a:srgbClr val="252A31"/>
                          </a:solidFill>
                          <a:latin typeface="Meiryo"/>
                        </a:rPr>
                        <a:t>CS・PA・SP・Teams・Word/PPT（5-6）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外部Web参照禁止で案の再設計が必要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7D5B"/>
                          </a:solidFill>
                          <a:latin typeface="Meiryo"/>
                        </a:rPr>
                        <a:t>甲佐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T5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60" b="1">
                          <a:solidFill>
                            <a:srgbClr val="252A31"/>
                          </a:solidFill>
                          <a:latin typeface="Meiryo"/>
                        </a:rPr>
                        <a:t>自動リマインド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19" b="0">
                          <a:solidFill>
                            <a:srgbClr val="252A31"/>
                          </a:solidFill>
                          <a:latin typeface="Meiryo"/>
                        </a:rPr>
                        <a:t>CS・Forms・PA・Teams・DB（5）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M365標準のみ／制約は小さい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45A8C"/>
                          </a:solidFill>
                          <a:latin typeface="Meiryo"/>
                        </a:rPr>
                        <a:t>中村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T6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60" b="1">
                          <a:solidFill>
                            <a:srgbClr val="252A31"/>
                          </a:solidFill>
                          <a:latin typeface="Meiryo"/>
                        </a:rPr>
                        <a:t>PPT資料作成・会議招集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19" b="0">
                          <a:solidFill>
                            <a:srgbClr val="252A31"/>
                          </a:solidFill>
                          <a:latin typeface="Meiryo"/>
                        </a:rPr>
                        <a:t>CS・PA・SP/OneDrive・Outlook・Teams・PPT（6）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ファイルサーバ／PPT自動生成の検証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7D5B"/>
                          </a:solidFill>
                          <a:latin typeface="Meiryo"/>
                        </a:rPr>
                        <a:t>甲佐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T7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60" b="1">
                          <a:solidFill>
                            <a:srgbClr val="252A31"/>
                          </a:solidFill>
                          <a:latin typeface="Meiryo"/>
                        </a:rPr>
                        <a:t>課金精算チェック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19" b="0">
                          <a:solidFill>
                            <a:srgbClr val="252A31"/>
                          </a:solidFill>
                          <a:latin typeface="Meiryo"/>
                        </a:rPr>
                        <a:t>CS・SP・Excel/CSV（3-4）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外部連携なし（人手取得データ前提）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45A8C"/>
                          </a:solidFill>
                          <a:latin typeface="Meiryo"/>
                        </a:rPr>
                        <a:t>中村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T8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60" b="1">
                          <a:solidFill>
                            <a:srgbClr val="252A31"/>
                          </a:solidFill>
                          <a:latin typeface="Meiryo"/>
                        </a:rPr>
                        <a:t>段取りAI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19" b="0">
                          <a:solidFill>
                            <a:srgbClr val="252A31"/>
                          </a:solidFill>
                          <a:latin typeface="Meiryo"/>
                        </a:rPr>
                        <a:t>CS・PA・Outlook・Teams・SP（5）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予定表・会議室・メール権限の整備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45A8C"/>
                          </a:solidFill>
                          <a:latin typeface="Meiryo"/>
                        </a:rPr>
                        <a:t>中村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T9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60" b="1">
                          <a:solidFill>
                            <a:srgbClr val="252A31"/>
                          </a:solidFill>
                          <a:latin typeface="Meiryo"/>
                        </a:rPr>
                        <a:t>レビュー進捗管理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19" b="0">
                          <a:solidFill>
                            <a:srgbClr val="252A31"/>
                          </a:solidFill>
                          <a:latin typeface="Meiryo"/>
                        </a:rPr>
                        <a:t>CS・PA・Outlook・Excel・Teams・共有サーバ（6）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社外秘・共有サーバ・メール送信可否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7D5B"/>
                          </a:solidFill>
                          <a:latin typeface="Meiryo"/>
                        </a:rPr>
                        <a:t>甲佐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T10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60" b="1">
                          <a:solidFill>
                            <a:srgbClr val="252A31"/>
                          </a:solidFill>
                          <a:latin typeface="Meiryo"/>
                        </a:rPr>
                        <a:t>議事録ドラフト生成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8B9E"/>
                          </a:solidFill>
                          <a:latin typeface="Meiryo"/>
                        </a:rPr>
                        <a:t>中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19" b="0">
                          <a:solidFill>
                            <a:srgbClr val="252A31"/>
                          </a:solidFill>
                          <a:latin typeface="Meiryo"/>
                        </a:rPr>
                        <a:t>CS・Teams・SP・Word（4）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トランスクリプト取得権限・転記精度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45A8C"/>
                          </a:solidFill>
                          <a:latin typeface="Meiryo"/>
                        </a:rPr>
                        <a:t>中村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1F385C"/>
                          </a:solidFill>
                          <a:latin typeface="Meiryo"/>
                        </a:rPr>
                        <a:t>T11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60" b="1">
                          <a:solidFill>
                            <a:srgbClr val="252A31"/>
                          </a:solidFill>
                          <a:latin typeface="Meiryo"/>
                        </a:rPr>
                        <a:t>社内LAN問合せBot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C98A1B"/>
                          </a:solidFill>
                          <a:latin typeface="Meiryo"/>
                        </a:rPr>
                        <a:t>中〜高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19" b="0">
                          <a:solidFill>
                            <a:srgbClr val="252A31"/>
                          </a:solidFill>
                          <a:latin typeface="Meiryo"/>
                        </a:rPr>
                        <a:t>CS・SP・Teams・FAQ（3-4）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840" b="0">
                          <a:solidFill>
                            <a:srgbClr val="252A31"/>
                          </a:solidFill>
                          <a:latin typeface="Meiryo"/>
                        </a:rPr>
                        <a:t>本番移行・FAQ品質・運用保守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2E7D5B"/>
                          </a:solidFill>
                          <a:latin typeface="Meiryo"/>
                        </a:rPr>
                        <a:t>甲佐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5760720"/>
            <a:ext cx="5532120" cy="54864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5760720"/>
            <a:ext cx="109728" cy="548640"/>
          </a:xfrm>
          <a:prstGeom prst="rect">
            <a:avLst/>
          </a:prstGeom>
          <a:solidFill>
            <a:srgbClr val="24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5779008"/>
            <a:ext cx="516636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245A8C"/>
                </a:solidFill>
                <a:latin typeface="Meiryo"/>
              </a:rPr>
              <a:t>中村（案）：M365標準・業務設計中心</a:t>
            </a:r>
          </a:p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245A8C"/>
                </a:solidFill>
                <a:latin typeface="Meiryo"/>
              </a:rPr>
              <a:t>T1・2・5・7・8・10（6チーム）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5760720"/>
            <a:ext cx="5532120" cy="548640"/>
          </a:xfrm>
          <a:prstGeom prst="rect">
            <a:avLst/>
          </a:prstGeom>
          <a:solidFill>
            <a:srgbClr val="E6F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72200" y="5760720"/>
            <a:ext cx="109728" cy="54864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9944" y="5779008"/>
            <a:ext cx="5166360" cy="51206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2E7D5B"/>
                </a:solidFill>
                <a:latin typeface="Meiryo"/>
              </a:rPr>
              <a:t>甲佐（案）：難易度高・制約/連携検証中心</a:t>
            </a:r>
          </a:p>
          <a:p>
            <a:pPr algn="l">
              <a:lnSpc>
                <a:spcPct val="105000"/>
              </a:lnSpc>
            </a:pPr>
            <a:r>
              <a:rPr sz="1000" b="1" i="0">
                <a:solidFill>
                  <a:srgbClr val="2E7D5B"/>
                </a:solidFill>
                <a:latin typeface="Meiryo"/>
              </a:rPr>
              <a:t>T3・4・6・9・11（5チーム）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ISSUE CATEGORIZATION ｜ 横断的な論点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質疑で挙がった課題の整理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52144"/>
            <a:ext cx="1124712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2A31"/>
                </a:solidFill>
                <a:latin typeface="Meiryo"/>
              </a:rPr>
              <a:t>第2回では構築に向けた具体論点（外部Web参照制約・本番移行・運用保守・8月デモの作り方）が増加。事務局側で優先整理したいカテゴリ。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1554480"/>
          <a:ext cx="1120140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1880"/>
                <a:gridCol w="6035040"/>
                <a:gridCol w="1554480"/>
              </a:tblGrid>
              <a:tr h="310896"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主な論点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eiryo"/>
                        </a:rPr>
                        <a:t>該当チーム</a:t>
                      </a:r>
                    </a:p>
                  </a:txBody>
                  <a:tcPr marL="63500" marR="63500" marT="25400" marB="25400" anchor="ctr">
                    <a:solidFill>
                      <a:srgbClr val="2E8B9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読込ファイルのセキュリティ・ガバナンス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0">
                          <a:solidFill>
                            <a:srgbClr val="252A31"/>
                          </a:solidFill>
                          <a:latin typeface="Meiryo"/>
                        </a:rPr>
                        <a:t>社外秘・開発中案件・営業情報・レビュー対象物を読み込ませてよいかの判断。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3, 4, 9, 11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M365以外の製品との連携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0">
                          <a:solidFill>
                            <a:srgbClr val="252A31"/>
                          </a:solidFill>
                          <a:latin typeface="Meiryo"/>
                        </a:rPr>
                        <a:t>Salesforce・N-MARK・CNC・J-SCRUM・共有ファイルサーバ等の取得可否。案の成否に直結。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3, 4, 6, 7, 9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外部サイト参照・Web検索制約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0">
                          <a:solidFill>
                            <a:srgbClr val="252A31"/>
                          </a:solidFill>
                          <a:latin typeface="Meiryo"/>
                        </a:rPr>
                        <a:t>外部Web情報取得は原則禁止。市場調査・IR取得を主機能とする案は再設計が必要。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3, 4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格納場所・アクセス制約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0">
                          <a:solidFill>
                            <a:srgbClr val="252A31"/>
                          </a:solidFill>
                          <a:latin typeface="Meiryo"/>
                        </a:rPr>
                        <a:t>共有フォルダパスは直接参照困難。SharePoint格納や依頼元運用ルールの整備が必要。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5, 6, 9, 11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読込ファイル形式・精度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0">
                          <a:solidFill>
                            <a:srgbClr val="252A31"/>
                          </a:solidFill>
                          <a:latin typeface="Meiryo"/>
                        </a:rPr>
                        <a:t>Excel/PDF/トランスクリプトの読取精度、レイアウト崩れ、隠れセル情報の扱い。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2, 7, 10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Copilot Studio／Automate の使い分け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0">
                          <a:solidFill>
                            <a:srgbClr val="252A31"/>
                          </a:solidFill>
                          <a:latin typeface="Meiryo"/>
                        </a:rPr>
                        <a:t>AI判断・ルール処理・自動通知・下書き作成・管理表更新をどのアプリが担うか分解。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1, 2, 5, 6, 7, 10, 11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ライセンス・利用環境・本番移行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0">
                          <a:solidFill>
                            <a:srgbClr val="252A31"/>
                          </a:solidFill>
                          <a:latin typeface="Meiryo"/>
                        </a:rPr>
                        <a:t>CSライセンス、開発→本番環境移行、社内申請フロー、年度末展開の目線。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3, 10, 11</a:t>
                      </a:r>
                    </a:p>
                  </a:txBody>
                  <a:tcPr marL="63500" marR="63500" marT="25400" marB="25400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50" b="1">
                          <a:solidFill>
                            <a:srgbClr val="1F385C"/>
                          </a:solidFill>
                          <a:latin typeface="Meiryo"/>
                        </a:rPr>
                        <a:t>スコープ／効果試算／デモ設計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98000"/>
                        </a:lnSpc>
                      </a:pPr>
                      <a:r>
                        <a:rPr sz="900" b="0">
                          <a:solidFill>
                            <a:srgbClr val="252A31"/>
                          </a:solidFill>
                          <a:latin typeface="Meiryo"/>
                        </a:rPr>
                        <a:t>8月までに一本通すデモ、9月に発表準備。削減効果・導入価値・運用項目の整理。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98000"/>
                        </a:lnSpc>
                      </a:pPr>
                      <a:r>
                        <a:rPr sz="900" b="1">
                          <a:solidFill>
                            <a:srgbClr val="252A31"/>
                          </a:solidFill>
                          <a:latin typeface="Meiryo"/>
                        </a:rPr>
                        <a:t>1, 2, 5, 6, 10, 11</a:t>
                      </a:r>
                    </a:p>
                  </a:txBody>
                  <a:tcPr marL="63500" marR="63500" marT="25400" marB="25400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4608576"/>
            <a:ext cx="11201400" cy="566928"/>
          </a:xfrm>
          <a:prstGeom prst="rect">
            <a:avLst/>
          </a:prstGeom>
          <a:solidFill>
            <a:srgbClr val="FC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608576"/>
            <a:ext cx="118872" cy="56692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636008"/>
            <a:ext cx="10698480" cy="53035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252A31"/>
                </a:solidFill>
                <a:latin typeface="Meiryo"/>
              </a:rPr>
              <a:t>▲ 重要：読み込ませたいファイルのOK/NG判断が怪しい場合は、自チームの見解を添えて早めに事務局へ相談。事務局判断によっては決定済み案が頓挫する可能性があり、早期確認が必要。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OVERALL ASSESSMENT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全体総括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234440"/>
            <a:ext cx="11201400" cy="10515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371600"/>
            <a:ext cx="1060704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18000"/>
              </a:lnSpc>
            </a:pPr>
            <a:r>
              <a:rPr sz="1350" b="1" i="0">
                <a:solidFill>
                  <a:srgbClr val="FFFFFF"/>
                </a:solidFill>
                <a:latin typeface="Meiryo"/>
              </a:rPr>
              <a:t>第1回→第2回で「未集約」チームは解消し、各チームが構築フェーズの具体論点へ移行。一方、外部Web参照・M365外連携・ファイル格納場所など、実装前に事務局判断が必要な論点が明確化した。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542032"/>
            <a:ext cx="3611880" cy="2423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2542032"/>
            <a:ext cx="3611880" cy="50292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615184"/>
            <a:ext cx="320954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</a:rPr>
              <a:t>先行・順調なチーム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088" y="3255264"/>
            <a:ext cx="91440" cy="9144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3163824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T5：業務フロー・効果試算・M365標準活用が具体化。8月デモ化に着手可能。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" y="3822192"/>
            <a:ext cx="91440" cy="9144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3730752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T7：固定ナレッジ＋入力ファイル照合の構成が明確。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4088" y="4389120"/>
            <a:ext cx="91440" cy="91440"/>
          </a:xfrm>
          <a:prstGeom prst="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297680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T10・11：構成・前提は見えており、権限・運用項目の洗い出しが次フェーズ。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80" y="2542032"/>
            <a:ext cx="3611880" cy="2423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80" y="2542032"/>
            <a:ext cx="3611880" cy="50292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98848" y="2615184"/>
            <a:ext cx="320954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</a:rPr>
              <a:t>フォローが必要なチーム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98848" y="3255264"/>
            <a:ext cx="91440" cy="9144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1728" y="3163824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T4：外部Web参照禁止で企画価値の中核が揺らぎ、再設計が必要。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822192"/>
            <a:ext cx="91440" cy="9144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8" y="3730752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T3・9：Salesforce・社外秘・外部/共有サーバ等の扱いが重要論点。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98848" y="4389120"/>
            <a:ext cx="91440" cy="91440"/>
          </a:xfrm>
          <a:prstGeom prst="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4297680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T1・2・6：構築ステップ・プロンプト例・アプリ使い分けの具体化支援が必要。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92440" y="2542032"/>
            <a:ext cx="3611880" cy="2423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92440" y="2542032"/>
            <a:ext cx="3611880" cy="50292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93608" y="2615184"/>
            <a:ext cx="3209544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</a:rPr>
              <a:t>事務局からの提言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93608" y="3255264"/>
            <a:ext cx="91440" cy="914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76488" y="3163824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ガバナンス判断を早めに（外部Web・M365外連携・社外秘ファイル読込）。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93608" y="3822192"/>
            <a:ext cx="91440" cy="914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76488" y="3730752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8月は「一本通るデモ」優先。入力→処理→出力の流れを示す。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93608" y="4389120"/>
            <a:ext cx="91440" cy="9144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76488" y="4297680"/>
            <a:ext cx="306324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9月は発表資料・削減効果・運用項目・手順書/利用ルールの棚卸し。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138928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5C"/>
                </a:solidFill>
                <a:latin typeface="Meiryo"/>
              </a:rPr>
              <a:t>全体スケジュール</a:t>
            </a:r>
          </a:p>
        </p:txBody>
      </p:sp>
      <p:sp>
        <p:nvSpPr>
          <p:cNvPr id="42" name="Chevron 41"/>
          <p:cNvSpPr/>
          <p:nvPr/>
        </p:nvSpPr>
        <p:spPr>
          <a:xfrm>
            <a:off x="502920" y="5440680"/>
            <a:ext cx="1993392" cy="53035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7/9〜13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事前相談会①</a:t>
            </a:r>
          </a:p>
        </p:txBody>
      </p:sp>
      <p:sp>
        <p:nvSpPr>
          <p:cNvPr id="43" name="Chevron 42"/>
          <p:cNvSpPr/>
          <p:nvPr/>
        </p:nvSpPr>
        <p:spPr>
          <a:xfrm>
            <a:off x="2359151" y="5440680"/>
            <a:ext cx="1993392" cy="530352"/>
          </a:xfrm>
          <a:prstGeom prst="chevron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〜7/17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企画書提出</a:t>
            </a:r>
          </a:p>
        </p:txBody>
      </p:sp>
      <p:sp>
        <p:nvSpPr>
          <p:cNvPr id="44" name="Chevron 43"/>
          <p:cNvSpPr/>
          <p:nvPr/>
        </p:nvSpPr>
        <p:spPr>
          <a:xfrm>
            <a:off x="4215382" y="5440680"/>
            <a:ext cx="1993392" cy="530352"/>
          </a:xfrm>
          <a:prstGeom prst="chevron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7/22〜24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事前相談会②（今回）</a:t>
            </a:r>
          </a:p>
        </p:txBody>
      </p:sp>
      <p:sp>
        <p:nvSpPr>
          <p:cNvPr id="45" name="Chevron 44"/>
          <p:cNvSpPr/>
          <p:nvPr/>
        </p:nvSpPr>
        <p:spPr>
          <a:xfrm>
            <a:off x="6071613" y="5440680"/>
            <a:ext cx="1993392" cy="530352"/>
          </a:xfrm>
          <a:prstGeom prst="chevron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8月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構築・デモ化</a:t>
            </a:r>
          </a:p>
        </p:txBody>
      </p:sp>
      <p:sp>
        <p:nvSpPr>
          <p:cNvPr id="46" name="Chevron 45"/>
          <p:cNvSpPr/>
          <p:nvPr/>
        </p:nvSpPr>
        <p:spPr>
          <a:xfrm>
            <a:off x="7927844" y="5440680"/>
            <a:ext cx="1993392" cy="530352"/>
          </a:xfrm>
          <a:prstGeom prst="chevron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9月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発表準備・運用整理</a:t>
            </a:r>
          </a:p>
        </p:txBody>
      </p:sp>
      <p:sp>
        <p:nvSpPr>
          <p:cNvPr id="47" name="Chevron 46"/>
          <p:cNvSpPr/>
          <p:nvPr/>
        </p:nvSpPr>
        <p:spPr>
          <a:xfrm>
            <a:off x="9784075" y="5440680"/>
            <a:ext cx="1993392" cy="530352"/>
          </a:xfrm>
          <a:prstGeom prst="chevron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762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10月</a:t>
            </a:r>
          </a:p>
          <a:p>
            <a:pPr algn="ctr"/>
            <a:r>
              <a:rPr sz="800">
                <a:solidFill>
                  <a:srgbClr val="FFFFFF"/>
                </a:solidFill>
                <a:latin typeface="Meiryo"/>
              </a:rPr>
              <a:t>最終発表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1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チーム1：様式チェックAI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24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メンター案：中村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カクニンジャ／加盟店提出様式の記載漏れ・形式不備を自動チェック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Studio／Copilot Chat／Excel／SharePoint（想定）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出力結果の揺れが残る。検証条件・判定基準と、AIが担う範囲/人が見る範囲の分離が必要。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第2回：構築フェーズで何を優先すべきか、開発の基本フォーマット・スケジュール提示への要望。第1回：回答範囲・フォーマット制御を確認。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8〜9月の進め方・運用設計の道筋を事務局から共有する方向。Copilot Studioは単なるチャットより回答範囲・形式を制御しやすい。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チェック項目を分解し、AI判断・自動化・人手確認の境界を設計。サンプル様式で再現性を確認。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2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チーム2：受付Cエラー原因ナビ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7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24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メンター案：中村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受付Cエラー原因ナビゲーター／カード会社向けセルフ解決エージェント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Studio／SharePoint／Teams・Web UI／Power Automate（想定）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エラーファイルの取り込み形式と、回答根拠となるFAQ・ガイドの整備が成否を左右。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第2回：設計内容を相談する際のプロンプト見本が欲しいとの要望。第1回：Excel/PDF読込精度が論点。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企画内容を貼り付け、必要な設定・使うべきアプリ・構成案をCopilot Chatに確認する進め方を助言。Excel/PDFは試行で見極める。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代表的なエラーパターンと回答テンプレートを絞り、MVP対象の入力・出力例を作成。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3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チーム3：加盟店防衛マネジメント支援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8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メンター案：甲佐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加盟店防衛マネジメントエージェント／営業データ統合・リスク分析・訪問前サマリ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Power Automate／Power Query／SharePoint／Power BI／Copilot Studio／Salesforce・N-MARK等（取得可否が論点）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外部情報・Salesforce等の取得制約が大きい。データソースの棚卸しとOK/NG判断が必要。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第2回：外部IR等を参照したいが外部情報参照禁止のリスクと代替策。やりたいこと起点で考えるべきかも確認。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外部サイト自動参照は先方サイト負荷・リスク観点で原則NG。必要なら事前取得資料をナレッジ化。To-Beは既存フローに引きずられず設計。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使用データをM365内・M365外・外部Webに分類し、MVPで扱う範囲を再定義。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4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チーム4：市場・企業分析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98A1B"/>
                </a:solidFill>
                <a:latin typeface="Meiryo"/>
              </a:rPr>
              <a:t>Lv2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メンター案：甲佐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市場・企業分析エージェント／企業名・キーワード起点の調査・提案書生成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Automate／SharePoint／Teams／Word・PPT／外部Web・RSS・APIは原則不可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企画価値の中心が外部情報取得の場合、ハッカソン条件下では実装効果が大きく低下。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第2回：外部サイトの情報取得が原則禁止となり、現行案がガイドラインに抵触する可能性を確認。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Webサーチを主機能とする場合は案の練り直しが必要。内部資料の整形・ドラフト化だけで効果が出るかを検討するよう助言。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外部参照なしで成立するユースケースへ再設計。過去調査DB・社内資料ベースの差分整理などに軸足変更を検討。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5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チーム5：自動リマインド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10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24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メンター案：中村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おはようリマインドくん／依頼事項の登録・通知・回答集約・未回答リマインド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Studio／Microsoft Forms／Power Automate／Teams／管理ダッシュボード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運用定着と依頼元の入力ルールが鍵。リマインド設計・回答形式の標準化が必要。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第2回：タスク列構成をどう始めるか、Copilot Studio更新に伴う運用保守リスク。第1回：共有フォルダ参照制約。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まずタスク列を仮決めし、3件程度のサンプルを作成してAutomateから一本通す。クラウド更新に伴う不具合は運用保守観点で考慮。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MVPは「1依頼登録→対象者通知→回答集約→未回答リマインド」の一連実行を8月中にデモ化。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6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チーム6：PPT資料作成・会議招集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難易度：中〜高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メンター案：甲佐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Forecast ONE／フォーキャスト会議の資料作成と会議招集を自動化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Automate／SharePoint・OneDrive／Outlook／Teams／PowerPoint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ファイルサーバ・OneDrive/SharePoint格納、PPTの自動生成、会議招集の自動化可否を分けて検証が必要。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第2回トランスクリプト未添付。第1回：AutomateとCopilot Studioの違い、研修スケジュール、相談先を確認。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AutomateはAIではなく自動化ツールだが時間削減に重要。ファイル収集・PPT生成・会議通知の役割分担を明確化する必要。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3つの入力ファイル・前月PPT・出力PPT・会議通知のデータフローをM365内で再設計。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7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チーム7：課金精算チェック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3F8F5B"/>
                </a:solidFill>
                <a:latin typeface="Meiryo"/>
              </a:rPr>
              <a:t>Lv5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24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メンター案：中村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加盟店課金精算チェックエージェント／請求・N-Mark・J-SCRUM・CNCデータの突合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Studio／SharePoint／ExcelまたはCSV／手動取得データ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外部システム連携は行わず人手取得データを前提。ファイル命名・フォルダ構成の維持が前提条件。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第2回トランスクリプト未添付。第1回：判断基準（ナレッジ）と毎月の入力ファイルを分ける構成を確認。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固定のチェックリストをナレッジとし、毎月の入力ファイルを都度読み込ませて照合・修正出力する設計は実現しやすい。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MVPは3種類程度のデータと固定チェック項目で突合結果レポートを作成。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8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チーム8：段取りAI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24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メンター案：中村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段取（Dandori）AI／会議調整・タスク整理・レビュー観点の蓄積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Automate／Outlook／Teams／SharePoint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予定表・会議室・メールへの権限、退職者除外や対象者候補の整備が必要。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第2回トランスクリプト未添付。第1回：発表対象の1案以外を裏で作ってよいかを確認。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最終発表は1案だが、2案目を並行して進めることは可。会議調整・タスク抽出を主軸に、レビュー観点蓄積は付加価値と整理。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会議調整とタスク抽出のどちらをMVPの中心にするかを確定し、1本のデモシナリオを作る。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9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チーム9：レビュー進捗管理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難易度：中〜高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メンター案：甲佐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レビュー進捗管理アシスタント／レビュー対象一覧・依頼・完了確認・リマインド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Studio／Power Automate／Outlook／Excel／Teams／共有ファイルサーバ（制約あり）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開発中案件・社外秘情報の扱い、ファイルサーバ参照、メール自動送信の可否を整理する必要。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第2回トランスクリプト未添付。第1回：社外秘ファイルやSalesforce取得、メール下書き・送付可否が論点。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管理ツール化の色が強くCopilot Studioで作りやすい一方、社外秘・共有サーバ・Salesforce等の扱いは事務局判断が必要。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まずメール検知→管理表反映→下書き作成までを対象に絞り、ファイルサーバ処理は別論点化。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10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チーム10：議事録ドラフト生成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245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メンター案：中村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対面クライテリア議事録ドラフト生成／資料・トランスクリプト・出席者情報から議事録を生成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Studio／Teamsトランスクリプト／SharePoint／議事録フォーマット／Word（想定）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トランスクリプト取得権限、会議形式・ライセンス、フォーマット転記の精度検証が必要。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第2回：Copilot Chatの回答をそのまま信じてよいか、今後のメンター定例の進め方を確認。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Copilot回答は必ず正解とは限らないため、根拠提示を求め画面操作・実検証で確認。8〜9月はメンター定例で伴走予定。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サンプル会議資料・トランスクリプト・議事録テンプレを用意し、ドラフト生成品質を確認。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024128"/>
            <a:ext cx="12191695" cy="4572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7160"/>
            <a:ext cx="87782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FD3E0"/>
                </a:solidFill>
                <a:latin typeface="Meiryo"/>
              </a:rPr>
              <a:t>TEAM 11 DETAIL ｜ 状況整理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" y="384048"/>
            <a:ext cx="1024128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Meiryo"/>
              </a:rPr>
              <a:t>チーム11：社内LAN問合せBot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137160"/>
            <a:ext cx="10515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BFD3E0"/>
                </a:solidFill>
                <a:latin typeface="Meiryo"/>
              </a:rPr>
              <a:t>16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Microsoft 365 Copilot Studio 活用ハッカソン｜第2回 事前相談会 報告（2026/7/22〜24）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5615" y="6574536"/>
            <a:ext cx="2423160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 i="0">
                <a:solidFill>
                  <a:srgbClr val="8A939E"/>
                </a:solidFill>
                <a:latin typeface="Meiryo"/>
              </a:rPr>
              <a:t>社外秘 / Confidential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234440"/>
            <a:ext cx="1234440" cy="384048"/>
          </a:xfrm>
          <a:prstGeom prst="roundRect">
            <a:avLst/>
          </a:prstGeom>
          <a:solidFill>
            <a:srgbClr val="3F8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1案 絞込済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1216152"/>
            <a:ext cx="82296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B7480"/>
                </a:solidFill>
                <a:latin typeface="Meiryo"/>
              </a:rPr>
              <a:t>進捗</a:t>
            </a:r>
          </a:p>
        </p:txBody>
      </p:sp>
      <p:sp>
        <p:nvSpPr>
          <p:cNvPr id="14" name="Chevron 13"/>
          <p:cNvSpPr/>
          <p:nvPr/>
        </p:nvSpPr>
        <p:spPr>
          <a:xfrm>
            <a:off x="2395728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/>
          <p:cNvSpPr/>
          <p:nvPr/>
        </p:nvSpPr>
        <p:spPr>
          <a:xfrm>
            <a:off x="2642616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/>
          <p:cNvSpPr/>
          <p:nvPr/>
        </p:nvSpPr>
        <p:spPr>
          <a:xfrm>
            <a:off x="2889504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/>
          <p:cNvSpPr/>
          <p:nvPr/>
        </p:nvSpPr>
        <p:spPr>
          <a:xfrm>
            <a:off x="3136392" y="1344168"/>
            <a:ext cx="274320" cy="164592"/>
          </a:xfrm>
          <a:prstGeom prst="chevron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evron 17"/>
          <p:cNvSpPr/>
          <p:nvPr/>
        </p:nvSpPr>
        <p:spPr>
          <a:xfrm>
            <a:off x="3383280" y="1344168"/>
            <a:ext cx="274320" cy="164592"/>
          </a:xfrm>
          <a:prstGeom prst="chevron">
            <a:avLst/>
          </a:prstGeom>
          <a:solidFill>
            <a:srgbClr val="DDE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75888" y="1216152"/>
            <a:ext cx="640080" cy="4114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E8B9E"/>
                </a:solidFill>
                <a:latin typeface="Meiryo"/>
              </a:rPr>
              <a:t>Lv4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1234440"/>
            <a:ext cx="1920240" cy="384048"/>
          </a:xfrm>
          <a:prstGeom prst="roundRect">
            <a:avLst/>
          </a:prstGeom>
          <a:solidFill>
            <a:srgbClr val="C98A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難易度：中〜高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040880" y="1234440"/>
            <a:ext cx="2880360" cy="384048"/>
          </a:xfrm>
          <a:prstGeom prst="round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Meiryo"/>
              </a:rPr>
              <a:t>メンター案：甲佐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1828800"/>
            <a:ext cx="3593592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取り組み内容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社内LAN問い合わせチャットボット／FAQ・申請種別案内の一次受付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06824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06824" y="1828800"/>
            <a:ext cx="3593592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71416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使用アプリ・データ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1416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Copilot Studio／SharePointナレッジ／TeamsまたはチャットUI／FAQ整備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10728" y="1828800"/>
            <a:ext cx="3593592" cy="157276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0728" y="1828800"/>
            <a:ext cx="3593592" cy="36576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75320" y="1874520"/>
            <a:ext cx="3264408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リスク・論点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2286000"/>
            <a:ext cx="3264408" cy="10241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52A31"/>
                </a:solidFill>
                <a:latin typeface="Meiryo"/>
              </a:rPr>
              <a:t>FAQ整備、参照先ナレッジの品質、本番環境移行、利用ルール・運用保守が焦点。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3566160"/>
            <a:ext cx="5504688" cy="36576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主な質問・相談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第2回：開発環境から本番環境への移行、年度末展開、手順書・利用ルールを社長報告までに完了すべきか。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90488" y="3566160"/>
            <a:ext cx="5504688" cy="1371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90488" y="3566160"/>
            <a:ext cx="5504688" cy="365760"/>
          </a:xfrm>
          <a:prstGeom prst="rect">
            <a:avLst/>
          </a:prstGeom>
          <a:solidFill>
            <a:srgbClr val="2E8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611880"/>
            <a:ext cx="5175504" cy="274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</a:rPr>
              <a:t>回答・助言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55080" y="4005072"/>
            <a:ext cx="5175504" cy="8412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</a:pPr>
            <a:r>
              <a:rPr sz="980" b="0" i="0">
                <a:solidFill>
                  <a:srgbClr val="252A31"/>
                </a:solidFill>
                <a:latin typeface="Meiryo"/>
              </a:rPr>
              <a:t>手順書は完成していれば望ましいが10月時点では準備中でも可。項目出しと全量把握が重要。本番移行は社内申請フローを要確認。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5102352"/>
            <a:ext cx="11201400" cy="86868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2920" y="5102352"/>
            <a:ext cx="118872" cy="868680"/>
          </a:xfrm>
          <a:prstGeom prst="rect">
            <a:avLst/>
          </a:prstGeom>
          <a:solidFill>
            <a:srgbClr val="1F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" y="5175504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F385C"/>
                </a:solidFill>
                <a:latin typeface="Meiryo"/>
              </a:rPr>
              <a:t>ネクストアクション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46811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52A31"/>
                </a:solidFill>
                <a:latin typeface="Meiryo"/>
              </a:rPr>
              <a:t>FAQをCopilot Studioが処理しやすい形式に整備し、Ph1→Ph2→Ph3展開の運用項目を洗い出す。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