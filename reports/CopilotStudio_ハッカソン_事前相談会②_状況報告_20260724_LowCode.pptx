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0.svg" ContentType="image/svg+xml"/>
  <Override PartName="/ppt/media/image154.svg" ContentType="image/svg+xml"/>
  <Override PartName="/ppt/media/image5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6" r:id="rId5"/>
  </p:sldMasterIdLst>
  <p:notesMasterIdLst>
    <p:notesMasterId r:id="rId75"/>
  </p:notesMasterIdLst>
  <p:sldIdLst>
    <p:sldId id="261" r:id="rId81"/>
    <p:sldId id="268" r:id="rId82"/>
    <p:sldId id="283" r:id="rId83"/>
    <p:sldId id="284" r:id="rId84"/>
    <p:sldId id="285" r:id="rId85"/>
    <p:sldId id="286" r:id="rId86"/>
    <p:sldId id="287" r:id="rId87"/>
    <p:sldId id="288" r:id="rId88"/>
    <p:sldId id="289" r:id="rId89"/>
    <p:sldId id="290" r:id="rId90"/>
    <p:sldId id="291" r:id="rId91"/>
    <p:sldId id="293" r:id="rId92"/>
    <p:sldId id="294" r:id="rId93"/>
    <p:sldId id="295" r:id="rId94"/>
    <p:sldId id="296" r:id="rId95"/>
    <p:sldId id="297" r:id="rId96"/>
    <p:sldId id="298" r:id="rId97"/>
    <p:sldId id="299" r:id="rId98"/>
    <p:sldId id="300" r:id="rId99"/>
    <p:sldId id="301" r:id="rId10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このファイルについて" id="{5528AA72-FFF1-450C-9421-0132155A03B8}">
          <p14:sldIdLst>
            <p14:sldId id="263"/>
            <p14:sldId id="274"/>
            <p14:sldId id="2147483643"/>
            <p14:sldId id="275"/>
            <p14:sldId id="267"/>
          </p14:sldIdLst>
        </p14:section>
        <p14:section name="共通で使えるスライド" id="{D0878468-6D70-4783-A4F3-1B78278DEFE6}">
          <p14:sldIdLst>
            <p14:sldId id="272"/>
            <p14:sldId id="2147483511"/>
            <p14:sldId id="2147483641"/>
            <p14:sldId id="2147483559"/>
            <p14:sldId id="2147483622"/>
            <p14:sldId id="2147483560"/>
            <p14:sldId id="2147479477"/>
            <p14:sldId id="302"/>
          </p14:sldIdLst>
        </p14:section>
        <p14:section name="プロフィール" id="{CBB7FE09-18A4-4773-87AC-ADA7C3235EA2}">
          <p14:sldIdLst>
            <p14:sldId id="320"/>
          </p14:sldIdLst>
        </p14:section>
        <p14:section name="ワークの説明と例" id="{2AD72043-BE0F-4B36-8943-845A96AEE764}">
          <p14:sldIdLst>
            <p14:sldId id="278"/>
          </p14:sldIdLst>
        </p14:section>
        <p14:section name="ステップ" id="{39BE862F-8507-4B50-8900-C03C443C5DBC}">
          <p14:sldIdLst>
            <p14:sldId id="259"/>
            <p14:sldId id="2147483524"/>
            <p14:sldId id="280"/>
            <p14:sldId id="270"/>
          </p14:sldIdLst>
        </p14:section>
        <p14:section name="フロー" id="{7BD2170E-920B-4144-B217-1D8F9CBC974C}">
          <p14:sldIdLst>
            <p14:sldId id="269"/>
            <p14:sldId id="2147483647"/>
            <p14:sldId id="257"/>
            <p14:sldId id="2147479158"/>
            <p14:sldId id="265"/>
            <p14:sldId id="266"/>
          </p14:sldIdLst>
        </p14:section>
        <p14:section name="スケジュール" id="{FDD7CB19-26B9-4F4D-AE3B-06DF585E31C8}">
          <p14:sldIdLst>
            <p14:sldId id="2147483601"/>
            <p14:sldId id="2147483646"/>
            <p14:sldId id="292"/>
          </p14:sldIdLst>
        </p14:section>
        <p14:section name="見出し" id="{6DBAA19C-A3B3-4E3F-9A2F-884F35DA555F}">
          <p14:sldIdLst>
            <p14:sldId id="2147483435"/>
            <p14:sldId id="264"/>
            <p14:sldId id="380"/>
            <p14:sldId id="381"/>
            <p14:sldId id="281"/>
            <p14:sldId id="2147483637"/>
            <p14:sldId id="279"/>
            <p14:sldId id="2147483591"/>
            <p14:sldId id="262"/>
            <p14:sldId id="309"/>
            <p14:sldId id="310"/>
          </p14:sldIdLst>
        </p14:section>
        <p14:section name="アイコン・バッジ・挿絵" id="{EADAE858-BD04-4C40-9CDF-53BAC12A1E40}">
          <p14:sldIdLst>
            <p14:sldId id="273"/>
            <p14:sldId id="271"/>
            <p14:sldId id="256"/>
            <p14:sldId id="316"/>
            <p14:sldId id="260"/>
            <p14:sldId id="303"/>
            <p14:sldId id="277"/>
            <p14:sldId id="276"/>
            <p14:sldId id="318"/>
            <p14:sldId id="319"/>
            <p14:sldId id="2147483527"/>
            <p14:sldId id="2147483528"/>
            <p14:sldId id="2147483529"/>
            <p14:sldId id="258"/>
            <p14:sldId id="282"/>
            <p14:sldId id="304"/>
            <p14:sldId id="305"/>
            <p14:sldId id="306"/>
            <p14:sldId id="2147483632"/>
            <p14:sldId id="307"/>
            <p14:sldId id="308"/>
            <p14:sldId id="311"/>
            <p14:sldId id="312"/>
            <p14:sldId id="313"/>
            <p14:sldId id="336"/>
            <p14:sldId id="2147483563"/>
            <p14:sldId id="2147483620"/>
            <p14:sldId id="315"/>
            <p14:sldId id="314"/>
            <p14:sldId id="317"/>
          </p14:sldIdLst>
        </p14:section>
      </p14:sectionLst>
    </p:ext>
    <p:ext uri="{EFAFB233-063F-42B5-8137-9DF3F51BA10A}">
      <p15:sldGuideLst xmlns:p15="http://schemas.microsoft.com/office/powerpoint/2012/main">
        <p15:guide id="1" orient="horz" pos="2137" userDrawn="1">
          <p15:clr>
            <a:srgbClr val="A4A3A4"/>
          </p15:clr>
        </p15:guide>
        <p15:guide id="2" pos="3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DFA"/>
    <a:srgbClr val="0FA4CC"/>
    <a:srgbClr val="1A587B"/>
    <a:srgbClr val="2F2E41"/>
    <a:srgbClr val="3F3D56"/>
    <a:srgbClr val="CCCCCC"/>
    <a:srgbClr val="FFFFFF"/>
    <a:srgbClr val="FFD4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C01F3A-7635-26D4-F007-FD34118FA49D}" v="42" dt="2026-07-26T09:41:50.8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2" d="100"/>
          <a:sy n="82" d="100"/>
        </p:scale>
        <p:origin x="691" y="72"/>
      </p:cViewPr>
      <p:guideLst>
        <p:guide orient="horz" pos="2137"/>
        <p:guide pos="3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microsoft.com/office/2015/10/relationships/revisionInfo" Target="revisionInfo.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 Id="rId97" Type="http://schemas.openxmlformats.org/officeDocument/2006/relationships/slide" Target="slides/slide86.xml"/><Relationship Id="rId98" Type="http://schemas.openxmlformats.org/officeDocument/2006/relationships/slide" Target="slides/slide87.xml"/><Relationship Id="rId99" Type="http://schemas.openxmlformats.org/officeDocument/2006/relationships/slide" Target="slides/slide88.xml"/><Relationship Id="rId10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E7BBA-1A57-4CFB-883E-2D12E1B74D29}" type="datetimeFigureOut">
              <a:rPr kumimoji="1" lang="ja-JP" altLang="en-US" smtClean="0"/>
              <a:t>2026/7/26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38C158-C7C8-4711-9209-A02984D40B1D}" type="slidenum">
              <a:rPr kumimoji="1" lang="ja-JP" altLang="en-US" smtClean="0"/>
              <a:t>‹#›</a:t>
            </a:fld>
            <a:endParaRPr kumimoji="1" lang="ja-JP" altLang="en-US"/>
          </a:p>
        </p:txBody>
      </p:sp>
    </p:spTree>
    <p:extLst>
      <p:ext uri="{BB962C8B-B14F-4D97-AF65-F5344CB8AC3E}">
        <p14:creationId xmlns:p14="http://schemas.microsoft.com/office/powerpoint/2010/main" val="36226601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表紙">
    <p:bg>
      <p:bgPr>
        <a:solidFill>
          <a:schemeClr val="bg1"/>
        </a:solidFill>
        <a:effectLst/>
      </p:bgPr>
    </p:bg>
    <p:spTree>
      <p:nvGrpSpPr>
        <p:cNvPr id="1" name=""/>
        <p:cNvGrpSpPr/>
        <p:nvPr/>
      </p:nvGrpSpPr>
      <p:grpSpPr>
        <a:xfrm>
          <a:off x="0" y="0"/>
          <a:ext cx="0" cy="0"/>
          <a:chOff x="0" y="0"/>
          <a:chExt cx="0" cy="0"/>
        </a:xfrm>
      </p:grpSpPr>
      <p:sp>
        <p:nvSpPr>
          <p:cNvPr id="14" name="テキスト プレースホルダー 13">
            <a:extLst>
              <a:ext uri="{FF2B5EF4-FFF2-40B4-BE49-F238E27FC236}">
                <a16:creationId xmlns:a16="http://schemas.microsoft.com/office/drawing/2014/main" id="{5A29DF86-A2DE-CC98-8D90-9053B6FD6938}"/>
              </a:ext>
            </a:extLst>
          </p:cNvPr>
          <p:cNvSpPr>
            <a:spLocks noGrp="1"/>
          </p:cNvSpPr>
          <p:nvPr>
            <p:ph type="body" sz="quarter" idx="12"/>
          </p:nvPr>
        </p:nvSpPr>
        <p:spPr>
          <a:xfrm>
            <a:off x="1149211" y="3360716"/>
            <a:ext cx="9419782" cy="789800"/>
          </a:xfrm>
          <a:prstGeom prst="rect">
            <a:avLst/>
          </a:prstGeom>
        </p:spPr>
        <p:txBody>
          <a:bodyPr anchor="ctr" anchorCtr="0">
            <a:normAutofit/>
          </a:bodyPr>
          <a:lstStyle>
            <a:lvl1pPr marL="0" indent="0">
              <a:buNone/>
              <a:defRPr sz="4355"/>
            </a:lvl1pPr>
          </a:lstStyle>
          <a:p>
            <a:pPr lvl="0"/>
            <a:r>
              <a:rPr kumimoji="1" lang="ja-JP" altLang="en-US"/>
              <a:t>マスター テキストの書式設定</a:t>
            </a:r>
          </a:p>
        </p:txBody>
      </p:sp>
      <p:sp>
        <p:nvSpPr>
          <p:cNvPr id="2" name="Title 1"/>
          <p:cNvSpPr>
            <a:spLocks noGrp="1"/>
          </p:cNvSpPr>
          <p:nvPr>
            <p:ph type="ctrTitle" hasCustomPrompt="1"/>
          </p:nvPr>
        </p:nvSpPr>
        <p:spPr>
          <a:xfrm>
            <a:off x="1149699" y="2391227"/>
            <a:ext cx="9418806" cy="862077"/>
          </a:xfrm>
          <a:prstGeom prst="rect">
            <a:avLst/>
          </a:prstGeom>
        </p:spPr>
        <p:txBody>
          <a:bodyPr lIns="0" tIns="0" rIns="0" bIns="0" anchor="t">
            <a:noAutofit/>
          </a:bodyPr>
          <a:lstStyle>
            <a:lvl1pPr algn="l">
              <a:lnSpc>
                <a:spcPct val="100000"/>
              </a:lnSpc>
              <a:defRPr sz="4899" b="1" cap="none" spc="0">
                <a:ln w="0">
                  <a:noFill/>
                  <a:prstDash val="solid"/>
                </a:ln>
                <a:gradFill>
                  <a:gsLst>
                    <a:gs pos="97000">
                      <a:schemeClr val="accent5">
                        <a:lumMod val="50000"/>
                      </a:schemeClr>
                    </a:gs>
                    <a:gs pos="73000">
                      <a:srgbClr val="3CBACB"/>
                    </a:gs>
                    <a:gs pos="0">
                      <a:schemeClr val="accent5">
                        <a:lumMod val="90000"/>
                      </a:schemeClr>
                    </a:gs>
                  </a:gsLst>
                  <a:lin ang="10800000" scaled="0"/>
                </a:gradFill>
                <a:effectLst/>
                <a:latin typeface="+mn-ea"/>
                <a:ea typeface="+mn-ea"/>
              </a:defRPr>
            </a:lvl1pPr>
          </a:lstStyle>
          <a:p>
            <a:r>
              <a:rPr lang="ja-JP" altLang="en-US"/>
              <a:t>プレゼンテーションテンプレート</a:t>
            </a:r>
            <a:endParaRPr lang="en-US"/>
          </a:p>
        </p:txBody>
      </p:sp>
      <p:sp>
        <p:nvSpPr>
          <p:cNvPr id="3" name="Subtitle 2"/>
          <p:cNvSpPr>
            <a:spLocks noGrp="1"/>
          </p:cNvSpPr>
          <p:nvPr>
            <p:ph type="subTitle" idx="1"/>
          </p:nvPr>
        </p:nvSpPr>
        <p:spPr>
          <a:xfrm>
            <a:off x="1149706" y="1992752"/>
            <a:ext cx="8360289" cy="291063"/>
          </a:xfrm>
          <a:prstGeom prst="rect">
            <a:avLst/>
          </a:prstGeom>
          <a:ln>
            <a:noFill/>
          </a:ln>
        </p:spPr>
        <p:txBody>
          <a:bodyPr lIns="0" tIns="0" rIns="0" bIns="0" anchor="ctr">
            <a:noAutofit/>
          </a:bodyPr>
          <a:lstStyle>
            <a:lvl1pPr marL="0" indent="0" algn="l">
              <a:buNone/>
              <a:defRPr sz="1633" b="0" cap="none" spc="0">
                <a:ln w="0">
                  <a:noFill/>
                  <a:prstDash val="solid"/>
                </a:ln>
                <a:solidFill>
                  <a:schemeClr val="tx2"/>
                </a:solidFill>
                <a:effectLst/>
                <a:latin typeface="+mn-ea"/>
                <a:ea typeface="+mn-ea"/>
              </a:defRPr>
            </a:lvl1pPr>
            <a:lvl2pPr marL="457203" indent="0" algn="ctr">
              <a:buNone/>
              <a:defRPr sz="2000"/>
            </a:lvl2pPr>
            <a:lvl3pPr marL="914406" indent="0" algn="ctr">
              <a:buNone/>
              <a:defRPr sz="1800"/>
            </a:lvl3pPr>
            <a:lvl4pPr marL="1371609" indent="0" algn="ctr">
              <a:buNone/>
              <a:defRPr sz="1600"/>
            </a:lvl4pPr>
            <a:lvl5pPr marL="1828812" indent="0" algn="ctr">
              <a:buNone/>
              <a:defRPr sz="1600"/>
            </a:lvl5pPr>
            <a:lvl6pPr marL="2286015" indent="0" algn="ctr">
              <a:buNone/>
              <a:defRPr sz="1600"/>
            </a:lvl6pPr>
            <a:lvl7pPr marL="2743218" indent="0" algn="ctr">
              <a:buNone/>
              <a:defRPr sz="1600"/>
            </a:lvl7pPr>
            <a:lvl8pPr marL="3200421" indent="0" algn="ctr">
              <a:buNone/>
              <a:defRPr sz="1600"/>
            </a:lvl8pPr>
            <a:lvl9pPr marL="3657624" indent="0" algn="ctr">
              <a:buNone/>
              <a:defRPr sz="1600"/>
            </a:lvl9pPr>
          </a:lstStyle>
          <a:p>
            <a:r>
              <a:rPr lang="ja-JP" altLang="en-US"/>
              <a:t>マスター サブタイトルの書式設定</a:t>
            </a:r>
            <a:endParaRPr lang="en-US"/>
          </a:p>
        </p:txBody>
      </p:sp>
      <p:sp>
        <p:nvSpPr>
          <p:cNvPr id="8" name="Text Placeholder 3">
            <a:extLst>
              <a:ext uri="{FF2B5EF4-FFF2-40B4-BE49-F238E27FC236}">
                <a16:creationId xmlns:a16="http://schemas.microsoft.com/office/drawing/2014/main" id="{9649C234-A319-4CA8-B571-4E8F7ACF547B}"/>
              </a:ext>
            </a:extLst>
          </p:cNvPr>
          <p:cNvSpPr>
            <a:spLocks noGrp="1"/>
          </p:cNvSpPr>
          <p:nvPr>
            <p:ph type="body" sz="half" idx="2" hasCustomPrompt="1"/>
          </p:nvPr>
        </p:nvSpPr>
        <p:spPr>
          <a:xfrm>
            <a:off x="1149706" y="4575512"/>
            <a:ext cx="1600953" cy="291063"/>
          </a:xfrm>
          <a:prstGeom prst="rect">
            <a:avLst/>
          </a:prstGeom>
          <a:solidFill>
            <a:schemeClr val="accent1"/>
          </a:solidFill>
        </p:spPr>
        <p:txBody>
          <a:bodyPr tIns="18000" bIns="0" anchor="ctr">
            <a:normAutofit/>
          </a:bodyPr>
          <a:lstStyle>
            <a:lvl1pPr marL="0" indent="0" algn="ctr">
              <a:buNone/>
              <a:defRPr sz="1452" spc="91" baseline="0">
                <a:solidFill>
                  <a:schemeClr val="bg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lvl="0"/>
            <a:r>
              <a:rPr lang="en-US" altLang="ja-JP"/>
              <a:t>2020.10.01</a:t>
            </a:r>
            <a:endParaRPr lang="ja-JP" altLang="en-US"/>
          </a:p>
        </p:txBody>
      </p:sp>
      <p:sp>
        <p:nvSpPr>
          <p:cNvPr id="4" name="正方形/長方形 3">
            <a:extLst>
              <a:ext uri="{FF2B5EF4-FFF2-40B4-BE49-F238E27FC236}">
                <a16:creationId xmlns:a16="http://schemas.microsoft.com/office/drawing/2014/main" id="{1D3A9960-2BBC-1A7F-6AAF-9F051165E927}"/>
              </a:ext>
            </a:extLst>
          </p:cNvPr>
          <p:cNvSpPr/>
          <p:nvPr userDrawn="1"/>
        </p:nvSpPr>
        <p:spPr>
          <a:xfrm>
            <a:off x="760380" y="1825900"/>
            <a:ext cx="209297" cy="31834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spc="100">
              <a:solidFill>
                <a:schemeClr val="tx2"/>
              </a:solidFill>
              <a:latin typeface="+mn-ea"/>
            </a:endParaRPr>
          </a:p>
        </p:txBody>
      </p:sp>
      <p:sp>
        <p:nvSpPr>
          <p:cNvPr id="7" name="テキスト プレースホルダー 9">
            <a:extLst>
              <a:ext uri="{FF2B5EF4-FFF2-40B4-BE49-F238E27FC236}">
                <a16:creationId xmlns:a16="http://schemas.microsoft.com/office/drawing/2014/main" id="{8FB24792-959A-16B7-4899-5AAC1A2D7F79}"/>
              </a:ext>
            </a:extLst>
          </p:cNvPr>
          <p:cNvSpPr>
            <a:spLocks noGrp="1"/>
          </p:cNvSpPr>
          <p:nvPr>
            <p:ph type="body" sz="half" idx="10" hasCustomPrompt="1"/>
          </p:nvPr>
        </p:nvSpPr>
        <p:spPr>
          <a:xfrm>
            <a:off x="1149706" y="4575512"/>
            <a:ext cx="1600953" cy="291063"/>
          </a:xfrm>
          <a:prstGeom prst="rect">
            <a:avLst/>
          </a:prstGeom>
          <a:solidFill>
            <a:schemeClr val="accent1"/>
          </a:solidFill>
        </p:spPr>
        <p:txBody>
          <a:bodyPr anchor="ctr" anchorCtr="0">
            <a:normAutofit/>
          </a:bodyPr>
          <a:lstStyle>
            <a:lvl1pPr marL="0" indent="0" algn="ctr">
              <a:buNone/>
              <a:defRPr sz="1452">
                <a:solidFill>
                  <a:schemeClr val="bg1"/>
                </a:solidFill>
              </a:defRPr>
            </a:lvl1pPr>
          </a:lstStyle>
          <a:p>
            <a:r>
              <a:rPr lang="en-US" altLang="ja-JP" spc="100"/>
              <a:t>2024.07.08</a:t>
            </a:r>
            <a:endParaRPr lang="ja-JP" altLang="en-US" spc="100"/>
          </a:p>
        </p:txBody>
      </p:sp>
    </p:spTree>
    <p:extLst>
      <p:ext uri="{BB962C8B-B14F-4D97-AF65-F5344CB8AC3E}">
        <p14:creationId xmlns:p14="http://schemas.microsoft.com/office/powerpoint/2010/main" val="271980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目次">
    <p:bg>
      <p:bgPr>
        <a:solidFill>
          <a:schemeClr val="tx2"/>
        </a:solidFill>
        <a:effectLst/>
      </p:bgPr>
    </p:bg>
    <p:spTree>
      <p:nvGrpSpPr>
        <p:cNvPr id="1" name=""/>
        <p:cNvGrpSpPr/>
        <p:nvPr/>
      </p:nvGrpSpPr>
      <p:grpSpPr>
        <a:xfrm>
          <a:off x="0" y="0"/>
          <a:ext cx="0" cy="0"/>
          <a:chOff x="0" y="0"/>
          <a:chExt cx="0" cy="0"/>
        </a:xfrm>
      </p:grpSpPr>
      <p:sp>
        <p:nvSpPr>
          <p:cNvPr id="8" name="Slide Number Placeholder 4">
            <a:extLst>
              <a:ext uri="{FF2B5EF4-FFF2-40B4-BE49-F238E27FC236}">
                <a16:creationId xmlns:a16="http://schemas.microsoft.com/office/drawing/2014/main" id="{F72A3028-8B63-5839-5C17-9FEE3D5EEA41}"/>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bg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6EE881AC-9F0B-8A67-2800-BA379A144F6C}"/>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0">
                <a:solidFill>
                  <a:schemeClr val="bg1"/>
                </a:solidFill>
                <a:latin typeface="+mj-ea"/>
                <a:ea typeface="+mj-ea"/>
              </a:defRPr>
            </a:lvl1pPr>
          </a:lstStyle>
          <a:p>
            <a:r>
              <a:rPr lang="ja-JP" altLang="en-US"/>
              <a:t>タイトルが入ります</a:t>
            </a:r>
            <a:endParaRPr lang="en-US"/>
          </a:p>
        </p:txBody>
      </p:sp>
      <p:sp>
        <p:nvSpPr>
          <p:cNvPr id="11" name="正方形/長方形 10">
            <a:extLst>
              <a:ext uri="{FF2B5EF4-FFF2-40B4-BE49-F238E27FC236}">
                <a16:creationId xmlns:a16="http://schemas.microsoft.com/office/drawing/2014/main" id="{2E03C316-8F5D-4D06-0CEA-3CBFA4DDAEE5}"/>
              </a:ext>
            </a:extLst>
          </p:cNvPr>
          <p:cNvSpPr/>
          <p:nvPr userDrawn="1"/>
        </p:nvSpPr>
        <p:spPr>
          <a:xfrm flipV="1">
            <a:off x="723630" y="734794"/>
            <a:ext cx="10729319" cy="810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3" name="Text Placeholder 3">
            <a:extLst>
              <a:ext uri="{FF2B5EF4-FFF2-40B4-BE49-F238E27FC236}">
                <a16:creationId xmlns:a16="http://schemas.microsoft.com/office/drawing/2014/main" id="{A75236A4-19FE-66B8-28AB-FE24B4935AA7}"/>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bg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2" name="テキスト ボックス 1">
            <a:extLst>
              <a:ext uri="{FF2B5EF4-FFF2-40B4-BE49-F238E27FC236}">
                <a16:creationId xmlns:a16="http://schemas.microsoft.com/office/drawing/2014/main" id="{57118DB0-D694-263A-335C-6D6B33275B18}"/>
              </a:ext>
            </a:extLst>
          </p:cNvPr>
          <p:cNvSpPr txBox="1"/>
          <p:nvPr userDrawn="1"/>
        </p:nvSpPr>
        <p:spPr>
          <a:xfrm>
            <a:off x="-1925" y="6598271"/>
            <a:ext cx="3345200" cy="261610"/>
          </a:xfrm>
          <a:prstGeom prst="rect">
            <a:avLst/>
          </a:prstGeom>
          <a:noFill/>
        </p:spPr>
        <p:txBody>
          <a:bodyPr wrap="square">
            <a:spAutoFit/>
          </a:bodyPr>
          <a:lstStyle/>
          <a:p>
            <a:r>
              <a:rPr lang="en-US" altLang="ja-JP" sz="1050">
                <a:solidFill>
                  <a:schemeClr val="bg1"/>
                </a:solidFill>
              </a:rPr>
              <a:t>© 2025 Low Code Inc. All rights reserved.</a:t>
            </a:r>
            <a:endParaRPr lang="ja-JP" altLang="en-US" sz="1050">
              <a:solidFill>
                <a:schemeClr val="bg1"/>
              </a:solidFill>
            </a:endParaRPr>
          </a:p>
        </p:txBody>
      </p:sp>
    </p:spTree>
    <p:extLst>
      <p:ext uri="{BB962C8B-B14F-4D97-AF65-F5344CB8AC3E}">
        <p14:creationId xmlns:p14="http://schemas.microsoft.com/office/powerpoint/2010/main" val="2622215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p:bg>
      <p:bgPr>
        <a:solidFill>
          <a:schemeClr val="tx2"/>
        </a:solidFill>
        <a:effectLst/>
      </p:bgPr>
    </p:bg>
    <p:spTree>
      <p:nvGrpSpPr>
        <p:cNvPr id="1" name=""/>
        <p:cNvGrpSpPr/>
        <p:nvPr/>
      </p:nvGrpSpPr>
      <p:grpSpPr>
        <a:xfrm>
          <a:off x="0" y="0"/>
          <a:ext cx="0" cy="0"/>
          <a:chOff x="0" y="0"/>
          <a:chExt cx="0" cy="0"/>
        </a:xfrm>
      </p:grpSpPr>
      <p:sp>
        <p:nvSpPr>
          <p:cNvPr id="13" name="テキスト プレースホルダー 12">
            <a:extLst>
              <a:ext uri="{FF2B5EF4-FFF2-40B4-BE49-F238E27FC236}">
                <a16:creationId xmlns:a16="http://schemas.microsoft.com/office/drawing/2014/main" id="{486585F4-B4A4-7E2B-5A9B-E0D9D6AF55BF}"/>
              </a:ext>
            </a:extLst>
          </p:cNvPr>
          <p:cNvSpPr>
            <a:spLocks noGrp="1"/>
          </p:cNvSpPr>
          <p:nvPr>
            <p:ph type="body" sz="quarter" idx="13" hasCustomPrompt="1"/>
          </p:nvPr>
        </p:nvSpPr>
        <p:spPr>
          <a:xfrm>
            <a:off x="838202" y="3083902"/>
            <a:ext cx="2102772" cy="1488294"/>
          </a:xfrm>
          <a:prstGeom prst="rect">
            <a:avLst/>
          </a:prstGeom>
        </p:spPr>
        <p:txBody>
          <a:bodyPr>
            <a:noAutofit/>
          </a:bodyPr>
          <a:lstStyle>
            <a:lvl1pPr marL="0" indent="0" algn="ctr">
              <a:buNone/>
              <a:defRPr sz="12701" b="1">
                <a:solidFill>
                  <a:schemeClr val="bg1"/>
                </a:solidFill>
                <a:latin typeface="+mn-lt"/>
                <a:ea typeface="+mj-ea"/>
              </a:defRPr>
            </a:lvl1pPr>
          </a:lstStyle>
          <a:p>
            <a:pPr lvl="0"/>
            <a:r>
              <a:rPr kumimoji="1" lang="en-US" altLang="ja-JP"/>
              <a:t>01</a:t>
            </a:r>
            <a:endParaRPr kumimoji="1" lang="ja-JP" altLang="en-US"/>
          </a:p>
        </p:txBody>
      </p:sp>
      <p:sp>
        <p:nvSpPr>
          <p:cNvPr id="6" name="正方形/長方形 5">
            <a:extLst>
              <a:ext uri="{FF2B5EF4-FFF2-40B4-BE49-F238E27FC236}">
                <a16:creationId xmlns:a16="http://schemas.microsoft.com/office/drawing/2014/main" id="{8A26D1C4-164F-4322-A4D6-2E3981258678}"/>
              </a:ext>
            </a:extLst>
          </p:cNvPr>
          <p:cNvSpPr/>
          <p:nvPr userDrawn="1"/>
        </p:nvSpPr>
        <p:spPr>
          <a:xfrm>
            <a:off x="0" y="4572196"/>
            <a:ext cx="12192213" cy="2286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7" name="Title 1">
            <a:extLst>
              <a:ext uri="{FF2B5EF4-FFF2-40B4-BE49-F238E27FC236}">
                <a16:creationId xmlns:a16="http://schemas.microsoft.com/office/drawing/2014/main" id="{B79C810F-C10A-4F50-B56E-13AAF759F028}"/>
              </a:ext>
            </a:extLst>
          </p:cNvPr>
          <p:cNvSpPr>
            <a:spLocks noGrp="1"/>
          </p:cNvSpPr>
          <p:nvPr>
            <p:ph type="title" hasCustomPrompt="1"/>
          </p:nvPr>
        </p:nvSpPr>
        <p:spPr>
          <a:xfrm>
            <a:off x="838200" y="5052463"/>
            <a:ext cx="10515600" cy="1325563"/>
          </a:xfrm>
          <a:prstGeom prst="rect">
            <a:avLst/>
          </a:prstGeom>
        </p:spPr>
        <p:txBody>
          <a:bodyPr/>
          <a:lstStyle>
            <a:lvl1pPr>
              <a:defRPr>
                <a:latin typeface="+mn-ea"/>
                <a:ea typeface="+mn-ea"/>
              </a:defRPr>
            </a:lvl1pPr>
          </a:lstStyle>
          <a:p>
            <a:r>
              <a:rPr lang="ja-JP" altLang="en-US"/>
              <a:t>大見出しが入ります</a:t>
            </a:r>
            <a:endParaRPr lang="en-US"/>
          </a:p>
        </p:txBody>
      </p:sp>
      <p:sp>
        <p:nvSpPr>
          <p:cNvPr id="2" name="テキスト ボックス 1">
            <a:extLst>
              <a:ext uri="{FF2B5EF4-FFF2-40B4-BE49-F238E27FC236}">
                <a16:creationId xmlns:a16="http://schemas.microsoft.com/office/drawing/2014/main" id="{C5BDC495-5B43-81E7-C3A6-F1843E74FD46}"/>
              </a:ext>
            </a:extLst>
          </p:cNvPr>
          <p:cNvSpPr txBox="1"/>
          <p:nvPr userDrawn="1"/>
        </p:nvSpPr>
        <p:spPr>
          <a:xfrm>
            <a:off x="-1925" y="6596390"/>
            <a:ext cx="3345200" cy="261610"/>
          </a:xfrm>
          <a:prstGeom prst="rect">
            <a:avLst/>
          </a:prstGeom>
          <a:noFill/>
        </p:spPr>
        <p:txBody>
          <a:bodyPr wrap="square">
            <a:spAutoFit/>
          </a:bodyPr>
          <a:lstStyle/>
          <a:p>
            <a:r>
              <a:rPr lang="en-US" altLang="ja-JP" sz="1050">
                <a:solidFill>
                  <a:schemeClr val="tx1">
                    <a:lumMod val="50000"/>
                    <a:lumOff val="50000"/>
                  </a:schemeClr>
                </a:solidFill>
              </a:rPr>
              <a:t>© 2025 Low Code Inc. All rights reserved.</a:t>
            </a:r>
            <a:endParaRPr lang="ja-JP" altLang="en-US" sz="1050">
              <a:solidFill>
                <a:schemeClr val="tx1">
                  <a:lumMod val="50000"/>
                  <a:lumOff val="50000"/>
                </a:schemeClr>
              </a:solidFill>
            </a:endParaRPr>
          </a:p>
        </p:txBody>
      </p:sp>
    </p:spTree>
    <p:extLst>
      <p:ext uri="{BB962C8B-B14F-4D97-AF65-F5344CB8AC3E}">
        <p14:creationId xmlns:p14="http://schemas.microsoft.com/office/powerpoint/2010/main" val="2737734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白紙">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4016915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タイトル＋見出し">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2546055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のみ">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Tree>
    <p:extLst>
      <p:ext uri="{BB962C8B-B14F-4D97-AF65-F5344CB8AC3E}">
        <p14:creationId xmlns:p14="http://schemas.microsoft.com/office/powerpoint/2010/main" val="3954299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見出し＋本文">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580" y="943691"/>
            <a:ext cx="10714369" cy="689877"/>
          </a:xfrm>
          <a:prstGeom prst="rect">
            <a:avLst/>
          </a:prstGeom>
        </p:spPr>
        <p:txBody>
          <a:bodyPr lIns="0" tIns="0" rIns="0" bIns="0">
            <a:noAutofit/>
          </a:bodyPr>
          <a:lstStyle>
            <a:lvl1pPr algn="ctr">
              <a:defRPr sz="3992" b="1">
                <a:solidFill>
                  <a:schemeClr val="accent1"/>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2" name="Text Placeholder 3">
            <a:extLst>
              <a:ext uri="{FF2B5EF4-FFF2-40B4-BE49-F238E27FC236}">
                <a16:creationId xmlns:a16="http://schemas.microsoft.com/office/drawing/2014/main" id="{6DD37CF5-7C7F-3337-6675-B8C0883DE6AE}"/>
              </a:ext>
            </a:extLst>
          </p:cNvPr>
          <p:cNvSpPr>
            <a:spLocks noGrp="1"/>
          </p:cNvSpPr>
          <p:nvPr>
            <p:ph type="body" sz="half" idx="13" hasCustomPrompt="1"/>
          </p:nvPr>
        </p:nvSpPr>
        <p:spPr>
          <a:xfrm>
            <a:off x="738238" y="532239"/>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5" name="Text Placeholder 3">
            <a:extLst>
              <a:ext uri="{FF2B5EF4-FFF2-40B4-BE49-F238E27FC236}">
                <a16:creationId xmlns:a16="http://schemas.microsoft.com/office/drawing/2014/main" id="{A6F2A11C-217B-3933-B175-8675779FAA7D}"/>
              </a:ext>
            </a:extLst>
          </p:cNvPr>
          <p:cNvSpPr>
            <a:spLocks noGrp="1"/>
          </p:cNvSpPr>
          <p:nvPr>
            <p:ph type="body" sz="half" idx="14" hasCustomPrompt="1"/>
          </p:nvPr>
        </p:nvSpPr>
        <p:spPr>
          <a:xfrm>
            <a:off x="738580" y="1796220"/>
            <a:ext cx="10714369" cy="954702"/>
          </a:xfrm>
          <a:prstGeom prst="rect">
            <a:avLst/>
          </a:prstGeom>
        </p:spPr>
        <p:txBody>
          <a:bodyPr lIns="0" tIns="0" rIns="0" bIns="0">
            <a:noAutofit/>
          </a:bodyPr>
          <a:lstStyle>
            <a:lvl1pPr marL="0" marR="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sz="1633"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Tree>
    <p:extLst>
      <p:ext uri="{BB962C8B-B14F-4D97-AF65-F5344CB8AC3E}">
        <p14:creationId xmlns:p14="http://schemas.microsoft.com/office/powerpoint/2010/main" val="195162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大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580" y="943691"/>
            <a:ext cx="10714369" cy="689877"/>
          </a:xfrm>
          <a:prstGeom prst="rect">
            <a:avLst/>
          </a:prstGeom>
        </p:spPr>
        <p:txBody>
          <a:bodyPr lIns="0" tIns="0" rIns="0" bIns="0">
            <a:noAutofit/>
          </a:bodyPr>
          <a:lstStyle>
            <a:lvl1pPr algn="ctr">
              <a:defRPr sz="3992" b="1">
                <a:solidFill>
                  <a:schemeClr val="accent1"/>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3004430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922" y="260550"/>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7" name="Text Placeholder 3">
            <a:extLst>
              <a:ext uri="{FF2B5EF4-FFF2-40B4-BE49-F238E27FC236}">
                <a16:creationId xmlns:a16="http://schemas.microsoft.com/office/drawing/2014/main" id="{82F3A894-26DD-135E-5E9C-9F62E01F9C79}"/>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3601827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1933337"/>
            <a:ext cx="12192213" cy="2991325"/>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1932683"/>
            <a:ext cx="7926384" cy="2992634"/>
          </a:xfrm>
          <a:prstGeom prst="rect">
            <a:avLst/>
          </a:prstGeom>
        </p:spPr>
        <p:txBody>
          <a:bodyPr anchor="ctr"/>
          <a:lstStyle>
            <a:lvl1pPr marL="0" indent="0" algn="l">
              <a:lnSpc>
                <a:spcPct val="110000"/>
              </a:lnSpc>
              <a:buNone/>
              <a:defRPr sz="3266"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2517553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8045051"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5370619" y="22188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2664334" y="22197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4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906515" y="2950543"/>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grpSp>
        <p:nvGrpSpPr>
          <p:cNvPr id="84" name="グループ化 83">
            <a:extLst>
              <a:ext uri="{FF2B5EF4-FFF2-40B4-BE49-F238E27FC236}">
                <a16:creationId xmlns:a16="http://schemas.microsoft.com/office/drawing/2014/main" id="{F1BCF46B-65B4-214A-25C4-A4B14A484C6A}"/>
              </a:ext>
            </a:extLst>
          </p:cNvPr>
          <p:cNvGrpSpPr/>
          <p:nvPr userDrawn="1"/>
        </p:nvGrpSpPr>
        <p:grpSpPr>
          <a:xfrm>
            <a:off x="8825582" y="2219733"/>
            <a:ext cx="190132" cy="3951134"/>
            <a:chOff x="3779235" y="2382999"/>
            <a:chExt cx="209591" cy="4378192"/>
          </a:xfrm>
        </p:grpSpPr>
        <p:grpSp>
          <p:nvGrpSpPr>
            <p:cNvPr id="85" name="グループ化 84">
              <a:extLst>
                <a:ext uri="{FF2B5EF4-FFF2-40B4-BE49-F238E27FC236}">
                  <a16:creationId xmlns:a16="http://schemas.microsoft.com/office/drawing/2014/main" id="{792DEC4C-0FB0-19E3-5AB2-2BCF152EB512}"/>
                </a:ext>
              </a:extLst>
            </p:cNvPr>
            <p:cNvGrpSpPr/>
            <p:nvPr userDrawn="1"/>
          </p:nvGrpSpPr>
          <p:grpSpPr>
            <a:xfrm>
              <a:off x="3779235" y="2382999"/>
              <a:ext cx="209107" cy="2184968"/>
              <a:chOff x="919218" y="2399232"/>
              <a:chExt cx="206847" cy="2167379"/>
            </a:xfrm>
          </p:grpSpPr>
          <p:cxnSp>
            <p:nvCxnSpPr>
              <p:cNvPr id="88" name="直線コネクタ 87">
                <a:extLst>
                  <a:ext uri="{FF2B5EF4-FFF2-40B4-BE49-F238E27FC236}">
                    <a16:creationId xmlns:a16="http://schemas.microsoft.com/office/drawing/2014/main" id="{C8625060-6C63-6F9F-2FF3-C68399D69F8A}"/>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9" name="直線コネクタ 88">
                <a:extLst>
                  <a:ext uri="{FF2B5EF4-FFF2-40B4-BE49-F238E27FC236}">
                    <a16:creationId xmlns:a16="http://schemas.microsoft.com/office/drawing/2014/main" id="{198C3B02-FFBA-B4D0-D449-DB73FECE5BEE}"/>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6" name="直線コネクタ 85">
              <a:extLst>
                <a:ext uri="{FF2B5EF4-FFF2-40B4-BE49-F238E27FC236}">
                  <a16:creationId xmlns:a16="http://schemas.microsoft.com/office/drawing/2014/main" id="{672CB4A5-3AD3-B0D6-D823-5BC5E863D436}"/>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7" name="直線コネクタ 86">
              <a:extLst>
                <a:ext uri="{FF2B5EF4-FFF2-40B4-BE49-F238E27FC236}">
                  <a16:creationId xmlns:a16="http://schemas.microsoft.com/office/drawing/2014/main" id="{A0DD468B-01C0-2F4F-4825-F6A8AD1D02AE}"/>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6094201" y="2172072"/>
            <a:ext cx="190132" cy="395113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05792" y="2172072"/>
            <a:ext cx="0" cy="3956109"/>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p:nvPr userDrawn="1"/>
        </p:nvCxnSpPr>
        <p:spPr>
          <a:xfrm>
            <a:off x="11488253" y="2184427"/>
            <a:ext cx="0" cy="3956109"/>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3397477" y="2210557"/>
            <a:ext cx="190132" cy="395113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905976"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3605759" y="3445018"/>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6324530"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5" name="Text Placeholder 3">
            <a:extLst>
              <a:ext uri="{FF2B5EF4-FFF2-40B4-BE49-F238E27FC236}">
                <a16:creationId xmlns:a16="http://schemas.microsoft.com/office/drawing/2014/main" id="{5DC40CB0-CF89-06B0-15F2-001456AED622}"/>
              </a:ext>
            </a:extLst>
          </p:cNvPr>
          <p:cNvSpPr>
            <a:spLocks noGrp="1"/>
          </p:cNvSpPr>
          <p:nvPr>
            <p:ph type="body" sz="half" idx="16" hasCustomPrompt="1"/>
          </p:nvPr>
        </p:nvSpPr>
        <p:spPr>
          <a:xfrm>
            <a:off x="9000721"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10" name="Title 1">
            <a:extLst>
              <a:ext uri="{FF2B5EF4-FFF2-40B4-BE49-F238E27FC236}">
                <a16:creationId xmlns:a16="http://schemas.microsoft.com/office/drawing/2014/main" id="{EA17699E-E28A-A32E-64EF-819E35538314}"/>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111" name="正方形/長方形 110">
            <a:extLst>
              <a:ext uri="{FF2B5EF4-FFF2-40B4-BE49-F238E27FC236}">
                <a16:creationId xmlns:a16="http://schemas.microsoft.com/office/drawing/2014/main" id="{D9354407-8F6B-98CD-0219-8ECFBEC0C56D}"/>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8E1F175E-5ECB-471A-1E2D-8D505757BC59}"/>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3605760" y="2990121"/>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6317944" y="2964552"/>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6" name="Text Placeholder 3">
            <a:extLst>
              <a:ext uri="{FF2B5EF4-FFF2-40B4-BE49-F238E27FC236}">
                <a16:creationId xmlns:a16="http://schemas.microsoft.com/office/drawing/2014/main" id="{F9581288-422D-8EE3-EF12-2FF43008D0D6}"/>
              </a:ext>
            </a:extLst>
          </p:cNvPr>
          <p:cNvSpPr>
            <a:spLocks noGrp="1"/>
          </p:cNvSpPr>
          <p:nvPr>
            <p:ph type="body" sz="half" idx="20" hasCustomPrompt="1"/>
          </p:nvPr>
        </p:nvSpPr>
        <p:spPr>
          <a:xfrm>
            <a:off x="8997105" y="2990121"/>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10" name="Text Placeholder 3">
            <a:extLst>
              <a:ext uri="{FF2B5EF4-FFF2-40B4-BE49-F238E27FC236}">
                <a16:creationId xmlns:a16="http://schemas.microsoft.com/office/drawing/2014/main" id="{43F98BC1-121C-665C-5E5A-3C2BF34A4CA7}"/>
              </a:ext>
            </a:extLst>
          </p:cNvPr>
          <p:cNvSpPr>
            <a:spLocks noGrp="1"/>
          </p:cNvSpPr>
          <p:nvPr>
            <p:ph type="body" sz="half" idx="24" hasCustomPrompt="1"/>
          </p:nvPr>
        </p:nvSpPr>
        <p:spPr>
          <a:xfrm>
            <a:off x="10741868"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4</a:t>
            </a:r>
            <a:endParaRPr kumimoji="1" lang="ja-JP" altLang="en-US"/>
          </a:p>
        </p:txBody>
      </p:sp>
    </p:spTree>
    <p:extLst>
      <p:ext uri="{BB962C8B-B14F-4D97-AF65-F5344CB8AC3E}">
        <p14:creationId xmlns:p14="http://schemas.microsoft.com/office/powerpoint/2010/main" val="1756736081"/>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10626804"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6969174" y="22188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3311643" y="22197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4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972157" y="2950543"/>
            <a:ext cx="2179960"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7830723" y="2191314"/>
            <a:ext cx="190132" cy="395113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05792" y="2188827"/>
            <a:ext cx="0" cy="3956109"/>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a:cxnSpLocks/>
          </p:cNvCxnSpPr>
          <p:nvPr userDrawn="1"/>
        </p:nvCxnSpPr>
        <p:spPr>
          <a:xfrm>
            <a:off x="11488253" y="2188827"/>
            <a:ext cx="0" cy="3956109"/>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4173192" y="2191314"/>
            <a:ext cx="190132" cy="395113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971617" y="3579606"/>
            <a:ext cx="2939146"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4441765" y="3590954"/>
            <a:ext cx="3126527"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8099735" y="3579606"/>
            <a:ext cx="3126525"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4441766" y="2990121"/>
            <a:ext cx="2365495"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8093150" y="2964552"/>
            <a:ext cx="2271123"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11" name="Title 1">
            <a:extLst>
              <a:ext uri="{FF2B5EF4-FFF2-40B4-BE49-F238E27FC236}">
                <a16:creationId xmlns:a16="http://schemas.microsoft.com/office/drawing/2014/main" id="{D771318B-6A52-C879-20C9-001B5F4C0137}"/>
              </a:ext>
            </a:extLst>
          </p:cNvPr>
          <p:cNvSpPr>
            <a:spLocks noGrp="1"/>
          </p:cNvSpPr>
          <p:nvPr>
            <p:ph type="title" hasCustomPrompt="1"/>
          </p:nvPr>
        </p:nvSpPr>
        <p:spPr>
          <a:xfrm>
            <a:off x="738580" y="788640"/>
            <a:ext cx="10714369" cy="689877"/>
          </a:xfrm>
          <a:prstGeom prst="rect">
            <a:avLst/>
          </a:prstGeom>
        </p:spPr>
        <p:txBody>
          <a:bodyPr lIns="0" tIns="0" rIns="0" bIns="0">
            <a:noAutofit/>
          </a:bodyPr>
          <a:lstStyle>
            <a:lvl1pPr algn="ctr">
              <a:defRPr sz="3992" b="1">
                <a:solidFill>
                  <a:schemeClr val="bg2">
                    <a:lumMod val="50000"/>
                  </a:schemeClr>
                </a:solidFill>
                <a:latin typeface="+mn-ea"/>
                <a:ea typeface="+mn-ea"/>
              </a:defRPr>
            </a:lvl1pPr>
          </a:lstStyle>
          <a:p>
            <a:r>
              <a:rPr lang="ja-JP" altLang="en-US"/>
              <a:t>タイトルが入ります</a:t>
            </a:r>
            <a:endParaRPr lang="en-US"/>
          </a:p>
        </p:txBody>
      </p:sp>
      <p:sp>
        <p:nvSpPr>
          <p:cNvPr id="12" name="Text Placeholder 3">
            <a:extLst>
              <a:ext uri="{FF2B5EF4-FFF2-40B4-BE49-F238E27FC236}">
                <a16:creationId xmlns:a16="http://schemas.microsoft.com/office/drawing/2014/main" id="{2C7FCACB-61D6-0A4A-592D-E89D26182D9C}"/>
              </a:ext>
            </a:extLst>
          </p:cNvPr>
          <p:cNvSpPr>
            <a:spLocks noGrp="1"/>
          </p:cNvSpPr>
          <p:nvPr>
            <p:ph type="body" sz="half" idx="25" hasCustomPrompt="1"/>
          </p:nvPr>
        </p:nvSpPr>
        <p:spPr>
          <a:xfrm>
            <a:off x="738238" y="377188"/>
            <a:ext cx="10714369" cy="222492"/>
          </a:xfrm>
          <a:prstGeom prst="rect">
            <a:avLst/>
          </a:prstGeom>
        </p:spPr>
        <p:txBody>
          <a:bodyPr lIns="0" tIns="0" rIns="0" bIns="0">
            <a:noAutofit/>
          </a:bodyPr>
          <a:lstStyle>
            <a:lvl1pPr marL="0" indent="0" algn="l">
              <a:buNone/>
              <a:defRPr sz="1814" b="1">
                <a:solidFill>
                  <a:schemeClr val="tx2"/>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985273255"/>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タイトルのみ">
    <p:spTree>
      <p:nvGrpSpPr>
        <p:cNvPr id="1" name=""/>
        <p:cNvGrpSpPr/>
        <p:nvPr/>
      </p:nvGrpSpPr>
      <p:grpSpPr>
        <a:xfrm>
          <a:off x="0" y="0"/>
          <a:ext cx="0" cy="0"/>
          <a:chOff x="0" y="0"/>
          <a:chExt cx="0" cy="0"/>
        </a:xfrm>
      </p:grpSpPr>
      <p:grpSp>
        <p:nvGrpSpPr>
          <p:cNvPr id="23" name="グループ化 22">
            <a:extLst>
              <a:ext uri="{FF2B5EF4-FFF2-40B4-BE49-F238E27FC236}">
                <a16:creationId xmlns:a16="http://schemas.microsoft.com/office/drawing/2014/main" id="{B9DD1BC7-3980-0C96-2751-31697F7F4867}"/>
              </a:ext>
            </a:extLst>
          </p:cNvPr>
          <p:cNvGrpSpPr/>
          <p:nvPr userDrawn="1"/>
        </p:nvGrpSpPr>
        <p:grpSpPr>
          <a:xfrm>
            <a:off x="8514512" y="1906623"/>
            <a:ext cx="3072594" cy="483007"/>
            <a:chOff x="9638795" y="2160001"/>
            <a:chExt cx="3387055" cy="3077019"/>
          </a:xfrm>
          <a:solidFill>
            <a:schemeClr val="accent1"/>
          </a:solidFill>
          <a:effectLst/>
        </p:grpSpPr>
        <p:sp>
          <p:nvSpPr>
            <p:cNvPr id="9" name="正方形/長方形 8">
              <a:extLst>
                <a:ext uri="{FF2B5EF4-FFF2-40B4-BE49-F238E27FC236}">
                  <a16:creationId xmlns:a16="http://schemas.microsoft.com/office/drawing/2014/main" id="{5B4B8025-F3FB-4423-A09F-29504390EA20}"/>
                </a:ext>
              </a:extLst>
            </p:cNvPr>
            <p:cNvSpPr/>
            <p:nvPr userDrawn="1"/>
          </p:nvSpPr>
          <p:spPr>
            <a:xfrm>
              <a:off x="9638795"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2" name="二等辺三角形 11">
              <a:extLst>
                <a:ext uri="{FF2B5EF4-FFF2-40B4-BE49-F238E27FC236}">
                  <a16:creationId xmlns:a16="http://schemas.microsoft.com/office/drawing/2014/main" id="{5170295F-A81D-48B3-AD2B-AE78494A83A6}"/>
                </a:ext>
              </a:extLst>
            </p:cNvPr>
            <p:cNvSpPr/>
            <p:nvPr userDrawn="1"/>
          </p:nvSpPr>
          <p:spPr>
            <a:xfrm rot="5400000">
              <a:off x="11261869" y="3473040"/>
              <a:ext cx="3077019" cy="450942"/>
            </a:xfrm>
            <a:prstGeom prst="triangle">
              <a:avLst/>
            </a:prstGeom>
            <a:grp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8" name="二等辺三角形 10">
            <a:extLst>
              <a:ext uri="{FF2B5EF4-FFF2-40B4-BE49-F238E27FC236}">
                <a16:creationId xmlns:a16="http://schemas.microsoft.com/office/drawing/2014/main" id="{7E812083-83F7-B2C2-81AC-BF8D56D23646}"/>
              </a:ext>
            </a:extLst>
          </p:cNvPr>
          <p:cNvSpPr/>
          <p:nvPr userDrawn="1"/>
        </p:nvSpPr>
        <p:spPr>
          <a:xfrm rot="5400000">
            <a:off x="8448596" y="1902863"/>
            <a:ext cx="575877"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a:t>C</a:t>
            </a:r>
            <a:endParaRPr kumimoji="1" lang="ja-JP" altLang="en-US" sz="1633"/>
          </a:p>
        </p:txBody>
      </p:sp>
      <p:grpSp>
        <p:nvGrpSpPr>
          <p:cNvPr id="22" name="グループ化 21">
            <a:extLst>
              <a:ext uri="{FF2B5EF4-FFF2-40B4-BE49-F238E27FC236}">
                <a16:creationId xmlns:a16="http://schemas.microsoft.com/office/drawing/2014/main" id="{D05F8747-21CD-50CD-6E50-56D00AB8B3AA}"/>
              </a:ext>
            </a:extLst>
          </p:cNvPr>
          <p:cNvGrpSpPr/>
          <p:nvPr userDrawn="1"/>
        </p:nvGrpSpPr>
        <p:grpSpPr>
          <a:xfrm>
            <a:off x="5846182" y="1906623"/>
            <a:ext cx="3077467" cy="483008"/>
            <a:chOff x="6697379" y="2160001"/>
            <a:chExt cx="3392426" cy="3077023"/>
          </a:xfrm>
          <a:solidFill>
            <a:schemeClr val="accent1"/>
          </a:solidFill>
        </p:grpSpPr>
        <p:sp>
          <p:nvSpPr>
            <p:cNvPr id="8" name="正方形/長方形 7">
              <a:extLst>
                <a:ext uri="{FF2B5EF4-FFF2-40B4-BE49-F238E27FC236}">
                  <a16:creationId xmlns:a16="http://schemas.microsoft.com/office/drawing/2014/main" id="{47A7C1DC-6837-43AB-9B9F-2850EDF1B6E9}"/>
                </a:ext>
              </a:extLst>
            </p:cNvPr>
            <p:cNvSpPr/>
            <p:nvPr userDrawn="1"/>
          </p:nvSpPr>
          <p:spPr>
            <a:xfrm>
              <a:off x="6697379"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0" name="二等辺三角形 9">
              <a:extLst>
                <a:ext uri="{FF2B5EF4-FFF2-40B4-BE49-F238E27FC236}">
                  <a16:creationId xmlns:a16="http://schemas.microsoft.com/office/drawing/2014/main" id="{DD857EBF-638D-4B7A-A9BA-ADD063F7F618}"/>
                </a:ext>
              </a:extLst>
            </p:cNvPr>
            <p:cNvSpPr/>
            <p:nvPr userDrawn="1"/>
          </p:nvSpPr>
          <p:spPr>
            <a:xfrm rot="5400000">
              <a:off x="8325824" y="3473042"/>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7" name="二等辺三角形 10">
            <a:extLst>
              <a:ext uri="{FF2B5EF4-FFF2-40B4-BE49-F238E27FC236}">
                <a16:creationId xmlns:a16="http://schemas.microsoft.com/office/drawing/2014/main" id="{EA6D61CE-38AE-2D01-DAF3-8BB8B78516D3}"/>
              </a:ext>
            </a:extLst>
          </p:cNvPr>
          <p:cNvSpPr/>
          <p:nvPr userDrawn="1"/>
        </p:nvSpPr>
        <p:spPr>
          <a:xfrm rot="5400000">
            <a:off x="5780669" y="1902862"/>
            <a:ext cx="575877"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a:t>C</a:t>
            </a:r>
            <a:endParaRPr kumimoji="1" lang="ja-JP" altLang="en-US" sz="1633"/>
          </a:p>
        </p:txBody>
      </p:sp>
      <p:grpSp>
        <p:nvGrpSpPr>
          <p:cNvPr id="20" name="グループ化 19">
            <a:extLst>
              <a:ext uri="{FF2B5EF4-FFF2-40B4-BE49-F238E27FC236}">
                <a16:creationId xmlns:a16="http://schemas.microsoft.com/office/drawing/2014/main" id="{8D8DE07F-8DF4-D9B3-1D45-04483F63B588}"/>
              </a:ext>
            </a:extLst>
          </p:cNvPr>
          <p:cNvGrpSpPr/>
          <p:nvPr userDrawn="1"/>
        </p:nvGrpSpPr>
        <p:grpSpPr>
          <a:xfrm>
            <a:off x="3177852" y="1906623"/>
            <a:ext cx="3077406" cy="483008"/>
            <a:chOff x="3755962" y="2160001"/>
            <a:chExt cx="3392359" cy="3077022"/>
          </a:xfrm>
          <a:solidFill>
            <a:schemeClr val="accent1"/>
          </a:solidFill>
        </p:grpSpPr>
        <p:sp>
          <p:nvSpPr>
            <p:cNvPr id="6" name="正方形/長方形 5">
              <a:extLst>
                <a:ext uri="{FF2B5EF4-FFF2-40B4-BE49-F238E27FC236}">
                  <a16:creationId xmlns:a16="http://schemas.microsoft.com/office/drawing/2014/main" id="{7F866882-3358-4B1C-B9BB-23453510852A}"/>
                </a:ext>
              </a:extLst>
            </p:cNvPr>
            <p:cNvSpPr/>
            <p:nvPr userDrawn="1"/>
          </p:nvSpPr>
          <p:spPr>
            <a:xfrm>
              <a:off x="3755962"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1" name="二等辺三角形 10">
              <a:extLst>
                <a:ext uri="{FF2B5EF4-FFF2-40B4-BE49-F238E27FC236}">
                  <a16:creationId xmlns:a16="http://schemas.microsoft.com/office/drawing/2014/main" id="{E12EFBD9-B0DB-467D-8EA7-95A95923D774}"/>
                </a:ext>
              </a:extLst>
            </p:cNvPr>
            <p:cNvSpPr/>
            <p:nvPr userDrawn="1"/>
          </p:nvSpPr>
          <p:spPr>
            <a:xfrm rot="5400000">
              <a:off x="5384340" y="3473041"/>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4" name="二等辺三角形 10">
            <a:extLst>
              <a:ext uri="{FF2B5EF4-FFF2-40B4-BE49-F238E27FC236}">
                <a16:creationId xmlns:a16="http://schemas.microsoft.com/office/drawing/2014/main" id="{BD8C0228-5963-C28B-1010-9AB04B993B68}"/>
              </a:ext>
            </a:extLst>
          </p:cNvPr>
          <p:cNvSpPr/>
          <p:nvPr userDrawn="1"/>
        </p:nvSpPr>
        <p:spPr>
          <a:xfrm rot="5400000">
            <a:off x="3112741" y="1902861"/>
            <a:ext cx="575875"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err="1"/>
              <a:t>Cz</a:t>
            </a:r>
            <a:endParaRPr kumimoji="1" lang="ja-JP" altLang="en-US" sz="1633"/>
          </a:p>
        </p:txBody>
      </p:sp>
      <p:grpSp>
        <p:nvGrpSpPr>
          <p:cNvPr id="21" name="グループ化 20">
            <a:extLst>
              <a:ext uri="{FF2B5EF4-FFF2-40B4-BE49-F238E27FC236}">
                <a16:creationId xmlns:a16="http://schemas.microsoft.com/office/drawing/2014/main" id="{48256F1F-06F9-C3BB-40CB-BF4A3CBCDC96}"/>
              </a:ext>
            </a:extLst>
          </p:cNvPr>
          <p:cNvGrpSpPr/>
          <p:nvPr userDrawn="1"/>
        </p:nvGrpSpPr>
        <p:grpSpPr>
          <a:xfrm>
            <a:off x="509522" y="1906623"/>
            <a:ext cx="3077006" cy="483007"/>
            <a:chOff x="814546" y="2160001"/>
            <a:chExt cx="3391918" cy="3077021"/>
          </a:xfrm>
          <a:solidFill>
            <a:schemeClr val="accent1"/>
          </a:solidFill>
        </p:grpSpPr>
        <p:sp>
          <p:nvSpPr>
            <p:cNvPr id="3" name="正方形/長方形 2">
              <a:extLst>
                <a:ext uri="{FF2B5EF4-FFF2-40B4-BE49-F238E27FC236}">
                  <a16:creationId xmlns:a16="http://schemas.microsoft.com/office/drawing/2014/main" id="{E9AC23DF-6E82-48A5-AA8E-A4275CE6481B}"/>
                </a:ext>
              </a:extLst>
            </p:cNvPr>
            <p:cNvSpPr/>
            <p:nvPr userDrawn="1"/>
          </p:nvSpPr>
          <p:spPr>
            <a:xfrm>
              <a:off x="814546"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4" name="二等辺三角形 10">
              <a:extLst>
                <a:ext uri="{FF2B5EF4-FFF2-40B4-BE49-F238E27FC236}">
                  <a16:creationId xmlns:a16="http://schemas.microsoft.com/office/drawing/2014/main" id="{F4FAD457-5C19-A5E1-2E3A-04CC1C8EF011}"/>
                </a:ext>
              </a:extLst>
            </p:cNvPr>
            <p:cNvSpPr/>
            <p:nvPr userDrawn="1"/>
          </p:nvSpPr>
          <p:spPr>
            <a:xfrm rot="5400000">
              <a:off x="2442483" y="3473040"/>
              <a:ext cx="3077020" cy="450943"/>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15" name="テキスト ボックス 14">
            <a:extLst>
              <a:ext uri="{FF2B5EF4-FFF2-40B4-BE49-F238E27FC236}">
                <a16:creationId xmlns:a16="http://schemas.microsoft.com/office/drawing/2014/main" id="{48643049-3CAD-4B94-980D-41666905C702}"/>
              </a:ext>
            </a:extLst>
          </p:cNvPr>
          <p:cNvSpPr txBox="1"/>
          <p:nvPr userDrawn="1"/>
        </p:nvSpPr>
        <p:spPr>
          <a:xfrm>
            <a:off x="1093226" y="1895764"/>
            <a:ext cx="532229" cy="558486"/>
          </a:xfrm>
          <a:prstGeom prst="rect">
            <a:avLst/>
          </a:prstGeom>
          <a:noFill/>
        </p:spPr>
        <p:txBody>
          <a:bodyPr wrap="square" lIns="0" tIns="0" rIns="0" bIns="0" rtlCol="0">
            <a:spAutoFit/>
          </a:bodyPr>
          <a:lstStyle/>
          <a:p>
            <a:r>
              <a:rPr kumimoji="1" lang="en-US" altLang="ja-JP" sz="3629" b="0">
                <a:solidFill>
                  <a:schemeClr val="bg1"/>
                </a:solidFill>
              </a:rPr>
              <a:t>01</a:t>
            </a:r>
            <a:endParaRPr kumimoji="1" lang="ja-JP" altLang="en-US" sz="3629" b="0">
              <a:solidFill>
                <a:schemeClr val="bg1"/>
              </a:solidFill>
            </a:endParaRPr>
          </a:p>
        </p:txBody>
      </p:sp>
      <p:sp>
        <p:nvSpPr>
          <p:cNvPr id="16" name="テキスト ボックス 15">
            <a:extLst>
              <a:ext uri="{FF2B5EF4-FFF2-40B4-BE49-F238E27FC236}">
                <a16:creationId xmlns:a16="http://schemas.microsoft.com/office/drawing/2014/main" id="{0685CF7B-ECA6-492C-B248-CBBDC3A30195}"/>
              </a:ext>
            </a:extLst>
          </p:cNvPr>
          <p:cNvSpPr txBox="1"/>
          <p:nvPr userDrawn="1"/>
        </p:nvSpPr>
        <p:spPr>
          <a:xfrm>
            <a:off x="3754450" y="1895764"/>
            <a:ext cx="532229" cy="558486"/>
          </a:xfrm>
          <a:prstGeom prst="rect">
            <a:avLst/>
          </a:prstGeom>
          <a:noFill/>
        </p:spPr>
        <p:txBody>
          <a:bodyPr wrap="square" lIns="0" tIns="0" rIns="0" bIns="0" rtlCol="0">
            <a:spAutoFit/>
          </a:bodyPr>
          <a:lstStyle/>
          <a:p>
            <a:r>
              <a:rPr kumimoji="1" lang="en-US" altLang="ja-JP" sz="3629" b="0">
                <a:solidFill>
                  <a:schemeClr val="bg1"/>
                </a:solidFill>
              </a:rPr>
              <a:t>02</a:t>
            </a:r>
            <a:endParaRPr kumimoji="1" lang="ja-JP" altLang="en-US" sz="3629" b="0">
              <a:solidFill>
                <a:schemeClr val="bg1"/>
              </a:solidFill>
            </a:endParaRPr>
          </a:p>
        </p:txBody>
      </p:sp>
      <p:sp>
        <p:nvSpPr>
          <p:cNvPr id="17" name="テキスト ボックス 16">
            <a:extLst>
              <a:ext uri="{FF2B5EF4-FFF2-40B4-BE49-F238E27FC236}">
                <a16:creationId xmlns:a16="http://schemas.microsoft.com/office/drawing/2014/main" id="{7FFDB837-CFD6-46AD-8B11-7A65E7C7524C}"/>
              </a:ext>
            </a:extLst>
          </p:cNvPr>
          <p:cNvSpPr txBox="1"/>
          <p:nvPr userDrawn="1"/>
        </p:nvSpPr>
        <p:spPr>
          <a:xfrm>
            <a:off x="6415672" y="1895764"/>
            <a:ext cx="532229" cy="558486"/>
          </a:xfrm>
          <a:prstGeom prst="rect">
            <a:avLst/>
          </a:prstGeom>
          <a:noFill/>
        </p:spPr>
        <p:txBody>
          <a:bodyPr wrap="square" lIns="0" tIns="0" rIns="0" bIns="0" rtlCol="0">
            <a:spAutoFit/>
          </a:bodyPr>
          <a:lstStyle/>
          <a:p>
            <a:r>
              <a:rPr kumimoji="1" lang="en-US" altLang="ja-JP" sz="3629" b="0">
                <a:solidFill>
                  <a:schemeClr val="bg1"/>
                </a:solidFill>
              </a:rPr>
              <a:t>03</a:t>
            </a:r>
            <a:endParaRPr kumimoji="1" lang="ja-JP" altLang="en-US" sz="3629" b="0">
              <a:solidFill>
                <a:schemeClr val="bg1"/>
              </a:solidFill>
            </a:endParaRPr>
          </a:p>
        </p:txBody>
      </p:sp>
      <p:sp>
        <p:nvSpPr>
          <p:cNvPr id="18" name="テキスト ボックス 17">
            <a:extLst>
              <a:ext uri="{FF2B5EF4-FFF2-40B4-BE49-F238E27FC236}">
                <a16:creationId xmlns:a16="http://schemas.microsoft.com/office/drawing/2014/main" id="{47FC57A1-DC1F-4EE5-80FC-18029B5E8DC1}"/>
              </a:ext>
            </a:extLst>
          </p:cNvPr>
          <p:cNvSpPr txBox="1"/>
          <p:nvPr userDrawn="1"/>
        </p:nvSpPr>
        <p:spPr>
          <a:xfrm>
            <a:off x="9114441" y="1895764"/>
            <a:ext cx="532229" cy="558486"/>
          </a:xfrm>
          <a:prstGeom prst="rect">
            <a:avLst/>
          </a:prstGeom>
          <a:noFill/>
        </p:spPr>
        <p:txBody>
          <a:bodyPr wrap="square" lIns="0" tIns="0" rIns="0" bIns="0" rtlCol="0">
            <a:spAutoFit/>
          </a:bodyPr>
          <a:lstStyle/>
          <a:p>
            <a:r>
              <a:rPr kumimoji="1" lang="en-US" altLang="ja-JP" sz="3629" b="0">
                <a:solidFill>
                  <a:schemeClr val="bg1"/>
                </a:solidFill>
              </a:rPr>
              <a:t>04</a:t>
            </a:r>
            <a:endParaRPr kumimoji="1" lang="ja-JP" altLang="en-US" sz="3629" b="0">
              <a:solidFill>
                <a:schemeClr val="bg1"/>
              </a:solidFill>
            </a:endParaRPr>
          </a:p>
        </p:txBody>
      </p:sp>
      <p:sp>
        <p:nvSpPr>
          <p:cNvPr id="30" name="Slide Number Placeholder 4">
            <a:extLst>
              <a:ext uri="{FF2B5EF4-FFF2-40B4-BE49-F238E27FC236}">
                <a16:creationId xmlns:a16="http://schemas.microsoft.com/office/drawing/2014/main" id="{0B99F887-ACB9-5489-BCB6-695B9048862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34" name="Title 1">
            <a:extLst>
              <a:ext uri="{FF2B5EF4-FFF2-40B4-BE49-F238E27FC236}">
                <a16:creationId xmlns:a16="http://schemas.microsoft.com/office/drawing/2014/main" id="{4E7D2908-BB39-EAE2-72F1-026DD4F5BAA6}"/>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35" name="正方形/長方形 34">
            <a:extLst>
              <a:ext uri="{FF2B5EF4-FFF2-40B4-BE49-F238E27FC236}">
                <a16:creationId xmlns:a16="http://schemas.microsoft.com/office/drawing/2014/main" id="{E221DB00-D6E3-A798-6005-C00682F4E968}"/>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4" name="Text Placeholder 3">
            <a:extLst>
              <a:ext uri="{FF2B5EF4-FFF2-40B4-BE49-F238E27FC236}">
                <a16:creationId xmlns:a16="http://schemas.microsoft.com/office/drawing/2014/main" id="{EE255D7A-1661-E040-D44D-9CB3A7EDF1FF}"/>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2334694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6096000" y="0"/>
            <a:ext cx="6096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8" name="Text Placeholder 3">
            <a:extLst>
              <a:ext uri="{FF2B5EF4-FFF2-40B4-BE49-F238E27FC236}">
                <a16:creationId xmlns:a16="http://schemas.microsoft.com/office/drawing/2014/main" id="{834527BA-F12F-4DF3-AC21-D992A929487C}"/>
              </a:ext>
            </a:extLst>
          </p:cNvPr>
          <p:cNvSpPr>
            <a:spLocks noGrp="1"/>
          </p:cNvSpPr>
          <p:nvPr>
            <p:ph type="body" sz="half" idx="2" hasCustomPrompt="1"/>
          </p:nvPr>
        </p:nvSpPr>
        <p:spPr>
          <a:xfrm>
            <a:off x="738922" y="1226086"/>
            <a:ext cx="5173878" cy="788480"/>
          </a:xfrm>
          <a:prstGeom prst="rect">
            <a:avLst/>
          </a:prstGeom>
        </p:spPr>
        <p:txBody>
          <a:bodyPr lIns="0" tIns="0" rIns="0" bIns="0">
            <a:noAutofit/>
          </a:bodyPr>
          <a:lstStyle>
            <a:lvl1pPr marL="0" indent="0" algn="l">
              <a:buNone/>
              <a:defRPr sz="1814" b="0">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6" name="図プレースホルダー 9">
            <a:extLst>
              <a:ext uri="{FF2B5EF4-FFF2-40B4-BE49-F238E27FC236}">
                <a16:creationId xmlns:a16="http://schemas.microsoft.com/office/drawing/2014/main" id="{45723AF5-434A-467D-A96A-FC76156FAB7A}"/>
              </a:ext>
            </a:extLst>
          </p:cNvPr>
          <p:cNvSpPr>
            <a:spLocks noGrp="1"/>
          </p:cNvSpPr>
          <p:nvPr>
            <p:ph type="pic" sz="quarter" idx="13"/>
          </p:nvPr>
        </p:nvSpPr>
        <p:spPr>
          <a:xfrm>
            <a:off x="7091439" y="897962"/>
            <a:ext cx="4105122" cy="5062075"/>
          </a:xfrm>
          <a:prstGeom prst="rect">
            <a:avLst/>
          </a:prstGeom>
        </p:spPr>
        <p:txBody>
          <a:bodyPr/>
          <a:lstStyle/>
          <a:p>
            <a:r>
              <a:rPr kumimoji="1" lang="ja-JP" altLang="en-US"/>
              <a:t>アイコンをクリックして図を追加</a:t>
            </a:r>
          </a:p>
        </p:txBody>
      </p:sp>
      <p:sp>
        <p:nvSpPr>
          <p:cNvPr id="4" name="Slide Number Placeholder 4">
            <a:extLst>
              <a:ext uri="{FF2B5EF4-FFF2-40B4-BE49-F238E27FC236}">
                <a16:creationId xmlns:a16="http://schemas.microsoft.com/office/drawing/2014/main" id="{502417FE-7354-5D87-3AE6-241C5A5D482F}"/>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F98599E3-6686-3BDC-90EB-701469ED3235}"/>
              </a:ext>
            </a:extLst>
          </p:cNvPr>
          <p:cNvSpPr txBox="1">
            <a:spLocks/>
          </p:cNvSpPr>
          <p:nvPr userDrawn="1"/>
        </p:nvSpPr>
        <p:spPr>
          <a:xfrm>
            <a:off x="738922" y="367466"/>
            <a:ext cx="10714369" cy="365125"/>
          </a:xfrm>
          <a:prstGeom prst="rect">
            <a:avLst/>
          </a:prstGeom>
        </p:spPr>
        <p:txBody>
          <a:bodyPr vert="horz" lIns="0" tIns="0" rIns="0" bIns="0" rtlCol="0" anchor="ctr">
            <a:noAutofit/>
          </a:bodyPr>
          <a:lstStyle>
            <a:lvl1pPr algn="l" defTabSz="1007943" rtl="0" eaLnBrk="1" latinLnBrk="0" hangingPunct="1">
              <a:lnSpc>
                <a:spcPct val="90000"/>
              </a:lnSpc>
              <a:spcBef>
                <a:spcPct val="0"/>
              </a:spcBef>
              <a:buNone/>
              <a:defRPr kumimoji="1" sz="2800" b="1" kern="1200" spc="120" baseline="0">
                <a:solidFill>
                  <a:schemeClr val="tx1"/>
                </a:solidFill>
                <a:latin typeface="+mn-ea"/>
                <a:ea typeface="+mn-ea"/>
                <a:cs typeface="+mj-cs"/>
              </a:defRPr>
            </a:lvl1pPr>
          </a:lstStyle>
          <a:p>
            <a:endParaRPr lang="en-US" sz="2540" b="0">
              <a:latin typeface="+mj-ea"/>
              <a:ea typeface="+mj-ea"/>
            </a:endParaRPr>
          </a:p>
        </p:txBody>
      </p:sp>
    </p:spTree>
    <p:extLst>
      <p:ext uri="{BB962C8B-B14F-4D97-AF65-F5344CB8AC3E}">
        <p14:creationId xmlns:p14="http://schemas.microsoft.com/office/powerpoint/2010/main" val="3227311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0" y="0"/>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9" name="正方形/長方形 8">
            <a:extLst>
              <a:ext uri="{FF2B5EF4-FFF2-40B4-BE49-F238E27FC236}">
                <a16:creationId xmlns:a16="http://schemas.microsoft.com/office/drawing/2014/main" id="{7A433D0C-DB6B-40D3-88D7-776D7D0A69B1}"/>
              </a:ext>
            </a:extLst>
          </p:cNvPr>
          <p:cNvSpPr/>
          <p:nvPr userDrawn="1"/>
        </p:nvSpPr>
        <p:spPr>
          <a:xfrm>
            <a:off x="4063860" y="3428853"/>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0" name="正方形/長方形 9">
            <a:extLst>
              <a:ext uri="{FF2B5EF4-FFF2-40B4-BE49-F238E27FC236}">
                <a16:creationId xmlns:a16="http://schemas.microsoft.com/office/drawing/2014/main" id="{F06E6178-A6A4-4BFD-9F51-28EF349B5CE8}"/>
              </a:ext>
            </a:extLst>
          </p:cNvPr>
          <p:cNvSpPr/>
          <p:nvPr userDrawn="1"/>
        </p:nvSpPr>
        <p:spPr>
          <a:xfrm>
            <a:off x="8127930" y="-295"/>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1" name="Text Placeholder 3">
            <a:extLst>
              <a:ext uri="{FF2B5EF4-FFF2-40B4-BE49-F238E27FC236}">
                <a16:creationId xmlns:a16="http://schemas.microsoft.com/office/drawing/2014/main" id="{4556A793-020D-42E0-BA8C-A3348EC3D8AB}"/>
              </a:ext>
            </a:extLst>
          </p:cNvPr>
          <p:cNvSpPr>
            <a:spLocks noGrp="1"/>
          </p:cNvSpPr>
          <p:nvPr>
            <p:ph type="body" sz="half" idx="2" hasCustomPrompt="1"/>
          </p:nvPr>
        </p:nvSpPr>
        <p:spPr>
          <a:xfrm>
            <a:off x="4063860" y="1178748"/>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3" name="Text Placeholder 3">
            <a:extLst>
              <a:ext uri="{FF2B5EF4-FFF2-40B4-BE49-F238E27FC236}">
                <a16:creationId xmlns:a16="http://schemas.microsoft.com/office/drawing/2014/main" id="{3204670F-986D-4EBE-9D60-C1DB77CEAF9A}"/>
              </a:ext>
            </a:extLst>
          </p:cNvPr>
          <p:cNvSpPr>
            <a:spLocks noGrp="1"/>
          </p:cNvSpPr>
          <p:nvPr>
            <p:ph type="body" sz="half" idx="10" hasCustomPrompt="1"/>
          </p:nvPr>
        </p:nvSpPr>
        <p:spPr>
          <a:xfrm>
            <a:off x="4063860" y="1525145"/>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4" name="Text Placeholder 3">
            <a:extLst>
              <a:ext uri="{FF2B5EF4-FFF2-40B4-BE49-F238E27FC236}">
                <a16:creationId xmlns:a16="http://schemas.microsoft.com/office/drawing/2014/main" id="{2A1A9C8B-B8AE-4CAA-81FB-151F06D7EB15}"/>
              </a:ext>
            </a:extLst>
          </p:cNvPr>
          <p:cNvSpPr>
            <a:spLocks noGrp="1"/>
          </p:cNvSpPr>
          <p:nvPr>
            <p:ph type="body" sz="half" idx="11" hasCustomPrompt="1"/>
          </p:nvPr>
        </p:nvSpPr>
        <p:spPr>
          <a:xfrm>
            <a:off x="0" y="4629244"/>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5" name="Text Placeholder 3">
            <a:extLst>
              <a:ext uri="{FF2B5EF4-FFF2-40B4-BE49-F238E27FC236}">
                <a16:creationId xmlns:a16="http://schemas.microsoft.com/office/drawing/2014/main" id="{6B2BB5F7-0449-486C-BB83-ACBDAA011BDF}"/>
              </a:ext>
            </a:extLst>
          </p:cNvPr>
          <p:cNvSpPr>
            <a:spLocks noGrp="1"/>
          </p:cNvSpPr>
          <p:nvPr>
            <p:ph type="body" sz="half" idx="12" hasCustomPrompt="1"/>
          </p:nvPr>
        </p:nvSpPr>
        <p:spPr>
          <a:xfrm>
            <a:off x="0" y="4975641"/>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6" name="Text Placeholder 3">
            <a:extLst>
              <a:ext uri="{FF2B5EF4-FFF2-40B4-BE49-F238E27FC236}">
                <a16:creationId xmlns:a16="http://schemas.microsoft.com/office/drawing/2014/main" id="{5F6BB6E2-329C-47E7-BC67-E4247149DF18}"/>
              </a:ext>
            </a:extLst>
          </p:cNvPr>
          <p:cNvSpPr>
            <a:spLocks noGrp="1"/>
          </p:cNvSpPr>
          <p:nvPr>
            <p:ph type="body" sz="half" idx="13" hasCustomPrompt="1"/>
          </p:nvPr>
        </p:nvSpPr>
        <p:spPr>
          <a:xfrm>
            <a:off x="8127718" y="4629244"/>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7" name="Text Placeholder 3">
            <a:extLst>
              <a:ext uri="{FF2B5EF4-FFF2-40B4-BE49-F238E27FC236}">
                <a16:creationId xmlns:a16="http://schemas.microsoft.com/office/drawing/2014/main" id="{7889AF89-2EF8-480C-B0F3-915A3EA21C8A}"/>
              </a:ext>
            </a:extLst>
          </p:cNvPr>
          <p:cNvSpPr>
            <a:spLocks noGrp="1"/>
          </p:cNvSpPr>
          <p:nvPr>
            <p:ph type="body" sz="half" idx="14" hasCustomPrompt="1"/>
          </p:nvPr>
        </p:nvSpPr>
        <p:spPr>
          <a:xfrm>
            <a:off x="8127718" y="4975641"/>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4" name="図プレースホルダー 3">
            <a:extLst>
              <a:ext uri="{FF2B5EF4-FFF2-40B4-BE49-F238E27FC236}">
                <a16:creationId xmlns:a16="http://schemas.microsoft.com/office/drawing/2014/main" id="{1D5FA8A4-BE39-45F7-A590-2C9ACDA94BE4}"/>
              </a:ext>
            </a:extLst>
          </p:cNvPr>
          <p:cNvSpPr>
            <a:spLocks noGrp="1"/>
          </p:cNvSpPr>
          <p:nvPr>
            <p:ph type="pic" sz="quarter" idx="15"/>
          </p:nvPr>
        </p:nvSpPr>
        <p:spPr>
          <a:xfrm>
            <a:off x="0" y="0"/>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8" name="図プレースホルダー 3">
            <a:extLst>
              <a:ext uri="{FF2B5EF4-FFF2-40B4-BE49-F238E27FC236}">
                <a16:creationId xmlns:a16="http://schemas.microsoft.com/office/drawing/2014/main" id="{F4A02690-8098-4886-A490-6C32CA4E8F11}"/>
              </a:ext>
            </a:extLst>
          </p:cNvPr>
          <p:cNvSpPr>
            <a:spLocks noGrp="1"/>
          </p:cNvSpPr>
          <p:nvPr>
            <p:ph type="pic" sz="quarter" idx="16"/>
          </p:nvPr>
        </p:nvSpPr>
        <p:spPr>
          <a:xfrm>
            <a:off x="8127718" y="0"/>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9" name="図プレースホルダー 3">
            <a:extLst>
              <a:ext uri="{FF2B5EF4-FFF2-40B4-BE49-F238E27FC236}">
                <a16:creationId xmlns:a16="http://schemas.microsoft.com/office/drawing/2014/main" id="{BA7A8847-AA4E-4AB9-AFC6-AEE43199D016}"/>
              </a:ext>
            </a:extLst>
          </p:cNvPr>
          <p:cNvSpPr>
            <a:spLocks noGrp="1"/>
          </p:cNvSpPr>
          <p:nvPr>
            <p:ph type="pic" sz="quarter" idx="17"/>
          </p:nvPr>
        </p:nvSpPr>
        <p:spPr>
          <a:xfrm>
            <a:off x="4063824" y="3428853"/>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Tree>
    <p:extLst>
      <p:ext uri="{BB962C8B-B14F-4D97-AF65-F5344CB8AC3E}">
        <p14:creationId xmlns:p14="http://schemas.microsoft.com/office/powerpoint/2010/main" val="927322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62928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タイトルのみ(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1933338"/>
            <a:ext cx="12192213" cy="2991325"/>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9549" rtl="0" eaLnBrk="1" fontAlgn="auto" latinLnBrk="0" hangingPunct="1">
              <a:lnSpc>
                <a:spcPct val="100000"/>
              </a:lnSpc>
              <a:spcBef>
                <a:spcPts val="0"/>
              </a:spcBef>
              <a:spcAft>
                <a:spcPts val="0"/>
              </a:spcAft>
              <a:buClrTx/>
              <a:buSzTx/>
              <a:buFontTx/>
              <a:buNone/>
              <a:tabLst/>
              <a:defRPr/>
            </a:pPr>
            <a:endParaRPr kumimoji="1" lang="ja-JP" altLang="en-US" sz="1633" b="0" i="0" u="none" strike="noStrike" kern="1200" cap="none" spc="0" normalizeH="0" baseline="0" noProof="0">
              <a:ln>
                <a:noFill/>
              </a:ln>
              <a:solidFill>
                <a:srgbClr val="F8FDFA"/>
              </a:solidFill>
              <a:effectLst/>
              <a:uLnTx/>
              <a:uFillTx/>
              <a:latin typeface="游ゴシック" panose="020F0502020204030204"/>
              <a:ea typeface="游ゴシック" panose="020B0400000000000000" pitchFamily="50" charset="-128"/>
              <a:cs typeface="+mn-cs"/>
            </a:endParaRPr>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1587107" y="6402492"/>
            <a:ext cx="492615" cy="326585"/>
          </a:xfrm>
          <a:prstGeom prst="rect">
            <a:avLst/>
          </a:prstGeom>
          <a:noFill/>
        </p:spPr>
        <p:txBody>
          <a:bodyPr/>
          <a:lstStyle>
            <a:lvl1pPr>
              <a:defRPr>
                <a:solidFill>
                  <a:schemeClr val="tx2"/>
                </a:solidFill>
              </a:defRPr>
            </a:lvl1pPr>
          </a:lstStyle>
          <a:p>
            <a:pPr defTabSz="829549"/>
            <a:fld id="{14EC724F-F4C9-4616-8530-5BC5097559BB}" type="slidenum">
              <a:rPr lang="ja-JP" altLang="en-US" smtClean="0">
                <a:solidFill>
                  <a:srgbClr val="1B5C80"/>
                </a:solidFill>
              </a:rPr>
              <a:pPr defTabSz="829549"/>
              <a:t>‹#›</a:t>
            </a:fld>
            <a:endParaRPr lang="ja-JP" altLang="en-US">
              <a:solidFill>
                <a:srgbClr val="1B5C80"/>
              </a:solidFill>
            </a:endParaRPr>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1932683"/>
            <a:ext cx="7926384" cy="2992634"/>
          </a:xfrm>
          <a:prstGeom prst="rect">
            <a:avLst/>
          </a:prstGeom>
        </p:spPr>
        <p:txBody>
          <a:bodyPr anchor="ctr"/>
          <a:lstStyle>
            <a:lvl1pPr marL="0" indent="0" algn="l">
              <a:lnSpc>
                <a:spcPct val="110000"/>
              </a:lnSpc>
              <a:buNone/>
              <a:defRPr sz="3266"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1888638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タイトル＋見出し小">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1056099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F437E4DB-00C1-62A2-86F6-C5658624E20A}"/>
              </a:ext>
            </a:extLst>
          </p:cNvPr>
          <p:cNvSpPr/>
          <p:nvPr userDrawn="1"/>
        </p:nvSpPr>
        <p:spPr>
          <a:xfrm>
            <a:off x="1" y="91"/>
            <a:ext cx="12192213" cy="4924534"/>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29549">
              <a:defRPr/>
            </a:pPr>
            <a:endParaRPr lang="ja-JP" altLang="en-US" sz="1633">
              <a:solidFill>
                <a:srgbClr val="F8FDFA"/>
              </a:solidFill>
              <a:latin typeface="游ゴシック" panose="020F0502020204030204"/>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F25D378A-80E6-9EEB-497F-3FFE2033DCEC}"/>
              </a:ext>
            </a:extLst>
          </p:cNvPr>
          <p:cNvSpPr txBox="1"/>
          <p:nvPr userDrawn="1"/>
        </p:nvSpPr>
        <p:spPr>
          <a:xfrm>
            <a:off x="1219834" y="5056103"/>
            <a:ext cx="9752331" cy="809664"/>
          </a:xfrm>
          <a:prstGeom prst="rect">
            <a:avLst/>
          </a:prstGeom>
          <a:noFill/>
        </p:spPr>
        <p:txBody>
          <a:bodyPr rot="0" spcFirstLastPara="0" vertOverflow="overflow" horzOverflow="overflow" vert="horz" wrap="square" lIns="82951" tIns="41475" rIns="82951" bIns="41475" numCol="1" spcCol="0" rtlCol="0" fromWordArt="0" anchor="t" anchorCtr="0" forceAA="0" compatLnSpc="1">
            <a:prstTxWarp prst="textNoShape">
              <a:avLst/>
            </a:prstTxWarp>
            <a:spAutoFit/>
          </a:bodyPr>
          <a:lstStyle/>
          <a:p>
            <a:pPr algn="ctr" defTabSz="829544">
              <a:lnSpc>
                <a:spcPct val="110000"/>
              </a:lnSpc>
              <a:defRPr/>
            </a:pPr>
            <a:r>
              <a:rPr lang="ja-JP" altLang="en-US" sz="2540" b="1">
                <a:solidFill>
                  <a:srgbClr val="1B5C80"/>
                </a:solidFill>
                <a:latin typeface="游ゴシック" panose="020F0502020204030204"/>
                <a:ea typeface="游ゴシック"/>
              </a:rPr>
              <a:t>アンケートにご協力いただけますと幸いです。</a:t>
            </a:r>
            <a:endParaRPr lang="en-US" altLang="ja-JP" sz="2540" b="1">
              <a:solidFill>
                <a:srgbClr val="1B5C80"/>
              </a:solidFill>
              <a:latin typeface="游ゴシック" panose="020F0502020204030204"/>
              <a:ea typeface="游ゴシック"/>
            </a:endParaRPr>
          </a:p>
          <a:p>
            <a:pPr algn="ctr" defTabSz="829544">
              <a:lnSpc>
                <a:spcPct val="110000"/>
              </a:lnSpc>
              <a:defRPr/>
            </a:pPr>
            <a:r>
              <a:rPr lang="ja-JP" altLang="en-US" sz="1814">
                <a:solidFill>
                  <a:srgbClr val="1B5C80"/>
                </a:solidFill>
                <a:latin typeface="游ゴシック" panose="020F0502020204030204"/>
                <a:ea typeface="游ゴシック"/>
              </a:rPr>
              <a:t>今回の説明会のご感想や参加してみたい研修など、ぜひご意見をお聞かせください！</a:t>
            </a:r>
            <a:endParaRPr lang="en-US" sz="1814">
              <a:solidFill>
                <a:srgbClr val="1B5C80"/>
              </a:solidFill>
              <a:latin typeface="游ゴシック" panose="020F0502020204030204"/>
              <a:ea typeface="游ゴシック"/>
            </a:endParaRPr>
          </a:p>
        </p:txBody>
      </p:sp>
      <p:sp>
        <p:nvSpPr>
          <p:cNvPr id="5" name="スライド番号プレースホルダー 3">
            <a:extLst>
              <a:ext uri="{FF2B5EF4-FFF2-40B4-BE49-F238E27FC236}">
                <a16:creationId xmlns:a16="http://schemas.microsoft.com/office/drawing/2014/main" id="{4C15F4DE-A684-5B2E-F4DB-6524A967933B}"/>
              </a:ext>
            </a:extLst>
          </p:cNvPr>
          <p:cNvSpPr txBox="1">
            <a:spLocks/>
          </p:cNvSpPr>
          <p:nvPr userDrawn="1"/>
        </p:nvSpPr>
        <p:spPr>
          <a:xfrm>
            <a:off x="11587106" y="6402413"/>
            <a:ext cx="492615" cy="326577"/>
          </a:xfrm>
          <a:prstGeom prst="rect">
            <a:avLst/>
          </a:prstGeom>
          <a:noFill/>
        </p:spPr>
        <p:txBody>
          <a:bodyPr vert="horz" lIns="82951" tIns="41475" rIns="82951" bIns="41475" rtlCol="0" anchor="ctr"/>
          <a:lstStyle>
            <a:defPPr>
              <a:defRPr lang="ja-JP"/>
            </a:defPPr>
            <a:lvl1pPr marL="0" algn="r" defTabSz="914400" rtl="0" eaLnBrk="1" latinLnBrk="0" hangingPunct="1">
              <a:defRPr kumimoji="1" sz="1323" kern="1200" spc="120" baseline="0">
                <a:solidFill>
                  <a:schemeClr val="tx2"/>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defTabSz="829544">
              <a:defRPr/>
            </a:pPr>
            <a:fld id="{14EC724F-F4C9-4616-8530-5BC5097559BB}" type="slidenum">
              <a:rPr lang="ja-JP" altLang="en-US" sz="1200" spc="109">
                <a:solidFill>
                  <a:srgbClr val="1B5C80"/>
                </a:solidFill>
                <a:latin typeface="游ゴシック" panose="020F0502020204030204"/>
                <a:ea typeface="游ゴシック" panose="020B0400000000000000" pitchFamily="50" charset="-128"/>
              </a:rPr>
              <a:pPr defTabSz="829544">
                <a:defRPr/>
              </a:pPr>
              <a:t>‹#›</a:t>
            </a:fld>
            <a:endParaRPr lang="ja-JP" altLang="en-US" sz="1200" spc="109">
              <a:solidFill>
                <a:srgbClr val="1B5C80"/>
              </a:solidFill>
              <a:latin typeface="游ゴシック" panose="020F0502020204030204"/>
              <a:ea typeface="游ゴシック" panose="020B0400000000000000" pitchFamily="50" charset="-128"/>
            </a:endParaRPr>
          </a:p>
        </p:txBody>
      </p:sp>
      <p:sp>
        <p:nvSpPr>
          <p:cNvPr id="7" name="テキスト プレースホルダー 2">
            <a:extLst>
              <a:ext uri="{FF2B5EF4-FFF2-40B4-BE49-F238E27FC236}">
                <a16:creationId xmlns:a16="http://schemas.microsoft.com/office/drawing/2014/main" id="{834860CF-3990-F24B-1D1C-491A921C703C}"/>
              </a:ext>
            </a:extLst>
          </p:cNvPr>
          <p:cNvSpPr>
            <a:spLocks noGrp="1"/>
          </p:cNvSpPr>
          <p:nvPr>
            <p:ph type="body" sz="quarter" idx="13"/>
          </p:nvPr>
        </p:nvSpPr>
        <p:spPr>
          <a:xfrm>
            <a:off x="1" y="222608"/>
            <a:ext cx="12191999" cy="1800142"/>
          </a:xfrm>
          <a:prstGeom prst="rect">
            <a:avLst/>
          </a:prstGeom>
        </p:spPr>
        <p:txBody>
          <a:bodyPr anchor="ctr"/>
          <a:lstStyle>
            <a:lvl1pPr marL="0" indent="0">
              <a:buNone/>
              <a:defRPr kumimoji="1" lang="ja-JP" altLang="en-US" sz="3266" b="1" kern="1200" spc="109" baseline="0" dirty="0">
                <a:solidFill>
                  <a:schemeClr val="bg1"/>
                </a:solidFill>
                <a:latin typeface="+mn-ea"/>
                <a:ea typeface="+mn-ea"/>
                <a:cs typeface="+mn-cs"/>
              </a:defRPr>
            </a:lvl1pPr>
          </a:lstStyle>
          <a:p>
            <a:pPr algn="ctr"/>
            <a:endParaRPr lang="ja-JP" altLang="en-US"/>
          </a:p>
        </p:txBody>
      </p:sp>
      <p:pic>
        <p:nvPicPr>
          <p:cNvPr id="8" name="図 7">
            <a:extLst>
              <a:ext uri="{FF2B5EF4-FFF2-40B4-BE49-F238E27FC236}">
                <a16:creationId xmlns:a16="http://schemas.microsoft.com/office/drawing/2014/main" id="{B2821DD1-9DB9-AC17-1D5B-0288881DBD03}"/>
              </a:ext>
            </a:extLst>
          </p:cNvPr>
          <p:cNvPicPr>
            <a:picLocks noChangeAspect="1"/>
          </p:cNvPicPr>
          <p:nvPr userDrawn="1"/>
        </p:nvPicPr>
        <p:blipFill>
          <a:blip r:embed="rId2"/>
          <a:stretch>
            <a:fillRect/>
          </a:stretch>
        </p:blipFill>
        <p:spPr>
          <a:xfrm>
            <a:off x="5106021" y="2595039"/>
            <a:ext cx="1746207" cy="1702278"/>
          </a:xfrm>
          <a:prstGeom prst="rect">
            <a:avLst/>
          </a:prstGeom>
        </p:spPr>
      </p:pic>
      <p:pic>
        <p:nvPicPr>
          <p:cNvPr id="12" name="図 11" descr="ロゴ&#10;&#10;AI によって生成されたコンテンツは間違っている可能性があります。">
            <a:extLst>
              <a:ext uri="{FF2B5EF4-FFF2-40B4-BE49-F238E27FC236}">
                <a16:creationId xmlns:a16="http://schemas.microsoft.com/office/drawing/2014/main" id="{5CCECBAE-8F55-27AA-9502-947437DA0E8C}"/>
              </a:ext>
            </a:extLst>
          </p:cNvPr>
          <p:cNvPicPr>
            <a:picLocks noChangeAspect="1"/>
          </p:cNvPicPr>
          <p:nvPr userDrawn="1"/>
        </p:nvPicPr>
        <p:blipFill>
          <a:blip r:embed="rId3">
            <a:extLst>
              <a:ext uri="{28A0092B-C50C-407E-A947-70E740481C1C}">
                <a14:useLocalDpi xmlns:a14="http://schemas.microsoft.com/office/drawing/2010/main" val="0"/>
              </a:ext>
            </a:extLst>
          </a:blip>
          <a:srcRect l="3702" t="34625" r="3702" b="34625"/>
          <a:stretch/>
        </p:blipFill>
        <p:spPr>
          <a:xfrm>
            <a:off x="5477147" y="6519301"/>
            <a:ext cx="1237706" cy="234871"/>
          </a:xfrm>
          <a:prstGeom prst="rect">
            <a:avLst/>
          </a:prstGeom>
        </p:spPr>
      </p:pic>
      <p:sp>
        <p:nvSpPr>
          <p:cNvPr id="17" name="テキスト プレースホルダー 2">
            <a:extLst>
              <a:ext uri="{FF2B5EF4-FFF2-40B4-BE49-F238E27FC236}">
                <a16:creationId xmlns:a16="http://schemas.microsoft.com/office/drawing/2014/main" id="{E5387EDC-015F-0D42-137B-076368935D5E}"/>
              </a:ext>
            </a:extLst>
          </p:cNvPr>
          <p:cNvSpPr>
            <a:spLocks noGrp="1"/>
          </p:cNvSpPr>
          <p:nvPr>
            <p:ph type="body" sz="quarter" idx="14"/>
          </p:nvPr>
        </p:nvSpPr>
        <p:spPr>
          <a:xfrm>
            <a:off x="4384432" y="6096132"/>
            <a:ext cx="3423138" cy="234872"/>
          </a:xfrm>
          <a:prstGeom prst="rect">
            <a:avLst/>
          </a:prstGeom>
        </p:spPr>
        <p:txBody>
          <a:bodyPr anchor="ctr"/>
          <a:lstStyle>
            <a:lvl1pPr marL="0" indent="0">
              <a:buNone/>
              <a:defRPr kumimoji="1" lang="ja-JP" altLang="en-US" sz="1400" b="0" kern="1200" spc="109" baseline="0" dirty="0">
                <a:solidFill>
                  <a:schemeClr val="tx2"/>
                </a:solidFill>
                <a:latin typeface="+mn-ea"/>
                <a:ea typeface="+mn-ea"/>
                <a:cs typeface="+mn-cs"/>
              </a:defRPr>
            </a:lvl1pPr>
          </a:lstStyle>
          <a:p>
            <a:pPr algn="ctr"/>
            <a:endParaRPr lang="ja-JP" altLang="en-US"/>
          </a:p>
        </p:txBody>
      </p:sp>
    </p:spTree>
    <p:extLst>
      <p:ext uri="{BB962C8B-B14F-4D97-AF65-F5344CB8AC3E}">
        <p14:creationId xmlns:p14="http://schemas.microsoft.com/office/powerpoint/2010/main" val="21697377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タイトル＋見出し小">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kumimoji="1" lang="ja-JP" altLang="en-US" smtClean="0"/>
              <a:t>‹#›</a:t>
            </a:fld>
            <a:endParaRPr kumimoji="1" lang="ja-JP" altLang="en-US"/>
          </a:p>
        </p:txBody>
      </p:sp>
    </p:spTree>
    <p:extLst>
      <p:ext uri="{BB962C8B-B14F-4D97-AF65-F5344CB8AC3E}">
        <p14:creationId xmlns:p14="http://schemas.microsoft.com/office/powerpoint/2010/main" val="68223550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0_1タイトル＋見出し小">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8666489-4041-6ABB-59BE-F9C00D8A2B5E}"/>
              </a:ext>
            </a:extLst>
          </p:cNvPr>
          <p:cNvSpPr/>
          <p:nvPr userDrawn="1"/>
        </p:nvSpPr>
        <p:spPr>
          <a:xfrm>
            <a:off x="0" y="1"/>
            <a:ext cx="12192000" cy="732591"/>
          </a:xfrm>
          <a:prstGeom prst="rect">
            <a:avLst/>
          </a:prstGeom>
          <a:gradFill>
            <a:gsLst>
              <a:gs pos="100000">
                <a:schemeClr val="bg1"/>
              </a:gs>
              <a:gs pos="74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33">
              <a:solidFill>
                <a:schemeClr val="bg1"/>
              </a:solidFill>
            </a:endParaRPr>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380190" y="225483"/>
            <a:ext cx="10714369" cy="365125"/>
          </a:xfrm>
          <a:prstGeom prst="rect">
            <a:avLst/>
          </a:prstGeom>
        </p:spPr>
        <p:txBody>
          <a:bodyPr lIns="0" tIns="0" rIns="0" bIns="0">
            <a:noAutofit/>
          </a:bodyPr>
          <a:lstStyle>
            <a:lvl1pPr>
              <a:defRPr sz="2540" b="1">
                <a:solidFill>
                  <a:schemeClr val="bg1"/>
                </a:solidFill>
                <a:latin typeface="+mn-ea"/>
                <a:ea typeface="+mn-ea"/>
              </a:defRPr>
            </a:lvl1pPr>
          </a:lstStyle>
          <a:p>
            <a:r>
              <a:rPr lang="ja-JP" altLang="en-US"/>
              <a:t>タイトルが入ります</a:t>
            </a:r>
            <a:endParaRPr lang="en-US"/>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380190" y="820494"/>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7" name="Slide Number Placeholder 4">
            <a:extLst>
              <a:ext uri="{FF2B5EF4-FFF2-40B4-BE49-F238E27FC236}">
                <a16:creationId xmlns:a16="http://schemas.microsoft.com/office/drawing/2014/main" id="{71F4A4D7-B8FB-FB17-3199-EB075E02CA93}"/>
              </a:ext>
            </a:extLst>
          </p:cNvPr>
          <p:cNvSpPr>
            <a:spLocks noGrp="1"/>
          </p:cNvSpPr>
          <p:nvPr>
            <p:ph type="sldNum" sz="quarter" idx="12"/>
          </p:nvPr>
        </p:nvSpPr>
        <p:spPr>
          <a:xfrm>
            <a:off x="11587106" y="6402491"/>
            <a:ext cx="492615" cy="326585"/>
          </a:xfrm>
          <a:prstGeom prst="rect">
            <a:avLst/>
          </a:prstGeom>
          <a:noFill/>
        </p:spPr>
        <p:txBody>
          <a:bodyPr/>
          <a:lstStyle>
            <a:lvl1pPr algn="r">
              <a:defRPr sz="1452">
                <a:solidFill>
                  <a:schemeClr val="tx2"/>
                </a:solidFill>
              </a:defRPr>
            </a:lvl1pPr>
          </a:lstStyle>
          <a:p>
            <a:fld id="{14EC724F-F4C9-4616-8530-5BC5097559BB}" type="slidenum">
              <a:rPr lang="ja-JP" altLang="en-US" smtClean="0"/>
              <a:pPr/>
              <a:t>‹#›</a:t>
            </a:fld>
            <a:endParaRPr lang="ja-JP" altLang="en-US" sz="1452"/>
          </a:p>
        </p:txBody>
      </p:sp>
    </p:spTree>
    <p:extLst>
      <p:ext uri="{BB962C8B-B14F-4D97-AF65-F5344CB8AC3E}">
        <p14:creationId xmlns:p14="http://schemas.microsoft.com/office/powerpoint/2010/main" val="1353965076"/>
      </p:ext>
    </p:extLst>
  </p:cSld>
  <p:clrMapOvr>
    <a:masterClrMapping/>
  </p:clrMapOvr>
  <p:extLst>
    <p:ext uri="{DCECCB84-F9BA-43D5-87BE-67443E8EF086}">
      <p15:sldGuideLst xmlns:p15="http://schemas.microsoft.com/office/powerpoint/2012/main">
        <p15:guide id="1" orient="horz" pos="2381">
          <p15:clr>
            <a:srgbClr val="FBAE40"/>
          </p15:clr>
        </p15:guide>
        <p15:guide id="2" pos="26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2914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テンプレ】表紙">
    <p:spTree>
      <p:nvGrpSpPr>
        <p:cNvPr id="1" name=""/>
        <p:cNvGrpSpPr/>
        <p:nvPr/>
      </p:nvGrpSpPr>
      <p:grpSpPr>
        <a:xfrm>
          <a:off x="0" y="0"/>
          <a:ext cx="0" cy="0"/>
          <a:chOff x="0" y="0"/>
          <a:chExt cx="0" cy="0"/>
        </a:xfrm>
      </p:grpSpPr>
      <p:pic>
        <p:nvPicPr>
          <p:cNvPr id="5" name="図 4" descr="男, 持つ, 食品, ボール が含まれている画像&#10;&#10;AI 生成コンテンツは誤りを含む可能性があります。">
            <a:extLst>
              <a:ext uri="{FF2B5EF4-FFF2-40B4-BE49-F238E27FC236}">
                <a16:creationId xmlns:a16="http://schemas.microsoft.com/office/drawing/2014/main" id="{93379726-7F64-94BD-4EF7-8CE52B7932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solidFill>
                  <a:schemeClr val="bg1"/>
                </a:solidFill>
                <a:latin typeface="Mitsui and Co Sans" panose="020B0604020203020204" pitchFamily="34" charset="0"/>
              </a:rPr>
              <a:t>Copyright</a:t>
            </a:r>
            <a:r>
              <a:rPr lang="ja-JP" altLang="en-US" sz="800">
                <a:solidFill>
                  <a:schemeClr val="bg1"/>
                </a:solidFill>
                <a:latin typeface="Noto Sans JP" panose="020B0200000000000000" pitchFamily="50" charset="-128"/>
                <a:ea typeface="Noto Sans JP" panose="020B0200000000000000" pitchFamily="50" charset="-128"/>
              </a:rPr>
              <a:t> </a:t>
            </a:r>
            <a:r>
              <a:rPr lang="en-US" altLang="ja-JP" sz="800">
                <a:solidFill>
                  <a:schemeClr val="bg1"/>
                </a:solidFill>
                <a:latin typeface="Noto Sans JP" panose="020B0200000000000000" pitchFamily="50" charset="-128"/>
                <a:ea typeface="Noto Sans JP" panose="020B0200000000000000" pitchFamily="50" charset="-128"/>
              </a:rPr>
              <a:t>©</a:t>
            </a:r>
            <a:r>
              <a:rPr lang="ja-JP" altLang="en-US" sz="800">
                <a:solidFill>
                  <a:schemeClr val="bg1"/>
                </a:solidFill>
                <a:latin typeface="Noto Sans JP" panose="020B0200000000000000" pitchFamily="50" charset="-128"/>
                <a:ea typeface="Noto Sans JP" panose="020B0200000000000000" pitchFamily="50" charset="-128"/>
              </a:rPr>
              <a:t> </a:t>
            </a:r>
            <a:r>
              <a:rPr lang="en-US" altLang="ja-JP" sz="800">
                <a:solidFill>
                  <a:schemeClr val="bg1"/>
                </a:solidFill>
                <a:latin typeface="Mitsui and Co Sans" panose="020B0604020203020204" pitchFamily="34" charset="0"/>
              </a:rPr>
              <a:t>MITSUI &amp; CO., LTD. ALL RIGHTS RESERVED.</a:t>
            </a:r>
            <a:endParaRPr lang="ja-JP" altLang="en-US" sz="800">
              <a:solidFill>
                <a:schemeClr val="bg1"/>
              </a:solidFill>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テキスト プレースホルダー 29">
            <a:extLst>
              <a:ext uri="{FF2B5EF4-FFF2-40B4-BE49-F238E27FC236}">
                <a16:creationId xmlns:a16="http://schemas.microsoft.com/office/drawing/2014/main" id="{39B7A3DA-42F0-B933-FBAA-EDEFB50E75A4}"/>
              </a:ext>
            </a:extLst>
          </p:cNvPr>
          <p:cNvSpPr>
            <a:spLocks noGrp="1"/>
          </p:cNvSpPr>
          <p:nvPr>
            <p:ph type="body" sz="quarter" idx="11" hasCustomPrompt="1"/>
          </p:nvPr>
        </p:nvSpPr>
        <p:spPr>
          <a:xfrm>
            <a:off x="5318126" y="5648917"/>
            <a:ext cx="1555751" cy="368459"/>
          </a:xfrm>
          <a:prstGeom prst="rect">
            <a:avLst/>
          </a:prstGeom>
        </p:spPr>
        <p:txBody>
          <a:bodyPr/>
          <a:lstStyle>
            <a:lvl1pPr marL="0" indent="0" algn="r">
              <a:buNone/>
              <a:defRPr sz="2000" b="1">
                <a:latin typeface="+mj-lt"/>
              </a:defRPr>
            </a:lvl1pPr>
          </a:lstStyle>
          <a:p>
            <a:pPr lvl="0"/>
            <a:r>
              <a:rPr kumimoji="1" lang="ja-JP" altLang="en-US"/>
              <a:t>日付</a:t>
            </a:r>
            <a:r>
              <a:rPr kumimoji="1" lang="en-US" altLang="ja-JP"/>
              <a:t>[20pt]</a:t>
            </a:r>
            <a:endParaRPr kumimoji="1" lang="ja-JP" altLang="en-US"/>
          </a:p>
        </p:txBody>
      </p:sp>
      <p:sp>
        <p:nvSpPr>
          <p:cNvPr id="33" name="テキスト プレースホルダー 31">
            <a:extLst>
              <a:ext uri="{FF2B5EF4-FFF2-40B4-BE49-F238E27FC236}">
                <a16:creationId xmlns:a16="http://schemas.microsoft.com/office/drawing/2014/main" id="{A160D825-BCDF-E2D5-5B4A-B1ACCB2FE0E0}"/>
              </a:ext>
            </a:extLst>
          </p:cNvPr>
          <p:cNvSpPr>
            <a:spLocks noGrp="1"/>
          </p:cNvSpPr>
          <p:nvPr>
            <p:ph type="body" sz="quarter" idx="12" hasCustomPrompt="1"/>
          </p:nvPr>
        </p:nvSpPr>
        <p:spPr>
          <a:xfrm>
            <a:off x="5492925" y="6053539"/>
            <a:ext cx="6699075" cy="497679"/>
          </a:xfrm>
          <a:prstGeom prst="rect">
            <a:avLst/>
          </a:prstGeom>
        </p:spPr>
        <p:txBody>
          <a:bodyPr/>
          <a:lstStyle>
            <a:lvl1pPr marL="0" indent="0" algn="r">
              <a:buNone/>
              <a:defRPr sz="1800" b="1">
                <a:solidFill>
                  <a:schemeClr val="bg1"/>
                </a:solidFill>
              </a:defRPr>
            </a:lvl1pPr>
          </a:lstStyle>
          <a:p>
            <a:pPr lvl="0"/>
            <a:r>
              <a:rPr kumimoji="1" lang="ja-JP" altLang="en-US"/>
              <a:t>三井物産株式株式会社</a:t>
            </a:r>
            <a:endParaRPr kumimoji="1" lang="en-US" altLang="ja-JP"/>
          </a:p>
          <a:p>
            <a:pPr lvl="0"/>
            <a:r>
              <a:rPr kumimoji="1" lang="ja-JP" altLang="en-US"/>
              <a:t>デジタル総合戦略部</a:t>
            </a:r>
            <a:r>
              <a:rPr kumimoji="1" lang="en-US" altLang="ja-JP"/>
              <a:t>[18pt]</a:t>
            </a:r>
            <a:endParaRPr kumimoji="1" lang="ja-JP" altLang="en-US"/>
          </a:p>
        </p:txBody>
      </p:sp>
      <p:sp>
        <p:nvSpPr>
          <p:cNvPr id="34" name="タイトル 1">
            <a:extLst>
              <a:ext uri="{FF2B5EF4-FFF2-40B4-BE49-F238E27FC236}">
                <a16:creationId xmlns:a16="http://schemas.microsoft.com/office/drawing/2014/main" id="{D5CA244B-6EBC-2B80-6EF4-EFFDA200BF53}"/>
              </a:ext>
            </a:extLst>
          </p:cNvPr>
          <p:cNvSpPr>
            <a:spLocks noGrp="1"/>
          </p:cNvSpPr>
          <p:nvPr>
            <p:ph type="title" hasCustomPrompt="1"/>
          </p:nvPr>
        </p:nvSpPr>
        <p:spPr>
          <a:xfrm>
            <a:off x="0" y="4803509"/>
            <a:ext cx="12192000" cy="1325563"/>
          </a:xfrm>
          <a:prstGeom prst="rect">
            <a:avLst/>
          </a:prstGeom>
        </p:spPr>
        <p:txBody>
          <a:bodyPr/>
          <a:lstStyle>
            <a:lvl1pPr algn="ctr">
              <a:defRPr sz="4000" b="1">
                <a:solidFill>
                  <a:schemeClr val="tx1"/>
                </a:solidFill>
                <a:highlight>
                  <a:srgbClr val="FFFF00"/>
                </a:highlight>
              </a:defRPr>
            </a:lvl1pPr>
          </a:lstStyle>
          <a:p>
            <a:pPr lvl="0"/>
            <a:r>
              <a:rPr kumimoji="1" lang="ja-JP" altLang="en-US"/>
              <a:t>デジタル総合戦略部テンプレート資料</a:t>
            </a:r>
            <a:r>
              <a:rPr kumimoji="1" lang="en-US" altLang="ja-JP"/>
              <a:t>[40pt]</a:t>
            </a:r>
            <a:endParaRPr kumimoji="1" lang="ja-JP" altLang="en-US"/>
          </a:p>
        </p:txBody>
      </p:sp>
    </p:spTree>
    <p:extLst>
      <p:ext uri="{BB962C8B-B14F-4D97-AF65-F5344CB8AC3E}">
        <p14:creationId xmlns:p14="http://schemas.microsoft.com/office/powerpoint/2010/main" val="2504879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テンプレ】表紙">
    <p:spTree>
      <p:nvGrpSpPr>
        <p:cNvPr id="1" name=""/>
        <p:cNvGrpSpPr/>
        <p:nvPr/>
      </p:nvGrpSpPr>
      <p:grpSpPr>
        <a:xfrm>
          <a:off x="0" y="0"/>
          <a:ext cx="0" cy="0"/>
          <a:chOff x="0" y="0"/>
          <a:chExt cx="0" cy="0"/>
        </a:xfrm>
      </p:grpSpPr>
      <p:pic>
        <p:nvPicPr>
          <p:cNvPr id="8" name="図 7" descr="背景パターン が含まれている画像&#10;&#10;AI 生成コンテンツは誤りを含む可能性があります。">
            <a:extLst>
              <a:ext uri="{FF2B5EF4-FFF2-40B4-BE49-F238E27FC236}">
                <a16:creationId xmlns:a16="http://schemas.microsoft.com/office/drawing/2014/main" id="{64E4ECD9-4D03-2A0B-706D-832349E8E2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solidFill>
                  <a:schemeClr val="bg1"/>
                </a:solidFill>
                <a:latin typeface="Mitsui and Co Sans" panose="020B0604020203020204" pitchFamily="34" charset="0"/>
              </a:rPr>
              <a:t>Copyright</a:t>
            </a:r>
            <a:r>
              <a:rPr lang="ja-JP" altLang="en-US" sz="800">
                <a:solidFill>
                  <a:schemeClr val="bg1"/>
                </a:solidFill>
                <a:latin typeface="Noto Sans JP" panose="020B0200000000000000" pitchFamily="50" charset="-128"/>
                <a:ea typeface="Noto Sans JP" panose="020B0200000000000000" pitchFamily="50" charset="-128"/>
              </a:rPr>
              <a:t> </a:t>
            </a:r>
            <a:r>
              <a:rPr lang="en-US" altLang="ja-JP" sz="800">
                <a:solidFill>
                  <a:schemeClr val="bg1"/>
                </a:solidFill>
                <a:latin typeface="Noto Sans JP" panose="020B0200000000000000" pitchFamily="50" charset="-128"/>
                <a:ea typeface="Noto Sans JP" panose="020B0200000000000000" pitchFamily="50" charset="-128"/>
              </a:rPr>
              <a:t>©</a:t>
            </a:r>
            <a:r>
              <a:rPr lang="ja-JP" altLang="en-US" sz="800">
                <a:solidFill>
                  <a:schemeClr val="bg1"/>
                </a:solidFill>
                <a:latin typeface="Noto Sans JP" panose="020B0200000000000000" pitchFamily="50" charset="-128"/>
                <a:ea typeface="Noto Sans JP" panose="020B0200000000000000" pitchFamily="50" charset="-128"/>
              </a:rPr>
              <a:t> </a:t>
            </a:r>
            <a:r>
              <a:rPr lang="en-US" altLang="ja-JP" sz="800">
                <a:solidFill>
                  <a:schemeClr val="bg1"/>
                </a:solidFill>
                <a:latin typeface="Mitsui and Co Sans" panose="020B0604020203020204" pitchFamily="34" charset="0"/>
              </a:rPr>
              <a:t>MITSUI &amp; CO., LTD. ALL RIGHTS RESERVED.</a:t>
            </a:r>
            <a:endParaRPr lang="ja-JP" altLang="en-US" sz="800">
              <a:solidFill>
                <a:schemeClr val="bg1"/>
              </a:solidFill>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テキスト プレースホルダー 29">
            <a:extLst>
              <a:ext uri="{FF2B5EF4-FFF2-40B4-BE49-F238E27FC236}">
                <a16:creationId xmlns:a16="http://schemas.microsoft.com/office/drawing/2014/main" id="{39B7A3DA-42F0-B933-FBAA-EDEFB50E75A4}"/>
              </a:ext>
            </a:extLst>
          </p:cNvPr>
          <p:cNvSpPr>
            <a:spLocks noGrp="1"/>
          </p:cNvSpPr>
          <p:nvPr>
            <p:ph type="body" sz="quarter" idx="11" hasCustomPrompt="1"/>
          </p:nvPr>
        </p:nvSpPr>
        <p:spPr>
          <a:xfrm>
            <a:off x="5318126" y="5334613"/>
            <a:ext cx="1555751" cy="334963"/>
          </a:xfrm>
          <a:prstGeom prst="rect">
            <a:avLst/>
          </a:prstGeom>
        </p:spPr>
        <p:txBody>
          <a:bodyPr/>
          <a:lstStyle>
            <a:lvl1pPr marL="0" indent="0" algn="ctr">
              <a:buNone/>
              <a:defRPr sz="2000" b="1">
                <a:solidFill>
                  <a:schemeClr val="bg1"/>
                </a:solidFill>
                <a:latin typeface="+mj-lt"/>
              </a:defRPr>
            </a:lvl1pPr>
          </a:lstStyle>
          <a:p>
            <a:pPr lvl="0"/>
            <a:r>
              <a:rPr kumimoji="1" lang="ja-JP" altLang="en-US"/>
              <a:t>日付</a:t>
            </a:r>
            <a:r>
              <a:rPr kumimoji="1" lang="en-US" altLang="ja-JP"/>
              <a:t>[20pt]</a:t>
            </a:r>
            <a:endParaRPr kumimoji="1" lang="ja-JP" altLang="en-US"/>
          </a:p>
        </p:txBody>
      </p:sp>
      <p:sp>
        <p:nvSpPr>
          <p:cNvPr id="33" name="テキスト プレースホルダー 31">
            <a:extLst>
              <a:ext uri="{FF2B5EF4-FFF2-40B4-BE49-F238E27FC236}">
                <a16:creationId xmlns:a16="http://schemas.microsoft.com/office/drawing/2014/main" id="{A160D825-BCDF-E2D5-5B4A-B1ACCB2FE0E0}"/>
              </a:ext>
            </a:extLst>
          </p:cNvPr>
          <p:cNvSpPr>
            <a:spLocks noGrp="1"/>
          </p:cNvSpPr>
          <p:nvPr>
            <p:ph type="body" sz="quarter" idx="12" hasCustomPrompt="1"/>
          </p:nvPr>
        </p:nvSpPr>
        <p:spPr>
          <a:xfrm>
            <a:off x="2448963" y="5754185"/>
            <a:ext cx="7294075" cy="443816"/>
          </a:xfrm>
          <a:prstGeom prst="rect">
            <a:avLst/>
          </a:prstGeom>
        </p:spPr>
        <p:txBody>
          <a:bodyPr/>
          <a:lstStyle>
            <a:lvl1pPr marL="0" indent="0" algn="ctr">
              <a:buNone/>
              <a:defRPr sz="2000" b="1">
                <a:solidFill>
                  <a:schemeClr val="bg1"/>
                </a:solidFill>
              </a:defRPr>
            </a:lvl1pPr>
          </a:lstStyle>
          <a:p>
            <a:pPr lvl="0"/>
            <a:r>
              <a:rPr kumimoji="1" lang="ja-JP" altLang="en-US"/>
              <a:t>三井物産株式株式会社デジタル総合戦略部</a:t>
            </a:r>
            <a:r>
              <a:rPr kumimoji="1" lang="en-US" altLang="ja-JP"/>
              <a:t>[20pt]</a:t>
            </a:r>
            <a:endParaRPr kumimoji="1" lang="ja-JP" altLang="en-US"/>
          </a:p>
        </p:txBody>
      </p:sp>
      <p:sp>
        <p:nvSpPr>
          <p:cNvPr id="34" name="タイトル 1">
            <a:extLst>
              <a:ext uri="{FF2B5EF4-FFF2-40B4-BE49-F238E27FC236}">
                <a16:creationId xmlns:a16="http://schemas.microsoft.com/office/drawing/2014/main" id="{D5CA244B-6EBC-2B80-6EF4-EFFDA200BF53}"/>
              </a:ext>
            </a:extLst>
          </p:cNvPr>
          <p:cNvSpPr>
            <a:spLocks noGrp="1"/>
          </p:cNvSpPr>
          <p:nvPr>
            <p:ph type="title" hasCustomPrompt="1"/>
          </p:nvPr>
        </p:nvSpPr>
        <p:spPr>
          <a:xfrm>
            <a:off x="333379" y="1424289"/>
            <a:ext cx="11573700" cy="1325563"/>
          </a:xfrm>
          <a:prstGeom prst="rect">
            <a:avLst/>
          </a:prstGeom>
        </p:spPr>
        <p:txBody>
          <a:bodyPr/>
          <a:lstStyle>
            <a:lvl1pPr algn="ctr">
              <a:defRPr sz="5400" b="1">
                <a:solidFill>
                  <a:srgbClr val="FFFF00"/>
                </a:solidFill>
              </a:defRPr>
            </a:lvl1pPr>
          </a:lstStyle>
          <a:p>
            <a:pPr lvl="0"/>
            <a:r>
              <a:rPr kumimoji="1" lang="ja-JP" altLang="en-US"/>
              <a:t>デジタル総合戦略部</a:t>
            </a:r>
            <a:br>
              <a:rPr kumimoji="1" lang="en-US" altLang="ja-JP"/>
            </a:br>
            <a:r>
              <a:rPr kumimoji="1" lang="ja-JP" altLang="en-US"/>
              <a:t>テンプレート資料</a:t>
            </a:r>
            <a:r>
              <a:rPr kumimoji="1" lang="en-US" altLang="ja-JP"/>
              <a:t>[54pt]</a:t>
            </a:r>
            <a:endParaRPr kumimoji="1" lang="ja-JP" altLang="en-US"/>
          </a:p>
        </p:txBody>
      </p:sp>
    </p:spTree>
    <p:extLst>
      <p:ext uri="{BB962C8B-B14F-4D97-AF65-F5344CB8AC3E}">
        <p14:creationId xmlns:p14="http://schemas.microsoft.com/office/powerpoint/2010/main" val="1900749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テンプレ】目次">
    <p:spTree>
      <p:nvGrpSpPr>
        <p:cNvPr id="1" name=""/>
        <p:cNvGrpSpPr/>
        <p:nvPr/>
      </p:nvGrpSpPr>
      <p:grpSpPr>
        <a:xfrm>
          <a:off x="0" y="0"/>
          <a:ext cx="0" cy="0"/>
          <a:chOff x="0" y="0"/>
          <a:chExt cx="0" cy="0"/>
        </a:xfrm>
      </p:grpSpPr>
      <p:pic>
        <p:nvPicPr>
          <p:cNvPr id="12" name="図 11" descr="背景パターン&#10;&#10;AI 生成コンテンツは誤りを含む可能性があります。">
            <a:extLst>
              <a:ext uri="{FF2B5EF4-FFF2-40B4-BE49-F238E27FC236}">
                <a16:creationId xmlns:a16="http://schemas.microsoft.com/office/drawing/2014/main" id="{B007DEE2-9B84-8B49-2DD5-BF0CD1724E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テキスト プレースホルダー 10"/>
          <p:cNvSpPr>
            <a:spLocks noGrp="1"/>
          </p:cNvSpPr>
          <p:nvPr>
            <p:ph type="body" sz="quarter" idx="11"/>
          </p:nvPr>
        </p:nvSpPr>
        <p:spPr>
          <a:xfrm>
            <a:off x="936000" y="1673200"/>
            <a:ext cx="10320000" cy="4176000"/>
          </a:xfrm>
          <a:prstGeom prst="rect">
            <a:avLst/>
          </a:prstGeom>
        </p:spPr>
        <p:txBody>
          <a:bodyPr vert="horz" lIns="0" tIns="0" rIns="0" bIns="0" anchor="t" anchorCtr="0"/>
          <a:lstStyle>
            <a:lvl1pPr marL="0" indent="0">
              <a:lnSpc>
                <a:spcPct val="100000"/>
              </a:lnSpc>
              <a:spcBef>
                <a:spcPts val="0"/>
              </a:spcBef>
              <a:buNone/>
              <a:defRPr sz="1867" baseline="0">
                <a:latin typeface="+mn-ea"/>
                <a:ea typeface="+mn-ea"/>
              </a:defRPr>
            </a:lvl1pPr>
          </a:lstStyle>
          <a:p>
            <a:pPr lvl="0"/>
            <a:r>
              <a:rPr lang="ja-JP" altLang="en-US"/>
              <a:t>マスター テキストの書式設定</a:t>
            </a:r>
          </a:p>
        </p:txBody>
      </p:sp>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latin typeface="Mitsui and Co Sans" panose="020B0604020203020204" pitchFamily="34" charset="0"/>
              </a:rPr>
              <a:t>Copyright</a:t>
            </a:r>
            <a:r>
              <a:rPr lang="ja-JP" altLang="en-US" sz="800">
                <a:latin typeface="Noto Sans JP" panose="020B0200000000000000" pitchFamily="50" charset="-128"/>
                <a:ea typeface="Noto Sans JP" panose="020B0200000000000000" pitchFamily="50" charset="-128"/>
              </a:rPr>
              <a:t> </a:t>
            </a:r>
            <a:r>
              <a:rPr lang="en-US" altLang="ja-JP" sz="800">
                <a:latin typeface="Noto Sans JP" panose="020B0200000000000000" pitchFamily="50" charset="-128"/>
                <a:ea typeface="Noto Sans JP" panose="020B0200000000000000" pitchFamily="50" charset="-128"/>
              </a:rPr>
              <a:t>©</a:t>
            </a:r>
            <a:r>
              <a:rPr lang="ja-JP" altLang="en-US" sz="800">
                <a:latin typeface="Noto Sans JP" panose="020B0200000000000000" pitchFamily="50" charset="-128"/>
                <a:ea typeface="Noto Sans JP" panose="020B0200000000000000" pitchFamily="50" charset="-128"/>
              </a:rPr>
              <a:t> </a:t>
            </a:r>
            <a:r>
              <a:rPr lang="en-US" altLang="ja-JP" sz="800">
                <a:latin typeface="Mitsui and Co Sans" panose="020B0604020203020204" pitchFamily="34" charset="0"/>
              </a:rPr>
              <a:t>MITSUI &amp; CO., LTD. ALL RIGHTS RESERVED.</a:t>
            </a:r>
            <a:endParaRPr lang="ja-JP" altLang="en-US" sz="800">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タイトル 6">
            <a:extLst>
              <a:ext uri="{FF2B5EF4-FFF2-40B4-BE49-F238E27FC236}">
                <a16:creationId xmlns:a16="http://schemas.microsoft.com/office/drawing/2014/main" id="{B199AF72-71D6-1A72-AFC4-0C48572E33EB}"/>
              </a:ext>
            </a:extLst>
          </p:cNvPr>
          <p:cNvSpPr>
            <a:spLocks noGrp="1"/>
          </p:cNvSpPr>
          <p:nvPr>
            <p:ph type="title" hasCustomPrompt="1"/>
          </p:nvPr>
        </p:nvSpPr>
        <p:spPr>
          <a:xfrm>
            <a:off x="468000" y="720000"/>
            <a:ext cx="10515600" cy="399600"/>
          </a:xfrm>
          <a:prstGeom prst="rect">
            <a:avLst/>
          </a:prstGeom>
        </p:spPr>
        <p:txBody>
          <a:bodyPr wrap="none" lIns="0" tIns="0" rIns="0" bIns="0" anchor="ctr" anchorCtr="0"/>
          <a:lstStyle>
            <a:lvl1pPr algn="l">
              <a:defRPr sz="2800" b="1"/>
            </a:lvl1pPr>
          </a:lstStyle>
          <a:p>
            <a:r>
              <a:rPr kumimoji="1" lang="ja-JP" altLang="en-US"/>
              <a:t>目次</a:t>
            </a:r>
            <a:r>
              <a:rPr kumimoji="1" lang="en-US" altLang="ja-JP"/>
              <a:t>[28pt]</a:t>
            </a:r>
            <a:endParaRPr kumimoji="1" lang="ja-JP" altLang="en-US"/>
          </a:p>
        </p:txBody>
      </p:sp>
    </p:spTree>
    <p:extLst>
      <p:ext uri="{BB962C8B-B14F-4D97-AF65-F5344CB8AC3E}">
        <p14:creationId xmlns:p14="http://schemas.microsoft.com/office/powerpoint/2010/main" val="3745783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テンプレ】タイトル">
    <p:spTree>
      <p:nvGrpSpPr>
        <p:cNvPr id="1" name=""/>
        <p:cNvGrpSpPr/>
        <p:nvPr/>
      </p:nvGrpSpPr>
      <p:grpSpPr>
        <a:xfrm>
          <a:off x="0" y="0"/>
          <a:ext cx="0" cy="0"/>
          <a:chOff x="0" y="0"/>
          <a:chExt cx="0" cy="0"/>
        </a:xfrm>
      </p:grpSpPr>
      <p:pic>
        <p:nvPicPr>
          <p:cNvPr id="12" name="図 11" descr="持つ, 男, 食品 が含まれている画像&#10;&#10;AI 生成コンテンツは誤りを含む可能性があります。">
            <a:extLst>
              <a:ext uri="{FF2B5EF4-FFF2-40B4-BE49-F238E27FC236}">
                <a16:creationId xmlns:a16="http://schemas.microsoft.com/office/drawing/2014/main" id="{0D357281-B150-FC44-34D3-AD792197032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latin typeface="Mitsui and Co Sans" panose="020B0604020203020204" pitchFamily="34" charset="0"/>
              </a:rPr>
              <a:t>Copyright</a:t>
            </a:r>
            <a:r>
              <a:rPr lang="ja-JP" altLang="en-US" sz="800">
                <a:latin typeface="Noto Sans JP" panose="020B0200000000000000" pitchFamily="50" charset="-128"/>
                <a:ea typeface="Noto Sans JP" panose="020B0200000000000000" pitchFamily="50" charset="-128"/>
              </a:rPr>
              <a:t> </a:t>
            </a:r>
            <a:r>
              <a:rPr lang="en-US" altLang="ja-JP" sz="800">
                <a:latin typeface="Noto Sans JP" panose="020B0200000000000000" pitchFamily="50" charset="-128"/>
                <a:ea typeface="Noto Sans JP" panose="020B0200000000000000" pitchFamily="50" charset="-128"/>
              </a:rPr>
              <a:t>©</a:t>
            </a:r>
            <a:r>
              <a:rPr lang="ja-JP" altLang="en-US" sz="800">
                <a:latin typeface="Noto Sans JP" panose="020B0200000000000000" pitchFamily="50" charset="-128"/>
                <a:ea typeface="Noto Sans JP" panose="020B0200000000000000" pitchFamily="50" charset="-128"/>
              </a:rPr>
              <a:t> </a:t>
            </a:r>
            <a:r>
              <a:rPr lang="en-US" altLang="ja-JP" sz="800">
                <a:latin typeface="Mitsui and Co Sans" panose="020B0604020203020204" pitchFamily="34" charset="0"/>
              </a:rPr>
              <a:t>MITSUI &amp; CO., LTD. ALL RIGHTS RESERVED.</a:t>
            </a:r>
            <a:endParaRPr lang="ja-JP" altLang="en-US" sz="800">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テキスト プレースホルダー 11">
            <a:extLst>
              <a:ext uri="{FF2B5EF4-FFF2-40B4-BE49-F238E27FC236}">
                <a16:creationId xmlns:a16="http://schemas.microsoft.com/office/drawing/2014/main" id="{E4FA4907-0A15-F978-C0CB-520FA6FBDD4D}"/>
              </a:ext>
            </a:extLst>
          </p:cNvPr>
          <p:cNvSpPr>
            <a:spLocks noGrp="1" noChangeAspect="1"/>
          </p:cNvSpPr>
          <p:nvPr>
            <p:ph type="body" sz="quarter" idx="11" hasCustomPrompt="1"/>
          </p:nvPr>
        </p:nvSpPr>
        <p:spPr>
          <a:xfrm>
            <a:off x="4027528" y="3639343"/>
            <a:ext cx="1836000" cy="1800000"/>
          </a:xfrm>
          <a:prstGeom prst="rect">
            <a:avLst/>
          </a:prstGeom>
        </p:spPr>
        <p:txBody>
          <a:bodyPr wrap="none" anchor="ctr" anchorCtr="0"/>
          <a:lstStyle>
            <a:lvl1pPr marL="0" indent="0">
              <a:buNone/>
              <a:defRPr sz="8000">
                <a:solidFill>
                  <a:srgbClr val="7F7F7F"/>
                </a:solidFill>
              </a:defRPr>
            </a:lvl1pPr>
            <a:lvl2pPr marL="609539" indent="0">
              <a:buNone/>
              <a:defRPr/>
            </a:lvl2pPr>
            <a:lvl3pPr marL="1219080" indent="0">
              <a:buNone/>
              <a:defRPr/>
            </a:lvl3pPr>
            <a:lvl4pPr marL="1828618" indent="0">
              <a:buNone/>
              <a:defRPr/>
            </a:lvl4pPr>
            <a:lvl5pPr marL="2438158" indent="0">
              <a:buNone/>
              <a:defRPr/>
            </a:lvl5pPr>
          </a:lstStyle>
          <a:p>
            <a:pPr lvl="0"/>
            <a:r>
              <a:rPr kumimoji="1" lang="en-US" altLang="ja-JP"/>
              <a:t>N.</a:t>
            </a:r>
            <a:endParaRPr kumimoji="1" lang="ja-JP" altLang="en-US"/>
          </a:p>
        </p:txBody>
      </p:sp>
      <p:sp>
        <p:nvSpPr>
          <p:cNvPr id="5" name="タイトル 1">
            <a:extLst>
              <a:ext uri="{FF2B5EF4-FFF2-40B4-BE49-F238E27FC236}">
                <a16:creationId xmlns:a16="http://schemas.microsoft.com/office/drawing/2014/main" id="{CB5F75B0-EC6E-DD95-093B-DF5AA1F98D79}"/>
              </a:ext>
            </a:extLst>
          </p:cNvPr>
          <p:cNvSpPr>
            <a:spLocks noGrp="1"/>
          </p:cNvSpPr>
          <p:nvPr>
            <p:ph type="title" hasCustomPrompt="1"/>
          </p:nvPr>
        </p:nvSpPr>
        <p:spPr>
          <a:xfrm>
            <a:off x="4027528" y="5167490"/>
            <a:ext cx="8164472" cy="833437"/>
          </a:xfrm>
          <a:prstGeom prst="rect">
            <a:avLst/>
          </a:prstGeom>
        </p:spPr>
        <p:txBody>
          <a:bodyPr/>
          <a:lstStyle>
            <a:lvl1pPr algn="l">
              <a:defRPr sz="4800" b="1">
                <a:solidFill>
                  <a:srgbClr val="7F7F7F"/>
                </a:solidFill>
              </a:defRPr>
            </a:lvl1pPr>
          </a:lstStyle>
          <a:p>
            <a:pPr marL="0" marR="0" lvl="0" indent="0" algn="l" defTabSz="609539"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1" lang="ja-JP" altLang="en-US"/>
              <a:t>タイトル</a:t>
            </a:r>
            <a:r>
              <a:rPr kumimoji="1" lang="en-US" altLang="ja-JP"/>
              <a:t>[48pt]</a:t>
            </a:r>
            <a:endParaRPr kumimoji="1" lang="ja-JP" altLang="en-US"/>
          </a:p>
        </p:txBody>
      </p:sp>
    </p:spTree>
    <p:extLst>
      <p:ext uri="{BB962C8B-B14F-4D97-AF65-F5344CB8AC3E}">
        <p14:creationId xmlns:p14="http://schemas.microsoft.com/office/powerpoint/2010/main" val="83881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テンプレ】タイトル">
    <p:spTree>
      <p:nvGrpSpPr>
        <p:cNvPr id="1" name=""/>
        <p:cNvGrpSpPr/>
        <p:nvPr/>
      </p:nvGrpSpPr>
      <p:grpSpPr>
        <a:xfrm>
          <a:off x="0" y="0"/>
          <a:ext cx="0" cy="0"/>
          <a:chOff x="0" y="0"/>
          <a:chExt cx="0" cy="0"/>
        </a:xfrm>
      </p:grpSpPr>
      <p:pic>
        <p:nvPicPr>
          <p:cNvPr id="11" name="図 10" descr="シャツ が含まれている画像&#10;&#10;AI 生成コンテンツは誤りを含む可能性があります。">
            <a:extLst>
              <a:ext uri="{FF2B5EF4-FFF2-40B4-BE49-F238E27FC236}">
                <a16:creationId xmlns:a16="http://schemas.microsoft.com/office/drawing/2014/main" id="{63AC6D7C-30D4-080E-439C-ADA88AB59F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latin typeface="Mitsui and Co Sans" panose="020B0604020203020204" pitchFamily="34" charset="0"/>
              </a:rPr>
              <a:t>Copyright</a:t>
            </a:r>
            <a:r>
              <a:rPr lang="ja-JP" altLang="en-US" sz="800">
                <a:latin typeface="Noto Sans JP" panose="020B0200000000000000" pitchFamily="50" charset="-128"/>
                <a:ea typeface="Noto Sans JP" panose="020B0200000000000000" pitchFamily="50" charset="-128"/>
              </a:rPr>
              <a:t> </a:t>
            </a:r>
            <a:r>
              <a:rPr lang="en-US" altLang="ja-JP" sz="800">
                <a:latin typeface="Noto Sans JP" panose="020B0200000000000000" pitchFamily="50" charset="-128"/>
                <a:ea typeface="Noto Sans JP" panose="020B0200000000000000" pitchFamily="50" charset="-128"/>
              </a:rPr>
              <a:t>©</a:t>
            </a:r>
            <a:r>
              <a:rPr lang="ja-JP" altLang="en-US" sz="800">
                <a:latin typeface="Noto Sans JP" panose="020B0200000000000000" pitchFamily="50" charset="-128"/>
                <a:ea typeface="Noto Sans JP" panose="020B0200000000000000" pitchFamily="50" charset="-128"/>
              </a:rPr>
              <a:t> </a:t>
            </a:r>
            <a:r>
              <a:rPr lang="en-US" altLang="ja-JP" sz="800">
                <a:latin typeface="Mitsui and Co Sans" panose="020B0604020203020204" pitchFamily="34" charset="0"/>
              </a:rPr>
              <a:t>MITSUI &amp; CO., LTD. ALL RIGHTS RESERVED.</a:t>
            </a:r>
            <a:endParaRPr lang="ja-JP" altLang="en-US" sz="800">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テキスト プレースホルダー 11">
            <a:extLst>
              <a:ext uri="{FF2B5EF4-FFF2-40B4-BE49-F238E27FC236}">
                <a16:creationId xmlns:a16="http://schemas.microsoft.com/office/drawing/2014/main" id="{E4FA4907-0A15-F978-C0CB-520FA6FBDD4D}"/>
              </a:ext>
            </a:extLst>
          </p:cNvPr>
          <p:cNvSpPr>
            <a:spLocks noGrp="1" noChangeAspect="1"/>
          </p:cNvSpPr>
          <p:nvPr>
            <p:ph type="body" sz="quarter" idx="11" hasCustomPrompt="1"/>
          </p:nvPr>
        </p:nvSpPr>
        <p:spPr>
          <a:xfrm>
            <a:off x="4027528" y="3639343"/>
            <a:ext cx="1836000" cy="1800000"/>
          </a:xfrm>
          <a:prstGeom prst="rect">
            <a:avLst/>
          </a:prstGeom>
        </p:spPr>
        <p:txBody>
          <a:bodyPr wrap="none" anchor="ctr" anchorCtr="0"/>
          <a:lstStyle>
            <a:lvl1pPr marL="0" indent="0">
              <a:buNone/>
              <a:defRPr sz="8000">
                <a:solidFill>
                  <a:srgbClr val="7F7F7F"/>
                </a:solidFill>
              </a:defRPr>
            </a:lvl1pPr>
            <a:lvl2pPr marL="609539" indent="0">
              <a:buNone/>
              <a:defRPr/>
            </a:lvl2pPr>
            <a:lvl3pPr marL="1219080" indent="0">
              <a:buNone/>
              <a:defRPr/>
            </a:lvl3pPr>
            <a:lvl4pPr marL="1828618" indent="0">
              <a:buNone/>
              <a:defRPr/>
            </a:lvl4pPr>
            <a:lvl5pPr marL="2438158" indent="0">
              <a:buNone/>
              <a:defRPr/>
            </a:lvl5pPr>
          </a:lstStyle>
          <a:p>
            <a:pPr lvl="0"/>
            <a:r>
              <a:rPr kumimoji="1" lang="en-US" altLang="ja-JP"/>
              <a:t>N.</a:t>
            </a:r>
            <a:endParaRPr kumimoji="1" lang="ja-JP" altLang="en-US"/>
          </a:p>
        </p:txBody>
      </p:sp>
      <p:sp>
        <p:nvSpPr>
          <p:cNvPr id="5" name="タイトル 1">
            <a:extLst>
              <a:ext uri="{FF2B5EF4-FFF2-40B4-BE49-F238E27FC236}">
                <a16:creationId xmlns:a16="http://schemas.microsoft.com/office/drawing/2014/main" id="{CB5F75B0-EC6E-DD95-093B-DF5AA1F98D79}"/>
              </a:ext>
            </a:extLst>
          </p:cNvPr>
          <p:cNvSpPr>
            <a:spLocks noGrp="1"/>
          </p:cNvSpPr>
          <p:nvPr>
            <p:ph type="title" hasCustomPrompt="1"/>
          </p:nvPr>
        </p:nvSpPr>
        <p:spPr>
          <a:xfrm>
            <a:off x="4027528" y="5167490"/>
            <a:ext cx="8164472" cy="833437"/>
          </a:xfrm>
          <a:prstGeom prst="rect">
            <a:avLst/>
          </a:prstGeom>
        </p:spPr>
        <p:txBody>
          <a:bodyPr/>
          <a:lstStyle>
            <a:lvl1pPr algn="l">
              <a:defRPr sz="4800" b="1">
                <a:solidFill>
                  <a:srgbClr val="7F7F7F"/>
                </a:solidFill>
              </a:defRPr>
            </a:lvl1pPr>
          </a:lstStyle>
          <a:p>
            <a:pPr marL="0" marR="0" lvl="0" indent="0" algn="l" defTabSz="609539"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1" lang="ja-JP" altLang="en-US"/>
              <a:t>タイトル</a:t>
            </a:r>
            <a:r>
              <a:rPr kumimoji="1" lang="en-US" altLang="ja-JP"/>
              <a:t>[48pt]</a:t>
            </a:r>
            <a:endParaRPr kumimoji="1" lang="ja-JP" altLang="en-US"/>
          </a:p>
        </p:txBody>
      </p:sp>
    </p:spTree>
    <p:extLst>
      <p:ext uri="{BB962C8B-B14F-4D97-AF65-F5344CB8AC3E}">
        <p14:creationId xmlns:p14="http://schemas.microsoft.com/office/powerpoint/2010/main" val="821300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テンプレ】タイトル">
    <p:spTree>
      <p:nvGrpSpPr>
        <p:cNvPr id="1" name=""/>
        <p:cNvGrpSpPr/>
        <p:nvPr/>
      </p:nvGrpSpPr>
      <p:grpSpPr>
        <a:xfrm>
          <a:off x="0" y="0"/>
          <a:ext cx="0" cy="0"/>
          <a:chOff x="0" y="0"/>
          <a:chExt cx="0" cy="0"/>
        </a:xfrm>
      </p:grpSpPr>
      <p:pic>
        <p:nvPicPr>
          <p:cNvPr id="12" name="図 11" descr="持つ, 男, 食品 が含まれている画像&#10;&#10;AI 生成コンテンツは誤りを含む可能性があります。">
            <a:extLst>
              <a:ext uri="{FF2B5EF4-FFF2-40B4-BE49-F238E27FC236}">
                <a16:creationId xmlns:a16="http://schemas.microsoft.com/office/drawing/2014/main" id="{0D357281-B150-FC44-34D3-AD792197032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latin typeface="Mitsui and Co Sans" panose="020B0604020203020204" pitchFamily="34" charset="0"/>
              </a:rPr>
              <a:t>Copyright</a:t>
            </a:r>
            <a:r>
              <a:rPr lang="ja-JP" altLang="en-US" sz="800">
                <a:latin typeface="Noto Sans JP" panose="020B0200000000000000" pitchFamily="50" charset="-128"/>
                <a:ea typeface="Noto Sans JP" panose="020B0200000000000000" pitchFamily="50" charset="-128"/>
              </a:rPr>
              <a:t> </a:t>
            </a:r>
            <a:r>
              <a:rPr lang="en-US" altLang="ja-JP" sz="800">
                <a:latin typeface="Noto Sans JP" panose="020B0200000000000000" pitchFamily="50" charset="-128"/>
                <a:ea typeface="Noto Sans JP" panose="020B0200000000000000" pitchFamily="50" charset="-128"/>
              </a:rPr>
              <a:t>©</a:t>
            </a:r>
            <a:r>
              <a:rPr lang="ja-JP" altLang="en-US" sz="800">
                <a:latin typeface="Noto Sans JP" panose="020B0200000000000000" pitchFamily="50" charset="-128"/>
                <a:ea typeface="Noto Sans JP" panose="020B0200000000000000" pitchFamily="50" charset="-128"/>
              </a:rPr>
              <a:t> </a:t>
            </a:r>
            <a:r>
              <a:rPr lang="en-US" altLang="ja-JP" sz="800">
                <a:latin typeface="Mitsui and Co Sans" panose="020B0604020203020204" pitchFamily="34" charset="0"/>
              </a:rPr>
              <a:t>MITSUI &amp; CO., LTD. ALL RIGHTS RESERVED.</a:t>
            </a:r>
            <a:endParaRPr lang="ja-JP" altLang="en-US" sz="800">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テキスト プレースホルダー 11">
            <a:extLst>
              <a:ext uri="{FF2B5EF4-FFF2-40B4-BE49-F238E27FC236}">
                <a16:creationId xmlns:a16="http://schemas.microsoft.com/office/drawing/2014/main" id="{E4FA4907-0A15-F978-C0CB-520FA6FBDD4D}"/>
              </a:ext>
            </a:extLst>
          </p:cNvPr>
          <p:cNvSpPr>
            <a:spLocks noGrp="1" noChangeAspect="1"/>
          </p:cNvSpPr>
          <p:nvPr>
            <p:ph type="body" sz="quarter" idx="11" hasCustomPrompt="1"/>
          </p:nvPr>
        </p:nvSpPr>
        <p:spPr>
          <a:xfrm>
            <a:off x="4027528" y="3639343"/>
            <a:ext cx="1836000" cy="1800000"/>
          </a:xfrm>
          <a:prstGeom prst="rect">
            <a:avLst/>
          </a:prstGeom>
        </p:spPr>
        <p:txBody>
          <a:bodyPr wrap="none" anchor="ctr" anchorCtr="0"/>
          <a:lstStyle>
            <a:lvl1pPr marL="0" indent="0">
              <a:buNone/>
              <a:defRPr sz="8000">
                <a:solidFill>
                  <a:srgbClr val="7F7F7F"/>
                </a:solidFill>
              </a:defRPr>
            </a:lvl1pPr>
            <a:lvl2pPr marL="609539" indent="0">
              <a:buNone/>
              <a:defRPr/>
            </a:lvl2pPr>
            <a:lvl3pPr marL="1219080" indent="0">
              <a:buNone/>
              <a:defRPr/>
            </a:lvl3pPr>
            <a:lvl4pPr marL="1828618" indent="0">
              <a:buNone/>
              <a:defRPr/>
            </a:lvl4pPr>
            <a:lvl5pPr marL="2438158" indent="0">
              <a:buNone/>
              <a:defRPr/>
            </a:lvl5pPr>
          </a:lstStyle>
          <a:p>
            <a:pPr lvl="0"/>
            <a:r>
              <a:rPr kumimoji="1" lang="en-US" altLang="ja-JP"/>
              <a:t>N.</a:t>
            </a:r>
            <a:endParaRPr kumimoji="1" lang="ja-JP" altLang="en-US"/>
          </a:p>
        </p:txBody>
      </p:sp>
      <p:sp>
        <p:nvSpPr>
          <p:cNvPr id="5" name="タイトル 1">
            <a:extLst>
              <a:ext uri="{FF2B5EF4-FFF2-40B4-BE49-F238E27FC236}">
                <a16:creationId xmlns:a16="http://schemas.microsoft.com/office/drawing/2014/main" id="{CB5F75B0-EC6E-DD95-093B-DF5AA1F98D79}"/>
              </a:ext>
            </a:extLst>
          </p:cNvPr>
          <p:cNvSpPr>
            <a:spLocks noGrp="1"/>
          </p:cNvSpPr>
          <p:nvPr>
            <p:ph type="title" hasCustomPrompt="1"/>
          </p:nvPr>
        </p:nvSpPr>
        <p:spPr>
          <a:xfrm>
            <a:off x="4027528" y="5167490"/>
            <a:ext cx="8164472" cy="833437"/>
          </a:xfrm>
          <a:prstGeom prst="rect">
            <a:avLst/>
          </a:prstGeom>
        </p:spPr>
        <p:txBody>
          <a:bodyPr/>
          <a:lstStyle>
            <a:lvl1pPr algn="l">
              <a:defRPr sz="4800" b="1">
                <a:solidFill>
                  <a:srgbClr val="7F7F7F"/>
                </a:solidFill>
              </a:defRPr>
            </a:lvl1pPr>
          </a:lstStyle>
          <a:p>
            <a:pPr marL="0" marR="0" lvl="0" indent="0" algn="l" defTabSz="609539"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1" lang="ja-JP" altLang="en-US"/>
              <a:t>タイトル</a:t>
            </a:r>
            <a:r>
              <a:rPr kumimoji="1" lang="en-US" altLang="ja-JP"/>
              <a:t>[48pt]</a:t>
            </a:r>
            <a:endParaRPr kumimoji="1" lang="ja-JP" altLang="en-US"/>
          </a:p>
        </p:txBody>
      </p:sp>
      <p:sp>
        <p:nvSpPr>
          <p:cNvPr id="6" name="テキスト プレースホルダー 2">
            <a:extLst>
              <a:ext uri="{FF2B5EF4-FFF2-40B4-BE49-F238E27FC236}">
                <a16:creationId xmlns:a16="http://schemas.microsoft.com/office/drawing/2014/main" id="{23E0A09B-52BB-59ED-15F6-34D6EBEDF713}"/>
              </a:ext>
            </a:extLst>
          </p:cNvPr>
          <p:cNvSpPr>
            <a:spLocks noGrp="1"/>
          </p:cNvSpPr>
          <p:nvPr>
            <p:ph type="body" sz="quarter" idx="12" hasCustomPrompt="1"/>
          </p:nvPr>
        </p:nvSpPr>
        <p:spPr>
          <a:xfrm>
            <a:off x="5218883" y="4555579"/>
            <a:ext cx="6973117" cy="360000"/>
          </a:xfrm>
          <a:prstGeom prst="rect">
            <a:avLst/>
          </a:prstGeom>
        </p:spPr>
        <p:txBody>
          <a:bodyPr wrap="none" anchor="ctr" anchorCtr="0"/>
          <a:lstStyle>
            <a:lvl1pPr marL="0" indent="0">
              <a:buNone/>
              <a:defRPr sz="2400" b="1">
                <a:solidFill>
                  <a:schemeClr val="tx2">
                    <a:lumMod val="75000"/>
                  </a:schemeClr>
                </a:solidFill>
              </a:defRPr>
            </a:lvl1pPr>
            <a:lvl2pPr marL="609539" indent="0">
              <a:buNone/>
              <a:defRPr sz="4800"/>
            </a:lvl2pPr>
            <a:lvl3pPr marL="1219080" indent="0">
              <a:buNone/>
              <a:defRPr sz="4800"/>
            </a:lvl3pPr>
            <a:lvl4pPr marL="1828618" indent="0">
              <a:buNone/>
              <a:defRPr sz="4800"/>
            </a:lvl4pPr>
            <a:lvl5pPr marL="2438158" indent="0">
              <a:buNone/>
              <a:defRPr sz="4800"/>
            </a:lvl5pPr>
          </a:lstStyle>
          <a:p>
            <a:pPr lvl="0"/>
            <a:r>
              <a:rPr kumimoji="1" lang="ja-JP" altLang="en-US"/>
              <a:t>章タイトル</a:t>
            </a:r>
            <a:r>
              <a:rPr kumimoji="1" lang="en-US" altLang="ja-JP"/>
              <a:t>[24pt]</a:t>
            </a:r>
            <a:endParaRPr kumimoji="1" lang="ja-JP" altLang="en-US"/>
          </a:p>
        </p:txBody>
      </p:sp>
    </p:spTree>
    <p:extLst>
      <p:ext uri="{BB962C8B-B14F-4D97-AF65-F5344CB8AC3E}">
        <p14:creationId xmlns:p14="http://schemas.microsoft.com/office/powerpoint/2010/main" val="215754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テンプレ】タイトル">
    <p:spTree>
      <p:nvGrpSpPr>
        <p:cNvPr id="1" name=""/>
        <p:cNvGrpSpPr/>
        <p:nvPr/>
      </p:nvGrpSpPr>
      <p:grpSpPr>
        <a:xfrm>
          <a:off x="0" y="0"/>
          <a:ext cx="0" cy="0"/>
          <a:chOff x="0" y="0"/>
          <a:chExt cx="0" cy="0"/>
        </a:xfrm>
      </p:grpSpPr>
      <p:pic>
        <p:nvPicPr>
          <p:cNvPr id="11" name="図 10" descr="シャツ が含まれている画像&#10;&#10;AI 生成コンテンツは誤りを含む可能性があります。">
            <a:extLst>
              <a:ext uri="{FF2B5EF4-FFF2-40B4-BE49-F238E27FC236}">
                <a16:creationId xmlns:a16="http://schemas.microsoft.com/office/drawing/2014/main" id="{63AC6D7C-30D4-080E-439C-ADA88AB59F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latin typeface="Mitsui and Co Sans" panose="020B0604020203020204" pitchFamily="34" charset="0"/>
              </a:rPr>
              <a:t>Copyright</a:t>
            </a:r>
            <a:r>
              <a:rPr lang="ja-JP" altLang="en-US" sz="800">
                <a:latin typeface="Noto Sans JP" panose="020B0200000000000000" pitchFamily="50" charset="-128"/>
                <a:ea typeface="Noto Sans JP" panose="020B0200000000000000" pitchFamily="50" charset="-128"/>
              </a:rPr>
              <a:t> </a:t>
            </a:r>
            <a:r>
              <a:rPr lang="en-US" altLang="ja-JP" sz="800">
                <a:latin typeface="Noto Sans JP" panose="020B0200000000000000" pitchFamily="50" charset="-128"/>
                <a:ea typeface="Noto Sans JP" panose="020B0200000000000000" pitchFamily="50" charset="-128"/>
              </a:rPr>
              <a:t>©</a:t>
            </a:r>
            <a:r>
              <a:rPr lang="ja-JP" altLang="en-US" sz="800">
                <a:latin typeface="Noto Sans JP" panose="020B0200000000000000" pitchFamily="50" charset="-128"/>
                <a:ea typeface="Noto Sans JP" panose="020B0200000000000000" pitchFamily="50" charset="-128"/>
              </a:rPr>
              <a:t> </a:t>
            </a:r>
            <a:r>
              <a:rPr lang="en-US" altLang="ja-JP" sz="800">
                <a:latin typeface="Mitsui and Co Sans" panose="020B0604020203020204" pitchFamily="34" charset="0"/>
              </a:rPr>
              <a:t>MITSUI &amp; CO., LTD. ALL RIGHTS RESERVED.</a:t>
            </a:r>
            <a:endParaRPr lang="ja-JP" altLang="en-US" sz="800">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テキスト プレースホルダー 11">
            <a:extLst>
              <a:ext uri="{FF2B5EF4-FFF2-40B4-BE49-F238E27FC236}">
                <a16:creationId xmlns:a16="http://schemas.microsoft.com/office/drawing/2014/main" id="{E4FA4907-0A15-F978-C0CB-520FA6FBDD4D}"/>
              </a:ext>
            </a:extLst>
          </p:cNvPr>
          <p:cNvSpPr>
            <a:spLocks noGrp="1" noChangeAspect="1"/>
          </p:cNvSpPr>
          <p:nvPr>
            <p:ph type="body" sz="quarter" idx="11" hasCustomPrompt="1"/>
          </p:nvPr>
        </p:nvSpPr>
        <p:spPr>
          <a:xfrm>
            <a:off x="4027528" y="3639343"/>
            <a:ext cx="1836000" cy="1800000"/>
          </a:xfrm>
          <a:prstGeom prst="rect">
            <a:avLst/>
          </a:prstGeom>
        </p:spPr>
        <p:txBody>
          <a:bodyPr wrap="none" anchor="ctr" anchorCtr="0"/>
          <a:lstStyle>
            <a:lvl1pPr marL="0" indent="0">
              <a:buNone/>
              <a:defRPr sz="8000">
                <a:solidFill>
                  <a:srgbClr val="7F7F7F"/>
                </a:solidFill>
              </a:defRPr>
            </a:lvl1pPr>
            <a:lvl2pPr marL="609539" indent="0">
              <a:buNone/>
              <a:defRPr/>
            </a:lvl2pPr>
            <a:lvl3pPr marL="1219080" indent="0">
              <a:buNone/>
              <a:defRPr/>
            </a:lvl3pPr>
            <a:lvl4pPr marL="1828618" indent="0">
              <a:buNone/>
              <a:defRPr/>
            </a:lvl4pPr>
            <a:lvl5pPr marL="2438158" indent="0">
              <a:buNone/>
              <a:defRPr/>
            </a:lvl5pPr>
          </a:lstStyle>
          <a:p>
            <a:pPr lvl="0"/>
            <a:r>
              <a:rPr kumimoji="1" lang="en-US" altLang="ja-JP"/>
              <a:t>N.</a:t>
            </a:r>
            <a:endParaRPr kumimoji="1" lang="ja-JP" altLang="en-US"/>
          </a:p>
        </p:txBody>
      </p:sp>
      <p:sp>
        <p:nvSpPr>
          <p:cNvPr id="5" name="タイトル 1">
            <a:extLst>
              <a:ext uri="{FF2B5EF4-FFF2-40B4-BE49-F238E27FC236}">
                <a16:creationId xmlns:a16="http://schemas.microsoft.com/office/drawing/2014/main" id="{CB5F75B0-EC6E-DD95-093B-DF5AA1F98D79}"/>
              </a:ext>
            </a:extLst>
          </p:cNvPr>
          <p:cNvSpPr>
            <a:spLocks noGrp="1"/>
          </p:cNvSpPr>
          <p:nvPr>
            <p:ph type="title" hasCustomPrompt="1"/>
          </p:nvPr>
        </p:nvSpPr>
        <p:spPr>
          <a:xfrm>
            <a:off x="4027528" y="5167490"/>
            <a:ext cx="8164472" cy="833437"/>
          </a:xfrm>
          <a:prstGeom prst="rect">
            <a:avLst/>
          </a:prstGeom>
        </p:spPr>
        <p:txBody>
          <a:bodyPr/>
          <a:lstStyle>
            <a:lvl1pPr algn="l">
              <a:defRPr sz="4800" b="1">
                <a:solidFill>
                  <a:srgbClr val="7F7F7F"/>
                </a:solidFill>
              </a:defRPr>
            </a:lvl1pPr>
          </a:lstStyle>
          <a:p>
            <a:pPr marL="0" marR="0" lvl="0" indent="0" algn="l" defTabSz="609539"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1" lang="ja-JP" altLang="en-US"/>
              <a:t>タイトル</a:t>
            </a:r>
            <a:r>
              <a:rPr kumimoji="1" lang="en-US" altLang="ja-JP"/>
              <a:t>[48pt]</a:t>
            </a:r>
            <a:endParaRPr kumimoji="1" lang="ja-JP" altLang="en-US"/>
          </a:p>
        </p:txBody>
      </p:sp>
      <p:sp>
        <p:nvSpPr>
          <p:cNvPr id="12" name="テキスト プレースホルダー 2">
            <a:extLst>
              <a:ext uri="{FF2B5EF4-FFF2-40B4-BE49-F238E27FC236}">
                <a16:creationId xmlns:a16="http://schemas.microsoft.com/office/drawing/2014/main" id="{62EE9B42-DCC6-D88D-4668-262CB70DA90E}"/>
              </a:ext>
            </a:extLst>
          </p:cNvPr>
          <p:cNvSpPr>
            <a:spLocks noGrp="1"/>
          </p:cNvSpPr>
          <p:nvPr>
            <p:ph type="body" sz="quarter" idx="12" hasCustomPrompt="1"/>
          </p:nvPr>
        </p:nvSpPr>
        <p:spPr>
          <a:xfrm>
            <a:off x="5218883" y="4555579"/>
            <a:ext cx="6973117" cy="360000"/>
          </a:xfrm>
          <a:prstGeom prst="rect">
            <a:avLst/>
          </a:prstGeom>
        </p:spPr>
        <p:txBody>
          <a:bodyPr wrap="none" anchor="ctr" anchorCtr="0"/>
          <a:lstStyle>
            <a:lvl1pPr marL="0" indent="0">
              <a:buNone/>
              <a:defRPr sz="2400" b="1">
                <a:solidFill>
                  <a:schemeClr val="tx2">
                    <a:lumMod val="75000"/>
                  </a:schemeClr>
                </a:solidFill>
              </a:defRPr>
            </a:lvl1pPr>
            <a:lvl2pPr marL="609539" indent="0">
              <a:buNone/>
              <a:defRPr sz="4800"/>
            </a:lvl2pPr>
            <a:lvl3pPr marL="1219080" indent="0">
              <a:buNone/>
              <a:defRPr sz="4800"/>
            </a:lvl3pPr>
            <a:lvl4pPr marL="1828618" indent="0">
              <a:buNone/>
              <a:defRPr sz="4800"/>
            </a:lvl4pPr>
            <a:lvl5pPr marL="2438158" indent="0">
              <a:buNone/>
              <a:defRPr sz="4800"/>
            </a:lvl5pPr>
          </a:lstStyle>
          <a:p>
            <a:pPr lvl="0"/>
            <a:r>
              <a:rPr kumimoji="1" lang="ja-JP" altLang="en-US"/>
              <a:t>章タイトル</a:t>
            </a:r>
            <a:r>
              <a:rPr kumimoji="1" lang="en-US" altLang="ja-JP"/>
              <a:t>[24pt]</a:t>
            </a:r>
            <a:endParaRPr kumimoji="1" lang="ja-JP" altLang="en-US"/>
          </a:p>
        </p:txBody>
      </p:sp>
    </p:spTree>
    <p:extLst>
      <p:ext uri="{BB962C8B-B14F-4D97-AF65-F5344CB8AC3E}">
        <p14:creationId xmlns:p14="http://schemas.microsoft.com/office/powerpoint/2010/main" val="386457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テンプレ】タイトルのみ">
    <p:spTree>
      <p:nvGrpSpPr>
        <p:cNvPr id="1" name=""/>
        <p:cNvGrpSpPr/>
        <p:nvPr/>
      </p:nvGrpSpPr>
      <p:grpSpPr>
        <a:xfrm>
          <a:off x="0" y="0"/>
          <a:ext cx="0" cy="0"/>
          <a:chOff x="0" y="0"/>
          <a:chExt cx="0" cy="0"/>
        </a:xfrm>
      </p:grpSpPr>
      <p:pic>
        <p:nvPicPr>
          <p:cNvPr id="10" name="図 9" descr="背景パターン が含まれている画像&#10;&#10;AI 生成コンテンツは誤りを含む可能性があります。">
            <a:extLst>
              <a:ext uri="{FF2B5EF4-FFF2-40B4-BE49-F238E27FC236}">
                <a16:creationId xmlns:a16="http://schemas.microsoft.com/office/drawing/2014/main" id="{42F41233-3D0E-ED5B-4B48-39EA462616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latin typeface="Mitsui and Co Sans" panose="020B0604020203020204" pitchFamily="34" charset="0"/>
              </a:rPr>
              <a:t>Copyright</a:t>
            </a:r>
            <a:r>
              <a:rPr lang="ja-JP" altLang="en-US" sz="800">
                <a:latin typeface="Noto Sans JP" panose="020B0200000000000000" pitchFamily="50" charset="-128"/>
                <a:ea typeface="Noto Sans JP" panose="020B0200000000000000" pitchFamily="50" charset="-128"/>
              </a:rPr>
              <a:t> </a:t>
            </a:r>
            <a:r>
              <a:rPr lang="en-US" altLang="ja-JP" sz="800">
                <a:latin typeface="Noto Sans JP" panose="020B0200000000000000" pitchFamily="50" charset="-128"/>
                <a:ea typeface="Noto Sans JP" panose="020B0200000000000000" pitchFamily="50" charset="-128"/>
              </a:rPr>
              <a:t>©</a:t>
            </a:r>
            <a:r>
              <a:rPr lang="ja-JP" altLang="en-US" sz="800">
                <a:latin typeface="Noto Sans JP" panose="020B0200000000000000" pitchFamily="50" charset="-128"/>
                <a:ea typeface="Noto Sans JP" panose="020B0200000000000000" pitchFamily="50" charset="-128"/>
              </a:rPr>
              <a:t> </a:t>
            </a:r>
            <a:r>
              <a:rPr lang="en-US" altLang="ja-JP" sz="800">
                <a:latin typeface="Mitsui and Co Sans" panose="020B0604020203020204" pitchFamily="34" charset="0"/>
              </a:rPr>
              <a:t>MITSUI &amp; CO., LTD. ALL RIGHTS RESERVED.</a:t>
            </a:r>
            <a:endParaRPr lang="ja-JP" altLang="en-US" sz="800">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テキスト プレースホルダー 8">
            <a:extLst>
              <a:ext uri="{FF2B5EF4-FFF2-40B4-BE49-F238E27FC236}">
                <a16:creationId xmlns:a16="http://schemas.microsoft.com/office/drawing/2014/main" id="{32A87282-BBE7-2C18-BF0C-5CECA38CB0E8}"/>
              </a:ext>
            </a:extLst>
          </p:cNvPr>
          <p:cNvSpPr>
            <a:spLocks noGrp="1" noChangeAspect="1"/>
          </p:cNvSpPr>
          <p:nvPr>
            <p:ph type="body" sz="quarter" idx="10" hasCustomPrompt="1"/>
          </p:nvPr>
        </p:nvSpPr>
        <p:spPr>
          <a:xfrm>
            <a:off x="468000" y="180000"/>
            <a:ext cx="2736000" cy="216000"/>
          </a:xfrm>
          <a:prstGeom prst="rect">
            <a:avLst/>
          </a:prstGeom>
        </p:spPr>
        <p:txBody>
          <a:bodyPr wrap="none" anchor="t" anchorCtr="0"/>
          <a:lstStyle>
            <a:lvl1pPr marL="0" indent="0">
              <a:buNone/>
              <a:defRPr sz="1100" b="1">
                <a:solidFill>
                  <a:srgbClr val="7F7F7F"/>
                </a:solidFill>
                <a:latin typeface="+mj-ea"/>
                <a:ea typeface="+mj-ea"/>
              </a:defRPr>
            </a:lvl1pPr>
          </a:lstStyle>
          <a:p>
            <a:pPr marL="0" marR="0" lvl="0" indent="0" algn="l" defTabSz="609539" rtl="0" eaLnBrk="0" fontAlgn="base" latinLnBrk="0" hangingPunct="0">
              <a:lnSpc>
                <a:spcPct val="100000"/>
              </a:lnSpc>
              <a:spcBef>
                <a:spcPct val="20000"/>
              </a:spcBef>
              <a:spcAft>
                <a:spcPct val="0"/>
              </a:spcAft>
              <a:buClrTx/>
              <a:buSzTx/>
              <a:buFont typeface="Arial" panose="020B0604020202020204" pitchFamily="34" charset="0"/>
              <a:buNone/>
              <a:tabLst/>
              <a:defRPr/>
            </a:pPr>
            <a:r>
              <a:rPr lang="en-US" altLang="ja-JP" sz="1100">
                <a:solidFill>
                  <a:srgbClr val="7F7F7F"/>
                </a:solidFill>
                <a:latin typeface="+mj-lt"/>
              </a:rPr>
              <a:t>X.</a:t>
            </a:r>
            <a:r>
              <a:rPr lang="ja-JP" altLang="en-US" sz="1100">
                <a:solidFill>
                  <a:srgbClr val="7F7F7F"/>
                </a:solidFill>
                <a:latin typeface="+mj-lt"/>
              </a:rPr>
              <a:t> タイトル</a:t>
            </a:r>
            <a:endParaRPr lang="en-US" altLang="ja-JP" sz="1100" b="0">
              <a:solidFill>
                <a:srgbClr val="7F7F7F"/>
              </a:solidFill>
              <a:latin typeface="+mj-lt"/>
            </a:endParaRPr>
          </a:p>
        </p:txBody>
      </p:sp>
      <p:sp>
        <p:nvSpPr>
          <p:cNvPr id="9" name="タイトル 6">
            <a:extLst>
              <a:ext uri="{FF2B5EF4-FFF2-40B4-BE49-F238E27FC236}">
                <a16:creationId xmlns:a16="http://schemas.microsoft.com/office/drawing/2014/main" id="{EA9A040E-C205-F3C5-8ED8-1AFA8ACDA5D9}"/>
              </a:ext>
            </a:extLst>
          </p:cNvPr>
          <p:cNvSpPr>
            <a:spLocks noGrp="1"/>
          </p:cNvSpPr>
          <p:nvPr>
            <p:ph type="title" hasCustomPrompt="1"/>
          </p:nvPr>
        </p:nvSpPr>
        <p:spPr>
          <a:xfrm>
            <a:off x="468000" y="720000"/>
            <a:ext cx="10515600" cy="399600"/>
          </a:xfrm>
          <a:prstGeom prst="rect">
            <a:avLst/>
          </a:prstGeom>
        </p:spPr>
        <p:txBody>
          <a:bodyPr wrap="none" lIns="0" tIns="0" rIns="0" bIns="0" anchor="ctr" anchorCtr="0"/>
          <a:lstStyle>
            <a:lvl1pPr marL="0" indent="0" algn="l">
              <a:buFont typeface="Arial" panose="020B0604020202020204" pitchFamily="34" charset="0"/>
              <a:buNone/>
              <a:defRPr sz="2800" b="1"/>
            </a:lvl1pPr>
          </a:lstStyle>
          <a:p>
            <a:r>
              <a:rPr kumimoji="1" lang="ja-JP" altLang="en-US"/>
              <a:t>タイトル</a:t>
            </a:r>
            <a:r>
              <a:rPr kumimoji="1" lang="en-US" altLang="ja-JP"/>
              <a:t>[28pt]</a:t>
            </a:r>
            <a:endParaRPr kumimoji="1" lang="ja-JP" altLang="en-US"/>
          </a:p>
        </p:txBody>
      </p:sp>
    </p:spTree>
    <p:extLst>
      <p:ext uri="{BB962C8B-B14F-4D97-AF65-F5344CB8AC3E}">
        <p14:creationId xmlns:p14="http://schemas.microsoft.com/office/powerpoint/2010/main" val="2473683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テンプレ】タイトル/キーメッセージ/テキストボックス">
    <p:spTree>
      <p:nvGrpSpPr>
        <p:cNvPr id="1" name=""/>
        <p:cNvGrpSpPr/>
        <p:nvPr/>
      </p:nvGrpSpPr>
      <p:grpSpPr>
        <a:xfrm>
          <a:off x="0" y="0"/>
          <a:ext cx="0" cy="0"/>
          <a:chOff x="0" y="0"/>
          <a:chExt cx="0" cy="0"/>
        </a:xfrm>
      </p:grpSpPr>
      <p:pic>
        <p:nvPicPr>
          <p:cNvPr id="8" name="図 7" descr="背景パターン が含まれている画像&#10;&#10;AI 生成コンテンツは誤りを含む可能性があります。">
            <a:extLst>
              <a:ext uri="{FF2B5EF4-FFF2-40B4-BE49-F238E27FC236}">
                <a16:creationId xmlns:a16="http://schemas.microsoft.com/office/drawing/2014/main" id="{DD86FFB1-CA84-08EB-D1EE-A8ABED0C2E0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テキスト プレースホルダー 7">
            <a:extLst>
              <a:ext uri="{FF2B5EF4-FFF2-40B4-BE49-F238E27FC236}">
                <a16:creationId xmlns:a16="http://schemas.microsoft.com/office/drawing/2014/main" id="{BC1248E1-4974-C737-8A8C-7FCD0BCCD828}"/>
              </a:ext>
            </a:extLst>
          </p:cNvPr>
          <p:cNvSpPr>
            <a:spLocks noGrp="1"/>
          </p:cNvSpPr>
          <p:nvPr>
            <p:ph type="body" sz="quarter" idx="14" hasCustomPrompt="1"/>
          </p:nvPr>
        </p:nvSpPr>
        <p:spPr>
          <a:xfrm>
            <a:off x="468001" y="1912126"/>
            <a:ext cx="11158851" cy="4545604"/>
          </a:xfrm>
          <a:prstGeom prst="rect">
            <a:avLst/>
          </a:prstGeom>
        </p:spPr>
        <p:txBody>
          <a:bodyPr/>
          <a:lstStyle>
            <a:lvl1pPr>
              <a:defRPr sz="1600">
                <a:latin typeface="Meiryo UI" panose="020B0604030504040204" pitchFamily="50" charset="-128"/>
                <a:ea typeface="Meiryo UI" panose="020B0604030504040204" pitchFamily="50" charset="-128"/>
              </a:defRPr>
            </a:lvl1pPr>
            <a:lvl2pPr>
              <a:defRPr sz="1600">
                <a:latin typeface="Meiryo UI" panose="020B0604030504040204" pitchFamily="50" charset="-128"/>
                <a:ea typeface="Meiryo UI" panose="020B0604030504040204" pitchFamily="50" charset="-128"/>
              </a:defRPr>
            </a:lvl2pPr>
            <a:lvl3pPr>
              <a:defRPr sz="1600">
                <a:latin typeface="Meiryo UI" panose="020B0604030504040204" pitchFamily="50" charset="-128"/>
                <a:ea typeface="Meiryo UI" panose="020B0604030504040204" pitchFamily="50" charset="-128"/>
              </a:defRPr>
            </a:lvl3pPr>
            <a:lvl4pPr>
              <a:defRPr sz="1600">
                <a:latin typeface="Meiryo UI" panose="020B0604030504040204" pitchFamily="50" charset="-128"/>
                <a:ea typeface="Meiryo UI" panose="020B0604030504040204" pitchFamily="50" charset="-128"/>
              </a:defRPr>
            </a:lvl4pPr>
            <a:lvl5pPr>
              <a:defRPr sz="1600">
                <a:latin typeface="Meiryo UI" panose="020B0604030504040204" pitchFamily="50" charset="-128"/>
                <a:ea typeface="Meiryo UI" panose="020B0604030504040204" pitchFamily="50" charset="-128"/>
              </a:defRPr>
            </a:lvl5pPr>
          </a:lstStyle>
          <a:p>
            <a:pPr lvl="0"/>
            <a:r>
              <a:rPr kumimoji="1" lang="ja-JP" altLang="en-US"/>
              <a:t>本文</a:t>
            </a:r>
            <a:r>
              <a:rPr kumimoji="1" lang="en-US" altLang="ja-JP"/>
              <a:t>16pt</a:t>
            </a:r>
            <a:endParaRPr kumimoji="1" lang="ja-JP" altLang="en-US"/>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latin typeface="Mitsui and Co Sans" panose="020B0604020203020204" pitchFamily="34" charset="0"/>
              </a:rPr>
              <a:t>Copyright</a:t>
            </a:r>
            <a:r>
              <a:rPr lang="ja-JP" altLang="en-US" sz="800">
                <a:latin typeface="Noto Sans JP" panose="020B0200000000000000" pitchFamily="50" charset="-128"/>
                <a:ea typeface="Noto Sans JP" panose="020B0200000000000000" pitchFamily="50" charset="-128"/>
              </a:rPr>
              <a:t> </a:t>
            </a:r>
            <a:r>
              <a:rPr lang="en-US" altLang="ja-JP" sz="800">
                <a:latin typeface="Noto Sans JP" panose="020B0200000000000000" pitchFamily="50" charset="-128"/>
                <a:ea typeface="Noto Sans JP" panose="020B0200000000000000" pitchFamily="50" charset="-128"/>
              </a:rPr>
              <a:t>©</a:t>
            </a:r>
            <a:r>
              <a:rPr lang="ja-JP" altLang="en-US" sz="800">
                <a:latin typeface="Noto Sans JP" panose="020B0200000000000000" pitchFamily="50" charset="-128"/>
                <a:ea typeface="Noto Sans JP" panose="020B0200000000000000" pitchFamily="50" charset="-128"/>
              </a:rPr>
              <a:t> </a:t>
            </a:r>
            <a:r>
              <a:rPr lang="en-US" altLang="ja-JP" sz="800">
                <a:latin typeface="Mitsui and Co Sans" panose="020B0604020203020204" pitchFamily="34" charset="0"/>
              </a:rPr>
              <a:t>MITSUI &amp; CO., LTD. ALL RIGHTS RESERVED.</a:t>
            </a:r>
            <a:endParaRPr lang="ja-JP" altLang="en-US" sz="800">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テキスト プレースホルダー 8">
            <a:extLst>
              <a:ext uri="{FF2B5EF4-FFF2-40B4-BE49-F238E27FC236}">
                <a16:creationId xmlns:a16="http://schemas.microsoft.com/office/drawing/2014/main" id="{32A87282-BBE7-2C18-BF0C-5CECA38CB0E8}"/>
              </a:ext>
            </a:extLst>
          </p:cNvPr>
          <p:cNvSpPr>
            <a:spLocks noGrp="1" noChangeAspect="1"/>
          </p:cNvSpPr>
          <p:nvPr>
            <p:ph type="body" sz="quarter" idx="10" hasCustomPrompt="1"/>
          </p:nvPr>
        </p:nvSpPr>
        <p:spPr>
          <a:xfrm>
            <a:off x="468000" y="72000"/>
            <a:ext cx="2736000" cy="216000"/>
          </a:xfrm>
          <a:prstGeom prst="rect">
            <a:avLst/>
          </a:prstGeom>
        </p:spPr>
        <p:txBody>
          <a:bodyPr wrap="none" anchor="t" anchorCtr="0"/>
          <a:lstStyle>
            <a:lvl1pPr marL="0" indent="0">
              <a:buNone/>
              <a:defRPr sz="1100" b="1">
                <a:solidFill>
                  <a:srgbClr val="7F7F7F"/>
                </a:solidFill>
                <a:latin typeface="+mj-ea"/>
                <a:ea typeface="+mj-ea"/>
              </a:defRPr>
            </a:lvl1pPr>
          </a:lstStyle>
          <a:p>
            <a:pPr marL="0" marR="0" lvl="0" indent="0" algn="l" defTabSz="609539" rtl="0" eaLnBrk="0" fontAlgn="base" latinLnBrk="0" hangingPunct="0">
              <a:lnSpc>
                <a:spcPct val="100000"/>
              </a:lnSpc>
              <a:spcBef>
                <a:spcPct val="20000"/>
              </a:spcBef>
              <a:spcAft>
                <a:spcPct val="0"/>
              </a:spcAft>
              <a:buClrTx/>
              <a:buSzTx/>
              <a:buFont typeface="Arial" panose="020B0604020202020204" pitchFamily="34" charset="0"/>
              <a:buNone/>
              <a:tabLst/>
              <a:defRPr/>
            </a:pPr>
            <a:r>
              <a:rPr lang="en-US" altLang="ja-JP" sz="1100">
                <a:solidFill>
                  <a:srgbClr val="7F7F7F"/>
                </a:solidFill>
                <a:latin typeface="+mj-lt"/>
              </a:rPr>
              <a:t>X.</a:t>
            </a:r>
            <a:r>
              <a:rPr lang="ja-JP" altLang="en-US" sz="1100">
                <a:solidFill>
                  <a:srgbClr val="7F7F7F"/>
                </a:solidFill>
                <a:latin typeface="+mj-lt"/>
              </a:rPr>
              <a:t> タイトル</a:t>
            </a:r>
            <a:endParaRPr lang="en-US" altLang="ja-JP" sz="1100" b="0">
              <a:solidFill>
                <a:srgbClr val="7F7F7F"/>
              </a:solidFill>
              <a:latin typeface="+mj-lt"/>
            </a:endParaRPr>
          </a:p>
        </p:txBody>
      </p:sp>
      <p:sp>
        <p:nvSpPr>
          <p:cNvPr id="5" name="テキスト プレースホルダー 2">
            <a:extLst>
              <a:ext uri="{FF2B5EF4-FFF2-40B4-BE49-F238E27FC236}">
                <a16:creationId xmlns:a16="http://schemas.microsoft.com/office/drawing/2014/main" id="{4168DB9B-67F6-A108-89FD-4452B3CDFF38}"/>
              </a:ext>
            </a:extLst>
          </p:cNvPr>
          <p:cNvSpPr>
            <a:spLocks noGrp="1"/>
          </p:cNvSpPr>
          <p:nvPr>
            <p:ph type="body" sz="quarter" idx="13" hasCustomPrompt="1"/>
          </p:nvPr>
        </p:nvSpPr>
        <p:spPr>
          <a:xfrm>
            <a:off x="468001" y="1148261"/>
            <a:ext cx="11158851" cy="718283"/>
          </a:xfrm>
          <a:prstGeom prst="rect">
            <a:avLst/>
          </a:prstGeom>
        </p:spPr>
        <p:txBody>
          <a:bodyPr/>
          <a:lstStyle>
            <a:lvl1pPr marL="0" indent="0">
              <a:buFont typeface="Arial" panose="020B0604020202020204" pitchFamily="34" charset="0"/>
              <a:buNone/>
              <a:defRPr sz="1800">
                <a:latin typeface="Meiryo UI" panose="020B0604030504040204" pitchFamily="50" charset="-128"/>
                <a:ea typeface="Meiryo UI" panose="020B0604030504040204" pitchFamily="50" charset="-128"/>
              </a:defRPr>
            </a:lvl1pPr>
            <a:lvl2pPr>
              <a:defRPr sz="2133">
                <a:latin typeface="Meiryo UI" panose="020B0604030504040204" pitchFamily="50" charset="-128"/>
                <a:ea typeface="Meiryo UI" panose="020B0604030504040204" pitchFamily="50" charset="-128"/>
              </a:defRPr>
            </a:lvl2pPr>
            <a:lvl3pPr>
              <a:defRPr sz="2133">
                <a:latin typeface="Meiryo UI" panose="020B0604030504040204" pitchFamily="50" charset="-128"/>
                <a:ea typeface="Meiryo UI" panose="020B0604030504040204" pitchFamily="50" charset="-128"/>
              </a:defRPr>
            </a:lvl3pPr>
            <a:lvl4pPr>
              <a:defRPr sz="2133">
                <a:latin typeface="Meiryo UI" panose="020B0604030504040204" pitchFamily="50" charset="-128"/>
                <a:ea typeface="Meiryo UI" panose="020B0604030504040204" pitchFamily="50" charset="-128"/>
              </a:defRPr>
            </a:lvl4pPr>
            <a:lvl5pPr>
              <a:defRPr sz="2133">
                <a:latin typeface="Meiryo UI" panose="020B0604030504040204" pitchFamily="50" charset="-128"/>
                <a:ea typeface="Meiryo UI" panose="020B0604030504040204" pitchFamily="50" charset="-128"/>
              </a:defRPr>
            </a:lvl5pPr>
          </a:lstStyle>
          <a:p>
            <a:pPr lvl="0"/>
            <a:r>
              <a:rPr kumimoji="1" lang="ja-JP" altLang="en-US"/>
              <a:t>キーメッセージ</a:t>
            </a:r>
            <a:r>
              <a:rPr kumimoji="1" lang="en-US" altLang="ja-JP"/>
              <a:t>2</a:t>
            </a:r>
            <a:r>
              <a:rPr kumimoji="1" lang="ja-JP" altLang="en-US"/>
              <a:t>行程度</a:t>
            </a:r>
            <a:r>
              <a:rPr kumimoji="1" lang="en-US" altLang="ja-JP"/>
              <a:t>(18pt)</a:t>
            </a:r>
          </a:p>
        </p:txBody>
      </p:sp>
      <p:sp>
        <p:nvSpPr>
          <p:cNvPr id="9" name="タイトル 6">
            <a:extLst>
              <a:ext uri="{FF2B5EF4-FFF2-40B4-BE49-F238E27FC236}">
                <a16:creationId xmlns:a16="http://schemas.microsoft.com/office/drawing/2014/main" id="{EA9A040E-C205-F3C5-8ED8-1AFA8ACDA5D9}"/>
              </a:ext>
            </a:extLst>
          </p:cNvPr>
          <p:cNvSpPr>
            <a:spLocks noGrp="1"/>
          </p:cNvSpPr>
          <p:nvPr>
            <p:ph type="title" hasCustomPrompt="1"/>
          </p:nvPr>
        </p:nvSpPr>
        <p:spPr>
          <a:xfrm>
            <a:off x="468000" y="720000"/>
            <a:ext cx="10515600" cy="399600"/>
          </a:xfrm>
          <a:prstGeom prst="rect">
            <a:avLst/>
          </a:prstGeom>
        </p:spPr>
        <p:txBody>
          <a:bodyPr wrap="none" lIns="0" tIns="0" rIns="0" bIns="0" anchor="ctr" anchorCtr="0"/>
          <a:lstStyle>
            <a:lvl1pPr marL="0" indent="0" algn="l">
              <a:buFont typeface="Arial" panose="020B0604020202020204" pitchFamily="34" charset="0"/>
              <a:buNone/>
              <a:defRPr sz="2800" b="1"/>
            </a:lvl1pPr>
          </a:lstStyle>
          <a:p>
            <a:r>
              <a:rPr kumimoji="1" lang="ja-JP" altLang="en-US"/>
              <a:t>タイトル</a:t>
            </a:r>
            <a:r>
              <a:rPr kumimoji="1" lang="en-US" altLang="ja-JP"/>
              <a:t>[28pt]</a:t>
            </a:r>
            <a:endParaRPr kumimoji="1" lang="ja-JP" altLang="en-US"/>
          </a:p>
        </p:txBody>
      </p:sp>
    </p:spTree>
    <p:extLst>
      <p:ext uri="{BB962C8B-B14F-4D97-AF65-F5344CB8AC3E}">
        <p14:creationId xmlns:p14="http://schemas.microsoft.com/office/powerpoint/2010/main" val="355771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テンプレ】タイトル/テキストボックス">
    <p:spTree>
      <p:nvGrpSpPr>
        <p:cNvPr id="1" name=""/>
        <p:cNvGrpSpPr/>
        <p:nvPr/>
      </p:nvGrpSpPr>
      <p:grpSpPr>
        <a:xfrm>
          <a:off x="0" y="0"/>
          <a:ext cx="0" cy="0"/>
          <a:chOff x="0" y="0"/>
          <a:chExt cx="0" cy="0"/>
        </a:xfrm>
      </p:grpSpPr>
      <p:pic>
        <p:nvPicPr>
          <p:cNvPr id="5" name="図 4" descr="背景パターン が含まれている画像&#10;&#10;AI 生成コンテンツは誤りを含む可能性があります。">
            <a:extLst>
              <a:ext uri="{FF2B5EF4-FFF2-40B4-BE49-F238E27FC236}">
                <a16:creationId xmlns:a16="http://schemas.microsoft.com/office/drawing/2014/main" id="{D55B3EF4-6001-EAE1-37AC-768A088A36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latin typeface="Mitsui and Co Sans" panose="020B0604020203020204" pitchFamily="34" charset="0"/>
              </a:rPr>
              <a:t>Copyright</a:t>
            </a:r>
            <a:r>
              <a:rPr lang="ja-JP" altLang="en-US" sz="800">
                <a:latin typeface="Noto Sans JP" panose="020B0200000000000000" pitchFamily="50" charset="-128"/>
                <a:ea typeface="Noto Sans JP" panose="020B0200000000000000" pitchFamily="50" charset="-128"/>
              </a:rPr>
              <a:t> </a:t>
            </a:r>
            <a:r>
              <a:rPr lang="en-US" altLang="ja-JP" sz="800">
                <a:latin typeface="Noto Sans JP" panose="020B0200000000000000" pitchFamily="50" charset="-128"/>
                <a:ea typeface="Noto Sans JP" panose="020B0200000000000000" pitchFamily="50" charset="-128"/>
              </a:rPr>
              <a:t>©</a:t>
            </a:r>
            <a:r>
              <a:rPr lang="ja-JP" altLang="en-US" sz="800">
                <a:latin typeface="Noto Sans JP" panose="020B0200000000000000" pitchFamily="50" charset="-128"/>
                <a:ea typeface="Noto Sans JP" panose="020B0200000000000000" pitchFamily="50" charset="-128"/>
              </a:rPr>
              <a:t> </a:t>
            </a:r>
            <a:r>
              <a:rPr lang="en-US" altLang="ja-JP" sz="800">
                <a:latin typeface="Mitsui and Co Sans" panose="020B0604020203020204" pitchFamily="34" charset="0"/>
              </a:rPr>
              <a:t>MITSUI &amp; CO., LTD. ALL RIGHTS RESERVED.</a:t>
            </a:r>
            <a:endParaRPr lang="ja-JP" altLang="en-US" sz="800">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テキスト プレースホルダー 8">
            <a:extLst>
              <a:ext uri="{FF2B5EF4-FFF2-40B4-BE49-F238E27FC236}">
                <a16:creationId xmlns:a16="http://schemas.microsoft.com/office/drawing/2014/main" id="{32A87282-BBE7-2C18-BF0C-5CECA38CB0E8}"/>
              </a:ext>
            </a:extLst>
          </p:cNvPr>
          <p:cNvSpPr>
            <a:spLocks noGrp="1" noChangeAspect="1"/>
          </p:cNvSpPr>
          <p:nvPr>
            <p:ph type="body" sz="quarter" idx="10" hasCustomPrompt="1"/>
          </p:nvPr>
        </p:nvSpPr>
        <p:spPr>
          <a:xfrm>
            <a:off x="468000" y="72000"/>
            <a:ext cx="2736000" cy="216000"/>
          </a:xfrm>
          <a:prstGeom prst="rect">
            <a:avLst/>
          </a:prstGeom>
        </p:spPr>
        <p:txBody>
          <a:bodyPr wrap="none" anchor="t" anchorCtr="0"/>
          <a:lstStyle>
            <a:lvl1pPr marL="0" indent="0">
              <a:buNone/>
              <a:defRPr sz="1100" b="1">
                <a:solidFill>
                  <a:srgbClr val="7F7F7F"/>
                </a:solidFill>
                <a:latin typeface="+mj-ea"/>
                <a:ea typeface="+mj-ea"/>
              </a:defRPr>
            </a:lvl1pPr>
          </a:lstStyle>
          <a:p>
            <a:pPr marL="0" marR="0" lvl="0" indent="0" algn="l" defTabSz="609539" rtl="0" eaLnBrk="0" fontAlgn="base" latinLnBrk="0" hangingPunct="0">
              <a:lnSpc>
                <a:spcPct val="100000"/>
              </a:lnSpc>
              <a:spcBef>
                <a:spcPct val="20000"/>
              </a:spcBef>
              <a:spcAft>
                <a:spcPct val="0"/>
              </a:spcAft>
              <a:buClrTx/>
              <a:buSzTx/>
              <a:buFont typeface="Arial" panose="020B0604020202020204" pitchFamily="34" charset="0"/>
              <a:buNone/>
              <a:tabLst/>
              <a:defRPr/>
            </a:pPr>
            <a:r>
              <a:rPr lang="en-US" altLang="ja-JP" sz="1100">
                <a:solidFill>
                  <a:srgbClr val="7F7F7F"/>
                </a:solidFill>
                <a:latin typeface="+mj-lt"/>
              </a:rPr>
              <a:t>X.</a:t>
            </a:r>
            <a:r>
              <a:rPr lang="ja-JP" altLang="en-US" sz="1100">
                <a:solidFill>
                  <a:srgbClr val="7F7F7F"/>
                </a:solidFill>
                <a:latin typeface="+mj-lt"/>
              </a:rPr>
              <a:t> タイトル</a:t>
            </a:r>
            <a:endParaRPr lang="en-US" altLang="ja-JP" sz="1100" b="0">
              <a:solidFill>
                <a:srgbClr val="7F7F7F"/>
              </a:solidFill>
              <a:latin typeface="+mj-lt"/>
            </a:endParaRPr>
          </a:p>
        </p:txBody>
      </p:sp>
      <p:sp>
        <p:nvSpPr>
          <p:cNvPr id="9" name="タイトル 6">
            <a:extLst>
              <a:ext uri="{FF2B5EF4-FFF2-40B4-BE49-F238E27FC236}">
                <a16:creationId xmlns:a16="http://schemas.microsoft.com/office/drawing/2014/main" id="{EA9A040E-C205-F3C5-8ED8-1AFA8ACDA5D9}"/>
              </a:ext>
            </a:extLst>
          </p:cNvPr>
          <p:cNvSpPr>
            <a:spLocks noGrp="1"/>
          </p:cNvSpPr>
          <p:nvPr>
            <p:ph type="title" hasCustomPrompt="1"/>
          </p:nvPr>
        </p:nvSpPr>
        <p:spPr>
          <a:xfrm>
            <a:off x="468000" y="720000"/>
            <a:ext cx="10515600" cy="399600"/>
          </a:xfrm>
          <a:prstGeom prst="rect">
            <a:avLst/>
          </a:prstGeom>
        </p:spPr>
        <p:txBody>
          <a:bodyPr wrap="none" lIns="0" tIns="0" rIns="0" bIns="0" anchor="ctr" anchorCtr="0"/>
          <a:lstStyle>
            <a:lvl1pPr marL="0" indent="0" algn="l">
              <a:buFont typeface="Arial" panose="020B0604020202020204" pitchFamily="34" charset="0"/>
              <a:buNone/>
              <a:defRPr sz="2800" b="1"/>
            </a:lvl1pPr>
          </a:lstStyle>
          <a:p>
            <a:r>
              <a:rPr kumimoji="1" lang="ja-JP" altLang="en-US"/>
              <a:t>タイトル</a:t>
            </a:r>
            <a:r>
              <a:rPr kumimoji="1" lang="en-US" altLang="ja-JP"/>
              <a:t>[28pt]</a:t>
            </a:r>
            <a:endParaRPr kumimoji="1" lang="ja-JP" altLang="en-US"/>
          </a:p>
        </p:txBody>
      </p:sp>
      <p:sp>
        <p:nvSpPr>
          <p:cNvPr id="10" name="テキスト プレースホルダー 10">
            <a:extLst>
              <a:ext uri="{FF2B5EF4-FFF2-40B4-BE49-F238E27FC236}">
                <a16:creationId xmlns:a16="http://schemas.microsoft.com/office/drawing/2014/main" id="{67CBBEA0-9E26-7D9D-D730-39F79F1EE745}"/>
              </a:ext>
            </a:extLst>
          </p:cNvPr>
          <p:cNvSpPr>
            <a:spLocks noGrp="1"/>
          </p:cNvSpPr>
          <p:nvPr>
            <p:ph type="body" sz="quarter" idx="11"/>
          </p:nvPr>
        </p:nvSpPr>
        <p:spPr>
          <a:xfrm>
            <a:off x="936000" y="1673200"/>
            <a:ext cx="10320000" cy="4176000"/>
          </a:xfrm>
          <a:prstGeom prst="rect">
            <a:avLst/>
          </a:prstGeom>
        </p:spPr>
        <p:txBody>
          <a:bodyPr vert="horz" lIns="0" tIns="0" rIns="0" bIns="0" anchor="t" anchorCtr="0"/>
          <a:lstStyle>
            <a:lvl1pPr marL="285744" indent="-285744">
              <a:lnSpc>
                <a:spcPct val="100000"/>
              </a:lnSpc>
              <a:spcBef>
                <a:spcPts val="0"/>
              </a:spcBef>
              <a:buFont typeface="Arial" panose="020B0604020202020204" pitchFamily="34" charset="0"/>
              <a:buChar char="•"/>
              <a:defRPr sz="1600" baseline="0">
                <a:latin typeface="Meiryo UI" panose="020B0604030504040204" pitchFamily="50" charset="-128"/>
                <a:ea typeface="Meiryo UI" panose="020B0604030504040204" pitchFamily="50" charset="-128"/>
              </a:defRPr>
            </a:lvl1pPr>
            <a:lvl2pPr>
              <a:defRPr sz="1600"/>
            </a:lvl2pPr>
            <a:lvl3pPr>
              <a:defRPr sz="1600"/>
            </a:lvl3pPr>
          </a:lstStyle>
          <a:p>
            <a:pPr lvl="0"/>
            <a:r>
              <a:rPr lang="ja-JP" altLang="en-US"/>
              <a:t>マスター テキストの書式設定</a:t>
            </a:r>
            <a:endParaRPr lang="en-US" altLang="ja-JP"/>
          </a:p>
          <a:p>
            <a:pPr lvl="1"/>
            <a:r>
              <a:rPr lang="en-US" altLang="ja-JP" sz="1600" err="1"/>
              <a:t>Xxxxx</a:t>
            </a:r>
            <a:endParaRPr lang="en-US" altLang="ja-JP" sz="1600"/>
          </a:p>
          <a:p>
            <a:pPr lvl="1"/>
            <a:endParaRPr lang="en-US" altLang="ja-JP" sz="1600"/>
          </a:p>
          <a:p>
            <a:pPr lvl="2"/>
            <a:endParaRPr lang="ja-JP" altLang="en-US"/>
          </a:p>
        </p:txBody>
      </p:sp>
    </p:spTree>
    <p:extLst>
      <p:ext uri="{BB962C8B-B14F-4D97-AF65-F5344CB8AC3E}">
        <p14:creationId xmlns:p14="http://schemas.microsoft.com/office/powerpoint/2010/main" val="12140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テンプレ】白紙">
    <p:spTree>
      <p:nvGrpSpPr>
        <p:cNvPr id="1" name=""/>
        <p:cNvGrpSpPr/>
        <p:nvPr/>
      </p:nvGrpSpPr>
      <p:grpSpPr>
        <a:xfrm>
          <a:off x="0" y="0"/>
          <a:ext cx="0" cy="0"/>
          <a:chOff x="0" y="0"/>
          <a:chExt cx="0" cy="0"/>
        </a:xfrm>
      </p:grpSpPr>
      <p:pic>
        <p:nvPicPr>
          <p:cNvPr id="5" name="図 4" descr="背景パターン が含まれている画像&#10;&#10;AI 生成コンテンツは誤りを含む可能性があります。">
            <a:extLst>
              <a:ext uri="{FF2B5EF4-FFF2-40B4-BE49-F238E27FC236}">
                <a16:creationId xmlns:a16="http://schemas.microsoft.com/office/drawing/2014/main" id="{6C87FD2C-0FF8-58EE-27D7-C3F467D77D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テキスト ボックス 1">
            <a:extLst>
              <a:ext uri="{FF2B5EF4-FFF2-40B4-BE49-F238E27FC236}">
                <a16:creationId xmlns:a16="http://schemas.microsoft.com/office/drawing/2014/main" id="{2CBB21F2-2464-C6E4-1339-681359294950}"/>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latin typeface="Mitsui and Co Sans" panose="020B0604020203020204" pitchFamily="34" charset="0"/>
              </a:rPr>
              <a:t>Copyright</a:t>
            </a:r>
            <a:r>
              <a:rPr lang="ja-JP" altLang="en-US" sz="800">
                <a:latin typeface="Noto Sans JP" panose="020B0200000000000000" pitchFamily="50" charset="-128"/>
                <a:ea typeface="Noto Sans JP" panose="020B0200000000000000" pitchFamily="50" charset="-128"/>
              </a:rPr>
              <a:t> </a:t>
            </a:r>
            <a:r>
              <a:rPr lang="en-US" altLang="ja-JP" sz="800">
                <a:latin typeface="Noto Sans JP" panose="020B0200000000000000" pitchFamily="50" charset="-128"/>
                <a:ea typeface="Noto Sans JP" panose="020B0200000000000000" pitchFamily="50" charset="-128"/>
              </a:rPr>
              <a:t>©</a:t>
            </a:r>
            <a:r>
              <a:rPr lang="ja-JP" altLang="en-US" sz="800">
                <a:latin typeface="Noto Sans JP" panose="020B0200000000000000" pitchFamily="50" charset="-128"/>
                <a:ea typeface="Noto Sans JP" panose="020B0200000000000000" pitchFamily="50" charset="-128"/>
              </a:rPr>
              <a:t> </a:t>
            </a:r>
            <a:r>
              <a:rPr lang="en-US" altLang="ja-JP" sz="800">
                <a:latin typeface="Mitsui and Co Sans" panose="020B0604020203020204" pitchFamily="34" charset="0"/>
              </a:rPr>
              <a:t>MITSUI &amp; CO., LTD. ALL RIGHTS RESERVED.</a:t>
            </a:r>
            <a:endParaRPr lang="ja-JP" altLang="en-US" sz="800">
              <a:latin typeface="Mitsui and Co Sans" panose="020B0604020203020204" pitchFamily="34" charset="0"/>
            </a:endParaRP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テキスト プレースホルダー 8">
            <a:extLst>
              <a:ext uri="{FF2B5EF4-FFF2-40B4-BE49-F238E27FC236}">
                <a16:creationId xmlns:a16="http://schemas.microsoft.com/office/drawing/2014/main" id="{BCBE277E-3EB2-DC27-1380-0636AF0423CE}"/>
              </a:ext>
            </a:extLst>
          </p:cNvPr>
          <p:cNvSpPr>
            <a:spLocks noGrp="1" noChangeAspect="1"/>
          </p:cNvSpPr>
          <p:nvPr>
            <p:ph type="body" sz="quarter" idx="10" hasCustomPrompt="1"/>
          </p:nvPr>
        </p:nvSpPr>
        <p:spPr>
          <a:xfrm>
            <a:off x="468000" y="72000"/>
            <a:ext cx="2736000" cy="216000"/>
          </a:xfrm>
          <a:prstGeom prst="rect">
            <a:avLst/>
          </a:prstGeom>
        </p:spPr>
        <p:txBody>
          <a:bodyPr wrap="none" anchor="t" anchorCtr="0"/>
          <a:lstStyle>
            <a:lvl1pPr marL="0" indent="0">
              <a:buNone/>
              <a:defRPr sz="1100" b="1">
                <a:solidFill>
                  <a:srgbClr val="7F7F7F"/>
                </a:solidFill>
                <a:latin typeface="+mj-ea"/>
                <a:ea typeface="+mj-ea"/>
              </a:defRPr>
            </a:lvl1pPr>
          </a:lstStyle>
          <a:p>
            <a:pPr marL="0" marR="0" lvl="0" indent="0" algn="l" defTabSz="609539" rtl="0" eaLnBrk="0" fontAlgn="base" latinLnBrk="0" hangingPunct="0">
              <a:lnSpc>
                <a:spcPct val="100000"/>
              </a:lnSpc>
              <a:spcBef>
                <a:spcPct val="20000"/>
              </a:spcBef>
              <a:spcAft>
                <a:spcPct val="0"/>
              </a:spcAft>
              <a:buClrTx/>
              <a:buSzTx/>
              <a:buFont typeface="Arial" panose="020B0604020202020204" pitchFamily="34" charset="0"/>
              <a:buNone/>
              <a:tabLst/>
              <a:defRPr/>
            </a:pPr>
            <a:r>
              <a:rPr lang="en-US" altLang="ja-JP" sz="1100">
                <a:solidFill>
                  <a:srgbClr val="7F7F7F"/>
                </a:solidFill>
                <a:latin typeface="+mj-lt"/>
              </a:rPr>
              <a:t>X.</a:t>
            </a:r>
            <a:r>
              <a:rPr lang="ja-JP" altLang="en-US" sz="1100">
                <a:solidFill>
                  <a:srgbClr val="7F7F7F"/>
                </a:solidFill>
                <a:latin typeface="+mj-lt"/>
              </a:rPr>
              <a:t> タイトル</a:t>
            </a:r>
            <a:endParaRPr lang="en-US" altLang="ja-JP" sz="1100" b="0">
              <a:solidFill>
                <a:srgbClr val="7F7F7F"/>
              </a:solidFill>
              <a:latin typeface="+mj-lt"/>
            </a:endParaRPr>
          </a:p>
        </p:txBody>
      </p:sp>
    </p:spTree>
    <p:extLst>
      <p:ext uri="{BB962C8B-B14F-4D97-AF65-F5344CB8AC3E}">
        <p14:creationId xmlns:p14="http://schemas.microsoft.com/office/powerpoint/2010/main" val="1383071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テンプレ】コーポレートスローガン">
    <p:spTree>
      <p:nvGrpSpPr>
        <p:cNvPr id="1" name=""/>
        <p:cNvGrpSpPr/>
        <p:nvPr/>
      </p:nvGrpSpPr>
      <p:grpSpPr>
        <a:xfrm>
          <a:off x="0" y="0"/>
          <a:ext cx="0" cy="0"/>
          <a:chOff x="0" y="0"/>
          <a:chExt cx="0" cy="0"/>
        </a:xfrm>
      </p:grpSpPr>
      <p:pic>
        <p:nvPicPr>
          <p:cNvPr id="4" name="図 2" descr="logo.gif">
            <a:extLst>
              <a:ext uri="{FF2B5EF4-FFF2-40B4-BE49-F238E27FC236}">
                <a16:creationId xmlns:a16="http://schemas.microsoft.com/office/drawing/2014/main" id="{C2E62D06-1E55-0320-2C3F-3D7E0824CD1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5808002" y="5472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図 4">
            <a:extLst>
              <a:ext uri="{FF2B5EF4-FFF2-40B4-BE49-F238E27FC236}">
                <a16:creationId xmlns:a16="http://schemas.microsoft.com/office/drawing/2014/main" id="{C864501E-90F8-039D-7B2A-279A8BF7A37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920000" y="3024000"/>
            <a:ext cx="7776000" cy="563760"/>
          </a:xfrm>
          <a:prstGeom prst="rect">
            <a:avLst/>
          </a:prstGeom>
        </p:spPr>
      </p:pic>
    </p:spTree>
    <p:extLst>
      <p:ext uri="{BB962C8B-B14F-4D97-AF65-F5344CB8AC3E}">
        <p14:creationId xmlns:p14="http://schemas.microsoft.com/office/powerpoint/2010/main" val="34012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タイトルのみ">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7" y="6402493"/>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4" y="367467"/>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1" y="734795"/>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Tree>
    <p:extLst>
      <p:ext uri="{BB962C8B-B14F-4D97-AF65-F5344CB8AC3E}">
        <p14:creationId xmlns:p14="http://schemas.microsoft.com/office/powerpoint/2010/main" val="28805490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テンプレ】目次">
    <p:spTree>
      <p:nvGrpSpPr>
        <p:cNvPr id="1" name=""/>
        <p:cNvGrpSpPr/>
        <p:nvPr/>
      </p:nvGrpSpPr>
      <p:grpSpPr>
        <a:xfrm>
          <a:off x="0" y="0"/>
          <a:ext cx="0" cy="0"/>
          <a:chOff x="0" y="0"/>
          <a:chExt cx="0" cy="0"/>
        </a:xfrm>
      </p:grpSpPr>
      <p:pic>
        <p:nvPicPr>
          <p:cNvPr id="5" name="図 4" descr="背景パターン&#10;&#10;AI 生成コンテンツは誤りを含む可能性があります。">
            <a:extLst>
              <a:ext uri="{FF2B5EF4-FFF2-40B4-BE49-F238E27FC236}">
                <a16:creationId xmlns:a16="http://schemas.microsoft.com/office/drawing/2014/main" id="{C7A819DC-72B2-655E-62C4-8BA341D85B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テキスト プレースホルダー 10"/>
          <p:cNvSpPr>
            <a:spLocks noGrp="1"/>
          </p:cNvSpPr>
          <p:nvPr>
            <p:ph type="body" sz="quarter" idx="11"/>
          </p:nvPr>
        </p:nvSpPr>
        <p:spPr>
          <a:xfrm>
            <a:off x="936000" y="1673200"/>
            <a:ext cx="10320000" cy="4176000"/>
          </a:xfrm>
          <a:prstGeom prst="rect">
            <a:avLst/>
          </a:prstGeom>
        </p:spPr>
        <p:txBody>
          <a:bodyPr vert="horz" lIns="0" tIns="0" rIns="0" bIns="0" anchor="t" anchorCtr="0"/>
          <a:lstStyle>
            <a:lvl1pPr marL="0" indent="0">
              <a:lnSpc>
                <a:spcPct val="100000"/>
              </a:lnSpc>
              <a:spcBef>
                <a:spcPts val="0"/>
              </a:spcBef>
              <a:buNone/>
              <a:defRPr sz="1867" baseline="0">
                <a:solidFill>
                  <a:schemeClr val="bg1"/>
                </a:solidFill>
                <a:latin typeface="+mn-ea"/>
                <a:ea typeface="+mn-ea"/>
              </a:defRPr>
            </a:lvl1pPr>
          </a:lstStyle>
          <a:p>
            <a:pPr lvl="0"/>
            <a:r>
              <a:rPr lang="ja-JP" altLang="en-US"/>
              <a:t>マスター テキストの書式設定</a:t>
            </a:r>
          </a:p>
        </p:txBody>
      </p:sp>
      <p:sp>
        <p:nvSpPr>
          <p:cNvPr id="3" name="テキスト ボックス 2">
            <a:extLst>
              <a:ext uri="{FF2B5EF4-FFF2-40B4-BE49-F238E27FC236}">
                <a16:creationId xmlns:a16="http://schemas.microsoft.com/office/drawing/2014/main" id="{1E2F82B4-7FD7-B96B-488C-F12C4B983110}"/>
              </a:ext>
            </a:extLst>
          </p:cNvPr>
          <p:cNvSpPr txBox="1"/>
          <p:nvPr userDrawn="1"/>
        </p:nvSpPr>
        <p:spPr>
          <a:xfrm>
            <a:off x="5616000" y="6432000"/>
            <a:ext cx="960000" cy="240000"/>
          </a:xfrm>
          <a:prstGeom prst="rect">
            <a:avLst/>
          </a:prstGeom>
        </p:spPr>
        <p:txBody>
          <a:bodyPr vert="horz" wrap="square" lIns="0" tIns="0" rIns="0" bIns="0" rtlCol="0" anchor="b" anchorCtr="1">
            <a:noAutofit/>
          </a:bodyPr>
          <a:lstStyle/>
          <a:p>
            <a:pPr>
              <a:lnSpc>
                <a:spcPct val="150000"/>
              </a:lnSpc>
            </a:pPr>
            <a:fld id="{D5943A76-F32F-45F8-B657-C746EB6D98C4}" type="slidenum">
              <a:rPr kumimoji="1" lang="ja-JP" altLang="en-US" sz="1200" baseline="0" smtClean="0">
                <a:solidFill>
                  <a:schemeClr val="tx1">
                    <a:lumMod val="75000"/>
                    <a:lumOff val="25000"/>
                  </a:schemeClr>
                </a:solidFill>
                <a:latin typeface="Noto Sans JP" panose="020B0200000000000000" pitchFamily="50" charset="-128"/>
                <a:ea typeface="Noto Sans JP" panose="020B0200000000000000" pitchFamily="50" charset="-128"/>
              </a:rPr>
              <a:t>‹#›</a:t>
            </a:fld>
            <a:endParaRPr kumimoji="1" lang="ja-JP" altLang="en-US" sz="1200" baseline="0">
              <a:solidFill>
                <a:schemeClr val="tx1">
                  <a:lumMod val="75000"/>
                  <a:lumOff val="25000"/>
                </a:schemeClr>
              </a:solidFill>
              <a:latin typeface="Noto Sans JP" panose="020B0200000000000000" pitchFamily="50" charset="-128"/>
              <a:ea typeface="Noto Sans JP" panose="020B0200000000000000" pitchFamily="50" charset="-128"/>
            </a:endParaRPr>
          </a:p>
        </p:txBody>
      </p:sp>
      <p:pic>
        <p:nvPicPr>
          <p:cNvPr id="7" name="図 2" descr="logo.gif">
            <a:extLst>
              <a:ext uri="{FF2B5EF4-FFF2-40B4-BE49-F238E27FC236}">
                <a16:creationId xmlns:a16="http://schemas.microsoft.com/office/drawing/2014/main" id="{B0F14D58-5BEA-3C1D-27B0-1D913FF280E8}"/>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11088002" y="288000"/>
            <a:ext cx="554665" cy="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タイトル 6">
            <a:extLst>
              <a:ext uri="{FF2B5EF4-FFF2-40B4-BE49-F238E27FC236}">
                <a16:creationId xmlns:a16="http://schemas.microsoft.com/office/drawing/2014/main" id="{B199AF72-71D6-1A72-AFC4-0C48572E33EB}"/>
              </a:ext>
            </a:extLst>
          </p:cNvPr>
          <p:cNvSpPr>
            <a:spLocks noGrp="1"/>
          </p:cNvSpPr>
          <p:nvPr>
            <p:ph type="title" hasCustomPrompt="1"/>
          </p:nvPr>
        </p:nvSpPr>
        <p:spPr>
          <a:xfrm>
            <a:off x="468000" y="720000"/>
            <a:ext cx="10515600" cy="399600"/>
          </a:xfrm>
          <a:prstGeom prst="rect">
            <a:avLst/>
          </a:prstGeom>
        </p:spPr>
        <p:txBody>
          <a:bodyPr wrap="none" lIns="0" tIns="0" rIns="0" bIns="0" anchor="ctr" anchorCtr="0"/>
          <a:lstStyle>
            <a:lvl1pPr algn="l">
              <a:defRPr sz="2800" b="1">
                <a:solidFill>
                  <a:schemeClr val="bg1"/>
                </a:solidFill>
              </a:defRPr>
            </a:lvl1pPr>
          </a:lstStyle>
          <a:p>
            <a:r>
              <a:rPr kumimoji="1" lang="ja-JP" altLang="en-US"/>
              <a:t>目次</a:t>
            </a:r>
            <a:r>
              <a:rPr kumimoji="1" lang="en-US" altLang="ja-JP"/>
              <a:t>[28pt]</a:t>
            </a:r>
            <a:endParaRPr kumimoji="1" lang="ja-JP" altLang="en-US"/>
          </a:p>
        </p:txBody>
      </p:sp>
      <p:sp>
        <p:nvSpPr>
          <p:cNvPr id="8" name="テキスト ボックス 7">
            <a:extLst>
              <a:ext uri="{FF2B5EF4-FFF2-40B4-BE49-F238E27FC236}">
                <a16:creationId xmlns:a16="http://schemas.microsoft.com/office/drawing/2014/main" id="{2F07BCC6-3D94-8C8B-9B91-FE9E7BB4F0F6}"/>
              </a:ext>
            </a:extLst>
          </p:cNvPr>
          <p:cNvSpPr txBox="1">
            <a:spLocks noChangeArrowheads="1"/>
          </p:cNvSpPr>
          <p:nvPr userDrawn="1"/>
        </p:nvSpPr>
        <p:spPr bwMode="auto">
          <a:xfrm>
            <a:off x="384000" y="6384002"/>
            <a:ext cx="3360000" cy="3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kumimoji="1">
                <a:solidFill>
                  <a:schemeClr val="tx1"/>
                </a:solidFill>
                <a:latin typeface="Calibri" panose="020F0502020204030204" pitchFamily="34" charset="0"/>
                <a:ea typeface="ＭＳ Ｐゴシック" panose="020B0600070205080204" pitchFamily="50" charset="-128"/>
              </a:defRPr>
            </a:lvl1pPr>
            <a:lvl2pPr marL="742950" indent="-285750">
              <a:defRPr kumimoji="1">
                <a:solidFill>
                  <a:schemeClr val="tx1"/>
                </a:solidFill>
                <a:latin typeface="Calibri" panose="020F0502020204030204" pitchFamily="34" charset="0"/>
                <a:ea typeface="ＭＳ Ｐゴシック" panose="020B0600070205080204" pitchFamily="50" charset="-128"/>
              </a:defRPr>
            </a:lvl2pPr>
            <a:lvl3pPr marL="1143000" indent="-228600">
              <a:defRPr kumimoji="1">
                <a:solidFill>
                  <a:schemeClr val="tx1"/>
                </a:solidFill>
                <a:latin typeface="Calibri" panose="020F0502020204030204" pitchFamily="34" charset="0"/>
                <a:ea typeface="ＭＳ Ｐゴシック" panose="020B0600070205080204" pitchFamily="50" charset="-128"/>
              </a:defRPr>
            </a:lvl3pPr>
            <a:lvl4pPr marL="1600200" indent="-228600">
              <a:defRPr kumimoji="1">
                <a:solidFill>
                  <a:schemeClr val="tx1"/>
                </a:solidFill>
                <a:latin typeface="Calibri" panose="020F0502020204030204" pitchFamily="34" charset="0"/>
                <a:ea typeface="ＭＳ Ｐゴシック" panose="020B0600070205080204" pitchFamily="50" charset="-128"/>
              </a:defRPr>
            </a:lvl4pPr>
            <a:lvl5pPr marL="2057400" indent="-228600">
              <a:defRPr kumimoji="1">
                <a:solidFill>
                  <a:schemeClr val="tx1"/>
                </a:solidFill>
                <a:latin typeface="Calibri" panose="020F0502020204030204" pitchFamily="34" charset="0"/>
                <a:ea typeface="ＭＳ Ｐゴシック" panose="020B0600070205080204" pitchFamily="50" charset="-128"/>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ＭＳ Ｐゴシック" panose="020B0600070205080204" pitchFamily="50" charset="-128"/>
              </a:defRPr>
            </a:lvl9pPr>
          </a:lstStyle>
          <a:p>
            <a:pPr>
              <a:lnSpc>
                <a:spcPct val="150000"/>
              </a:lnSpc>
              <a:defRPr/>
            </a:pPr>
            <a:r>
              <a:rPr lang="en-US" altLang="ja-JP" sz="800">
                <a:solidFill>
                  <a:schemeClr val="bg1"/>
                </a:solidFill>
                <a:latin typeface="Mitsui and Co Sans" panose="020B0604020203020204" pitchFamily="34" charset="0"/>
              </a:rPr>
              <a:t>Copyright</a:t>
            </a:r>
            <a:r>
              <a:rPr lang="ja-JP" altLang="en-US" sz="800">
                <a:solidFill>
                  <a:schemeClr val="bg1"/>
                </a:solidFill>
                <a:latin typeface="Noto Sans JP" panose="020B0200000000000000" pitchFamily="50" charset="-128"/>
                <a:ea typeface="Noto Sans JP" panose="020B0200000000000000" pitchFamily="50" charset="-128"/>
              </a:rPr>
              <a:t> </a:t>
            </a:r>
            <a:r>
              <a:rPr lang="en-US" altLang="ja-JP" sz="800">
                <a:solidFill>
                  <a:schemeClr val="bg1"/>
                </a:solidFill>
                <a:latin typeface="Noto Sans JP" panose="020B0200000000000000" pitchFamily="50" charset="-128"/>
                <a:ea typeface="Noto Sans JP" panose="020B0200000000000000" pitchFamily="50" charset="-128"/>
              </a:rPr>
              <a:t>©</a:t>
            </a:r>
            <a:r>
              <a:rPr lang="ja-JP" altLang="en-US" sz="800">
                <a:solidFill>
                  <a:schemeClr val="bg1"/>
                </a:solidFill>
                <a:latin typeface="Noto Sans JP" panose="020B0200000000000000" pitchFamily="50" charset="-128"/>
                <a:ea typeface="Noto Sans JP" panose="020B0200000000000000" pitchFamily="50" charset="-128"/>
              </a:rPr>
              <a:t> </a:t>
            </a:r>
            <a:r>
              <a:rPr lang="en-US" altLang="ja-JP" sz="800">
                <a:solidFill>
                  <a:schemeClr val="bg1"/>
                </a:solidFill>
                <a:latin typeface="Mitsui and Co Sans" panose="020B0604020203020204" pitchFamily="34" charset="0"/>
              </a:rPr>
              <a:t>MITSUI &amp; CO., LTD. ALL RIGHTS RESERVED.</a:t>
            </a:r>
            <a:endParaRPr lang="ja-JP" altLang="en-US" sz="800">
              <a:solidFill>
                <a:schemeClr val="bg1"/>
              </a:solidFill>
              <a:latin typeface="Mitsui and Co Sans" panose="020B0604020203020204" pitchFamily="34" charset="0"/>
            </a:endParaRPr>
          </a:p>
        </p:txBody>
      </p:sp>
    </p:spTree>
    <p:extLst>
      <p:ext uri="{BB962C8B-B14F-4D97-AF65-F5344CB8AC3E}">
        <p14:creationId xmlns:p14="http://schemas.microsoft.com/office/powerpoint/2010/main" val="301949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Relationship Id="rId1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68D55906-1EB3-0E67-226D-EA5C851F6226}"/>
              </a:ext>
            </a:extLst>
          </p:cNvPr>
          <p:cNvSpPr txBox="1"/>
          <p:nvPr userDrawn="1"/>
        </p:nvSpPr>
        <p:spPr>
          <a:xfrm>
            <a:off x="-1925" y="6596390"/>
            <a:ext cx="3345200" cy="261610"/>
          </a:xfrm>
          <a:prstGeom prst="rect">
            <a:avLst/>
          </a:prstGeom>
          <a:noFill/>
        </p:spPr>
        <p:txBody>
          <a:bodyPr wrap="square">
            <a:spAutoFit/>
          </a:bodyPr>
          <a:lstStyle/>
          <a:p>
            <a:r>
              <a:rPr lang="en-US" altLang="ja-JP" sz="1050" dirty="0">
                <a:solidFill>
                  <a:schemeClr val="tx1">
                    <a:lumMod val="50000"/>
                    <a:lumOff val="50000"/>
                  </a:schemeClr>
                </a:solidFill>
              </a:rPr>
              <a:t>© Low Code Inc. All rights reserved.</a:t>
            </a:r>
            <a:endParaRPr lang="ja-JP" altLang="en-US" sz="1050" dirty="0">
              <a:solidFill>
                <a:schemeClr val="tx1">
                  <a:lumMod val="50000"/>
                  <a:lumOff val="50000"/>
                </a:schemeClr>
              </a:solidFill>
            </a:endParaRPr>
          </a:p>
        </p:txBody>
      </p:sp>
    </p:spTree>
    <p:extLst>
      <p:ext uri="{BB962C8B-B14F-4D97-AF65-F5344CB8AC3E}">
        <p14:creationId xmlns:p14="http://schemas.microsoft.com/office/powerpoint/2010/main" val="1443619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8" r:id="rId16"/>
    <p:sldLayoutId id="2147483680" r:id="rId17"/>
    <p:sldLayoutId id="2147483681" r:id="rId18"/>
    <p:sldLayoutId id="2147483682" r:id="rId19"/>
    <p:sldLayoutId id="2147483683" r:id="rId20"/>
    <p:sldLayoutId id="2147483684" r:id="rId21"/>
    <p:sldLayoutId id="2147483685" r:id="rId22"/>
  </p:sldLayoutIdLst>
  <p:hf hdr="0" ftr="0" dt="0"/>
  <p:txStyles>
    <p:titleStyle>
      <a:lvl1pPr algn="l" defTabSz="914406" rtl="0" eaLnBrk="1" latinLnBrk="0" hangingPunct="1">
        <a:lnSpc>
          <a:spcPct val="90000"/>
        </a:lnSpc>
        <a:spcBef>
          <a:spcPct val="0"/>
        </a:spcBef>
        <a:buNone/>
        <a:defRPr kumimoji="1" sz="4400" kern="1200" spc="109" baseline="0">
          <a:solidFill>
            <a:schemeClr val="tx1"/>
          </a:solidFill>
          <a:latin typeface="+mn-ea"/>
          <a:ea typeface="+mn-ea"/>
          <a:cs typeface="+mj-cs"/>
        </a:defRPr>
      </a:lvl1pPr>
    </p:titleStyle>
    <p:bodyStyle>
      <a:lvl1pPr marL="228602" indent="-228602" algn="l" defTabSz="914406" rtl="0" eaLnBrk="1" latinLnBrk="0" hangingPunct="1">
        <a:lnSpc>
          <a:spcPct val="90000"/>
        </a:lnSpc>
        <a:spcBef>
          <a:spcPts val="1000"/>
        </a:spcBef>
        <a:buFont typeface="Arial" panose="020B0604020202020204" pitchFamily="34" charset="0"/>
        <a:buChar char="•"/>
        <a:defRPr kumimoji="1" sz="2800" kern="1200" spc="109" baseline="0">
          <a:solidFill>
            <a:schemeClr val="tx1"/>
          </a:solidFill>
          <a:latin typeface="+mn-ea"/>
          <a:ea typeface="+mn-ea"/>
          <a:cs typeface="+mn-cs"/>
        </a:defRPr>
      </a:lvl1pPr>
      <a:lvl2pPr marL="685804" indent="-228602" algn="l" defTabSz="914406" rtl="0" eaLnBrk="1" latinLnBrk="0" hangingPunct="1">
        <a:lnSpc>
          <a:spcPct val="90000"/>
        </a:lnSpc>
        <a:spcBef>
          <a:spcPts val="500"/>
        </a:spcBef>
        <a:buFont typeface="Arial" panose="020B0604020202020204" pitchFamily="34" charset="0"/>
        <a:buChar char="•"/>
        <a:defRPr kumimoji="1" sz="2400" kern="1200" spc="109" baseline="0">
          <a:solidFill>
            <a:schemeClr val="tx1"/>
          </a:solidFill>
          <a:latin typeface="+mn-ea"/>
          <a:ea typeface="+mn-ea"/>
          <a:cs typeface="+mn-cs"/>
        </a:defRPr>
      </a:lvl2pPr>
      <a:lvl3pPr marL="1143008" indent="-228602" algn="l" defTabSz="914406" rtl="0" eaLnBrk="1" latinLnBrk="0" hangingPunct="1">
        <a:lnSpc>
          <a:spcPct val="90000"/>
        </a:lnSpc>
        <a:spcBef>
          <a:spcPts val="500"/>
        </a:spcBef>
        <a:buFont typeface="Arial" panose="020B0604020202020204" pitchFamily="34" charset="0"/>
        <a:buChar char="•"/>
        <a:defRPr kumimoji="1" sz="2000" kern="1200" spc="109" baseline="0">
          <a:solidFill>
            <a:schemeClr val="tx1"/>
          </a:solidFill>
          <a:latin typeface="+mn-ea"/>
          <a:ea typeface="+mn-ea"/>
          <a:cs typeface="+mn-cs"/>
        </a:defRPr>
      </a:lvl3pPr>
      <a:lvl4pPr marL="1600210" indent="-228602" algn="l" defTabSz="914406" rtl="0" eaLnBrk="1" latinLnBrk="0" hangingPunct="1">
        <a:lnSpc>
          <a:spcPct val="90000"/>
        </a:lnSpc>
        <a:spcBef>
          <a:spcPts val="500"/>
        </a:spcBef>
        <a:buFont typeface="Arial" panose="020B0604020202020204" pitchFamily="34" charset="0"/>
        <a:buChar char="•"/>
        <a:defRPr kumimoji="1" sz="1800" kern="1200" spc="109" baseline="0">
          <a:solidFill>
            <a:schemeClr val="tx1"/>
          </a:solidFill>
          <a:latin typeface="+mn-ea"/>
          <a:ea typeface="+mn-ea"/>
          <a:cs typeface="+mn-cs"/>
        </a:defRPr>
      </a:lvl4pPr>
      <a:lvl5pPr marL="2057413" indent="-228602" algn="l" defTabSz="914406" rtl="0" eaLnBrk="1" latinLnBrk="0" hangingPunct="1">
        <a:lnSpc>
          <a:spcPct val="90000"/>
        </a:lnSpc>
        <a:spcBef>
          <a:spcPts val="500"/>
        </a:spcBef>
        <a:buFont typeface="Arial" panose="020B0604020202020204" pitchFamily="34" charset="0"/>
        <a:buChar char="•"/>
        <a:defRPr kumimoji="1" sz="1800" kern="1200" spc="109" baseline="0">
          <a:solidFill>
            <a:schemeClr val="tx1"/>
          </a:solidFill>
          <a:latin typeface="+mn-ea"/>
          <a:ea typeface="+mn-ea"/>
          <a:cs typeface="+mn-cs"/>
        </a:defRPr>
      </a:lvl5pPr>
      <a:lvl6pPr marL="2514617"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19"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23"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25"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6" rtl="0" eaLnBrk="1" latinLnBrk="0" hangingPunct="1">
        <a:defRPr kumimoji="1" sz="1800" kern="1200">
          <a:solidFill>
            <a:schemeClr val="tx1"/>
          </a:solidFill>
          <a:latin typeface="+mn-lt"/>
          <a:ea typeface="+mn-ea"/>
          <a:cs typeface="+mn-cs"/>
        </a:defRPr>
      </a:lvl1pPr>
      <a:lvl2pPr marL="457203" algn="l" defTabSz="914406" rtl="0" eaLnBrk="1" latinLnBrk="0" hangingPunct="1">
        <a:defRPr kumimoji="1" sz="1800" kern="1200">
          <a:solidFill>
            <a:schemeClr val="tx1"/>
          </a:solidFill>
          <a:latin typeface="+mn-lt"/>
          <a:ea typeface="+mn-ea"/>
          <a:cs typeface="+mn-cs"/>
        </a:defRPr>
      </a:lvl2pPr>
      <a:lvl3pPr marL="914406" algn="l" defTabSz="914406" rtl="0" eaLnBrk="1" latinLnBrk="0" hangingPunct="1">
        <a:defRPr kumimoji="1" sz="1800" kern="1200">
          <a:solidFill>
            <a:schemeClr val="tx1"/>
          </a:solidFill>
          <a:latin typeface="+mn-lt"/>
          <a:ea typeface="+mn-ea"/>
          <a:cs typeface="+mn-cs"/>
        </a:defRPr>
      </a:lvl3pPr>
      <a:lvl4pPr marL="1371609" algn="l" defTabSz="914406" rtl="0" eaLnBrk="1" latinLnBrk="0" hangingPunct="1">
        <a:defRPr kumimoji="1" sz="1800" kern="1200">
          <a:solidFill>
            <a:schemeClr val="tx1"/>
          </a:solidFill>
          <a:latin typeface="+mn-lt"/>
          <a:ea typeface="+mn-ea"/>
          <a:cs typeface="+mn-cs"/>
        </a:defRPr>
      </a:lvl4pPr>
      <a:lvl5pPr marL="1828812" algn="l" defTabSz="914406" rtl="0" eaLnBrk="1" latinLnBrk="0" hangingPunct="1">
        <a:defRPr kumimoji="1" sz="1800" kern="1200">
          <a:solidFill>
            <a:schemeClr val="tx1"/>
          </a:solidFill>
          <a:latin typeface="+mn-lt"/>
          <a:ea typeface="+mn-ea"/>
          <a:cs typeface="+mn-cs"/>
        </a:defRPr>
      </a:lvl5pPr>
      <a:lvl6pPr marL="2286015" algn="l" defTabSz="914406" rtl="0" eaLnBrk="1" latinLnBrk="0" hangingPunct="1">
        <a:defRPr kumimoji="1" sz="1800" kern="1200">
          <a:solidFill>
            <a:schemeClr val="tx1"/>
          </a:solidFill>
          <a:latin typeface="+mn-lt"/>
          <a:ea typeface="+mn-ea"/>
          <a:cs typeface="+mn-cs"/>
        </a:defRPr>
      </a:lvl6pPr>
      <a:lvl7pPr marL="2743218" algn="l" defTabSz="914406" rtl="0" eaLnBrk="1" latinLnBrk="0" hangingPunct="1">
        <a:defRPr kumimoji="1" sz="1800" kern="1200">
          <a:solidFill>
            <a:schemeClr val="tx1"/>
          </a:solidFill>
          <a:latin typeface="+mn-lt"/>
          <a:ea typeface="+mn-ea"/>
          <a:cs typeface="+mn-cs"/>
        </a:defRPr>
      </a:lvl7pPr>
      <a:lvl8pPr marL="3200421" algn="l" defTabSz="914406" rtl="0" eaLnBrk="1" latinLnBrk="0" hangingPunct="1">
        <a:defRPr kumimoji="1" sz="1800" kern="1200">
          <a:solidFill>
            <a:schemeClr val="tx1"/>
          </a:solidFill>
          <a:latin typeface="+mn-lt"/>
          <a:ea typeface="+mn-ea"/>
          <a:cs typeface="+mn-cs"/>
        </a:defRPr>
      </a:lvl8pPr>
      <a:lvl9pPr marL="3657624" algn="l" defTabSz="914406"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38380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609539" rtl="0" eaLnBrk="0" fontAlgn="base" hangingPunct="0">
        <a:spcBef>
          <a:spcPct val="0"/>
        </a:spcBef>
        <a:spcAft>
          <a:spcPct val="0"/>
        </a:spcAft>
        <a:defRPr kumimoji="1" sz="5867" kern="1200">
          <a:solidFill>
            <a:schemeClr val="tx1"/>
          </a:solidFill>
          <a:latin typeface="+mj-lt"/>
          <a:ea typeface="+mj-ea"/>
          <a:cs typeface="+mj-cs"/>
        </a:defRPr>
      </a:lvl1pPr>
      <a:lvl2pPr algn="ctr" defTabSz="609539" rtl="0" eaLnBrk="0" fontAlgn="base" hangingPunct="0">
        <a:spcBef>
          <a:spcPct val="0"/>
        </a:spcBef>
        <a:spcAft>
          <a:spcPct val="0"/>
        </a:spcAft>
        <a:defRPr kumimoji="1" sz="5867">
          <a:solidFill>
            <a:schemeClr val="tx1"/>
          </a:solidFill>
          <a:latin typeface="Calibri" pitchFamily="34" charset="0"/>
          <a:ea typeface="ＭＳ Ｐゴシック" charset="-128"/>
        </a:defRPr>
      </a:lvl2pPr>
      <a:lvl3pPr algn="ctr" defTabSz="609539" rtl="0" eaLnBrk="0" fontAlgn="base" hangingPunct="0">
        <a:spcBef>
          <a:spcPct val="0"/>
        </a:spcBef>
        <a:spcAft>
          <a:spcPct val="0"/>
        </a:spcAft>
        <a:defRPr kumimoji="1" sz="5867">
          <a:solidFill>
            <a:schemeClr val="tx1"/>
          </a:solidFill>
          <a:latin typeface="Calibri" pitchFamily="34" charset="0"/>
          <a:ea typeface="ＭＳ Ｐゴシック" charset="-128"/>
        </a:defRPr>
      </a:lvl3pPr>
      <a:lvl4pPr algn="ctr" defTabSz="609539" rtl="0" eaLnBrk="0" fontAlgn="base" hangingPunct="0">
        <a:spcBef>
          <a:spcPct val="0"/>
        </a:spcBef>
        <a:spcAft>
          <a:spcPct val="0"/>
        </a:spcAft>
        <a:defRPr kumimoji="1" sz="5867">
          <a:solidFill>
            <a:schemeClr val="tx1"/>
          </a:solidFill>
          <a:latin typeface="Calibri" pitchFamily="34" charset="0"/>
          <a:ea typeface="ＭＳ Ｐゴシック" charset="-128"/>
        </a:defRPr>
      </a:lvl4pPr>
      <a:lvl5pPr algn="ctr" defTabSz="609539" rtl="0" eaLnBrk="0" fontAlgn="base" hangingPunct="0">
        <a:spcBef>
          <a:spcPct val="0"/>
        </a:spcBef>
        <a:spcAft>
          <a:spcPct val="0"/>
        </a:spcAft>
        <a:defRPr kumimoji="1" sz="5867">
          <a:solidFill>
            <a:schemeClr val="tx1"/>
          </a:solidFill>
          <a:latin typeface="Calibri" pitchFamily="34" charset="0"/>
          <a:ea typeface="ＭＳ Ｐゴシック" charset="-128"/>
        </a:defRPr>
      </a:lvl5pPr>
      <a:lvl6pPr marL="609539" algn="ctr" defTabSz="609539" rtl="0" fontAlgn="base">
        <a:spcBef>
          <a:spcPct val="0"/>
        </a:spcBef>
        <a:spcAft>
          <a:spcPct val="0"/>
        </a:spcAft>
        <a:defRPr kumimoji="1" sz="5867">
          <a:solidFill>
            <a:schemeClr val="tx1"/>
          </a:solidFill>
          <a:latin typeface="Calibri" pitchFamily="34" charset="0"/>
          <a:ea typeface="ＭＳ Ｐゴシック" charset="-128"/>
        </a:defRPr>
      </a:lvl6pPr>
      <a:lvl7pPr marL="1219080" algn="ctr" defTabSz="609539" rtl="0" fontAlgn="base">
        <a:spcBef>
          <a:spcPct val="0"/>
        </a:spcBef>
        <a:spcAft>
          <a:spcPct val="0"/>
        </a:spcAft>
        <a:defRPr kumimoji="1" sz="5867">
          <a:solidFill>
            <a:schemeClr val="tx1"/>
          </a:solidFill>
          <a:latin typeface="Calibri" pitchFamily="34" charset="0"/>
          <a:ea typeface="ＭＳ Ｐゴシック" charset="-128"/>
        </a:defRPr>
      </a:lvl7pPr>
      <a:lvl8pPr marL="1828618" algn="ctr" defTabSz="609539" rtl="0" fontAlgn="base">
        <a:spcBef>
          <a:spcPct val="0"/>
        </a:spcBef>
        <a:spcAft>
          <a:spcPct val="0"/>
        </a:spcAft>
        <a:defRPr kumimoji="1" sz="5867">
          <a:solidFill>
            <a:schemeClr val="tx1"/>
          </a:solidFill>
          <a:latin typeface="Calibri" pitchFamily="34" charset="0"/>
          <a:ea typeface="ＭＳ Ｐゴシック" charset="-128"/>
        </a:defRPr>
      </a:lvl8pPr>
      <a:lvl9pPr marL="2438158" algn="ctr" defTabSz="609539" rtl="0" fontAlgn="base">
        <a:spcBef>
          <a:spcPct val="0"/>
        </a:spcBef>
        <a:spcAft>
          <a:spcPct val="0"/>
        </a:spcAft>
        <a:defRPr kumimoji="1" sz="5867">
          <a:solidFill>
            <a:schemeClr val="tx1"/>
          </a:solidFill>
          <a:latin typeface="Calibri" pitchFamily="34" charset="0"/>
          <a:ea typeface="ＭＳ Ｐゴシック" charset="-128"/>
        </a:defRPr>
      </a:lvl9pPr>
    </p:titleStyle>
    <p:bodyStyle>
      <a:lvl1pPr marL="457155" indent="-457155" algn="l" defTabSz="609539" rtl="0" eaLnBrk="0" fontAlgn="base" hangingPunct="0">
        <a:spcBef>
          <a:spcPct val="20000"/>
        </a:spcBef>
        <a:spcAft>
          <a:spcPct val="0"/>
        </a:spcAft>
        <a:buFont typeface="Arial" panose="020B0604020202020204" pitchFamily="34" charset="0"/>
        <a:buChar char="•"/>
        <a:defRPr kumimoji="1" sz="4267" kern="1200">
          <a:solidFill>
            <a:schemeClr val="tx1"/>
          </a:solidFill>
          <a:latin typeface="+mn-lt"/>
          <a:ea typeface="+mn-ea"/>
          <a:cs typeface="+mn-cs"/>
        </a:defRPr>
      </a:lvl1pPr>
      <a:lvl2pPr marL="990502" indent="-380962" algn="l" defTabSz="609539" rtl="0" eaLnBrk="0" fontAlgn="base" hangingPunct="0">
        <a:spcBef>
          <a:spcPct val="20000"/>
        </a:spcBef>
        <a:spcAft>
          <a:spcPct val="0"/>
        </a:spcAft>
        <a:buFont typeface="Arial" panose="020B0604020202020204" pitchFamily="34" charset="0"/>
        <a:buChar char="–"/>
        <a:defRPr kumimoji="1" sz="3733" kern="1200">
          <a:solidFill>
            <a:schemeClr val="tx1"/>
          </a:solidFill>
          <a:latin typeface="+mn-lt"/>
          <a:ea typeface="+mn-ea"/>
          <a:cs typeface="+mn-cs"/>
        </a:defRPr>
      </a:lvl2pPr>
      <a:lvl3pPr marL="1523849" indent="-304768" algn="l" defTabSz="609539"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3pPr>
      <a:lvl4pPr marL="2133387" indent="-304768" algn="l" defTabSz="609539" rtl="0" eaLnBrk="0" fontAlgn="base" hangingPunct="0">
        <a:spcBef>
          <a:spcPct val="20000"/>
        </a:spcBef>
        <a:spcAft>
          <a:spcPct val="0"/>
        </a:spcAft>
        <a:buFont typeface="Arial" panose="020B0604020202020204" pitchFamily="34" charset="0"/>
        <a:buChar char="–"/>
        <a:defRPr kumimoji="1" sz="2667" kern="1200">
          <a:solidFill>
            <a:schemeClr val="tx1"/>
          </a:solidFill>
          <a:latin typeface="+mn-lt"/>
          <a:ea typeface="+mn-ea"/>
          <a:cs typeface="+mn-cs"/>
        </a:defRPr>
      </a:lvl4pPr>
      <a:lvl5pPr marL="2742926" indent="-304768" algn="l" defTabSz="609539" rtl="0" eaLnBrk="0" fontAlgn="base" hangingPunct="0">
        <a:spcBef>
          <a:spcPct val="20000"/>
        </a:spcBef>
        <a:spcAft>
          <a:spcPct val="0"/>
        </a:spcAft>
        <a:buFont typeface="Arial" panose="020B0604020202020204" pitchFamily="34" charset="0"/>
        <a:buChar char="»"/>
        <a:defRPr kumimoji="1" sz="2667" kern="1200">
          <a:solidFill>
            <a:schemeClr val="tx1"/>
          </a:solidFill>
          <a:latin typeface="+mn-lt"/>
          <a:ea typeface="+mn-ea"/>
          <a:cs typeface="+mn-cs"/>
        </a:defRPr>
      </a:lvl5pPr>
      <a:lvl6pPr marL="3352464" indent="-304768" algn="l" defTabSz="609539" rtl="0" eaLnBrk="1" latinLnBrk="0" hangingPunct="1">
        <a:spcBef>
          <a:spcPct val="20000"/>
        </a:spcBef>
        <a:buFont typeface="Arial"/>
        <a:buChar char="•"/>
        <a:defRPr kumimoji="1"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kumimoji="1"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kumimoji="1"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ja-JP"/>
      </a:defPPr>
      <a:lvl1pPr marL="0" algn="l" defTabSz="609539" rtl="0" eaLnBrk="1" latinLnBrk="0" hangingPunct="1">
        <a:defRPr kumimoji="1" sz="2400" kern="1200">
          <a:solidFill>
            <a:schemeClr val="tx1"/>
          </a:solidFill>
          <a:latin typeface="+mn-lt"/>
          <a:ea typeface="+mn-ea"/>
          <a:cs typeface="+mn-cs"/>
        </a:defRPr>
      </a:lvl1pPr>
      <a:lvl2pPr marL="609539" algn="l" defTabSz="609539" rtl="0" eaLnBrk="1" latinLnBrk="0" hangingPunct="1">
        <a:defRPr kumimoji="1" sz="2400" kern="1200">
          <a:solidFill>
            <a:schemeClr val="tx1"/>
          </a:solidFill>
          <a:latin typeface="+mn-lt"/>
          <a:ea typeface="+mn-ea"/>
          <a:cs typeface="+mn-cs"/>
        </a:defRPr>
      </a:lvl2pPr>
      <a:lvl3pPr marL="1219080" algn="l" defTabSz="609539" rtl="0" eaLnBrk="1" latinLnBrk="0" hangingPunct="1">
        <a:defRPr kumimoji="1" sz="2400" kern="1200">
          <a:solidFill>
            <a:schemeClr val="tx1"/>
          </a:solidFill>
          <a:latin typeface="+mn-lt"/>
          <a:ea typeface="+mn-ea"/>
          <a:cs typeface="+mn-cs"/>
        </a:defRPr>
      </a:lvl3pPr>
      <a:lvl4pPr marL="1828618" algn="l" defTabSz="609539" rtl="0" eaLnBrk="1" latinLnBrk="0" hangingPunct="1">
        <a:defRPr kumimoji="1" sz="2400" kern="1200">
          <a:solidFill>
            <a:schemeClr val="tx1"/>
          </a:solidFill>
          <a:latin typeface="+mn-lt"/>
          <a:ea typeface="+mn-ea"/>
          <a:cs typeface="+mn-cs"/>
        </a:defRPr>
      </a:lvl4pPr>
      <a:lvl5pPr marL="2438158" algn="l" defTabSz="609539" rtl="0" eaLnBrk="1" latinLnBrk="0" hangingPunct="1">
        <a:defRPr kumimoji="1" sz="2400" kern="1200">
          <a:solidFill>
            <a:schemeClr val="tx1"/>
          </a:solidFill>
          <a:latin typeface="+mn-lt"/>
          <a:ea typeface="+mn-ea"/>
          <a:cs typeface="+mn-cs"/>
        </a:defRPr>
      </a:lvl5pPr>
      <a:lvl6pPr marL="3047696" algn="l" defTabSz="609539" rtl="0" eaLnBrk="1" latinLnBrk="0" hangingPunct="1">
        <a:defRPr kumimoji="1" sz="2400" kern="1200">
          <a:solidFill>
            <a:schemeClr val="tx1"/>
          </a:solidFill>
          <a:latin typeface="+mn-lt"/>
          <a:ea typeface="+mn-ea"/>
          <a:cs typeface="+mn-cs"/>
        </a:defRPr>
      </a:lvl6pPr>
      <a:lvl7pPr marL="3657235" algn="l" defTabSz="609539" rtl="0" eaLnBrk="1" latinLnBrk="0" hangingPunct="1">
        <a:defRPr kumimoji="1" sz="2400" kern="1200">
          <a:solidFill>
            <a:schemeClr val="tx1"/>
          </a:solidFill>
          <a:latin typeface="+mn-lt"/>
          <a:ea typeface="+mn-ea"/>
          <a:cs typeface="+mn-cs"/>
        </a:defRPr>
      </a:lvl7pPr>
      <a:lvl8pPr marL="4266773" algn="l" defTabSz="609539" rtl="0" eaLnBrk="1" latinLnBrk="0" hangingPunct="1">
        <a:defRPr kumimoji="1" sz="2400" kern="1200">
          <a:solidFill>
            <a:schemeClr val="tx1"/>
          </a:solidFill>
          <a:latin typeface="+mn-lt"/>
          <a:ea typeface="+mn-ea"/>
          <a:cs typeface="+mn-cs"/>
        </a:defRPr>
      </a:lvl8pPr>
      <a:lvl9pPr marL="4876313" algn="l" defTabSz="609539"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4" pos="7091">
          <p15:clr>
            <a:srgbClr val="F26B43"/>
          </p15:clr>
        </p15:guide>
        <p15:guide id="5" pos="588">
          <p15:clr>
            <a:srgbClr val="F26B43"/>
          </p15:clr>
        </p15:guide>
        <p15:guide id="6" orient="horz" pos="367">
          <p15:clr>
            <a:srgbClr val="F26B43"/>
          </p15:clr>
        </p15:guide>
        <p15:guide id="7" orient="horz" pos="3953">
          <p15:clr>
            <a:srgbClr val="F26B43"/>
          </p15:clr>
        </p15:guide>
        <p15:guide id="8" pos="302">
          <p15:clr>
            <a:srgbClr val="F26B43"/>
          </p15:clr>
        </p15:guide>
        <p15:guide id="9" pos="7378">
          <p15:clr>
            <a:srgbClr val="F26B43"/>
          </p15:clr>
        </p15:guide>
        <p15:guide id="10" pos="495">
          <p15:clr>
            <a:srgbClr val="F26B43"/>
          </p15:clr>
        </p15:guide>
        <p15:guide id="11" pos="7185">
          <p15:clr>
            <a:srgbClr val="F26B43"/>
          </p15:clr>
        </p15:guide>
        <p15:guide id="12" orient="horz" pos="652">
          <p15:clr>
            <a:srgbClr val="F26B43"/>
          </p15:clr>
        </p15:guide>
      </p15:sldGuideLst>
    </p:ext>
  </p:extLst>
</p:sldMaster>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20.sv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4.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26.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28.png"/><Relationship Id="rId6" Type="http://schemas.microsoft.com/office/2007/relationships/hdphoto" Target="../media/hdphoto1.wdp"/><Relationship Id="rId7" Type="http://schemas.openxmlformats.org/officeDocument/2006/relationships/image" Target="../media/image54.sv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8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42.png"/><Relationship Id="rId4" Type="http://schemas.openxmlformats.org/officeDocument/2006/relationships/image" Target="../media/image9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26.png"/><Relationship Id="rId4" Type="http://schemas.openxmlformats.org/officeDocument/2006/relationships/image" Target="../media/image42.png"/><Relationship Id="rId5" Type="http://schemas.openxmlformats.org/officeDocument/2006/relationships/image" Target="../media/image4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26.png"/><Relationship Id="rId4" Type="http://schemas.openxmlformats.org/officeDocument/2006/relationships/image" Target="../media/image42.png"/><Relationship Id="rId5" Type="http://schemas.openxmlformats.org/officeDocument/2006/relationships/image" Target="../media/image54.sv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26.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9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26.png"/><Relationship Id="rId4" Type="http://schemas.openxmlformats.org/officeDocument/2006/relationships/image" Target="../media/image4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26.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28.png"/><Relationship Id="rId7" Type="http://schemas.microsoft.com/office/2007/relationships/hdphoto" Target="../media/hdphoto1.wdp"/><Relationship Id="rId8" Type="http://schemas.openxmlformats.org/officeDocument/2006/relationships/image" Target="../media/image9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42.png"/><Relationship Id="rId4" Type="http://schemas.openxmlformats.org/officeDocument/2006/relationships/image" Target="../media/image9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26.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28.png"/><Relationship Id="rId7" Type="http://schemas.microsoft.com/office/2007/relationships/hdphoto" Target="../media/hdphoto1.wdp"/></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26.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28.png"/><Relationship Id="rId7" Type="http://schemas.microsoft.com/office/2007/relationships/hdphoto" Target="../media/hdphoto1.wdp"/><Relationship Id="rId8" Type="http://schemas.openxmlformats.org/officeDocument/2006/relationships/image" Target="../media/image9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9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9.png"/><Relationship Id="rId3" Type="http://schemas.openxmlformats.org/officeDocument/2006/relationships/image" Target="../media/image42.png"/><Relationship Id="rId4" Type="http://schemas.openxmlformats.org/officeDocument/2006/relationships/image" Target="../media/image43.png"/></Relationships>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lnSpc>
                <a:spcPct val="130000"/>
              </a:lnSpc>
            </a:pPr>
            <a:r>
              <a:rPr sz="1452"/>
              <a:t>全11チームの進捗状況・使用アプリ・難易度</a:t>
            </a:r>
          </a:p>
          <a:p>
            <a:pPr>
              <a:lnSpc>
                <a:spcPct val="130000"/>
              </a:lnSpc>
            </a:pPr>
            <a:r>
              <a:rPr sz="1452"/>
              <a:t>10月発表に向けた見込みと課題</a:t>
            </a:r>
          </a:p>
        </p:txBody>
      </p:sp>
      <p:sp>
        <p:nvSpPr>
          <p:cNvPr id="3" name="Title 2"/>
          <p:cNvSpPr>
            <a:spLocks noGrp="1"/>
          </p:cNvSpPr>
          <p:nvPr>
            <p:ph type="ctrTitle"/>
          </p:nvPr>
        </p:nvSpPr>
        <p:spPr>
          <a:xfrm>
            <a:off x="1152144" y="2240280"/>
            <a:ext cx="9418320" cy="1463040"/>
          </a:xfrm>
        </p:spPr>
        <p:txBody>
          <a:bodyPr wrap="square"/>
          <a:lstStyle/>
          <a:p>
            <a:pPr>
              <a:lnSpc>
                <a:spcPct val="120000"/>
              </a:lnSpc>
            </a:pPr>
            <a:r>
              <a:rPr sz="3400" b="1"/>
              <a:t>第2回 事前相談会</a:t>
            </a:r>
          </a:p>
          <a:p>
            <a:pPr>
              <a:lnSpc>
                <a:spcPct val="120000"/>
              </a:lnSpc>
            </a:pPr>
            <a:r>
              <a:rPr sz="3400" b="1"/>
              <a:t>チームごとの状況報告</a:t>
            </a:r>
          </a:p>
        </p:txBody>
      </p:sp>
      <p:sp>
        <p:nvSpPr>
          <p:cNvPr id="4" name="Subtitle 3"/>
          <p:cNvSpPr>
            <a:spLocks noGrp="1"/>
          </p:cNvSpPr>
          <p:nvPr>
            <p:ph type="subTitle" idx="1"/>
          </p:nvPr>
        </p:nvSpPr>
        <p:spPr/>
        <p:txBody>
          <a:bodyPr wrap="square"/>
          <a:lstStyle/>
          <a:p>
            <a:r>
              <a:rPr sz="1632">
                <a:solidFill>
                  <a:srgbClr val="1B5C80"/>
                </a:solidFill>
              </a:rPr>
              <a:t>Microsoft 365 Copilot Studio 活用ハッカソン</a:t>
            </a:r>
          </a:p>
        </p:txBody>
      </p:sp>
      <p:sp>
        <p:nvSpPr>
          <p:cNvPr id="5" name="Text Placeholder 4"/>
          <p:cNvSpPr>
            <a:spLocks noGrp="1"/>
          </p:cNvSpPr>
          <p:nvPr>
            <p:ph type="body" idx="2" sz="half"/>
          </p:nvPr>
        </p:nvSpPr>
        <p:spPr/>
        <p:txBody>
          <a:bodyPr wrap="square"/>
          <a:lstStyle/>
          <a:p>
            <a:r>
              <a:rPr sz="1452"/>
              <a:t>2026.07.27</a:t>
            </a:r>
          </a:p>
        </p:txBody>
      </p:sp>
      <p:sp>
        <p:nvSpPr>
          <p:cNvPr id="6" name="TextBox 5"/>
          <p:cNvSpPr txBox="1"/>
          <p:nvPr/>
        </p:nvSpPr>
        <p:spPr>
          <a:xfrm>
            <a:off x="1152144" y="4956048"/>
            <a:ext cx="5486400" cy="310896"/>
          </a:xfrm>
          <a:prstGeom prst="rect">
            <a:avLst/>
          </a:prstGeom>
          <a:noFill/>
        </p:spPr>
        <p:txBody>
          <a:bodyPr wrap="square" anchor="t" lIns="25400" rIns="25400" tIns="12700" bIns="12700">
            <a:spAutoFit/>
          </a:bodyPr>
          <a:lstStyle/>
          <a:p>
            <a:pPr algn="l">
              <a:lnSpc>
                <a:spcPct val="100000"/>
              </a:lnSpc>
            </a:pPr>
            <a:r>
              <a:rPr sz="1270" b="1">
                <a:solidFill>
                  <a:srgbClr val="1B5C80"/>
                </a:solidFill>
              </a:rPr>
              <a:t>株式会社Low Code</a:t>
            </a:r>
          </a:p>
        </p:txBody>
      </p:sp>
      <p:pic>
        <p:nvPicPr>
          <p:cNvPr id="4" name="図 3" descr="ロゴ&#10;&#10;AI によって生成されたコンテンツは間違っている可能性があります。">
            <a:extLst>
              <a:ext uri="{FF2B5EF4-FFF2-40B4-BE49-F238E27FC236}">
                <a16:creationId xmlns:a16="http://schemas.microsoft.com/office/drawing/2014/main" id="{034E6708-382D-E5BB-D843-73E38A172897}"/>
              </a:ext>
            </a:extLst>
          </p:cNvPr>
          <p:cNvPicPr>
            <a:picLocks noChangeAspect="1"/>
          </p:cNvPicPr>
          <p:nvPr/>
        </p:nvPicPr>
        <p:blipFill>
          <a:blip r:embed="rId2">
            <a:extLst>
              <a:ext uri="{28A0092B-C50C-407E-A947-70E740481C1C}">
                <a14:useLocalDpi xmlns:a14="http://schemas.microsoft.com/office/drawing/2010/main" val="0"/>
              </a:ext>
            </a:extLst>
          </a:blip>
          <a:srcRect t="29843" b="29843"/>
          <a:stretch/>
        </p:blipFill>
        <p:spPr>
          <a:xfrm>
            <a:off x="1152144" y="5349240"/>
            <a:ext cx="2461010" cy="566928"/>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本日の内容</a:t>
            </a:r>
          </a:p>
        </p:txBody>
      </p:sp>
      <p:sp>
        <p:nvSpPr>
          <p:cNvPr id="3" name="Text Placeholder 2"/>
          <p:cNvSpPr>
            <a:spLocks noGrp="1"/>
          </p:cNvSpPr>
          <p:nvPr>
            <p:ph type="body" idx="2" sz="half"/>
          </p:nvPr>
        </p:nvSpPr>
        <p:spPr/>
        <p:txBody>
          <a:bodyPr wrap="square"/>
          <a:lstStyle/>
          <a:p>
            <a:r>
              <a:rPr sz="1270">
                <a:solidFill>
                  <a:srgbClr val="6E767C"/>
                </a:solidFill>
              </a:rPr>
              <a:t>第2回 事前相談会（2026年7月22日〜24日 実施）の状況報告</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2</a:t>
            </a:r>
          </a:p>
        </p:txBody>
      </p:sp>
      <p:sp>
        <p:nvSpPr>
          <p:cNvPr id="5" name="Rectangle 4"/>
          <p:cNvSpPr/>
          <p:nvPr/>
        </p:nvSpPr>
        <p:spPr>
          <a:xfrm>
            <a:off x="740664" y="1481328"/>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481328"/>
            <a:ext cx="603504" cy="603504"/>
          </a:xfrm>
          <a:prstGeom prst="rect">
            <a:avLst/>
          </a:prstGeom>
          <a:noFill/>
        </p:spPr>
        <p:txBody>
          <a:bodyPr wrap="square" anchor="ctr" lIns="25400" rIns="25400" tIns="12700" bIns="12700">
            <a:spAutoFit/>
          </a:bodyPr>
          <a:lstStyle/>
          <a:p>
            <a:pPr algn="ctr">
              <a:lnSpc>
                <a:spcPct val="100000"/>
              </a:lnSpc>
            </a:pPr>
            <a:r>
              <a:rPr sz="1632" b="1">
                <a:solidFill>
                  <a:srgbClr val="1B5C80"/>
                </a:solidFill>
              </a:rPr>
              <a:t>01</a:t>
            </a:r>
          </a:p>
        </p:txBody>
      </p:sp>
      <p:sp>
        <p:nvSpPr>
          <p:cNvPr id="7" name="TextBox 6"/>
          <p:cNvSpPr txBox="1"/>
          <p:nvPr/>
        </p:nvSpPr>
        <p:spPr>
          <a:xfrm>
            <a:off x="1527048" y="1499616"/>
            <a:ext cx="4754880" cy="310896"/>
          </a:xfrm>
          <a:prstGeom prst="rect">
            <a:avLst/>
          </a:prstGeom>
          <a:noFill/>
        </p:spPr>
        <p:txBody>
          <a:bodyPr wrap="square" anchor="t" lIns="25400" rIns="25400" tIns="12700" bIns="12700">
            <a:spAutoFit/>
          </a:bodyPr>
          <a:lstStyle/>
          <a:p>
            <a:pPr algn="l">
              <a:lnSpc>
                <a:spcPct val="100000"/>
              </a:lnSpc>
            </a:pPr>
            <a:r>
              <a:rPr sz="1632" b="1">
                <a:solidFill>
                  <a:srgbClr val="232323"/>
                </a:solidFill>
              </a:rPr>
              <a:t>本日の目的</a:t>
            </a:r>
          </a:p>
        </p:txBody>
      </p:sp>
      <p:sp>
        <p:nvSpPr>
          <p:cNvPr id="8" name="TextBox 7"/>
          <p:cNvSpPr txBox="1"/>
          <p:nvPr/>
        </p:nvSpPr>
        <p:spPr>
          <a:xfrm>
            <a:off x="1527048" y="1847088"/>
            <a:ext cx="8686800" cy="237744"/>
          </a:xfrm>
          <a:prstGeom prst="rect">
            <a:avLst/>
          </a:prstGeom>
          <a:noFill/>
        </p:spPr>
        <p:txBody>
          <a:bodyPr wrap="square" anchor="t" lIns="25400" rIns="25400" tIns="12700" bIns="12700">
            <a:spAutoFit/>
          </a:bodyPr>
          <a:lstStyle/>
          <a:p>
            <a:pPr algn="l">
              <a:lnSpc>
                <a:spcPct val="100000"/>
              </a:lnSpc>
            </a:pPr>
            <a:r>
              <a:rPr sz="1270" b="0">
                <a:solidFill>
                  <a:srgbClr val="6E767C"/>
                </a:solidFill>
              </a:rPr>
              <a:t>第2回の位置づけと、確認・整理する範囲</a:t>
            </a:r>
          </a:p>
        </p:txBody>
      </p:sp>
      <p:sp>
        <p:nvSpPr>
          <p:cNvPr id="9" name="Rectangle 8"/>
          <p:cNvSpPr/>
          <p:nvPr/>
        </p:nvSpPr>
        <p:spPr>
          <a:xfrm>
            <a:off x="740664" y="2267712"/>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2267712"/>
            <a:ext cx="603504" cy="603504"/>
          </a:xfrm>
          <a:prstGeom prst="rect">
            <a:avLst/>
          </a:prstGeom>
          <a:noFill/>
        </p:spPr>
        <p:txBody>
          <a:bodyPr wrap="square" anchor="ctr" lIns="25400" rIns="25400" tIns="12700" bIns="12700">
            <a:spAutoFit/>
          </a:bodyPr>
          <a:lstStyle/>
          <a:p>
            <a:pPr algn="ctr">
              <a:lnSpc>
                <a:spcPct val="100000"/>
              </a:lnSpc>
            </a:pPr>
            <a:r>
              <a:rPr sz="1632" b="1">
                <a:solidFill>
                  <a:srgbClr val="1B5C80"/>
                </a:solidFill>
              </a:rPr>
              <a:t>02</a:t>
            </a:r>
          </a:p>
        </p:txBody>
      </p:sp>
      <p:sp>
        <p:nvSpPr>
          <p:cNvPr id="11" name="TextBox 10"/>
          <p:cNvSpPr txBox="1"/>
          <p:nvPr/>
        </p:nvSpPr>
        <p:spPr>
          <a:xfrm>
            <a:off x="1527048" y="2286000"/>
            <a:ext cx="4754880" cy="310896"/>
          </a:xfrm>
          <a:prstGeom prst="rect">
            <a:avLst/>
          </a:prstGeom>
          <a:noFill/>
        </p:spPr>
        <p:txBody>
          <a:bodyPr wrap="square" anchor="t" lIns="25400" rIns="25400" tIns="12700" bIns="12700">
            <a:spAutoFit/>
          </a:bodyPr>
          <a:lstStyle/>
          <a:p>
            <a:pPr algn="l">
              <a:lnSpc>
                <a:spcPct val="100000"/>
              </a:lnSpc>
            </a:pPr>
            <a:r>
              <a:rPr sz="1632" b="1">
                <a:solidFill>
                  <a:srgbClr val="232323"/>
                </a:solidFill>
              </a:rPr>
              <a:t>各チームの状況一覧</a:t>
            </a:r>
          </a:p>
        </p:txBody>
      </p:sp>
      <p:sp>
        <p:nvSpPr>
          <p:cNvPr id="12" name="TextBox 11"/>
          <p:cNvSpPr txBox="1"/>
          <p:nvPr/>
        </p:nvSpPr>
        <p:spPr>
          <a:xfrm>
            <a:off x="1527048" y="2633472"/>
            <a:ext cx="8686800" cy="237744"/>
          </a:xfrm>
          <a:prstGeom prst="rect">
            <a:avLst/>
          </a:prstGeom>
          <a:noFill/>
        </p:spPr>
        <p:txBody>
          <a:bodyPr wrap="square" anchor="t" lIns="25400" rIns="25400" tIns="12700" bIns="12700">
            <a:spAutoFit/>
          </a:bodyPr>
          <a:lstStyle/>
          <a:p>
            <a:pPr algn="l">
              <a:lnSpc>
                <a:spcPct val="100000"/>
              </a:lnSpc>
            </a:pPr>
            <a:r>
              <a:rPr sz="1270" b="0">
                <a:solidFill>
                  <a:srgbClr val="6E767C"/>
                </a:solidFill>
              </a:rPr>
              <a:t>進捗の段階・難易度・10月発表の見込み</a:t>
            </a:r>
          </a:p>
        </p:txBody>
      </p:sp>
      <p:sp>
        <p:nvSpPr>
          <p:cNvPr id="13" name="Rectangle 12"/>
          <p:cNvSpPr/>
          <p:nvPr/>
        </p:nvSpPr>
        <p:spPr>
          <a:xfrm>
            <a:off x="740664" y="3054096"/>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3054096"/>
            <a:ext cx="603504" cy="603504"/>
          </a:xfrm>
          <a:prstGeom prst="rect">
            <a:avLst/>
          </a:prstGeom>
          <a:noFill/>
        </p:spPr>
        <p:txBody>
          <a:bodyPr wrap="square" anchor="ctr" lIns="25400" rIns="25400" tIns="12700" bIns="12700">
            <a:spAutoFit/>
          </a:bodyPr>
          <a:lstStyle/>
          <a:p>
            <a:pPr algn="ctr">
              <a:lnSpc>
                <a:spcPct val="100000"/>
              </a:lnSpc>
            </a:pPr>
            <a:r>
              <a:rPr sz="1632" b="1">
                <a:solidFill>
                  <a:srgbClr val="1B5C80"/>
                </a:solidFill>
              </a:rPr>
              <a:t>03</a:t>
            </a:r>
          </a:p>
        </p:txBody>
      </p:sp>
      <p:sp>
        <p:nvSpPr>
          <p:cNvPr id="15" name="TextBox 14"/>
          <p:cNvSpPr txBox="1"/>
          <p:nvPr/>
        </p:nvSpPr>
        <p:spPr>
          <a:xfrm>
            <a:off x="1527048" y="3072384"/>
            <a:ext cx="4754880" cy="310896"/>
          </a:xfrm>
          <a:prstGeom prst="rect">
            <a:avLst/>
          </a:prstGeom>
          <a:noFill/>
        </p:spPr>
        <p:txBody>
          <a:bodyPr wrap="square" anchor="t" lIns="25400" rIns="25400" tIns="12700" bIns="12700">
            <a:spAutoFit/>
          </a:bodyPr>
          <a:lstStyle/>
          <a:p>
            <a:pPr algn="l">
              <a:lnSpc>
                <a:spcPct val="100000"/>
              </a:lnSpc>
            </a:pPr>
            <a:r>
              <a:rPr sz="1632" b="1">
                <a:solidFill>
                  <a:srgbClr val="232323"/>
                </a:solidFill>
              </a:rPr>
              <a:t>エグゼクティブサマリ</a:t>
            </a:r>
          </a:p>
        </p:txBody>
      </p:sp>
      <p:sp>
        <p:nvSpPr>
          <p:cNvPr id="16" name="TextBox 15"/>
          <p:cNvSpPr txBox="1"/>
          <p:nvPr/>
        </p:nvSpPr>
        <p:spPr>
          <a:xfrm>
            <a:off x="1527048" y="3419856"/>
            <a:ext cx="8686800" cy="237744"/>
          </a:xfrm>
          <a:prstGeom prst="rect">
            <a:avLst/>
          </a:prstGeom>
          <a:noFill/>
        </p:spPr>
        <p:txBody>
          <a:bodyPr wrap="square" anchor="t" lIns="25400" rIns="25400" tIns="12700" bIns="12700">
            <a:spAutoFit/>
          </a:bodyPr>
          <a:lstStyle/>
          <a:p>
            <a:pPr algn="l">
              <a:lnSpc>
                <a:spcPct val="100000"/>
              </a:lnSpc>
            </a:pPr>
            <a:r>
              <a:rPr sz="1270" b="0">
                <a:solidFill>
                  <a:srgbClr val="6E767C"/>
                </a:solidFill>
              </a:rPr>
              <a:t>全体の状況と、事務局への依頼事項（重点3点）</a:t>
            </a:r>
          </a:p>
        </p:txBody>
      </p:sp>
      <p:sp>
        <p:nvSpPr>
          <p:cNvPr id="17" name="Rectangle 16"/>
          <p:cNvSpPr/>
          <p:nvPr/>
        </p:nvSpPr>
        <p:spPr>
          <a:xfrm>
            <a:off x="740664" y="3840480"/>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840480"/>
            <a:ext cx="603504" cy="603504"/>
          </a:xfrm>
          <a:prstGeom prst="rect">
            <a:avLst/>
          </a:prstGeom>
          <a:noFill/>
        </p:spPr>
        <p:txBody>
          <a:bodyPr wrap="square" anchor="ctr" lIns="25400" rIns="25400" tIns="12700" bIns="12700">
            <a:spAutoFit/>
          </a:bodyPr>
          <a:lstStyle/>
          <a:p>
            <a:pPr algn="ctr">
              <a:lnSpc>
                <a:spcPct val="100000"/>
              </a:lnSpc>
            </a:pPr>
            <a:r>
              <a:rPr sz="1632" b="1">
                <a:solidFill>
                  <a:srgbClr val="1B5C80"/>
                </a:solidFill>
              </a:rPr>
              <a:t>04</a:t>
            </a:r>
          </a:p>
        </p:txBody>
      </p:sp>
      <p:sp>
        <p:nvSpPr>
          <p:cNvPr id="19" name="TextBox 18"/>
          <p:cNvSpPr txBox="1"/>
          <p:nvPr/>
        </p:nvSpPr>
        <p:spPr>
          <a:xfrm>
            <a:off x="1527048" y="3858768"/>
            <a:ext cx="4754880" cy="310896"/>
          </a:xfrm>
          <a:prstGeom prst="rect">
            <a:avLst/>
          </a:prstGeom>
          <a:noFill/>
        </p:spPr>
        <p:txBody>
          <a:bodyPr wrap="square" anchor="t" lIns="25400" rIns="25400" tIns="12700" bIns="12700">
            <a:spAutoFit/>
          </a:bodyPr>
          <a:lstStyle/>
          <a:p>
            <a:pPr algn="l">
              <a:lnSpc>
                <a:spcPct val="100000"/>
              </a:lnSpc>
            </a:pPr>
            <a:r>
              <a:rPr sz="1632" b="1">
                <a:solidFill>
                  <a:srgbClr val="232323"/>
                </a:solidFill>
              </a:rPr>
              <a:t>使用アプリ・難易度・ボリューム</a:t>
            </a:r>
          </a:p>
        </p:txBody>
      </p:sp>
      <p:sp>
        <p:nvSpPr>
          <p:cNvPr id="20" name="TextBox 19"/>
          <p:cNvSpPr txBox="1"/>
          <p:nvPr/>
        </p:nvSpPr>
        <p:spPr>
          <a:xfrm>
            <a:off x="1527048" y="4206240"/>
            <a:ext cx="8686800" cy="237744"/>
          </a:xfrm>
          <a:prstGeom prst="rect">
            <a:avLst/>
          </a:prstGeom>
          <a:noFill/>
        </p:spPr>
        <p:txBody>
          <a:bodyPr wrap="square" anchor="t" lIns="25400" rIns="25400" tIns="12700" bIns="12700">
            <a:spAutoFit/>
          </a:bodyPr>
          <a:lstStyle/>
          <a:p>
            <a:pPr algn="l">
              <a:lnSpc>
                <a:spcPct val="100000"/>
              </a:lnSpc>
            </a:pPr>
            <a:r>
              <a:rPr sz="1270" b="0">
                <a:solidFill>
                  <a:srgbClr val="6E767C"/>
                </a:solidFill>
              </a:rPr>
              <a:t>メンター検討の材料としての比較</a:t>
            </a:r>
          </a:p>
        </p:txBody>
      </p:sp>
      <p:sp>
        <p:nvSpPr>
          <p:cNvPr id="21" name="Rectangle 20"/>
          <p:cNvSpPr/>
          <p:nvPr/>
        </p:nvSpPr>
        <p:spPr>
          <a:xfrm>
            <a:off x="740664" y="4626864"/>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4626864"/>
            <a:ext cx="603504" cy="603504"/>
          </a:xfrm>
          <a:prstGeom prst="rect">
            <a:avLst/>
          </a:prstGeom>
          <a:noFill/>
        </p:spPr>
        <p:txBody>
          <a:bodyPr wrap="square" anchor="ctr" lIns="25400" rIns="25400" tIns="12700" bIns="12700">
            <a:spAutoFit/>
          </a:bodyPr>
          <a:lstStyle/>
          <a:p>
            <a:pPr algn="ctr">
              <a:lnSpc>
                <a:spcPct val="100000"/>
              </a:lnSpc>
            </a:pPr>
            <a:r>
              <a:rPr sz="1632" b="1">
                <a:solidFill>
                  <a:srgbClr val="1B5C80"/>
                </a:solidFill>
              </a:rPr>
              <a:t>05</a:t>
            </a:r>
          </a:p>
        </p:txBody>
      </p:sp>
      <p:sp>
        <p:nvSpPr>
          <p:cNvPr id="23" name="TextBox 22"/>
          <p:cNvSpPr txBox="1"/>
          <p:nvPr/>
        </p:nvSpPr>
        <p:spPr>
          <a:xfrm>
            <a:off x="1527048" y="4645152"/>
            <a:ext cx="4754880" cy="310896"/>
          </a:xfrm>
          <a:prstGeom prst="rect">
            <a:avLst/>
          </a:prstGeom>
          <a:noFill/>
        </p:spPr>
        <p:txBody>
          <a:bodyPr wrap="square" anchor="t" lIns="25400" rIns="25400" tIns="12700" bIns="12700">
            <a:spAutoFit/>
          </a:bodyPr>
          <a:lstStyle/>
          <a:p>
            <a:pPr algn="l">
              <a:lnSpc>
                <a:spcPct val="100000"/>
              </a:lnSpc>
            </a:pPr>
            <a:r>
              <a:rPr sz="1632" b="1">
                <a:solidFill>
                  <a:srgbClr val="232323"/>
                </a:solidFill>
              </a:rPr>
              <a:t>第2回で挙がった課題</a:t>
            </a:r>
          </a:p>
        </p:txBody>
      </p:sp>
      <p:sp>
        <p:nvSpPr>
          <p:cNvPr id="24" name="TextBox 23"/>
          <p:cNvSpPr txBox="1"/>
          <p:nvPr/>
        </p:nvSpPr>
        <p:spPr>
          <a:xfrm>
            <a:off x="1527048" y="4992624"/>
            <a:ext cx="8686800" cy="237744"/>
          </a:xfrm>
          <a:prstGeom prst="rect">
            <a:avLst/>
          </a:prstGeom>
          <a:noFill/>
        </p:spPr>
        <p:txBody>
          <a:bodyPr wrap="square" anchor="t" lIns="25400" rIns="25400" tIns="12700" bIns="12700">
            <a:spAutoFit/>
          </a:bodyPr>
          <a:lstStyle/>
          <a:p>
            <a:pPr algn="l">
              <a:lnSpc>
                <a:spcPct val="100000"/>
              </a:lnSpc>
            </a:pPr>
            <a:r>
              <a:rPr sz="1270" b="0">
                <a:solidFill>
                  <a:srgbClr val="6E767C"/>
                </a:solidFill>
              </a:rPr>
              <a:t>大きく3点に整理</a:t>
            </a:r>
          </a:p>
        </p:txBody>
      </p:sp>
      <p:sp>
        <p:nvSpPr>
          <p:cNvPr id="25" name="Rectangle 24"/>
          <p:cNvSpPr/>
          <p:nvPr/>
        </p:nvSpPr>
        <p:spPr>
          <a:xfrm>
            <a:off x="740664" y="5413248"/>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 y="5413248"/>
            <a:ext cx="603504" cy="603504"/>
          </a:xfrm>
          <a:prstGeom prst="rect">
            <a:avLst/>
          </a:prstGeom>
          <a:noFill/>
        </p:spPr>
        <p:txBody>
          <a:bodyPr wrap="square" anchor="ctr" lIns="25400" rIns="25400" tIns="12700" bIns="12700">
            <a:spAutoFit/>
          </a:bodyPr>
          <a:lstStyle/>
          <a:p>
            <a:pPr algn="ctr">
              <a:lnSpc>
                <a:spcPct val="100000"/>
              </a:lnSpc>
            </a:pPr>
            <a:r>
              <a:rPr sz="1632" b="1">
                <a:solidFill>
                  <a:srgbClr val="1B5C80"/>
                </a:solidFill>
              </a:rPr>
              <a:t>06</a:t>
            </a:r>
          </a:p>
        </p:txBody>
      </p:sp>
      <p:sp>
        <p:nvSpPr>
          <p:cNvPr id="27" name="TextBox 26"/>
          <p:cNvSpPr txBox="1"/>
          <p:nvPr/>
        </p:nvSpPr>
        <p:spPr>
          <a:xfrm>
            <a:off x="1527048" y="5431536"/>
            <a:ext cx="4754880" cy="310896"/>
          </a:xfrm>
          <a:prstGeom prst="rect">
            <a:avLst/>
          </a:prstGeom>
          <a:noFill/>
        </p:spPr>
        <p:txBody>
          <a:bodyPr wrap="square" anchor="t" lIns="25400" rIns="25400" tIns="12700" bIns="12700">
            <a:spAutoFit/>
          </a:bodyPr>
          <a:lstStyle/>
          <a:p>
            <a:pPr algn="l">
              <a:lnSpc>
                <a:spcPct val="100000"/>
              </a:lnSpc>
            </a:pPr>
            <a:r>
              <a:rPr sz="1632" b="1">
                <a:solidFill>
                  <a:srgbClr val="232323"/>
                </a:solidFill>
              </a:rPr>
              <a:t>各チームの状況</a:t>
            </a:r>
          </a:p>
        </p:txBody>
      </p:sp>
      <p:sp>
        <p:nvSpPr>
          <p:cNvPr id="28" name="TextBox 27"/>
          <p:cNvSpPr txBox="1"/>
          <p:nvPr/>
        </p:nvSpPr>
        <p:spPr>
          <a:xfrm>
            <a:off x="1527048" y="5779008"/>
            <a:ext cx="8686800" cy="237744"/>
          </a:xfrm>
          <a:prstGeom prst="rect">
            <a:avLst/>
          </a:prstGeom>
          <a:noFill/>
        </p:spPr>
        <p:txBody>
          <a:bodyPr wrap="square" anchor="t" lIns="25400" rIns="25400" tIns="12700" bIns="12700">
            <a:spAutoFit/>
          </a:bodyPr>
          <a:lstStyle/>
          <a:p>
            <a:pPr algn="l">
              <a:lnSpc>
                <a:spcPct val="100000"/>
              </a:lnSpc>
            </a:pPr>
            <a:r>
              <a:rPr sz="1270" b="0">
                <a:solidFill>
                  <a:srgbClr val="6E767C"/>
                </a:solidFill>
              </a:rPr>
              <a:t>チーム1〜11の個別状況（1チーム1枚）</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本日の目的</a:t>
            </a:r>
          </a:p>
        </p:txBody>
      </p:sp>
      <p:sp>
        <p:nvSpPr>
          <p:cNvPr id="3" name="Text Placeholder 2"/>
          <p:cNvSpPr>
            <a:spLocks noGrp="1"/>
          </p:cNvSpPr>
          <p:nvPr>
            <p:ph type="body" idx="2" sz="half"/>
          </p:nvPr>
        </p:nvSpPr>
        <p:spPr/>
        <p:txBody>
          <a:bodyPr wrap="square"/>
          <a:lstStyle/>
          <a:p>
            <a:r>
              <a:rPr sz="1270">
                <a:solidFill>
                  <a:srgbClr val="6E767C"/>
                </a:solidFill>
              </a:rPr>
              <a:t>第1回後に提出された企画書を前提に、構築フェーズへ進むための確認を実施</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3</a:t>
            </a:r>
          </a:p>
        </p:txBody>
      </p:sp>
      <p:sp>
        <p:nvSpPr>
          <p:cNvPr id="5" name="TextBox 4"/>
          <p:cNvSpPr txBox="1"/>
          <p:nvPr/>
        </p:nvSpPr>
        <p:spPr>
          <a:xfrm>
            <a:off x="740664" y="1298448"/>
            <a:ext cx="10716768" cy="566928"/>
          </a:xfrm>
          <a:prstGeom prst="rect">
            <a:avLst/>
          </a:prstGeom>
          <a:noFill/>
        </p:spPr>
        <p:txBody>
          <a:bodyPr wrap="square" anchor="t" lIns="25400" rIns="25400" tIns="12700" bIns="12700">
            <a:spAutoFit/>
          </a:bodyPr>
          <a:lstStyle/>
          <a:p>
            <a:pPr algn="l">
              <a:lnSpc>
                <a:spcPct val="125000"/>
              </a:lnSpc>
            </a:pPr>
            <a:r>
              <a:rPr sz="1452" b="0">
                <a:solidFill>
                  <a:srgbClr val="232323"/>
                </a:solidFill>
              </a:rPr>
              <a:t>本資料は、株式会社Low Codeが第2回 事前相談会の結果を取りまとめ、事務局向けに各チームの進捗と10月発表に向けた課題・依頼事項を報告するものである。</a:t>
            </a:r>
          </a:p>
        </p:txBody>
      </p:sp>
      <p:sp>
        <p:nvSpPr>
          <p:cNvPr id="6" name="Rectangle 5"/>
          <p:cNvSpPr/>
          <p:nvPr/>
        </p:nvSpPr>
        <p:spPr>
          <a:xfrm>
            <a:off x="740664" y="2048256"/>
            <a:ext cx="5230368" cy="23957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0664" y="2048256"/>
            <a:ext cx="5230368" cy="47548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048256"/>
            <a:ext cx="1188720" cy="475488"/>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進行面</a:t>
            </a:r>
          </a:p>
        </p:txBody>
      </p:sp>
      <p:sp>
        <p:nvSpPr>
          <p:cNvPr id="9" name="TextBox 8"/>
          <p:cNvSpPr txBox="1"/>
          <p:nvPr/>
        </p:nvSpPr>
        <p:spPr>
          <a:xfrm>
            <a:off x="2112264" y="2048256"/>
            <a:ext cx="3721608" cy="475488"/>
          </a:xfrm>
          <a:prstGeom prst="rect">
            <a:avLst/>
          </a:prstGeom>
          <a:noFill/>
        </p:spPr>
        <p:txBody>
          <a:bodyPr wrap="square" anchor="ctr" lIns="25400" rIns="25400" tIns="12700" bIns="12700">
            <a:spAutoFit/>
          </a:bodyPr>
          <a:lstStyle/>
          <a:p>
            <a:pPr algn="l">
              <a:lnSpc>
                <a:spcPct val="100000"/>
              </a:lnSpc>
            </a:pPr>
            <a:r>
              <a:rPr sz="1632" b="1">
                <a:solidFill>
                  <a:srgbClr val="FFFFFF"/>
                </a:solidFill>
              </a:rPr>
              <a:t>進捗の確認と次アクションの整理</a:t>
            </a:r>
          </a:p>
        </p:txBody>
      </p:sp>
      <p:sp>
        <p:nvSpPr>
          <p:cNvPr id="10" name="Rectangle 9"/>
          <p:cNvSpPr/>
          <p:nvPr/>
        </p:nvSpPr>
        <p:spPr>
          <a:xfrm>
            <a:off x="978408" y="2743200"/>
            <a:ext cx="100584" cy="1005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9576" y="2633472"/>
            <a:ext cx="4572000" cy="274320"/>
          </a:xfrm>
          <a:prstGeom prst="rect">
            <a:avLst/>
          </a:prstGeom>
          <a:noFill/>
        </p:spPr>
        <p:txBody>
          <a:bodyPr wrap="square" anchor="t" lIns="25400" rIns="25400" tIns="12700" bIns="12700">
            <a:spAutoFit/>
          </a:bodyPr>
          <a:lstStyle/>
          <a:p>
            <a:pPr algn="l">
              <a:lnSpc>
                <a:spcPct val="100000"/>
              </a:lnSpc>
            </a:pPr>
            <a:r>
              <a:rPr sz="1452" b="1">
                <a:solidFill>
                  <a:srgbClr val="1B5C80"/>
                </a:solidFill>
              </a:rPr>
              <a:t>各チームの進捗状況の確認</a:t>
            </a:r>
          </a:p>
        </p:txBody>
      </p:sp>
      <p:sp>
        <p:nvSpPr>
          <p:cNvPr id="12" name="TextBox 11"/>
          <p:cNvSpPr txBox="1"/>
          <p:nvPr/>
        </p:nvSpPr>
        <p:spPr>
          <a:xfrm>
            <a:off x="1179576" y="2944368"/>
            <a:ext cx="4553712" cy="566928"/>
          </a:xfrm>
          <a:prstGeom prst="rect">
            <a:avLst/>
          </a:prstGeom>
          <a:noFill/>
        </p:spPr>
        <p:txBody>
          <a:bodyPr wrap="square" anchor="t" lIns="25400" rIns="25400" tIns="12700" bIns="12700">
            <a:spAutoFit/>
          </a:bodyPr>
          <a:lstStyle/>
          <a:p>
            <a:pPr algn="l">
              <a:lnSpc>
                <a:spcPct val="118000"/>
              </a:lnSpc>
            </a:pPr>
            <a:r>
              <a:rPr sz="1270" b="0">
                <a:solidFill>
                  <a:srgbClr val="232323"/>
                </a:solidFill>
              </a:rPr>
              <a:t>企画の具体化の度合いと、構築に着手できる準備が整っているかを確認。</a:t>
            </a:r>
          </a:p>
        </p:txBody>
      </p:sp>
      <p:sp>
        <p:nvSpPr>
          <p:cNvPr id="13" name="Rectangle 12"/>
          <p:cNvSpPr/>
          <p:nvPr/>
        </p:nvSpPr>
        <p:spPr>
          <a:xfrm>
            <a:off x="978408" y="3602736"/>
            <a:ext cx="100584" cy="1005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3493008"/>
            <a:ext cx="4572000" cy="274320"/>
          </a:xfrm>
          <a:prstGeom prst="rect">
            <a:avLst/>
          </a:prstGeom>
          <a:noFill/>
        </p:spPr>
        <p:txBody>
          <a:bodyPr wrap="square" anchor="t" lIns="25400" rIns="25400" tIns="12700" bIns="12700">
            <a:spAutoFit/>
          </a:bodyPr>
          <a:lstStyle/>
          <a:p>
            <a:pPr algn="l">
              <a:lnSpc>
                <a:spcPct val="100000"/>
              </a:lnSpc>
            </a:pPr>
            <a:r>
              <a:rPr sz="1452" b="1">
                <a:solidFill>
                  <a:srgbClr val="1B5C80"/>
                </a:solidFill>
              </a:rPr>
              <a:t>次アクションの整理</a:t>
            </a:r>
          </a:p>
        </p:txBody>
      </p:sp>
      <p:sp>
        <p:nvSpPr>
          <p:cNvPr id="15" name="TextBox 14"/>
          <p:cNvSpPr txBox="1"/>
          <p:nvPr/>
        </p:nvSpPr>
        <p:spPr>
          <a:xfrm>
            <a:off x="1179576" y="3803904"/>
            <a:ext cx="4553712" cy="566928"/>
          </a:xfrm>
          <a:prstGeom prst="rect">
            <a:avLst/>
          </a:prstGeom>
          <a:noFill/>
        </p:spPr>
        <p:txBody>
          <a:bodyPr wrap="square" anchor="t" lIns="25400" rIns="25400" tIns="12700" bIns="12700">
            <a:spAutoFit/>
          </a:bodyPr>
          <a:lstStyle/>
          <a:p>
            <a:pPr algn="l">
              <a:lnSpc>
                <a:spcPct val="118000"/>
              </a:lnSpc>
            </a:pPr>
            <a:r>
              <a:rPr sz="1270" b="0">
                <a:solidFill>
                  <a:srgbClr val="232323"/>
                </a:solidFill>
              </a:rPr>
              <a:t>8月：動くデモ／9月：発表準備／10月：発表 に向けた優先順位を明確化。</a:t>
            </a:r>
          </a:p>
        </p:txBody>
      </p:sp>
      <p:sp>
        <p:nvSpPr>
          <p:cNvPr id="16" name="Rectangle 15"/>
          <p:cNvSpPr/>
          <p:nvPr/>
        </p:nvSpPr>
        <p:spPr>
          <a:xfrm>
            <a:off x="6227064" y="2048256"/>
            <a:ext cx="5230368" cy="2395728"/>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27064" y="2048256"/>
            <a:ext cx="5230368" cy="475488"/>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2048256"/>
            <a:ext cx="1188720" cy="475488"/>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技術面</a:t>
            </a:r>
          </a:p>
        </p:txBody>
      </p:sp>
      <p:sp>
        <p:nvSpPr>
          <p:cNvPr id="19" name="TextBox 18"/>
          <p:cNvSpPr txBox="1"/>
          <p:nvPr/>
        </p:nvSpPr>
        <p:spPr>
          <a:xfrm>
            <a:off x="7598664" y="2048256"/>
            <a:ext cx="3721608" cy="475488"/>
          </a:xfrm>
          <a:prstGeom prst="rect">
            <a:avLst/>
          </a:prstGeom>
          <a:noFill/>
        </p:spPr>
        <p:txBody>
          <a:bodyPr wrap="square" anchor="ctr" lIns="25400" rIns="25400" tIns="12700" bIns="12700">
            <a:spAutoFit/>
          </a:bodyPr>
          <a:lstStyle/>
          <a:p>
            <a:pPr algn="l">
              <a:lnSpc>
                <a:spcPct val="100000"/>
              </a:lnSpc>
            </a:pPr>
            <a:r>
              <a:rPr sz="1632" b="1">
                <a:solidFill>
                  <a:srgbClr val="232323"/>
                </a:solidFill>
              </a:rPr>
              <a:t>適合性と実現可能性の助言</a:t>
            </a:r>
          </a:p>
        </p:txBody>
      </p:sp>
      <p:sp>
        <p:nvSpPr>
          <p:cNvPr id="20" name="Rectangle 19"/>
          <p:cNvSpPr/>
          <p:nvPr/>
        </p:nvSpPr>
        <p:spPr>
          <a:xfrm>
            <a:off x="6464808" y="2743200"/>
            <a:ext cx="100584" cy="100584"/>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5976" y="2633472"/>
            <a:ext cx="4572000" cy="274320"/>
          </a:xfrm>
          <a:prstGeom prst="rect">
            <a:avLst/>
          </a:prstGeom>
          <a:noFill/>
        </p:spPr>
        <p:txBody>
          <a:bodyPr wrap="square" anchor="t" lIns="25400" rIns="25400" tIns="12700" bIns="12700">
            <a:spAutoFit/>
          </a:bodyPr>
          <a:lstStyle/>
          <a:p>
            <a:pPr algn="l">
              <a:lnSpc>
                <a:spcPct val="100000"/>
              </a:lnSpc>
            </a:pPr>
            <a:r>
              <a:rPr sz="1452" b="1">
                <a:solidFill>
                  <a:srgbClr val="1B5C80"/>
                </a:solidFill>
              </a:rPr>
              <a:t>使うアプリの適合性</a:t>
            </a:r>
          </a:p>
        </p:txBody>
      </p:sp>
      <p:sp>
        <p:nvSpPr>
          <p:cNvPr id="22" name="TextBox 21"/>
          <p:cNvSpPr txBox="1"/>
          <p:nvPr/>
        </p:nvSpPr>
        <p:spPr>
          <a:xfrm>
            <a:off x="6665976" y="2944368"/>
            <a:ext cx="4553712" cy="566928"/>
          </a:xfrm>
          <a:prstGeom prst="rect">
            <a:avLst/>
          </a:prstGeom>
          <a:noFill/>
        </p:spPr>
        <p:txBody>
          <a:bodyPr wrap="square" anchor="t" lIns="25400" rIns="25400" tIns="12700" bIns="12700">
            <a:spAutoFit/>
          </a:bodyPr>
          <a:lstStyle/>
          <a:p>
            <a:pPr algn="l">
              <a:lnSpc>
                <a:spcPct val="118000"/>
              </a:lnSpc>
            </a:pPr>
            <a:r>
              <a:rPr sz="1270" b="0">
                <a:solidFill>
                  <a:srgbClr val="232323"/>
                </a:solidFill>
              </a:rPr>
              <a:t>Copilot Studio・Power Automate・SharePoint・Teams等の使い分けを助言。</a:t>
            </a:r>
          </a:p>
        </p:txBody>
      </p:sp>
      <p:sp>
        <p:nvSpPr>
          <p:cNvPr id="23" name="Rectangle 22"/>
          <p:cNvSpPr/>
          <p:nvPr/>
        </p:nvSpPr>
        <p:spPr>
          <a:xfrm>
            <a:off x="6464808" y="3602736"/>
            <a:ext cx="100584" cy="100584"/>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65976" y="3493008"/>
            <a:ext cx="4572000" cy="274320"/>
          </a:xfrm>
          <a:prstGeom prst="rect">
            <a:avLst/>
          </a:prstGeom>
          <a:noFill/>
        </p:spPr>
        <p:txBody>
          <a:bodyPr wrap="square" anchor="t" lIns="25400" rIns="25400" tIns="12700" bIns="12700">
            <a:spAutoFit/>
          </a:bodyPr>
          <a:lstStyle/>
          <a:p>
            <a:pPr algn="l">
              <a:lnSpc>
                <a:spcPct val="100000"/>
              </a:lnSpc>
            </a:pPr>
            <a:r>
              <a:rPr sz="1452" b="1">
                <a:solidFill>
                  <a:srgbClr val="1B5C80"/>
                </a:solidFill>
              </a:rPr>
              <a:t>実現可能性と制約の早期確認</a:t>
            </a:r>
          </a:p>
        </p:txBody>
      </p:sp>
      <p:sp>
        <p:nvSpPr>
          <p:cNvPr id="25" name="TextBox 24"/>
          <p:cNvSpPr txBox="1"/>
          <p:nvPr/>
        </p:nvSpPr>
        <p:spPr>
          <a:xfrm>
            <a:off x="6665976" y="3803904"/>
            <a:ext cx="4553712" cy="566928"/>
          </a:xfrm>
          <a:prstGeom prst="rect">
            <a:avLst/>
          </a:prstGeom>
          <a:noFill/>
        </p:spPr>
        <p:txBody>
          <a:bodyPr wrap="square" anchor="t" lIns="25400" rIns="25400" tIns="12700" bIns="12700">
            <a:spAutoFit/>
          </a:bodyPr>
          <a:lstStyle/>
          <a:p>
            <a:pPr algn="l">
              <a:lnSpc>
                <a:spcPct val="118000"/>
              </a:lnSpc>
            </a:pPr>
            <a:r>
              <a:rPr sz="1270" b="0">
                <a:solidFill>
                  <a:srgbClr val="232323"/>
                </a:solidFill>
              </a:rPr>
              <a:t>外部Web参照、M365外システム連携、資料の保管場所、本番移行などを論点化。</a:t>
            </a:r>
          </a:p>
        </p:txBody>
      </p:sp>
      <p:pic>
        <p:nvPicPr>
          <p:cNvPr id="13" name="グラフィックス 12" descr="砂時計: 終了 単色塗りつぶし">
            <a:extLst>
              <a:ext uri="{FF2B5EF4-FFF2-40B4-BE49-F238E27FC236}">
                <a16:creationId xmlns:a16="http://schemas.microsoft.com/office/drawing/2014/main" id="{AB8771B4-131E-7B5F-8AB4-827552DBD4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664" y="4919472"/>
            <a:ext cx="237744" cy="237744"/>
          </a:xfrm>
          <a:prstGeom prst="rect">
            <a:avLst/>
          </a:prstGeom>
        </p:spPr>
      </p:pic>
      <p:sp>
        <p:nvSpPr>
          <p:cNvPr id="26" name="TextBox 25"/>
          <p:cNvSpPr txBox="1"/>
          <p:nvPr/>
        </p:nvSpPr>
        <p:spPr>
          <a:xfrm>
            <a:off x="1051560" y="4901184"/>
            <a:ext cx="10405872" cy="274320"/>
          </a:xfrm>
          <a:prstGeom prst="rect">
            <a:avLst/>
          </a:prstGeom>
          <a:noFill/>
        </p:spPr>
        <p:txBody>
          <a:bodyPr wrap="square" anchor="t" lIns="25400" rIns="25400" tIns="12700" bIns="12700">
            <a:spAutoFit/>
          </a:bodyPr>
          <a:lstStyle/>
          <a:p>
            <a:pPr algn="l">
              <a:lnSpc>
                <a:spcPct val="100000"/>
              </a:lnSpc>
            </a:pPr>
            <a:r>
              <a:rPr sz="1452" b="1">
                <a:solidFill>
                  <a:srgbClr val="1B5C80"/>
                </a:solidFill>
              </a:rPr>
              <a:t>全体スケジュール</a:t>
            </a:r>
          </a:p>
        </p:txBody>
      </p:sp>
      <p:sp>
        <p:nvSpPr>
          <p:cNvPr id="27" name="Chevron 26"/>
          <p:cNvSpPr/>
          <p:nvPr/>
        </p:nvSpPr>
        <p:spPr>
          <a:xfrm>
            <a:off x="740664" y="5248656"/>
            <a:ext cx="1965960" cy="548640"/>
          </a:xfrm>
          <a:prstGeom prst="chevron">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63500"/>
          <a:lstStyle/>
          <a:p>
            <a:pPr algn="ctr"/>
            <a:r>
              <a:rPr sz="1089" b="1">
                <a:solidFill>
                  <a:srgbClr val="232323"/>
                </a:solidFill>
              </a:rPr>
              <a:t>7/9〜13</a:t>
            </a:r>
          </a:p>
          <a:p>
            <a:pPr algn="ctr"/>
            <a:r>
              <a:rPr sz="1089">
                <a:solidFill>
                  <a:srgbClr val="232323"/>
                </a:solidFill>
              </a:rPr>
              <a:t>事前相談会①</a:t>
            </a:r>
          </a:p>
        </p:txBody>
      </p:sp>
      <p:sp>
        <p:nvSpPr>
          <p:cNvPr id="28" name="Chevron 27"/>
          <p:cNvSpPr/>
          <p:nvPr/>
        </p:nvSpPr>
        <p:spPr>
          <a:xfrm>
            <a:off x="2523744" y="5248656"/>
            <a:ext cx="1965960" cy="548640"/>
          </a:xfrm>
          <a:prstGeom prst="chevron">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63500"/>
          <a:lstStyle/>
          <a:p>
            <a:pPr algn="ctr"/>
            <a:r>
              <a:rPr sz="1089" b="1">
                <a:solidFill>
                  <a:srgbClr val="232323"/>
                </a:solidFill>
              </a:rPr>
              <a:t>〜7/17</a:t>
            </a:r>
          </a:p>
          <a:p>
            <a:pPr algn="ctr"/>
            <a:r>
              <a:rPr sz="1089">
                <a:solidFill>
                  <a:srgbClr val="232323"/>
                </a:solidFill>
              </a:rPr>
              <a:t>企画書 提出</a:t>
            </a:r>
          </a:p>
        </p:txBody>
      </p:sp>
      <p:sp>
        <p:nvSpPr>
          <p:cNvPr id="29" name="Chevron 28"/>
          <p:cNvSpPr/>
          <p:nvPr/>
        </p:nvSpPr>
        <p:spPr>
          <a:xfrm>
            <a:off x="4306824" y="5248656"/>
            <a:ext cx="1965960" cy="548640"/>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63500"/>
          <a:lstStyle/>
          <a:p>
            <a:pPr algn="ctr"/>
            <a:r>
              <a:rPr sz="1089" b="1">
                <a:solidFill>
                  <a:srgbClr val="232323"/>
                </a:solidFill>
              </a:rPr>
              <a:t>7/22〜24</a:t>
            </a:r>
          </a:p>
          <a:p>
            <a:pPr algn="ctr"/>
            <a:r>
              <a:rPr sz="1089">
                <a:solidFill>
                  <a:srgbClr val="232323"/>
                </a:solidFill>
              </a:rPr>
              <a:t>事前相談会②（今回）</a:t>
            </a:r>
          </a:p>
        </p:txBody>
      </p:sp>
      <p:sp>
        <p:nvSpPr>
          <p:cNvPr id="30" name="Chevron 29"/>
          <p:cNvSpPr/>
          <p:nvPr/>
        </p:nvSpPr>
        <p:spPr>
          <a:xfrm>
            <a:off x="6089904" y="5248656"/>
            <a:ext cx="1965960" cy="548640"/>
          </a:xfrm>
          <a:prstGeom prst="chevron">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63500"/>
          <a:lstStyle/>
          <a:p>
            <a:pPr algn="ctr"/>
            <a:r>
              <a:rPr sz="1089" b="1">
                <a:solidFill>
                  <a:srgbClr val="232323"/>
                </a:solidFill>
              </a:rPr>
              <a:t>8月</a:t>
            </a:r>
          </a:p>
          <a:p>
            <a:pPr algn="ctr"/>
            <a:r>
              <a:rPr sz="1089">
                <a:solidFill>
                  <a:srgbClr val="232323"/>
                </a:solidFill>
              </a:rPr>
              <a:t>構築・デモ作成</a:t>
            </a:r>
          </a:p>
        </p:txBody>
      </p:sp>
      <p:sp>
        <p:nvSpPr>
          <p:cNvPr id="31" name="Chevron 30"/>
          <p:cNvSpPr/>
          <p:nvPr/>
        </p:nvSpPr>
        <p:spPr>
          <a:xfrm>
            <a:off x="7872984" y="5248656"/>
            <a:ext cx="1965960" cy="548640"/>
          </a:xfrm>
          <a:prstGeom prst="chevron">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63500"/>
          <a:lstStyle/>
          <a:p>
            <a:pPr algn="ctr"/>
            <a:r>
              <a:rPr sz="1089" b="1">
                <a:solidFill>
                  <a:srgbClr val="232323"/>
                </a:solidFill>
              </a:rPr>
              <a:t>9月</a:t>
            </a:r>
          </a:p>
          <a:p>
            <a:pPr algn="ctr"/>
            <a:r>
              <a:rPr sz="1089">
                <a:solidFill>
                  <a:srgbClr val="232323"/>
                </a:solidFill>
              </a:rPr>
              <a:t>発表準備・運用整理</a:t>
            </a:r>
          </a:p>
        </p:txBody>
      </p:sp>
      <p:sp>
        <p:nvSpPr>
          <p:cNvPr id="32" name="Chevron 31"/>
          <p:cNvSpPr/>
          <p:nvPr/>
        </p:nvSpPr>
        <p:spPr>
          <a:xfrm>
            <a:off x="9656064" y="5248656"/>
            <a:ext cx="1965960" cy="548640"/>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63500"/>
          <a:lstStyle/>
          <a:p>
            <a:pPr algn="ctr"/>
            <a:r>
              <a:rPr sz="1089" b="1">
                <a:solidFill>
                  <a:srgbClr val="FFFFFF"/>
                </a:solidFill>
              </a:rPr>
              <a:t>10月初旬</a:t>
            </a:r>
          </a:p>
          <a:p>
            <a:pPr algn="ctr"/>
            <a:r>
              <a:rPr sz="1089">
                <a:solidFill>
                  <a:srgbClr val="FFFFFF"/>
                </a:solidFill>
              </a:rPr>
              <a:t>最終発表</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40664" y="2331720"/>
            <a:ext cx="1828800" cy="914400"/>
          </a:xfrm>
          <a:prstGeom prst="rect">
            <a:avLst/>
          </a:prstGeom>
          <a:noFill/>
        </p:spPr>
        <p:txBody>
          <a:bodyPr wrap="square" anchor="t" lIns="25400" rIns="25400" tIns="12700" bIns="12700">
            <a:spAutoFit/>
          </a:bodyPr>
          <a:lstStyle/>
          <a:p>
            <a:pPr algn="l">
              <a:lnSpc>
                <a:spcPct val="100000"/>
              </a:lnSpc>
            </a:pPr>
            <a:r>
              <a:rPr sz="5400" b="1">
                <a:solidFill>
                  <a:srgbClr val="A6E2F3"/>
                </a:solidFill>
              </a:rPr>
              <a:t>01</a:t>
            </a:r>
          </a:p>
        </p:txBody>
      </p:sp>
      <p:sp>
        <p:nvSpPr>
          <p:cNvPr id="3" name="TextBox 2"/>
          <p:cNvSpPr txBox="1"/>
          <p:nvPr/>
        </p:nvSpPr>
        <p:spPr>
          <a:xfrm>
            <a:off x="740664" y="3200400"/>
            <a:ext cx="10716768" cy="731520"/>
          </a:xfrm>
          <a:prstGeom prst="rect">
            <a:avLst/>
          </a:prstGeom>
          <a:noFill/>
        </p:spPr>
        <p:txBody>
          <a:bodyPr wrap="square" anchor="t" lIns="25400" rIns="25400" tIns="12700" bIns="12700">
            <a:spAutoFit/>
          </a:bodyPr>
          <a:lstStyle/>
          <a:p>
            <a:pPr algn="l">
              <a:lnSpc>
                <a:spcPct val="100000"/>
              </a:lnSpc>
            </a:pPr>
            <a:r>
              <a:rPr sz="3200" b="1">
                <a:solidFill>
                  <a:srgbClr val="1B5C80"/>
                </a:solidFill>
              </a:rPr>
              <a:t>全体の状況と課題</a:t>
            </a:r>
          </a:p>
        </p:txBody>
      </p:sp>
      <p:sp>
        <p:nvSpPr>
          <p:cNvPr id="4" name="Rectangle 3"/>
          <p:cNvSpPr/>
          <p:nvPr/>
        </p:nvSpPr>
        <p:spPr>
          <a:xfrm>
            <a:off x="740664" y="4069080"/>
            <a:ext cx="1463040" cy="4572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各チームの状況一覧</a:t>
            </a:r>
          </a:p>
        </p:txBody>
      </p:sp>
      <p:sp>
        <p:nvSpPr>
          <p:cNvPr id="3" name="Text Placeholder 2"/>
          <p:cNvSpPr>
            <a:spLocks noGrp="1"/>
          </p:cNvSpPr>
          <p:nvPr>
            <p:ph type="body" idx="2" sz="half"/>
          </p:nvPr>
        </p:nvSpPr>
        <p:spPr/>
        <p:txBody>
          <a:bodyPr wrap="square"/>
          <a:lstStyle/>
          <a:p>
            <a:r>
              <a:rPr sz="1270">
                <a:solidFill>
                  <a:srgbClr val="6E767C"/>
                </a:solidFill>
              </a:rPr>
              <a:t>全11チームが1案に確定／第2回 実施済み＝チーム1・2・3・4・5・10・11</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5</a:t>
            </a:r>
          </a:p>
        </p:txBody>
      </p:sp>
      <p:sp>
        <p:nvSpPr>
          <p:cNvPr id="5" name="TextBox 4"/>
          <p:cNvSpPr txBox="1"/>
          <p:nvPr/>
        </p:nvSpPr>
        <p:spPr>
          <a:xfrm>
            <a:off x="740664" y="1261872"/>
            <a:ext cx="10716768" cy="457200"/>
          </a:xfrm>
          <a:prstGeom prst="rect">
            <a:avLst/>
          </a:prstGeom>
          <a:noFill/>
        </p:spPr>
        <p:txBody>
          <a:bodyPr wrap="square" anchor="t" lIns="25400" rIns="25400" tIns="12700" bIns="12700">
            <a:spAutoFit/>
          </a:bodyPr>
          <a:lstStyle/>
          <a:p>
            <a:pPr algn="l">
              <a:lnSpc>
                <a:spcPct val="125000"/>
              </a:lnSpc>
            </a:pPr>
            <a:r>
              <a:rPr sz="1089" b="0">
                <a:solidFill>
                  <a:srgbClr val="232323"/>
                </a:solidFill>
              </a:rPr>
              <a:t>進捗の段階 ▶ ①案の絞り込み中　②2案から選定中　③1案確定（内容の詰めは途上）　④設計まで具体化　⑤効果試算まで完了</a:t>
            </a:r>
          </a:p>
          <a:p>
            <a:pPr algn="l">
              <a:lnSpc>
                <a:spcPct val="125000"/>
              </a:lnSpc>
            </a:pPr>
            <a:r>
              <a:rPr sz="1089" b="0">
                <a:solidFill>
                  <a:srgbClr val="232323"/>
                </a:solidFill>
              </a:rPr>
              <a:t>10月発表の見込み（基準＝発表に向けた道筋の明確さ）▶ ◎ 道筋が明確で自走できる　○ Copilotとの相談や範囲の絞り込みで間に合う　△ 要フォロー（作るものが未確定・再設計中）</a:t>
            </a:r>
          </a:p>
        </p:txBody>
      </p:sp>
      <p:graphicFrame>
        <p:nvGraphicFramePr>
          <p:cNvPr id="6" name="Table 5"/>
          <p:cNvGraphicFramePr>
            <a:graphicFrameLocks noGrp="1"/>
          </p:cNvGraphicFramePr>
          <p:nvPr/>
        </p:nvGraphicFramePr>
        <p:xfrm>
          <a:off x="740664" y="1773936"/>
          <a:ext cx="10716768" cy="4551881"/>
        </p:xfrm>
        <a:graphic>
          <a:graphicData uri="http://schemas.openxmlformats.org/drawingml/2006/table">
            <a:tbl>
              <a:tblPr>
                <a:tableStyleId>{5C22544A-7EE6-4342-B048-85BDC9FD1C3A}</a:tableStyleId>
              </a:tblPr>
              <a:tblGrid>
                <a:gridCol w="868680"/>
                <a:gridCol w="2240280"/>
                <a:gridCol w="2697480"/>
                <a:gridCol w="2990088"/>
                <a:gridCol w="777240"/>
                <a:gridCol w="1143000"/>
              </a:tblGrid>
              <a:tr h="347472">
                <a:tc>
                  <a:txBody>
                    <a:bodyPr wrap="square"/>
                    <a:lstStyle/>
                    <a:p>
                      <a:pPr algn="ctr">
                        <a:lnSpc>
                          <a:spcPct val="96000"/>
                        </a:lnSpc>
                      </a:pPr>
                      <a:r>
                        <a:rPr sz="1270" b="1">
                          <a:solidFill>
                            <a:srgbClr val="FFFFFF"/>
                          </a:solidFill>
                        </a:rPr>
                        <a:t>チーム</a:t>
                      </a:r>
                    </a:p>
                  </a:txBody>
                  <a:tcPr marL="50800" marR="50800" marT="12700" marB="12700" anchor="ctr">
                    <a:solidFill>
                      <a:srgbClr val="1B5C80"/>
                    </a:solidFill>
                  </a:tcPr>
                </a:tc>
                <a:tc>
                  <a:txBody>
                    <a:bodyPr wrap="square"/>
                    <a:lstStyle/>
                    <a:p>
                      <a:pPr algn="ctr">
                        <a:lnSpc>
                          <a:spcPct val="96000"/>
                        </a:lnSpc>
                      </a:pPr>
                      <a:r>
                        <a:rPr sz="1270" b="1">
                          <a:solidFill>
                            <a:srgbClr val="FFFFFF"/>
                          </a:solidFill>
                        </a:rPr>
                        <a:t>進捗の段階</a:t>
                      </a:r>
                    </a:p>
                  </a:txBody>
                  <a:tcPr marL="50800" marR="50800" marT="12700" marB="12700" anchor="ctr">
                    <a:solidFill>
                      <a:srgbClr val="1B5C80"/>
                    </a:solidFill>
                  </a:tcPr>
                </a:tc>
                <a:tc>
                  <a:txBody>
                    <a:bodyPr wrap="square"/>
                    <a:lstStyle/>
                    <a:p>
                      <a:pPr algn="ctr">
                        <a:lnSpc>
                          <a:spcPct val="96000"/>
                        </a:lnSpc>
                      </a:pPr>
                      <a:r>
                        <a:rPr sz="1270" b="1">
                          <a:solidFill>
                            <a:srgbClr val="FFFFFF"/>
                          </a:solidFill>
                        </a:rPr>
                        <a:t>取り組み内容</a:t>
                      </a:r>
                    </a:p>
                  </a:txBody>
                  <a:tcPr marL="50800" marR="50800" marT="12700" marB="12700" anchor="ctr">
                    <a:solidFill>
                      <a:srgbClr val="1B5C80"/>
                    </a:solidFill>
                  </a:tcPr>
                </a:tc>
                <a:tc>
                  <a:txBody>
                    <a:bodyPr wrap="square"/>
                    <a:lstStyle/>
                    <a:p>
                      <a:pPr algn="ctr">
                        <a:lnSpc>
                          <a:spcPct val="96000"/>
                        </a:lnSpc>
                      </a:pPr>
                      <a:r>
                        <a:rPr sz="1270" b="1">
                          <a:solidFill>
                            <a:srgbClr val="FFFFFF"/>
                          </a:solidFill>
                        </a:rPr>
                        <a:t>第2回の主な論点・相談</a:t>
                      </a:r>
                    </a:p>
                  </a:txBody>
                  <a:tcPr marL="50800" marR="50800" marT="12700" marB="12700" anchor="ctr">
                    <a:solidFill>
                      <a:srgbClr val="1B5C80"/>
                    </a:solidFill>
                  </a:tcPr>
                </a:tc>
                <a:tc>
                  <a:txBody>
                    <a:bodyPr wrap="square"/>
                    <a:lstStyle/>
                    <a:p>
                      <a:pPr algn="ctr">
                        <a:lnSpc>
                          <a:spcPct val="96000"/>
                        </a:lnSpc>
                      </a:pPr>
                      <a:r>
                        <a:rPr sz="1270" b="1">
                          <a:solidFill>
                            <a:srgbClr val="FFFFFF"/>
                          </a:solidFill>
                        </a:rPr>
                        <a:t>難易度</a:t>
                      </a:r>
                    </a:p>
                  </a:txBody>
                  <a:tcPr marL="50800" marR="50800" marT="12700" marB="12700" anchor="ctr">
                    <a:solidFill>
                      <a:srgbClr val="1B5C80"/>
                    </a:solidFill>
                  </a:tcPr>
                </a:tc>
                <a:tc>
                  <a:txBody>
                    <a:bodyPr wrap="square"/>
                    <a:lstStyle/>
                    <a:p>
                      <a:pPr algn="ctr">
                        <a:lnSpc>
                          <a:spcPct val="96000"/>
                        </a:lnSpc>
                      </a:pPr>
                      <a:r>
                        <a:rPr sz="1270" b="1">
                          <a:solidFill>
                            <a:srgbClr val="FFFFFF"/>
                          </a:solidFill>
                        </a:rPr>
                        <a:t>10月見込み</a:t>
                      </a:r>
                    </a:p>
                  </a:txBody>
                  <a:tcPr marL="50800" marR="50800" marT="12700" marB="12700" anchor="ctr">
                    <a:solidFill>
                      <a:srgbClr val="1B5C80"/>
                    </a:solidFill>
                  </a:tcPr>
                </a:tc>
              </a:tr>
              <a:tr h="382219">
                <a:tc>
                  <a:txBody>
                    <a:bodyPr wrap="square"/>
                    <a:lstStyle/>
                    <a:p>
                      <a:pPr algn="ctr">
                        <a:lnSpc>
                          <a:spcPct val="96000"/>
                        </a:lnSpc>
                      </a:pPr>
                      <a:r>
                        <a:rPr sz="1270" b="1">
                          <a:solidFill>
                            <a:srgbClr val="1B5C80"/>
                          </a:solidFill>
                        </a:rPr>
                        <a:t>チーム1</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c>
                  <a:txBody>
                    <a:bodyPr wrap="square"/>
                    <a:lstStyle/>
                    <a:p>
                      <a:pPr algn="l">
                        <a:lnSpc>
                          <a:spcPct val="96000"/>
                        </a:lnSpc>
                      </a:pPr>
                      <a:r>
                        <a:rPr sz="1089" b="1">
                          <a:solidFill>
                            <a:srgbClr val="232323"/>
                          </a:solidFill>
                        </a:rPr>
                        <a:t>加盟店提出様式の自動チェック</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構築の優先順位・開発手順の型／スケジュールの提示要望</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 概ね順調</a:t>
                      </a:r>
                    </a:p>
                  </a:txBody>
                  <a:tcPr marL="50800" marR="50800" marT="12700" marB="12700" anchor="ctr">
                    <a:solidFill>
                      <a:srgbClr val="DBF1F7"/>
                    </a:solidFill>
                  </a:tcPr>
                </a:tc>
              </a:tr>
              <a:tr h="382219">
                <a:tc>
                  <a:txBody>
                    <a:bodyPr wrap="square"/>
                    <a:lstStyle/>
                    <a:p>
                      <a:pPr algn="ctr">
                        <a:lnSpc>
                          <a:spcPct val="96000"/>
                        </a:lnSpc>
                      </a:pPr>
                      <a:r>
                        <a:rPr sz="1270" b="1">
                          <a:solidFill>
                            <a:srgbClr val="1B5C80"/>
                          </a:solidFill>
                        </a:rPr>
                        <a:t>チーム2</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
                      </a:r>
                    </a:p>
                  </a:txBody>
                  <a:tcPr marL="50800" marR="50800" marT="12700" marB="12700" anchor="ctr">
                    <a:solidFill>
                      <a:srgbClr val="F8FDFA"/>
                    </a:solidFill>
                  </a:tcPr>
                </a:tc>
                <a:tc>
                  <a:txBody>
                    <a:bodyPr wrap="square"/>
                    <a:lstStyle/>
                    <a:p>
                      <a:pPr algn="l">
                        <a:lnSpc>
                          <a:spcPct val="96000"/>
                        </a:lnSpc>
                      </a:pPr>
                      <a:r>
                        <a:rPr sz="1089" b="1">
                          <a:solidFill>
                            <a:srgbClr val="232323"/>
                          </a:solidFill>
                        </a:rPr>
                        <a:t>受付Cエラーの原因案内</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設計相談に使うプロンプト（指示文）の見本が欲しい</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 概ね順調</a:t>
                      </a:r>
                    </a:p>
                  </a:txBody>
                  <a:tcPr marL="50800" marR="50800" marT="12700" marB="12700" anchor="ctr">
                    <a:solidFill>
                      <a:srgbClr val="DBF1F7"/>
                    </a:solidFill>
                  </a:tcPr>
                </a:tc>
              </a:tr>
              <a:tr h="382219">
                <a:tc>
                  <a:txBody>
                    <a:bodyPr wrap="square"/>
                    <a:lstStyle/>
                    <a:p>
                      <a:pPr algn="ctr">
                        <a:lnSpc>
                          <a:spcPct val="96000"/>
                        </a:lnSpc>
                      </a:pPr>
                      <a:r>
                        <a:rPr sz="1270" b="1">
                          <a:solidFill>
                            <a:srgbClr val="1B5C80"/>
                          </a:solidFill>
                        </a:rPr>
                        <a:t>チーム3</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c>
                  <a:txBody>
                    <a:bodyPr wrap="square"/>
                    <a:lstStyle/>
                    <a:p>
                      <a:pPr algn="l">
                        <a:lnSpc>
                          <a:spcPct val="96000"/>
                        </a:lnSpc>
                      </a:pPr>
                      <a:r>
                        <a:rPr sz="1089" b="1">
                          <a:solidFill>
                            <a:srgbClr val="232323"/>
                          </a:solidFill>
                        </a:rPr>
                        <a:t>加盟店防衛マネジメント支援</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外部情報の参照が禁止となるリスクと代替策</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高</a:t>
                      </a:r>
                    </a:p>
                  </a:txBody>
                  <a:tcPr marL="50800" marR="50800" marT="12700" marB="12700" anchor="ctr">
                    <a:solidFill>
                      <a:srgbClr val="FAE5E3"/>
                    </a:solidFill>
                  </a:tcPr>
                </a:tc>
                <a:tc>
                  <a:txBody>
                    <a:bodyPr wrap="square"/>
                    <a:lstStyle/>
                    <a:p>
                      <a:pPr algn="ctr">
                        <a:lnSpc>
                          <a:spcPct val="96000"/>
                        </a:lnSpc>
                      </a:pPr>
                      <a:r>
                        <a:rPr sz="1089" b="1">
                          <a:solidFill>
                            <a:srgbClr val="232323"/>
                          </a:solidFill>
                        </a:rPr>
                        <a:t>○ 概ね順調</a:t>
                      </a:r>
                    </a:p>
                  </a:txBody>
                  <a:tcPr marL="50800" marR="50800" marT="12700" marB="12700" anchor="ctr">
                    <a:solidFill>
                      <a:srgbClr val="DBF1F7"/>
                    </a:solidFill>
                  </a:tcPr>
                </a:tc>
              </a:tr>
              <a:tr h="382219">
                <a:tc>
                  <a:txBody>
                    <a:bodyPr wrap="square"/>
                    <a:lstStyle/>
                    <a:p>
                      <a:pPr algn="ctr">
                        <a:lnSpc>
                          <a:spcPct val="96000"/>
                        </a:lnSpc>
                      </a:pPr>
                      <a:r>
                        <a:rPr sz="1270" b="1">
                          <a:solidFill>
                            <a:srgbClr val="1B5C80"/>
                          </a:solidFill>
                        </a:rPr>
                        <a:t>チーム4</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
                      </a:r>
                    </a:p>
                  </a:txBody>
                  <a:tcPr marL="50800" marR="50800" marT="12700" marB="12700" anchor="ctr">
                    <a:solidFill>
                      <a:srgbClr val="F8FDFA"/>
                    </a:solidFill>
                  </a:tcPr>
                </a:tc>
                <a:tc>
                  <a:txBody>
                    <a:bodyPr wrap="square"/>
                    <a:lstStyle/>
                    <a:p>
                      <a:pPr algn="l">
                        <a:lnSpc>
                          <a:spcPct val="96000"/>
                        </a:lnSpc>
                      </a:pPr>
                      <a:r>
                        <a:rPr sz="1089" b="1">
                          <a:solidFill>
                            <a:srgbClr val="232323"/>
                          </a:solidFill>
                        </a:rPr>
                        <a:t>市場・企業分析</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外部Web参照の禁止により、現在の案がガイドラインに抵触</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高</a:t>
                      </a:r>
                    </a:p>
                  </a:txBody>
                  <a:tcPr marL="50800" marR="50800" marT="12700" marB="12700" anchor="ctr">
                    <a:solidFill>
                      <a:srgbClr val="FAE5E3"/>
                    </a:solidFill>
                  </a:tcPr>
                </a:tc>
                <a:tc>
                  <a:txBody>
                    <a:bodyPr wrap="square"/>
                    <a:lstStyle/>
                    <a:p>
                      <a:pPr algn="ctr">
                        <a:lnSpc>
                          <a:spcPct val="96000"/>
                        </a:lnSpc>
                      </a:pPr>
                      <a:r>
                        <a:rPr sz="1089" b="1">
                          <a:solidFill>
                            <a:srgbClr val="232323"/>
                          </a:solidFill>
                        </a:rPr>
                        <a:t>△ 要フォロー</a:t>
                      </a:r>
                    </a:p>
                  </a:txBody>
                  <a:tcPr marL="50800" marR="50800" marT="12700" marB="12700" anchor="ctr">
                    <a:solidFill>
                      <a:srgbClr val="FAE5E3"/>
                    </a:solidFill>
                  </a:tcPr>
                </a:tc>
              </a:tr>
              <a:tr h="382219">
                <a:tc>
                  <a:txBody>
                    <a:bodyPr wrap="square"/>
                    <a:lstStyle/>
                    <a:p>
                      <a:pPr algn="ctr">
                        <a:lnSpc>
                          <a:spcPct val="96000"/>
                        </a:lnSpc>
                      </a:pPr>
                      <a:r>
                        <a:rPr sz="1270" b="1">
                          <a:solidFill>
                            <a:srgbClr val="1B5C80"/>
                          </a:solidFill>
                        </a:rPr>
                        <a:t>チーム5</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c>
                  <a:txBody>
                    <a:bodyPr wrap="square"/>
                    <a:lstStyle/>
                    <a:p>
                      <a:pPr algn="l">
                        <a:lnSpc>
                          <a:spcPct val="96000"/>
                        </a:lnSpc>
                      </a:pPr>
                      <a:r>
                        <a:rPr sz="1089" b="1">
                          <a:solidFill>
                            <a:srgbClr val="232323"/>
                          </a:solidFill>
                        </a:rPr>
                        <a:t>依頼事項の自動リマインド</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管理表の項目立ての進め方／サービス更新に伴う保守</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 順調</a:t>
                      </a:r>
                    </a:p>
                  </a:txBody>
                  <a:tcPr marL="50800" marR="50800" marT="12700" marB="12700" anchor="ctr">
                    <a:solidFill>
                      <a:srgbClr val="A6E2F3"/>
                    </a:solidFill>
                  </a:tcPr>
                </a:tc>
              </a:tr>
              <a:tr h="382219">
                <a:tc>
                  <a:txBody>
                    <a:bodyPr wrap="square"/>
                    <a:lstStyle/>
                    <a:p>
                      <a:pPr algn="ctr">
                        <a:lnSpc>
                          <a:spcPct val="96000"/>
                        </a:lnSpc>
                      </a:pPr>
                      <a:r>
                        <a:rPr sz="1270" b="1">
                          <a:solidFill>
                            <a:srgbClr val="1B5C80"/>
                          </a:solidFill>
                        </a:rPr>
                        <a:t>チーム6</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
                      </a:r>
                    </a:p>
                  </a:txBody>
                  <a:tcPr marL="50800" marR="50800" marT="12700" marB="12700" anchor="ctr">
                    <a:solidFill>
                      <a:srgbClr val="F8FDFA"/>
                    </a:solidFill>
                  </a:tcPr>
                </a:tc>
                <a:tc>
                  <a:txBody>
                    <a:bodyPr wrap="square"/>
                    <a:lstStyle/>
                    <a:p>
                      <a:pPr algn="l">
                        <a:lnSpc>
                          <a:spcPct val="96000"/>
                        </a:lnSpc>
                      </a:pPr>
                      <a:r>
                        <a:rPr sz="1089" b="1">
                          <a:solidFill>
                            <a:srgbClr val="232323"/>
                          </a:solidFill>
                        </a:rPr>
                        <a:t>会議資料作成と会議招集の自動化</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（第2回未実施）Power AutomateとCopilot Studioの役割分担</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中〜高</a:t>
                      </a:r>
                    </a:p>
                  </a:txBody>
                  <a:tcPr marL="50800" marR="50800" marT="12700" marB="12700" anchor="ctr">
                    <a:solidFill>
                      <a:srgbClr val="E7E8F8"/>
                    </a:solidFill>
                  </a:tcPr>
                </a:tc>
                <a:tc>
                  <a:txBody>
                    <a:bodyPr wrap="square"/>
                    <a:lstStyle/>
                    <a:p>
                      <a:pPr algn="ctr">
                        <a:lnSpc>
                          <a:spcPct val="96000"/>
                        </a:lnSpc>
                      </a:pPr>
                      <a:r>
                        <a:rPr sz="1089" b="1">
                          <a:solidFill>
                            <a:srgbClr val="232323"/>
                          </a:solidFill>
                        </a:rPr>
                        <a:t>○ 概ね順調</a:t>
                      </a:r>
                    </a:p>
                  </a:txBody>
                  <a:tcPr marL="50800" marR="50800" marT="12700" marB="12700" anchor="ctr">
                    <a:solidFill>
                      <a:srgbClr val="DBF1F7"/>
                    </a:solidFill>
                  </a:tcPr>
                </a:tc>
              </a:tr>
              <a:tr h="382219">
                <a:tc>
                  <a:txBody>
                    <a:bodyPr wrap="square"/>
                    <a:lstStyle/>
                    <a:p>
                      <a:pPr algn="ctr">
                        <a:lnSpc>
                          <a:spcPct val="96000"/>
                        </a:lnSpc>
                      </a:pPr>
                      <a:r>
                        <a:rPr sz="1270" b="1">
                          <a:solidFill>
                            <a:srgbClr val="1B5C80"/>
                          </a:solidFill>
                        </a:rPr>
                        <a:t>チーム7</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c>
                  <a:txBody>
                    <a:bodyPr wrap="square"/>
                    <a:lstStyle/>
                    <a:p>
                      <a:pPr algn="l">
                        <a:lnSpc>
                          <a:spcPct val="96000"/>
                        </a:lnSpc>
                      </a:pPr>
                      <a:r>
                        <a:rPr sz="1089" b="1">
                          <a:solidFill>
                            <a:srgbClr val="232323"/>
                          </a:solidFill>
                        </a:rPr>
                        <a:t>加盟店課金精算のチェック</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（第2回未実施）判断基準と毎月の入力ファイルを分ける構成</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 順調</a:t>
                      </a:r>
                    </a:p>
                  </a:txBody>
                  <a:tcPr marL="50800" marR="50800" marT="12700" marB="12700" anchor="ctr">
                    <a:solidFill>
                      <a:srgbClr val="A6E2F3"/>
                    </a:solidFill>
                  </a:tcPr>
                </a:tc>
              </a:tr>
              <a:tr h="382219">
                <a:tc>
                  <a:txBody>
                    <a:bodyPr wrap="square"/>
                    <a:lstStyle/>
                    <a:p>
                      <a:pPr algn="ctr">
                        <a:lnSpc>
                          <a:spcPct val="96000"/>
                        </a:lnSpc>
                      </a:pPr>
                      <a:r>
                        <a:rPr sz="1270" b="1">
                          <a:solidFill>
                            <a:srgbClr val="1B5C80"/>
                          </a:solidFill>
                        </a:rPr>
                        <a:t>チーム8</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
                      </a:r>
                    </a:p>
                  </a:txBody>
                  <a:tcPr marL="50800" marR="50800" marT="12700" marB="12700" anchor="ctr">
                    <a:solidFill>
                      <a:srgbClr val="F8FDFA"/>
                    </a:solidFill>
                  </a:tcPr>
                </a:tc>
                <a:tc>
                  <a:txBody>
                    <a:bodyPr wrap="square"/>
                    <a:lstStyle/>
                    <a:p>
                      <a:pPr algn="l">
                        <a:lnSpc>
                          <a:spcPct val="96000"/>
                        </a:lnSpc>
                      </a:pPr>
                      <a:r>
                        <a:rPr sz="1089" b="1">
                          <a:solidFill>
                            <a:srgbClr val="232323"/>
                          </a:solidFill>
                        </a:rPr>
                        <a:t>会議調整・タスク整理の支援</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（第2回未実施）発表する1案以外を並行して進めてよいか</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 概ね順調</a:t>
                      </a:r>
                    </a:p>
                  </a:txBody>
                  <a:tcPr marL="50800" marR="50800" marT="12700" marB="12700" anchor="ctr">
                    <a:solidFill>
                      <a:srgbClr val="DBF1F7"/>
                    </a:solidFill>
                  </a:tcPr>
                </a:tc>
              </a:tr>
              <a:tr h="382219">
                <a:tc>
                  <a:txBody>
                    <a:bodyPr wrap="square"/>
                    <a:lstStyle/>
                    <a:p>
                      <a:pPr algn="ctr">
                        <a:lnSpc>
                          <a:spcPct val="96000"/>
                        </a:lnSpc>
                      </a:pPr>
                      <a:r>
                        <a:rPr sz="1270" b="1">
                          <a:solidFill>
                            <a:srgbClr val="1B5C80"/>
                          </a:solidFill>
                        </a:rPr>
                        <a:t>チーム9</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c>
                  <a:txBody>
                    <a:bodyPr wrap="square"/>
                    <a:lstStyle/>
                    <a:p>
                      <a:pPr algn="l">
                        <a:lnSpc>
                          <a:spcPct val="96000"/>
                        </a:lnSpc>
                      </a:pPr>
                      <a:r>
                        <a:rPr sz="1089" b="1">
                          <a:solidFill>
                            <a:srgbClr val="232323"/>
                          </a:solidFill>
                        </a:rPr>
                        <a:t>レビュー進捗の管理</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（第2回未実施）社外秘資料・外部システム連携・メール送付の可否</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中〜高</a:t>
                      </a:r>
                    </a:p>
                  </a:txBody>
                  <a:tcPr marL="50800" marR="50800" marT="12700" marB="12700" anchor="ctr">
                    <a:solidFill>
                      <a:srgbClr val="E7E8F8"/>
                    </a:solidFill>
                  </a:tcPr>
                </a:tc>
                <a:tc>
                  <a:txBody>
                    <a:bodyPr wrap="square"/>
                    <a:lstStyle/>
                    <a:p>
                      <a:pPr algn="ctr">
                        <a:lnSpc>
                          <a:spcPct val="96000"/>
                        </a:lnSpc>
                      </a:pPr>
                      <a:r>
                        <a:rPr sz="1089" b="1">
                          <a:solidFill>
                            <a:srgbClr val="232323"/>
                          </a:solidFill>
                        </a:rPr>
                        <a:t>○ 概ね順調</a:t>
                      </a:r>
                    </a:p>
                  </a:txBody>
                  <a:tcPr marL="50800" marR="50800" marT="12700" marB="12700" anchor="ctr">
                    <a:solidFill>
                      <a:srgbClr val="DBF1F7"/>
                    </a:solidFill>
                  </a:tcPr>
                </a:tc>
              </a:tr>
              <a:tr h="382219">
                <a:tc>
                  <a:txBody>
                    <a:bodyPr wrap="square"/>
                    <a:lstStyle/>
                    <a:p>
                      <a:pPr algn="ctr">
                        <a:lnSpc>
                          <a:spcPct val="96000"/>
                        </a:lnSpc>
                      </a:pPr>
                      <a:r>
                        <a:rPr sz="1270" b="1">
                          <a:solidFill>
                            <a:srgbClr val="1B5C80"/>
                          </a:solidFill>
                        </a:rPr>
                        <a:t>チーム10</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
                      </a:r>
                    </a:p>
                  </a:txBody>
                  <a:tcPr marL="50800" marR="50800" marT="12700" marB="12700" anchor="ctr">
                    <a:solidFill>
                      <a:srgbClr val="F8FDFA"/>
                    </a:solidFill>
                  </a:tcPr>
                </a:tc>
                <a:tc>
                  <a:txBody>
                    <a:bodyPr wrap="square"/>
                    <a:lstStyle/>
                    <a:p>
                      <a:pPr algn="l">
                        <a:lnSpc>
                          <a:spcPct val="96000"/>
                        </a:lnSpc>
                      </a:pPr>
                      <a:r>
                        <a:rPr sz="1089" b="1">
                          <a:solidFill>
                            <a:srgbClr val="232323"/>
                          </a:solidFill>
                        </a:rPr>
                        <a:t>対面会議の議事録ドラフト生成</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Copilotの回答をそのまま信じてよいか／今後の定例の進め方</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089" b="1">
                          <a:solidFill>
                            <a:srgbClr val="232323"/>
                          </a:solidFill>
                        </a:rPr>
                        <a:t>○ 概ね順調</a:t>
                      </a:r>
                    </a:p>
                  </a:txBody>
                  <a:tcPr marL="50800" marR="50800" marT="12700" marB="12700" anchor="ctr">
                    <a:solidFill>
                      <a:srgbClr val="DBF1F7"/>
                    </a:solidFill>
                  </a:tcPr>
                </a:tc>
              </a:tr>
              <a:tr h="382219">
                <a:tc>
                  <a:txBody>
                    <a:bodyPr wrap="square"/>
                    <a:lstStyle/>
                    <a:p>
                      <a:pPr algn="ctr">
                        <a:lnSpc>
                          <a:spcPct val="96000"/>
                        </a:lnSpc>
                      </a:pPr>
                      <a:r>
                        <a:rPr sz="1270" b="1">
                          <a:solidFill>
                            <a:srgbClr val="1B5C80"/>
                          </a:solidFill>
                        </a:rPr>
                        <a:t>チーム11</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
                      </a:r>
                    </a:p>
                  </a:txBody>
                  <a:tcPr marL="50800" marR="50800" marT="12700" marB="12700" anchor="ctr">
                    <a:solidFill>
                      <a:srgbClr val="FFFFFF"/>
                    </a:solidFill>
                  </a:tcPr>
                </a:tc>
                <a:tc>
                  <a:txBody>
                    <a:bodyPr wrap="square"/>
                    <a:lstStyle/>
                    <a:p>
                      <a:pPr algn="l">
                        <a:lnSpc>
                          <a:spcPct val="96000"/>
                        </a:lnSpc>
                      </a:pPr>
                      <a:r>
                        <a:rPr sz="1089" b="1">
                          <a:solidFill>
                            <a:srgbClr val="232323"/>
                          </a:solidFill>
                        </a:rPr>
                        <a:t>社内LAN問い合わせチャットボット</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本番環境への移行、手順書・利用ルールの完成時期</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中〜高</a:t>
                      </a:r>
                    </a:p>
                  </a:txBody>
                  <a:tcPr marL="50800" marR="50800" marT="12700" marB="12700" anchor="ctr">
                    <a:solidFill>
                      <a:srgbClr val="E7E8F8"/>
                    </a:solidFill>
                  </a:tcPr>
                </a:tc>
                <a:tc>
                  <a:txBody>
                    <a:bodyPr wrap="square"/>
                    <a:lstStyle/>
                    <a:p>
                      <a:pPr algn="ctr">
                        <a:lnSpc>
                          <a:spcPct val="96000"/>
                        </a:lnSpc>
                      </a:pPr>
                      <a:r>
                        <a:rPr sz="1089" b="1">
                          <a:solidFill>
                            <a:srgbClr val="232323"/>
                          </a:solidFill>
                        </a:rPr>
                        <a:t>○ 概ね順調</a:t>
                      </a:r>
                    </a:p>
                  </a:txBody>
                  <a:tcPr marL="50800" marR="50800" marT="12700" marB="12700" anchor="ctr">
                    <a:solidFill>
                      <a:srgbClr val="DBF1F7"/>
                    </a:solidFill>
                  </a:tcPr>
                </a:tc>
              </a:tr>
            </a:tbl>
          </a:graphicData>
        </a:graphic>
      </p:graphicFrame>
      <p:sp>
        <p:nvSpPr>
          <p:cNvPr id="7" name="Chevron 6"/>
          <p:cNvSpPr/>
          <p:nvPr/>
        </p:nvSpPr>
        <p:spPr>
          <a:xfrm>
            <a:off x="1700784" y="224165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897380" y="224165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2093976" y="224165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290572" y="2241651"/>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87168" y="2241651"/>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29484" y="2193645"/>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13" name="Chevron 12"/>
          <p:cNvSpPr/>
          <p:nvPr/>
        </p:nvSpPr>
        <p:spPr>
          <a:xfrm>
            <a:off x="1700784" y="2623870"/>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hevron 13"/>
          <p:cNvSpPr/>
          <p:nvPr/>
        </p:nvSpPr>
        <p:spPr>
          <a:xfrm>
            <a:off x="1897380" y="2623870"/>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evron 14"/>
          <p:cNvSpPr/>
          <p:nvPr/>
        </p:nvSpPr>
        <p:spPr>
          <a:xfrm>
            <a:off x="2093976" y="2623870"/>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hevron 15"/>
          <p:cNvSpPr/>
          <p:nvPr/>
        </p:nvSpPr>
        <p:spPr>
          <a:xfrm>
            <a:off x="2290572" y="2623870"/>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evron 16"/>
          <p:cNvSpPr/>
          <p:nvPr/>
        </p:nvSpPr>
        <p:spPr>
          <a:xfrm>
            <a:off x="2487168" y="2623870"/>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29484" y="2575864"/>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19" name="Chevron 18"/>
          <p:cNvSpPr/>
          <p:nvPr/>
        </p:nvSpPr>
        <p:spPr>
          <a:xfrm>
            <a:off x="1700784" y="3006089"/>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hevron 19"/>
          <p:cNvSpPr/>
          <p:nvPr/>
        </p:nvSpPr>
        <p:spPr>
          <a:xfrm>
            <a:off x="1897380" y="3006089"/>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hevron 20"/>
          <p:cNvSpPr/>
          <p:nvPr/>
        </p:nvSpPr>
        <p:spPr>
          <a:xfrm>
            <a:off x="2093976" y="3006089"/>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evron 21"/>
          <p:cNvSpPr/>
          <p:nvPr/>
        </p:nvSpPr>
        <p:spPr>
          <a:xfrm>
            <a:off x="2290572" y="3006089"/>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evron 22"/>
          <p:cNvSpPr/>
          <p:nvPr/>
        </p:nvSpPr>
        <p:spPr>
          <a:xfrm>
            <a:off x="2487168" y="3006089"/>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29484" y="2958083"/>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25" name="Chevron 24"/>
          <p:cNvSpPr/>
          <p:nvPr/>
        </p:nvSpPr>
        <p:spPr>
          <a:xfrm>
            <a:off x="1700784" y="3388308"/>
            <a:ext cx="219456"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hevron 25"/>
          <p:cNvSpPr/>
          <p:nvPr/>
        </p:nvSpPr>
        <p:spPr>
          <a:xfrm>
            <a:off x="1897380" y="3388308"/>
            <a:ext cx="219456"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hevron 26"/>
          <p:cNvSpPr/>
          <p:nvPr/>
        </p:nvSpPr>
        <p:spPr>
          <a:xfrm>
            <a:off x="2093976" y="3388308"/>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evron 27"/>
          <p:cNvSpPr/>
          <p:nvPr/>
        </p:nvSpPr>
        <p:spPr>
          <a:xfrm>
            <a:off x="2290572" y="3388308"/>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hevron 28"/>
          <p:cNvSpPr/>
          <p:nvPr/>
        </p:nvSpPr>
        <p:spPr>
          <a:xfrm>
            <a:off x="2487168" y="3388308"/>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29484" y="3340302"/>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② 2案選定中</a:t>
            </a:r>
          </a:p>
        </p:txBody>
      </p:sp>
      <p:sp>
        <p:nvSpPr>
          <p:cNvPr id="31" name="Chevron 30"/>
          <p:cNvSpPr/>
          <p:nvPr/>
        </p:nvSpPr>
        <p:spPr>
          <a:xfrm>
            <a:off x="1700784"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hevron 31"/>
          <p:cNvSpPr/>
          <p:nvPr/>
        </p:nvSpPr>
        <p:spPr>
          <a:xfrm>
            <a:off x="1897380"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hevron 32"/>
          <p:cNvSpPr/>
          <p:nvPr/>
        </p:nvSpPr>
        <p:spPr>
          <a:xfrm>
            <a:off x="2093976"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hevron 33"/>
          <p:cNvSpPr/>
          <p:nvPr/>
        </p:nvSpPr>
        <p:spPr>
          <a:xfrm>
            <a:off x="2290572"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hevron 34"/>
          <p:cNvSpPr/>
          <p:nvPr/>
        </p:nvSpPr>
        <p:spPr>
          <a:xfrm>
            <a:off x="2487168"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29484" y="3722521"/>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⑤ 効果試算済</a:t>
            </a:r>
          </a:p>
        </p:txBody>
      </p:sp>
      <p:sp>
        <p:nvSpPr>
          <p:cNvPr id="37" name="Chevron 36"/>
          <p:cNvSpPr/>
          <p:nvPr/>
        </p:nvSpPr>
        <p:spPr>
          <a:xfrm>
            <a:off x="1700784" y="4152746"/>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hevron 37"/>
          <p:cNvSpPr/>
          <p:nvPr/>
        </p:nvSpPr>
        <p:spPr>
          <a:xfrm>
            <a:off x="1897380" y="4152746"/>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hevron 38"/>
          <p:cNvSpPr/>
          <p:nvPr/>
        </p:nvSpPr>
        <p:spPr>
          <a:xfrm>
            <a:off x="2093976" y="4152746"/>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hevron 39"/>
          <p:cNvSpPr/>
          <p:nvPr/>
        </p:nvSpPr>
        <p:spPr>
          <a:xfrm>
            <a:off x="2290572" y="4152746"/>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hevron 40"/>
          <p:cNvSpPr/>
          <p:nvPr/>
        </p:nvSpPr>
        <p:spPr>
          <a:xfrm>
            <a:off x="2487168" y="4152746"/>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29484" y="4104740"/>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43" name="Chevron 42"/>
          <p:cNvSpPr/>
          <p:nvPr/>
        </p:nvSpPr>
        <p:spPr>
          <a:xfrm>
            <a:off x="1700784"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hevron 43"/>
          <p:cNvSpPr/>
          <p:nvPr/>
        </p:nvSpPr>
        <p:spPr>
          <a:xfrm>
            <a:off x="1897380"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hevron 44"/>
          <p:cNvSpPr/>
          <p:nvPr/>
        </p:nvSpPr>
        <p:spPr>
          <a:xfrm>
            <a:off x="2093976"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hevron 45"/>
          <p:cNvSpPr/>
          <p:nvPr/>
        </p:nvSpPr>
        <p:spPr>
          <a:xfrm>
            <a:off x="2290572"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hevron 46"/>
          <p:cNvSpPr/>
          <p:nvPr/>
        </p:nvSpPr>
        <p:spPr>
          <a:xfrm>
            <a:off x="2487168"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29484" y="4486959"/>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⑤ 効果試算済</a:t>
            </a:r>
          </a:p>
        </p:txBody>
      </p:sp>
      <p:sp>
        <p:nvSpPr>
          <p:cNvPr id="49" name="Chevron 48"/>
          <p:cNvSpPr/>
          <p:nvPr/>
        </p:nvSpPr>
        <p:spPr>
          <a:xfrm>
            <a:off x="1700784" y="4917184"/>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hevron 49"/>
          <p:cNvSpPr/>
          <p:nvPr/>
        </p:nvSpPr>
        <p:spPr>
          <a:xfrm>
            <a:off x="1897380" y="4917184"/>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hevron 50"/>
          <p:cNvSpPr/>
          <p:nvPr/>
        </p:nvSpPr>
        <p:spPr>
          <a:xfrm>
            <a:off x="2093976" y="4917184"/>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hevron 51"/>
          <p:cNvSpPr/>
          <p:nvPr/>
        </p:nvSpPr>
        <p:spPr>
          <a:xfrm>
            <a:off x="2290572" y="4917184"/>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hevron 52"/>
          <p:cNvSpPr/>
          <p:nvPr/>
        </p:nvSpPr>
        <p:spPr>
          <a:xfrm>
            <a:off x="2487168" y="4917184"/>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29484" y="4869178"/>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④ 設計具体化</a:t>
            </a:r>
          </a:p>
        </p:txBody>
      </p:sp>
      <p:sp>
        <p:nvSpPr>
          <p:cNvPr id="55" name="Chevron 54"/>
          <p:cNvSpPr/>
          <p:nvPr/>
        </p:nvSpPr>
        <p:spPr>
          <a:xfrm>
            <a:off x="1700784" y="5299403"/>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hevron 55"/>
          <p:cNvSpPr/>
          <p:nvPr/>
        </p:nvSpPr>
        <p:spPr>
          <a:xfrm>
            <a:off x="1897380" y="5299403"/>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evron 56"/>
          <p:cNvSpPr/>
          <p:nvPr/>
        </p:nvSpPr>
        <p:spPr>
          <a:xfrm>
            <a:off x="2093976" y="5299403"/>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hevron 57"/>
          <p:cNvSpPr/>
          <p:nvPr/>
        </p:nvSpPr>
        <p:spPr>
          <a:xfrm>
            <a:off x="2290572" y="5299403"/>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hevron 58"/>
          <p:cNvSpPr/>
          <p:nvPr/>
        </p:nvSpPr>
        <p:spPr>
          <a:xfrm>
            <a:off x="2487168" y="5299403"/>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729484" y="5251397"/>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61" name="Chevron 60"/>
          <p:cNvSpPr/>
          <p:nvPr/>
        </p:nvSpPr>
        <p:spPr>
          <a:xfrm>
            <a:off x="1700784" y="5681622"/>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hevron 61"/>
          <p:cNvSpPr/>
          <p:nvPr/>
        </p:nvSpPr>
        <p:spPr>
          <a:xfrm>
            <a:off x="1897380" y="5681622"/>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hevron 62"/>
          <p:cNvSpPr/>
          <p:nvPr/>
        </p:nvSpPr>
        <p:spPr>
          <a:xfrm>
            <a:off x="2093976" y="5681622"/>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hevron 63"/>
          <p:cNvSpPr/>
          <p:nvPr/>
        </p:nvSpPr>
        <p:spPr>
          <a:xfrm>
            <a:off x="2290572" y="5681622"/>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hevron 64"/>
          <p:cNvSpPr/>
          <p:nvPr/>
        </p:nvSpPr>
        <p:spPr>
          <a:xfrm>
            <a:off x="2487168" y="5681622"/>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729484" y="5633616"/>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④ 設計具体化</a:t>
            </a:r>
          </a:p>
        </p:txBody>
      </p:sp>
      <p:sp>
        <p:nvSpPr>
          <p:cNvPr id="67" name="Chevron 66"/>
          <p:cNvSpPr/>
          <p:nvPr/>
        </p:nvSpPr>
        <p:spPr>
          <a:xfrm>
            <a:off x="1700784" y="606384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hevron 67"/>
          <p:cNvSpPr/>
          <p:nvPr/>
        </p:nvSpPr>
        <p:spPr>
          <a:xfrm>
            <a:off x="1897380" y="606384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hevron 68"/>
          <p:cNvSpPr/>
          <p:nvPr/>
        </p:nvSpPr>
        <p:spPr>
          <a:xfrm>
            <a:off x="2093976" y="606384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hevron 69"/>
          <p:cNvSpPr/>
          <p:nvPr/>
        </p:nvSpPr>
        <p:spPr>
          <a:xfrm>
            <a:off x="2290572" y="606384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hevron 70"/>
          <p:cNvSpPr/>
          <p:nvPr/>
        </p:nvSpPr>
        <p:spPr>
          <a:xfrm>
            <a:off x="2487168" y="6063841"/>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729484" y="6015835"/>
            <a:ext cx="1115568" cy="237744"/>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④ 設計具体化</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エグゼクティブサマリ</a:t>
            </a:r>
          </a:p>
        </p:txBody>
      </p:sp>
      <p:sp>
        <p:nvSpPr>
          <p:cNvPr id="3" name="Text Placeholder 2"/>
          <p:cNvSpPr>
            <a:spLocks noGrp="1"/>
          </p:cNvSpPr>
          <p:nvPr>
            <p:ph type="body" idx="2" sz="half"/>
          </p:nvPr>
        </p:nvSpPr>
        <p:spPr/>
        <p:txBody>
          <a:bodyPr wrap="square"/>
          <a:lstStyle/>
          <a:p>
            <a:r>
              <a:rPr sz="1270">
                <a:solidFill>
                  <a:srgbClr val="6E767C"/>
                </a:solidFill>
              </a:rPr>
              <a:t>全体の状況と、事務局への依頼事項</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6</a:t>
            </a:r>
          </a:p>
        </p:txBody>
      </p:sp>
      <p:sp>
        <p:nvSpPr>
          <p:cNvPr id="5" name="Rectangle 4"/>
          <p:cNvSpPr/>
          <p:nvPr/>
        </p:nvSpPr>
        <p:spPr>
          <a:xfrm>
            <a:off x="740664" y="1298448"/>
            <a:ext cx="10716768" cy="713232"/>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4" y="1298448"/>
            <a:ext cx="10168128" cy="713232"/>
          </a:xfrm>
          <a:prstGeom prst="rect">
            <a:avLst/>
          </a:prstGeom>
          <a:noFill/>
        </p:spPr>
        <p:txBody>
          <a:bodyPr wrap="square" anchor="ctr" lIns="25400" rIns="25400" tIns="12700" bIns="12700">
            <a:spAutoFit/>
          </a:bodyPr>
          <a:lstStyle/>
          <a:p>
            <a:pPr algn="l">
              <a:lnSpc>
                <a:spcPct val="100000"/>
              </a:lnSpc>
            </a:pPr>
            <a:r>
              <a:rPr sz="1632" b="1">
                <a:solidFill>
                  <a:srgbClr val="FFFFFF"/>
                </a:solidFill>
              </a:rPr>
              <a:t>全11チームが企画を1案に固め、構築フェーズへ移行。10チームは10月発表に間に合う見込みで、要フォローは1チーム。</a:t>
            </a:r>
          </a:p>
        </p:txBody>
      </p:sp>
      <p:sp>
        <p:nvSpPr>
          <p:cNvPr id="7" name="Rectangle 6"/>
          <p:cNvSpPr/>
          <p:nvPr/>
        </p:nvSpPr>
        <p:spPr>
          <a:xfrm>
            <a:off x="740664" y="2157984"/>
            <a:ext cx="2798064" cy="1828800"/>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0664" y="2157984"/>
            <a:ext cx="2798064" cy="4572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157984"/>
            <a:ext cx="2798064" cy="457200"/>
          </a:xfrm>
          <a:prstGeom prst="rect">
            <a:avLst/>
          </a:prstGeom>
          <a:noFill/>
        </p:spPr>
        <p:txBody>
          <a:bodyPr wrap="square" anchor="ctr" lIns="25400" rIns="25400" tIns="12700" bIns="12700">
            <a:spAutoFit/>
          </a:bodyPr>
          <a:lstStyle/>
          <a:p>
            <a:pPr algn="ctr">
              <a:lnSpc>
                <a:spcPct val="100000"/>
              </a:lnSpc>
            </a:pPr>
            <a:r>
              <a:rPr sz="1452" b="1">
                <a:solidFill>
                  <a:srgbClr val="FFFFFF"/>
                </a:solidFill>
              </a:rPr>
              <a:t>◎ 先行</a:t>
            </a:r>
          </a:p>
        </p:txBody>
      </p:sp>
      <p:sp>
        <p:nvSpPr>
          <p:cNvPr id="10" name="TextBox 9"/>
          <p:cNvSpPr txBox="1"/>
          <p:nvPr/>
        </p:nvSpPr>
        <p:spPr>
          <a:xfrm>
            <a:off x="740664" y="2670048"/>
            <a:ext cx="2798064" cy="475488"/>
          </a:xfrm>
          <a:prstGeom prst="rect">
            <a:avLst/>
          </a:prstGeom>
          <a:noFill/>
        </p:spPr>
        <p:txBody>
          <a:bodyPr wrap="square" anchor="t" lIns="25400" rIns="25400" tIns="12700" bIns="12700">
            <a:spAutoFit/>
          </a:bodyPr>
          <a:lstStyle/>
          <a:p>
            <a:pPr algn="ctr">
              <a:lnSpc>
                <a:spcPct val="100000"/>
              </a:lnSpc>
            </a:pPr>
            <a:r>
              <a:rPr sz="2600" b="1">
                <a:solidFill>
                  <a:srgbClr val="1B5C80"/>
                </a:solidFill>
              </a:rPr>
              <a:t>2チーム</a:t>
            </a:r>
          </a:p>
        </p:txBody>
      </p:sp>
      <p:sp>
        <p:nvSpPr>
          <p:cNvPr id="11" name="TextBox 10"/>
          <p:cNvSpPr txBox="1"/>
          <p:nvPr/>
        </p:nvSpPr>
        <p:spPr>
          <a:xfrm>
            <a:off x="850392" y="3200399"/>
            <a:ext cx="2578608" cy="274320"/>
          </a:xfrm>
          <a:prstGeom prst="rect">
            <a:avLst/>
          </a:prstGeom>
          <a:noFill/>
        </p:spPr>
        <p:txBody>
          <a:bodyPr wrap="square" anchor="t" lIns="25400" rIns="25400" tIns="12700" bIns="12700">
            <a:spAutoFit/>
          </a:bodyPr>
          <a:lstStyle/>
          <a:p>
            <a:pPr algn="ctr">
              <a:lnSpc>
                <a:spcPct val="100000"/>
              </a:lnSpc>
            </a:pPr>
            <a:r>
              <a:rPr sz="1270" b="1">
                <a:solidFill>
                  <a:srgbClr val="232323"/>
                </a:solidFill>
              </a:rPr>
              <a:t>チーム5・7</a:t>
            </a:r>
          </a:p>
        </p:txBody>
      </p:sp>
      <p:sp>
        <p:nvSpPr>
          <p:cNvPr id="12" name="TextBox 11"/>
          <p:cNvSpPr txBox="1"/>
          <p:nvPr/>
        </p:nvSpPr>
        <p:spPr>
          <a:xfrm>
            <a:off x="868680" y="3493008"/>
            <a:ext cx="2542032" cy="457200"/>
          </a:xfrm>
          <a:prstGeom prst="rect">
            <a:avLst/>
          </a:prstGeom>
          <a:noFill/>
        </p:spPr>
        <p:txBody>
          <a:bodyPr wrap="square" anchor="t" lIns="25400" rIns="25400" tIns="12700" bIns="12700">
            <a:spAutoFit/>
          </a:bodyPr>
          <a:lstStyle/>
          <a:p>
            <a:pPr algn="ctr">
              <a:lnSpc>
                <a:spcPct val="114000"/>
              </a:lnSpc>
            </a:pPr>
            <a:r>
              <a:rPr sz="1089" b="0">
                <a:solidFill>
                  <a:srgbClr val="232323"/>
                </a:solidFill>
              </a:rPr>
              <a:t>業務の流れ・効果・構成まで具体化済み</a:t>
            </a:r>
          </a:p>
        </p:txBody>
      </p:sp>
      <p:sp>
        <p:nvSpPr>
          <p:cNvPr id="13" name="Rectangle 12"/>
          <p:cNvSpPr/>
          <p:nvPr/>
        </p:nvSpPr>
        <p:spPr>
          <a:xfrm>
            <a:off x="3685032" y="2157984"/>
            <a:ext cx="4828032" cy="18288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85032" y="2157984"/>
            <a:ext cx="4828032" cy="4572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2" y="2157984"/>
            <a:ext cx="4828032" cy="457200"/>
          </a:xfrm>
          <a:prstGeom prst="rect">
            <a:avLst/>
          </a:prstGeom>
          <a:noFill/>
        </p:spPr>
        <p:txBody>
          <a:bodyPr wrap="square" anchor="ctr" lIns="25400" rIns="25400" tIns="12700" bIns="12700">
            <a:spAutoFit/>
          </a:bodyPr>
          <a:lstStyle/>
          <a:p>
            <a:pPr algn="ctr">
              <a:lnSpc>
                <a:spcPct val="100000"/>
              </a:lnSpc>
            </a:pPr>
            <a:r>
              <a:rPr sz="1452" b="1">
                <a:solidFill>
                  <a:srgbClr val="FFFFFF"/>
                </a:solidFill>
              </a:rPr>
              <a:t>○ 概ね順調</a:t>
            </a:r>
          </a:p>
        </p:txBody>
      </p:sp>
      <p:sp>
        <p:nvSpPr>
          <p:cNvPr id="16" name="TextBox 15"/>
          <p:cNvSpPr txBox="1"/>
          <p:nvPr/>
        </p:nvSpPr>
        <p:spPr>
          <a:xfrm>
            <a:off x="3685032" y="2670048"/>
            <a:ext cx="4828032" cy="475488"/>
          </a:xfrm>
          <a:prstGeom prst="rect">
            <a:avLst/>
          </a:prstGeom>
          <a:noFill/>
        </p:spPr>
        <p:txBody>
          <a:bodyPr wrap="square" anchor="t" lIns="25400" rIns="25400" tIns="12700" bIns="12700">
            <a:spAutoFit/>
          </a:bodyPr>
          <a:lstStyle/>
          <a:p>
            <a:pPr algn="ctr">
              <a:lnSpc>
                <a:spcPct val="100000"/>
              </a:lnSpc>
            </a:pPr>
            <a:r>
              <a:rPr sz="2600" b="1">
                <a:solidFill>
                  <a:srgbClr val="1B5C80"/>
                </a:solidFill>
              </a:rPr>
              <a:t>8チーム</a:t>
            </a:r>
          </a:p>
        </p:txBody>
      </p:sp>
      <p:sp>
        <p:nvSpPr>
          <p:cNvPr id="17" name="TextBox 16"/>
          <p:cNvSpPr txBox="1"/>
          <p:nvPr/>
        </p:nvSpPr>
        <p:spPr>
          <a:xfrm>
            <a:off x="3794760" y="3200399"/>
            <a:ext cx="4608576" cy="274320"/>
          </a:xfrm>
          <a:prstGeom prst="rect">
            <a:avLst/>
          </a:prstGeom>
          <a:noFill/>
        </p:spPr>
        <p:txBody>
          <a:bodyPr wrap="square" anchor="t" lIns="25400" rIns="25400" tIns="12700" bIns="12700">
            <a:spAutoFit/>
          </a:bodyPr>
          <a:lstStyle/>
          <a:p>
            <a:pPr algn="ctr">
              <a:lnSpc>
                <a:spcPct val="100000"/>
              </a:lnSpc>
            </a:pPr>
            <a:r>
              <a:rPr sz="1270" b="1">
                <a:solidFill>
                  <a:srgbClr val="232323"/>
                </a:solidFill>
              </a:rPr>
              <a:t>チーム1・2・3・6・8・9・10・11</a:t>
            </a:r>
          </a:p>
        </p:txBody>
      </p:sp>
      <p:sp>
        <p:nvSpPr>
          <p:cNvPr id="18" name="TextBox 17"/>
          <p:cNvSpPr txBox="1"/>
          <p:nvPr/>
        </p:nvSpPr>
        <p:spPr>
          <a:xfrm>
            <a:off x="3813048" y="3493008"/>
            <a:ext cx="4572000" cy="457200"/>
          </a:xfrm>
          <a:prstGeom prst="rect">
            <a:avLst/>
          </a:prstGeom>
          <a:noFill/>
        </p:spPr>
        <p:txBody>
          <a:bodyPr wrap="square" anchor="t" lIns="25400" rIns="25400" tIns="12700" bIns="12700">
            <a:spAutoFit/>
          </a:bodyPr>
          <a:lstStyle/>
          <a:p>
            <a:pPr algn="ctr">
              <a:lnSpc>
                <a:spcPct val="114000"/>
              </a:lnSpc>
            </a:pPr>
            <a:r>
              <a:rPr sz="1089" b="0">
                <a:solidFill>
                  <a:srgbClr val="232323"/>
                </a:solidFill>
              </a:rPr>
              <a:t>不明点はCopilotとの相談で解消でき、</a:t>
            </a:r>
          </a:p>
          <a:p>
            <a:pPr algn="ctr">
              <a:lnSpc>
                <a:spcPct val="114000"/>
              </a:lnSpc>
            </a:pPr>
            <a:r>
              <a:rPr sz="1089" b="0">
                <a:solidFill>
                  <a:srgbClr val="232323"/>
                </a:solidFill>
              </a:rPr>
              <a:t>作業量が多い場合も範囲を絞れば発表可能</a:t>
            </a:r>
          </a:p>
        </p:txBody>
      </p:sp>
      <p:sp>
        <p:nvSpPr>
          <p:cNvPr id="19" name="Rectangle 18"/>
          <p:cNvSpPr/>
          <p:nvPr/>
        </p:nvSpPr>
        <p:spPr>
          <a:xfrm>
            <a:off x="8659368" y="2157984"/>
            <a:ext cx="2798064" cy="182880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59368" y="2157984"/>
            <a:ext cx="2798064" cy="4572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59368" y="2157984"/>
            <a:ext cx="2798064" cy="457200"/>
          </a:xfrm>
          <a:prstGeom prst="rect">
            <a:avLst/>
          </a:prstGeom>
          <a:noFill/>
        </p:spPr>
        <p:txBody>
          <a:bodyPr wrap="square" anchor="ctr" lIns="25400" rIns="25400" tIns="12700" bIns="12700">
            <a:spAutoFit/>
          </a:bodyPr>
          <a:lstStyle/>
          <a:p>
            <a:pPr algn="ctr">
              <a:lnSpc>
                <a:spcPct val="100000"/>
              </a:lnSpc>
            </a:pPr>
            <a:r>
              <a:rPr sz="1452" b="1">
                <a:solidFill>
                  <a:srgbClr val="FFFFFF"/>
                </a:solidFill>
              </a:rPr>
              <a:t>△ 要フォロー</a:t>
            </a:r>
          </a:p>
        </p:txBody>
      </p:sp>
      <p:sp>
        <p:nvSpPr>
          <p:cNvPr id="22" name="TextBox 21"/>
          <p:cNvSpPr txBox="1"/>
          <p:nvPr/>
        </p:nvSpPr>
        <p:spPr>
          <a:xfrm>
            <a:off x="8659368" y="2670048"/>
            <a:ext cx="2798064" cy="475488"/>
          </a:xfrm>
          <a:prstGeom prst="rect">
            <a:avLst/>
          </a:prstGeom>
          <a:noFill/>
        </p:spPr>
        <p:txBody>
          <a:bodyPr wrap="square" anchor="t" lIns="25400" rIns="25400" tIns="12700" bIns="12700">
            <a:spAutoFit/>
          </a:bodyPr>
          <a:lstStyle/>
          <a:p>
            <a:pPr algn="ctr">
              <a:lnSpc>
                <a:spcPct val="100000"/>
              </a:lnSpc>
            </a:pPr>
            <a:r>
              <a:rPr sz="2600" b="1">
                <a:solidFill>
                  <a:srgbClr val="1B5C80"/>
                </a:solidFill>
              </a:rPr>
              <a:t>1チーム</a:t>
            </a:r>
          </a:p>
        </p:txBody>
      </p:sp>
      <p:sp>
        <p:nvSpPr>
          <p:cNvPr id="23" name="TextBox 22"/>
          <p:cNvSpPr txBox="1"/>
          <p:nvPr/>
        </p:nvSpPr>
        <p:spPr>
          <a:xfrm>
            <a:off x="8769096" y="3200399"/>
            <a:ext cx="2578608" cy="274320"/>
          </a:xfrm>
          <a:prstGeom prst="rect">
            <a:avLst/>
          </a:prstGeom>
          <a:noFill/>
        </p:spPr>
        <p:txBody>
          <a:bodyPr wrap="square" anchor="t" lIns="25400" rIns="25400" tIns="12700" bIns="12700">
            <a:spAutoFit/>
          </a:bodyPr>
          <a:lstStyle/>
          <a:p>
            <a:pPr algn="ctr">
              <a:lnSpc>
                <a:spcPct val="100000"/>
              </a:lnSpc>
            </a:pPr>
            <a:r>
              <a:rPr sz="1270" b="1">
                <a:solidFill>
                  <a:srgbClr val="232323"/>
                </a:solidFill>
              </a:rPr>
              <a:t>チーム4</a:t>
            </a:r>
          </a:p>
        </p:txBody>
      </p:sp>
      <p:sp>
        <p:nvSpPr>
          <p:cNvPr id="24" name="TextBox 23"/>
          <p:cNvSpPr txBox="1"/>
          <p:nvPr/>
        </p:nvSpPr>
        <p:spPr>
          <a:xfrm>
            <a:off x="8787384" y="3493008"/>
            <a:ext cx="2542032" cy="457200"/>
          </a:xfrm>
          <a:prstGeom prst="rect">
            <a:avLst/>
          </a:prstGeom>
          <a:noFill/>
        </p:spPr>
        <p:txBody>
          <a:bodyPr wrap="square" anchor="t" lIns="25400" rIns="25400" tIns="12700" bIns="12700">
            <a:spAutoFit/>
          </a:bodyPr>
          <a:lstStyle/>
          <a:p>
            <a:pPr algn="ctr">
              <a:lnSpc>
                <a:spcPct val="114000"/>
              </a:lnSpc>
            </a:pPr>
            <a:r>
              <a:rPr sz="1089" b="0">
                <a:solidFill>
                  <a:srgbClr val="232323"/>
                </a:solidFill>
              </a:rPr>
              <a:t>外部Web参照の禁止で再設計中。</a:t>
            </a:r>
          </a:p>
          <a:p>
            <a:pPr algn="ctr">
              <a:lnSpc>
                <a:spcPct val="114000"/>
              </a:lnSpc>
            </a:pPr>
            <a:r>
              <a:rPr sz="1089" b="0">
                <a:solidFill>
                  <a:srgbClr val="232323"/>
                </a:solidFill>
              </a:rPr>
              <a:t>作るものの再定義が最優先</a:t>
            </a:r>
          </a:p>
        </p:txBody>
      </p:sp>
      <p:pic>
        <p:nvPicPr>
          <p:cNvPr id="26" name="グラフィックス 25" descr="バッジ: チェックマーク 1 単色塗りつぶし">
            <a:extLst>
              <a:ext uri="{FF2B5EF4-FFF2-40B4-BE49-F238E27FC236}">
                <a16:creationId xmlns:a16="http://schemas.microsoft.com/office/drawing/2014/main" id="{EAC32518-75B5-5D23-26C2-0F64EB2FB4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664" y="4160520"/>
            <a:ext cx="237743" cy="237743"/>
          </a:xfrm>
          <a:prstGeom prst="rect">
            <a:avLst/>
          </a:prstGeom>
        </p:spPr>
      </p:pic>
      <p:sp>
        <p:nvSpPr>
          <p:cNvPr id="27" name="TextBox 26"/>
          <p:cNvSpPr txBox="1"/>
          <p:nvPr/>
        </p:nvSpPr>
        <p:spPr>
          <a:xfrm>
            <a:off x="1051560" y="4142232"/>
            <a:ext cx="10405872" cy="274320"/>
          </a:xfrm>
          <a:prstGeom prst="rect">
            <a:avLst/>
          </a:prstGeom>
          <a:noFill/>
        </p:spPr>
        <p:txBody>
          <a:bodyPr wrap="square" anchor="t" lIns="25400" rIns="25400" tIns="12700" bIns="12700">
            <a:spAutoFit/>
          </a:bodyPr>
          <a:lstStyle/>
          <a:p>
            <a:pPr algn="l">
              <a:lnSpc>
                <a:spcPct val="100000"/>
              </a:lnSpc>
            </a:pPr>
            <a:r>
              <a:rPr sz="1452" b="1">
                <a:solidFill>
                  <a:srgbClr val="1B5C80"/>
                </a:solidFill>
              </a:rPr>
              <a:t>事務局への依頼事項（重点3点）</a:t>
            </a:r>
          </a:p>
        </p:txBody>
      </p:sp>
      <p:sp>
        <p:nvSpPr>
          <p:cNvPr id="28" name="Rectangle 27"/>
          <p:cNvSpPr/>
          <p:nvPr/>
        </p:nvSpPr>
        <p:spPr>
          <a:xfrm>
            <a:off x="740664" y="4498848"/>
            <a:ext cx="3502152" cy="137160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0664" y="4498848"/>
            <a:ext cx="512064" cy="13716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4498848"/>
            <a:ext cx="512064" cy="1371600"/>
          </a:xfrm>
          <a:prstGeom prst="rect">
            <a:avLst/>
          </a:prstGeom>
          <a:noFill/>
        </p:spPr>
        <p:txBody>
          <a:bodyPr wrap="square" anchor="ctr" lIns="25400" rIns="25400" tIns="12700" bIns="12700">
            <a:spAutoFit/>
          </a:bodyPr>
          <a:lstStyle/>
          <a:p>
            <a:pPr algn="ctr">
              <a:lnSpc>
                <a:spcPct val="100000"/>
              </a:lnSpc>
            </a:pPr>
            <a:r>
              <a:rPr sz="1632" b="1">
                <a:solidFill>
                  <a:srgbClr val="FFFFFF"/>
                </a:solidFill>
              </a:rPr>
              <a:t>01</a:t>
            </a:r>
          </a:p>
        </p:txBody>
      </p:sp>
      <p:sp>
        <p:nvSpPr>
          <p:cNvPr id="31" name="TextBox 30"/>
          <p:cNvSpPr txBox="1"/>
          <p:nvPr/>
        </p:nvSpPr>
        <p:spPr>
          <a:xfrm>
            <a:off x="1362456" y="4590288"/>
            <a:ext cx="2734056" cy="457200"/>
          </a:xfrm>
          <a:prstGeom prst="rect">
            <a:avLst/>
          </a:prstGeom>
          <a:noFill/>
        </p:spPr>
        <p:txBody>
          <a:bodyPr wrap="square" anchor="t" lIns="25400" rIns="25400" tIns="12700" bIns="12700">
            <a:spAutoFit/>
          </a:bodyPr>
          <a:lstStyle/>
          <a:p>
            <a:pPr algn="l">
              <a:lnSpc>
                <a:spcPct val="112000"/>
              </a:lnSpc>
            </a:pPr>
            <a:r>
              <a:rPr sz="1270" b="1">
                <a:solidFill>
                  <a:srgbClr val="1B5C80"/>
                </a:solidFill>
              </a:rPr>
              <a:t>使えるデータ・環境の可否判断を早期に</a:t>
            </a:r>
          </a:p>
        </p:txBody>
      </p:sp>
      <p:sp>
        <p:nvSpPr>
          <p:cNvPr id="32" name="TextBox 31"/>
          <p:cNvSpPr txBox="1"/>
          <p:nvPr/>
        </p:nvSpPr>
        <p:spPr>
          <a:xfrm>
            <a:off x="1362456" y="5102352"/>
            <a:ext cx="2734056" cy="676656"/>
          </a:xfrm>
          <a:prstGeom prst="rect">
            <a:avLst/>
          </a:prstGeom>
          <a:noFill/>
        </p:spPr>
        <p:txBody>
          <a:bodyPr wrap="square" anchor="t" lIns="25400" rIns="25400" tIns="12700" bIns="12700">
            <a:spAutoFit/>
          </a:bodyPr>
          <a:lstStyle/>
          <a:p>
            <a:pPr algn="l">
              <a:lnSpc>
                <a:spcPct val="116000"/>
              </a:lnSpc>
            </a:pPr>
            <a:r>
              <a:rPr sz="1089" b="0">
                <a:solidFill>
                  <a:srgbClr val="232323"/>
                </a:solidFill>
              </a:rPr>
              <a:t>外部Web参照・M365外連携・機密情報の可否。抵触時は案が頓挫するため最優先。</a:t>
            </a:r>
          </a:p>
        </p:txBody>
      </p:sp>
      <p:sp>
        <p:nvSpPr>
          <p:cNvPr id="33" name="Rectangle 32"/>
          <p:cNvSpPr/>
          <p:nvPr/>
        </p:nvSpPr>
        <p:spPr>
          <a:xfrm>
            <a:off x="4352544" y="4498848"/>
            <a:ext cx="3502152" cy="137160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52544" y="4498848"/>
            <a:ext cx="512064" cy="13716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52544" y="4498848"/>
            <a:ext cx="512064" cy="1371600"/>
          </a:xfrm>
          <a:prstGeom prst="rect">
            <a:avLst/>
          </a:prstGeom>
          <a:noFill/>
        </p:spPr>
        <p:txBody>
          <a:bodyPr wrap="square" anchor="ctr" lIns="25400" rIns="25400" tIns="12700" bIns="12700">
            <a:spAutoFit/>
          </a:bodyPr>
          <a:lstStyle/>
          <a:p>
            <a:pPr algn="ctr">
              <a:lnSpc>
                <a:spcPct val="100000"/>
              </a:lnSpc>
            </a:pPr>
            <a:r>
              <a:rPr sz="1632" b="1">
                <a:solidFill>
                  <a:srgbClr val="FFFFFF"/>
                </a:solidFill>
              </a:rPr>
              <a:t>02</a:t>
            </a:r>
          </a:p>
        </p:txBody>
      </p:sp>
      <p:sp>
        <p:nvSpPr>
          <p:cNvPr id="36" name="TextBox 35"/>
          <p:cNvSpPr txBox="1"/>
          <p:nvPr/>
        </p:nvSpPr>
        <p:spPr>
          <a:xfrm>
            <a:off x="4974336" y="4590288"/>
            <a:ext cx="2734056" cy="457200"/>
          </a:xfrm>
          <a:prstGeom prst="rect">
            <a:avLst/>
          </a:prstGeom>
          <a:noFill/>
        </p:spPr>
        <p:txBody>
          <a:bodyPr wrap="square" anchor="t" lIns="25400" rIns="25400" tIns="12700" bIns="12700">
            <a:spAutoFit/>
          </a:bodyPr>
          <a:lstStyle/>
          <a:p>
            <a:pPr algn="l">
              <a:lnSpc>
                <a:spcPct val="112000"/>
              </a:lnSpc>
            </a:pPr>
            <a:r>
              <a:rPr sz="1270" b="1">
                <a:solidFill>
                  <a:srgbClr val="1B5C80"/>
                </a:solidFill>
              </a:rPr>
              <a:t>進め方の型とスケジュールの提示</a:t>
            </a:r>
          </a:p>
        </p:txBody>
      </p:sp>
      <p:sp>
        <p:nvSpPr>
          <p:cNvPr id="37" name="TextBox 36"/>
          <p:cNvSpPr txBox="1"/>
          <p:nvPr/>
        </p:nvSpPr>
        <p:spPr>
          <a:xfrm>
            <a:off x="4974336" y="5102352"/>
            <a:ext cx="2734056" cy="676656"/>
          </a:xfrm>
          <a:prstGeom prst="rect">
            <a:avLst/>
          </a:prstGeom>
          <a:noFill/>
        </p:spPr>
        <p:txBody>
          <a:bodyPr wrap="square" anchor="t" lIns="25400" rIns="25400" tIns="12700" bIns="12700">
            <a:spAutoFit/>
          </a:bodyPr>
          <a:lstStyle/>
          <a:p>
            <a:pPr algn="l">
              <a:lnSpc>
                <a:spcPct val="116000"/>
              </a:lnSpc>
            </a:pPr>
            <a:r>
              <a:rPr sz="1089" b="0">
                <a:solidFill>
                  <a:srgbClr val="232323"/>
                </a:solidFill>
              </a:rPr>
              <a:t>開発手順の基本フォーマット、8〜9月の予定、指示文の見本を配布いただきたい。</a:t>
            </a:r>
          </a:p>
        </p:txBody>
      </p:sp>
      <p:sp>
        <p:nvSpPr>
          <p:cNvPr id="38" name="Rectangle 37"/>
          <p:cNvSpPr/>
          <p:nvPr/>
        </p:nvSpPr>
        <p:spPr>
          <a:xfrm>
            <a:off x="7964424" y="4498848"/>
            <a:ext cx="3502152" cy="137160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64424" y="4498848"/>
            <a:ext cx="512064" cy="13716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64424" y="4498848"/>
            <a:ext cx="512064" cy="1371600"/>
          </a:xfrm>
          <a:prstGeom prst="rect">
            <a:avLst/>
          </a:prstGeom>
          <a:noFill/>
        </p:spPr>
        <p:txBody>
          <a:bodyPr wrap="square" anchor="ctr" lIns="25400" rIns="25400" tIns="12700" bIns="12700">
            <a:spAutoFit/>
          </a:bodyPr>
          <a:lstStyle/>
          <a:p>
            <a:pPr algn="ctr">
              <a:lnSpc>
                <a:spcPct val="100000"/>
              </a:lnSpc>
            </a:pPr>
            <a:r>
              <a:rPr sz="1632" b="1">
                <a:solidFill>
                  <a:srgbClr val="FFFFFF"/>
                </a:solidFill>
              </a:rPr>
              <a:t>03</a:t>
            </a:r>
          </a:p>
        </p:txBody>
      </p:sp>
      <p:sp>
        <p:nvSpPr>
          <p:cNvPr id="41" name="TextBox 40"/>
          <p:cNvSpPr txBox="1"/>
          <p:nvPr/>
        </p:nvSpPr>
        <p:spPr>
          <a:xfrm>
            <a:off x="8586216" y="4590288"/>
            <a:ext cx="2734056" cy="457200"/>
          </a:xfrm>
          <a:prstGeom prst="rect">
            <a:avLst/>
          </a:prstGeom>
          <a:noFill/>
        </p:spPr>
        <p:txBody>
          <a:bodyPr wrap="square" anchor="t" lIns="25400" rIns="25400" tIns="12700" bIns="12700">
            <a:spAutoFit/>
          </a:bodyPr>
          <a:lstStyle/>
          <a:p>
            <a:pPr algn="l">
              <a:lnSpc>
                <a:spcPct val="112000"/>
              </a:lnSpc>
            </a:pPr>
            <a:r>
              <a:rPr sz="1270" b="1">
                <a:solidFill>
                  <a:srgbClr val="1B5C80"/>
                </a:solidFill>
              </a:rPr>
              <a:t>8月は「一本通す」デモに集中</a:t>
            </a:r>
          </a:p>
        </p:txBody>
      </p:sp>
      <p:sp>
        <p:nvSpPr>
          <p:cNvPr id="42" name="TextBox 41"/>
          <p:cNvSpPr txBox="1"/>
          <p:nvPr/>
        </p:nvSpPr>
        <p:spPr>
          <a:xfrm>
            <a:off x="8586216" y="5102352"/>
            <a:ext cx="2734056" cy="676656"/>
          </a:xfrm>
          <a:prstGeom prst="rect">
            <a:avLst/>
          </a:prstGeom>
          <a:noFill/>
        </p:spPr>
        <p:txBody>
          <a:bodyPr wrap="square" anchor="t" lIns="25400" rIns="25400" tIns="12700" bIns="12700">
            <a:spAutoFit/>
          </a:bodyPr>
          <a:lstStyle/>
          <a:p>
            <a:pPr algn="l">
              <a:lnSpc>
                <a:spcPct val="116000"/>
              </a:lnSpc>
            </a:pPr>
            <a:r>
              <a:rPr sz="1089" b="0">
                <a:solidFill>
                  <a:srgbClr val="232323"/>
                </a:solidFill>
              </a:rPr>
              <a:t>入力→処理→出力を一本通すことを優先し、細部の作り込みは9月以降とする。</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使用アプリ（想定）・難易度・ボリュームの比較</a:t>
            </a:r>
          </a:p>
        </p:txBody>
      </p:sp>
      <p:sp>
        <p:nvSpPr>
          <p:cNvPr id="3" name="Text Placeholder 2"/>
          <p:cNvSpPr>
            <a:spLocks noGrp="1"/>
          </p:cNvSpPr>
          <p:nvPr>
            <p:ph type="body" idx="2" sz="half"/>
          </p:nvPr>
        </p:nvSpPr>
        <p:spPr/>
        <p:txBody>
          <a:bodyPr wrap="square"/>
          <a:lstStyle/>
          <a:p>
            <a:r>
              <a:rPr sz="1270">
                <a:solidFill>
                  <a:srgbClr val="6E767C"/>
                </a:solidFill>
              </a:rPr>
              <a:t>メンター検討の材料／企画書と相談会の内容にもとづく想定</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7</a:t>
            </a:r>
          </a:p>
        </p:txBody>
      </p:sp>
      <p:graphicFrame>
        <p:nvGraphicFramePr>
          <p:cNvPr id="5" name="Table 4"/>
          <p:cNvGraphicFramePr>
            <a:graphicFrameLocks noGrp="1"/>
          </p:cNvGraphicFramePr>
          <p:nvPr/>
        </p:nvGraphicFramePr>
        <p:xfrm>
          <a:off x="740664" y="1298448"/>
          <a:ext cx="10716768" cy="4411980"/>
        </p:xfrm>
        <a:graphic>
          <a:graphicData uri="http://schemas.openxmlformats.org/drawingml/2006/table">
            <a:tbl>
              <a:tblPr>
                <a:tableStyleId>{5C22544A-7EE6-4342-B048-85BDC9FD1C3A}</a:tableStyleId>
              </a:tblPr>
              <a:tblGrid>
                <a:gridCol w="822960"/>
                <a:gridCol w="786384"/>
                <a:gridCol w="786384"/>
                <a:gridCol w="749808"/>
                <a:gridCol w="749808"/>
                <a:gridCol w="749808"/>
                <a:gridCol w="749808"/>
                <a:gridCol w="749808"/>
                <a:gridCol w="749808"/>
                <a:gridCol w="749808"/>
                <a:gridCol w="749808"/>
                <a:gridCol w="749808"/>
                <a:gridCol w="1572768"/>
              </a:tblGrid>
              <a:tr h="640080">
                <a:tc>
                  <a:txBody>
                    <a:bodyPr wrap="square"/>
                    <a:lstStyle/>
                    <a:p>
                      <a:pPr algn="ctr">
                        <a:lnSpc>
                          <a:spcPct val="96000"/>
                        </a:lnSpc>
                      </a:pPr>
                      <a:r>
                        <a:rPr sz="1089" b="1">
                          <a:solidFill>
                            <a:srgbClr val="FFFFFF"/>
                          </a:solidFill>
                        </a:rPr>
                        <a:t>チーム</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難易度</a:t>
                      </a:r>
                    </a:p>
                  </a:txBody>
                  <a:tcPr marL="50800" marR="50800" marT="12700" marB="12700" anchor="ctr">
                    <a:solidFill>
                      <a:srgbClr val="1B5C80"/>
                    </a:solidFill>
                  </a:tcPr>
                </a:tc>
                <a:tc>
                  <a:txBody>
                    <a:bodyPr wrap="square"/>
                    <a:lstStyle/>
                    <a:p>
                      <a:pPr algn="ctr">
                        <a:lnSpc>
                          <a:spcPct val="96000"/>
                        </a:lnSpc>
                      </a:pPr>
                      <a:r>
                        <a:rPr sz="1089" b="1">
                          <a:solidFill>
                            <a:srgbClr val="FFFFFF"/>
                          </a:solidFill>
                        </a:rPr>
                        <a:t>ボリュ</a:t>
                      </a:r>
                    </a:p>
                    <a:p>
                      <a:pPr algn="ctr">
                        <a:lnSpc>
                          <a:spcPct val="96000"/>
                        </a:lnSpc>
                      </a:pPr>
                      <a:r>
                        <a:rPr sz="1089" b="1">
                          <a:solidFill>
                            <a:srgbClr val="FFFFFF"/>
                          </a:solidFill>
                        </a:rPr>
                        <a:t>ーム</a:t>
                      </a:r>
                    </a:p>
                  </a:txBody>
                  <a:tcPr marL="50800" marR="50800" marT="12700" marB="12700" anchor="ctr">
                    <a:solidFill>
                      <a:srgbClr val="1B5C80"/>
                    </a:solidFill>
                  </a:tcPr>
                </a:tc>
                <a:tc>
                  <a:txBody>
                    <a:bodyPr wrap="square"/>
                    <a:lstStyle/>
                    <a:p>
                      <a:pPr algn="ctr">
                        <a:lnSpc>
                          <a:spcPct val="96000"/>
                        </a:lnSpc>
                      </a:pPr>
                      <a:r>
                        <a:rPr sz="1089" b="1">
                          <a:solidFill>
                            <a:srgbClr val="232323"/>
                          </a:solidFill>
                        </a:rPr>
                        <a:t>Power</a:t>
                      </a:r>
                    </a:p>
                    <a:p>
                      <a:pPr algn="ctr">
                        <a:lnSpc>
                          <a:spcPct val="96000"/>
                        </a:lnSpc>
                      </a:pPr>
                      <a:r>
                        <a:rPr sz="1089" b="1">
                          <a:solidFill>
                            <a:srgbClr val="232323"/>
                          </a:solidFill>
                        </a:rPr>
                        <a:t>Automate</a:t>
                      </a:r>
                    </a:p>
                  </a:txBody>
                  <a:tcPr marL="50800" marR="50800" marT="12700" marB="12700" anchor="b">
                    <a:solidFill>
                      <a:srgbClr val="DBF1F7"/>
                    </a:solidFill>
                  </a:tcPr>
                </a:tc>
                <a:tc>
                  <a:txBody>
                    <a:bodyPr wrap="square"/>
                    <a:lstStyle/>
                    <a:p>
                      <a:pPr algn="ctr">
                        <a:lnSpc>
                          <a:spcPct val="96000"/>
                        </a:lnSpc>
                      </a:pPr>
                      <a:r>
                        <a:rPr sz="1089" b="1">
                          <a:solidFill>
                            <a:srgbClr val="232323"/>
                          </a:solidFill>
                        </a:rPr>
                        <a:t>Share</a:t>
                      </a:r>
                    </a:p>
                    <a:p>
                      <a:pPr algn="ctr">
                        <a:lnSpc>
                          <a:spcPct val="96000"/>
                        </a:lnSpc>
                      </a:pPr>
                      <a:r>
                        <a:rPr sz="1089" b="1">
                          <a:solidFill>
                            <a:srgbClr val="232323"/>
                          </a:solidFill>
                        </a:rPr>
                        <a:t>Point</a:t>
                      </a:r>
                    </a:p>
                  </a:txBody>
                  <a:tcPr marL="50800" marR="50800" marT="12700" marB="12700" anchor="b">
                    <a:solidFill>
                      <a:srgbClr val="DBF1F7"/>
                    </a:solidFill>
                  </a:tcPr>
                </a:tc>
                <a:tc>
                  <a:txBody>
                    <a:bodyPr wrap="square"/>
                    <a:lstStyle/>
                    <a:p>
                      <a:pPr algn="ctr">
                        <a:lnSpc>
                          <a:spcPct val="96000"/>
                        </a:lnSpc>
                      </a:pPr>
                      <a:r>
                        <a:rPr sz="1089" b="1">
                          <a:solidFill>
                            <a:srgbClr val="232323"/>
                          </a:solidFill>
                        </a:rPr>
                        <a:t>Teams</a:t>
                      </a:r>
                    </a:p>
                  </a:txBody>
                  <a:tcPr marL="50800" marR="50800" marT="12700" marB="12700" anchor="b">
                    <a:solidFill>
                      <a:srgbClr val="DBF1F7"/>
                    </a:solidFill>
                  </a:tcPr>
                </a:tc>
                <a:tc>
                  <a:txBody>
                    <a:bodyPr wrap="square"/>
                    <a:lstStyle/>
                    <a:p>
                      <a:pPr algn="ctr">
                        <a:lnSpc>
                          <a:spcPct val="96000"/>
                        </a:lnSpc>
                      </a:pPr>
                      <a:r>
                        <a:rPr sz="1089" b="1">
                          <a:solidFill>
                            <a:srgbClr val="232323"/>
                          </a:solidFill>
                        </a:rPr>
                        <a:t>Outlook</a:t>
                      </a:r>
                    </a:p>
                  </a:txBody>
                  <a:tcPr marL="50800" marR="50800" marT="12700" marB="12700" anchor="b">
                    <a:solidFill>
                      <a:srgbClr val="DBF1F7"/>
                    </a:solidFill>
                  </a:tcPr>
                </a:tc>
                <a:tc>
                  <a:txBody>
                    <a:bodyPr wrap="square"/>
                    <a:lstStyle/>
                    <a:p>
                      <a:pPr algn="ctr">
                        <a:lnSpc>
                          <a:spcPct val="96000"/>
                        </a:lnSpc>
                      </a:pPr>
                      <a:r>
                        <a:rPr sz="1089" b="1">
                          <a:solidFill>
                            <a:srgbClr val="232323"/>
                          </a:solidFill>
                        </a:rPr>
                        <a:t>Forms</a:t>
                      </a:r>
                    </a:p>
                  </a:txBody>
                  <a:tcPr marL="50800" marR="50800" marT="12700" marB="12700" anchor="b">
                    <a:solidFill>
                      <a:srgbClr val="DBF1F7"/>
                    </a:solidFill>
                  </a:tcPr>
                </a:tc>
                <a:tc>
                  <a:txBody>
                    <a:bodyPr wrap="square"/>
                    <a:lstStyle/>
                    <a:p>
                      <a:pPr algn="ctr">
                        <a:lnSpc>
                          <a:spcPct val="96000"/>
                        </a:lnSpc>
                      </a:pPr>
                      <a:r>
                        <a:rPr sz="1089" b="1">
                          <a:solidFill>
                            <a:srgbClr val="232323"/>
                          </a:solidFill>
                        </a:rPr>
                        <a:t>Power</a:t>
                      </a:r>
                    </a:p>
                    <a:p>
                      <a:pPr algn="ctr">
                        <a:lnSpc>
                          <a:spcPct val="96000"/>
                        </a:lnSpc>
                      </a:pPr>
                      <a:r>
                        <a:rPr sz="1089" b="1">
                          <a:solidFill>
                            <a:srgbClr val="232323"/>
                          </a:solidFill>
                        </a:rPr>
                        <a:t>BI</a:t>
                      </a:r>
                    </a:p>
                  </a:txBody>
                  <a:tcPr marL="50800" marR="50800" marT="12700" marB="12700" anchor="b">
                    <a:solidFill>
                      <a:srgbClr val="DBF1F7"/>
                    </a:solidFill>
                  </a:tcPr>
                </a:tc>
                <a:tc>
                  <a:txBody>
                    <a:bodyPr wrap="square"/>
                    <a:lstStyle/>
                    <a:p>
                      <a:pPr algn="ctr">
                        <a:lnSpc>
                          <a:spcPct val="96000"/>
                        </a:lnSpc>
                      </a:pPr>
                      <a:r>
                        <a:rPr sz="1089" b="1">
                          <a:solidFill>
                            <a:srgbClr val="232323"/>
                          </a:solidFill>
                        </a:rPr>
                        <a:t>Excel</a:t>
                      </a:r>
                    </a:p>
                  </a:txBody>
                  <a:tcPr marL="50800" marR="50800" marT="12700" marB="12700" anchor="b">
                    <a:solidFill>
                      <a:srgbClr val="DBF1F7"/>
                    </a:solidFill>
                  </a:tcPr>
                </a:tc>
                <a:tc>
                  <a:txBody>
                    <a:bodyPr wrap="square"/>
                    <a:lstStyle/>
                    <a:p>
                      <a:pPr algn="ctr">
                        <a:lnSpc>
                          <a:spcPct val="96000"/>
                        </a:lnSpc>
                      </a:pPr>
                      <a:r>
                        <a:rPr sz="1089" b="1">
                          <a:solidFill>
                            <a:srgbClr val="232323"/>
                          </a:solidFill>
                        </a:rPr>
                        <a:t>Word/</a:t>
                      </a:r>
                    </a:p>
                    <a:p>
                      <a:pPr algn="ctr">
                        <a:lnSpc>
                          <a:spcPct val="96000"/>
                        </a:lnSpc>
                      </a:pPr>
                      <a:r>
                        <a:rPr sz="1089" b="1">
                          <a:solidFill>
                            <a:srgbClr val="232323"/>
                          </a:solidFill>
                        </a:rPr>
                        <a:t>PPT</a:t>
                      </a:r>
                    </a:p>
                  </a:txBody>
                  <a:tcPr marL="50800" marR="50800" marT="12700" marB="12700" anchor="b">
                    <a:solidFill>
                      <a:srgbClr val="DBF1F7"/>
                    </a:solidFill>
                  </a:tcPr>
                </a:tc>
                <a:tc>
                  <a:txBody>
                    <a:bodyPr wrap="square"/>
                    <a:lstStyle/>
                    <a:p>
                      <a:pPr algn="ctr">
                        <a:lnSpc>
                          <a:spcPct val="96000"/>
                        </a:lnSpc>
                      </a:pPr>
                      <a:r>
                        <a:rPr sz="1089" b="1">
                          <a:solidFill>
                            <a:srgbClr val="232323"/>
                          </a:solidFill>
                        </a:rPr>
                        <a:t>外部/</a:t>
                      </a:r>
                    </a:p>
                    <a:p>
                      <a:pPr algn="ctr">
                        <a:lnSpc>
                          <a:spcPct val="96000"/>
                        </a:lnSpc>
                      </a:pPr>
                      <a:r>
                        <a:rPr sz="1089" b="1">
                          <a:solidFill>
                            <a:srgbClr val="232323"/>
                          </a:solidFill>
                        </a:rPr>
                        <a:t>その他</a:t>
                      </a:r>
                    </a:p>
                  </a:txBody>
                  <a:tcPr marL="50800" marR="50800" marT="12700" marB="12700" anchor="b">
                    <a:solidFill>
                      <a:srgbClr val="DBF1F7"/>
                    </a:solidFill>
                  </a:tcPr>
                </a:tc>
                <a:tc>
                  <a:txBody>
                    <a:bodyPr wrap="square"/>
                    <a:lstStyle/>
                    <a:p>
                      <a:pPr algn="ctr">
                        <a:lnSpc>
                          <a:spcPct val="96000"/>
                        </a:lnSpc>
                      </a:pPr>
                      <a:r>
                        <a:rPr sz="1089" b="1">
                          <a:solidFill>
                            <a:srgbClr val="FFFFFF"/>
                          </a:solidFill>
                        </a:rPr>
                        <a:t>主な制約・留意点</a:t>
                      </a:r>
                    </a:p>
                  </a:txBody>
                  <a:tcPr marL="50800" marR="50800" marT="12700" marB="12700" anchor="ctr">
                    <a:solidFill>
                      <a:srgbClr val="1B5C80"/>
                    </a:solidFill>
                  </a:tcPr>
                </a:tc>
              </a:tr>
              <a:tr h="342900">
                <a:tc>
                  <a:txBody>
                    <a:bodyPr wrap="square"/>
                    <a:lstStyle/>
                    <a:p>
                      <a:pPr algn="ctr">
                        <a:lnSpc>
                          <a:spcPct val="96000"/>
                        </a:lnSpc>
                      </a:pPr>
                      <a:r>
                        <a:rPr sz="1270" b="1">
                          <a:solidFill>
                            <a:srgbClr val="1B5C80"/>
                          </a:solidFill>
                        </a:rPr>
                        <a:t>チーム1</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M365内で完結／判定基準の作り込み</a:t>
                      </a:r>
                    </a:p>
                  </a:txBody>
                  <a:tcPr marL="50800" marR="50800" marT="12700" marB="12700" anchor="ctr">
                    <a:solidFill>
                      <a:srgbClr val="FFFFFF"/>
                    </a:solidFill>
                  </a:tcPr>
                </a:tc>
              </a:tr>
              <a:tr h="342900">
                <a:tc>
                  <a:txBody>
                    <a:bodyPr wrap="square"/>
                    <a:lstStyle/>
                    <a:p>
                      <a:pPr algn="ctr">
                        <a:lnSpc>
                          <a:spcPct val="96000"/>
                        </a:lnSpc>
                      </a:pPr>
                      <a:r>
                        <a:rPr sz="1270" b="1">
                          <a:solidFill>
                            <a:srgbClr val="1B5C80"/>
                          </a:solidFill>
                        </a:rPr>
                        <a:t>チーム2</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FAQ・ガイドの整備が前提</a:t>
                      </a:r>
                    </a:p>
                  </a:txBody>
                  <a:tcPr marL="50800" marR="50800" marT="12700" marB="12700" anchor="ctr">
                    <a:solidFill>
                      <a:srgbClr val="F8FDFA"/>
                    </a:solidFill>
                  </a:tcPr>
                </a:tc>
              </a:tr>
              <a:tr h="342900">
                <a:tc>
                  <a:txBody>
                    <a:bodyPr wrap="square"/>
                    <a:lstStyle/>
                    <a:p>
                      <a:pPr algn="ctr">
                        <a:lnSpc>
                          <a:spcPct val="96000"/>
                        </a:lnSpc>
                      </a:pPr>
                      <a:r>
                        <a:rPr sz="1270" b="1">
                          <a:solidFill>
                            <a:srgbClr val="1B5C80"/>
                          </a:solidFill>
                        </a:rPr>
                        <a:t>チーム3</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高</a:t>
                      </a:r>
                    </a:p>
                  </a:txBody>
                  <a:tcPr marL="50800" marR="50800" marT="12700" marB="12700" anchor="ctr">
                    <a:solidFill>
                      <a:srgbClr val="FAE5E3"/>
                    </a:solidFill>
                  </a:tcPr>
                </a:tc>
                <a:tc>
                  <a:txBody>
                    <a:bodyPr wrap="square"/>
                    <a:lstStyle/>
                    <a:p>
                      <a:pPr algn="ctr">
                        <a:lnSpc>
                          <a:spcPct val="96000"/>
                        </a:lnSpc>
                      </a:pPr>
                      <a:r>
                        <a:rPr sz="1270" b="1">
                          <a:solidFill>
                            <a:srgbClr val="232323"/>
                          </a:solidFill>
                        </a:rPr>
                        <a:t>大</a:t>
                      </a:r>
                    </a:p>
                  </a:txBody>
                  <a:tcPr marL="50800" marR="50800" marT="12700" marB="12700" anchor="ctr">
                    <a:solidFill>
                      <a:srgbClr val="FAE5E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89" b="0">
                          <a:solidFill>
                            <a:srgbClr val="232323"/>
                          </a:solidFill>
                        </a:rPr>
                        <a:t>外部Web・営業システムの取得制約が大</a:t>
                      </a:r>
                    </a:p>
                  </a:txBody>
                  <a:tcPr marL="50800" marR="50800" marT="12700" marB="12700" anchor="ctr">
                    <a:solidFill>
                      <a:srgbClr val="FFFFFF"/>
                    </a:solidFill>
                  </a:tcPr>
                </a:tc>
              </a:tr>
              <a:tr h="342900">
                <a:tc>
                  <a:txBody>
                    <a:bodyPr wrap="square"/>
                    <a:lstStyle/>
                    <a:p>
                      <a:pPr algn="ctr">
                        <a:lnSpc>
                          <a:spcPct val="96000"/>
                        </a:lnSpc>
                      </a:pPr>
                      <a:r>
                        <a:rPr sz="1270" b="1">
                          <a:solidFill>
                            <a:srgbClr val="1B5C80"/>
                          </a:solidFill>
                        </a:rPr>
                        <a:t>チーム4</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高</a:t>
                      </a:r>
                    </a:p>
                  </a:txBody>
                  <a:tcPr marL="50800" marR="50800" marT="12700" marB="12700" anchor="ctr">
                    <a:solidFill>
                      <a:srgbClr val="FAE5E3"/>
                    </a:solidFill>
                  </a:tcPr>
                </a:tc>
                <a:tc>
                  <a:txBody>
                    <a:bodyPr wrap="square"/>
                    <a:lstStyle/>
                    <a:p>
                      <a:pPr algn="ctr">
                        <a:lnSpc>
                          <a:spcPct val="96000"/>
                        </a:lnSpc>
                      </a:pPr>
                      <a:r>
                        <a:rPr sz="1270" b="1">
                          <a:solidFill>
                            <a:srgbClr val="232323"/>
                          </a:solidFill>
                        </a:rPr>
                        <a:t>中〜大</a:t>
                      </a:r>
                    </a:p>
                  </a:txBody>
                  <a:tcPr marL="50800" marR="50800" marT="12700" marB="12700" anchor="ctr">
                    <a:solidFill>
                      <a:srgbClr val="E7E8F8"/>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89" b="0">
                          <a:solidFill>
                            <a:srgbClr val="232323"/>
                          </a:solidFill>
                        </a:rPr>
                        <a:t>外部Web禁止のため案の再設計が必要</a:t>
                      </a:r>
                    </a:p>
                  </a:txBody>
                  <a:tcPr marL="50800" marR="50800" marT="12700" marB="12700" anchor="ctr">
                    <a:solidFill>
                      <a:srgbClr val="F8FDFA"/>
                    </a:solidFill>
                  </a:tcPr>
                </a:tc>
              </a:tr>
              <a:tr h="342900">
                <a:tc>
                  <a:txBody>
                    <a:bodyPr wrap="square"/>
                    <a:lstStyle/>
                    <a:p>
                      <a:pPr algn="ctr">
                        <a:lnSpc>
                          <a:spcPct val="96000"/>
                        </a:lnSpc>
                      </a:pPr>
                      <a:r>
                        <a:rPr sz="1270" b="1">
                          <a:solidFill>
                            <a:srgbClr val="1B5C80"/>
                          </a:solidFill>
                        </a:rPr>
                        <a:t>チーム5</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M365標準のみ／制約は小さい</a:t>
                      </a:r>
                    </a:p>
                  </a:txBody>
                  <a:tcPr marL="50800" marR="50800" marT="12700" marB="12700" anchor="ctr">
                    <a:solidFill>
                      <a:srgbClr val="FFFFFF"/>
                    </a:solidFill>
                  </a:tcPr>
                </a:tc>
              </a:tr>
              <a:tr h="342900">
                <a:tc>
                  <a:txBody>
                    <a:bodyPr wrap="square"/>
                    <a:lstStyle/>
                    <a:p>
                      <a:pPr algn="ctr">
                        <a:lnSpc>
                          <a:spcPct val="96000"/>
                        </a:lnSpc>
                      </a:pPr>
                      <a:r>
                        <a:rPr sz="1270" b="1">
                          <a:solidFill>
                            <a:srgbClr val="1B5C80"/>
                          </a:solidFill>
                        </a:rPr>
                        <a:t>チーム6</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中〜高</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大</a:t>
                      </a:r>
                    </a:p>
                  </a:txBody>
                  <a:tcPr marL="50800" marR="50800" marT="12700" marB="12700" anchor="ctr">
                    <a:solidFill>
                      <a:srgbClr val="FAE5E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共有サーバ参照・資料生成の検証が要</a:t>
                      </a:r>
                    </a:p>
                  </a:txBody>
                  <a:tcPr marL="50800" marR="50800" marT="12700" marB="12700" anchor="ctr">
                    <a:solidFill>
                      <a:srgbClr val="F8FDFA"/>
                    </a:solidFill>
                  </a:tcPr>
                </a:tc>
              </a:tr>
              <a:tr h="342900">
                <a:tc>
                  <a:txBody>
                    <a:bodyPr wrap="square"/>
                    <a:lstStyle/>
                    <a:p>
                      <a:pPr algn="ctr">
                        <a:lnSpc>
                          <a:spcPct val="96000"/>
                        </a:lnSpc>
                      </a:pPr>
                      <a:r>
                        <a:rPr sz="1270" b="1">
                          <a:solidFill>
                            <a:srgbClr val="1B5C80"/>
                          </a:solidFill>
                        </a:rPr>
                        <a:t>チーム7</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89" b="0">
                          <a:solidFill>
                            <a:srgbClr val="232323"/>
                          </a:solidFill>
                        </a:rPr>
                        <a:t>外部連携なし（データは人手取得）</a:t>
                      </a:r>
                    </a:p>
                  </a:txBody>
                  <a:tcPr marL="50800" marR="50800" marT="12700" marB="12700" anchor="ctr">
                    <a:solidFill>
                      <a:srgbClr val="FFFFFF"/>
                    </a:solidFill>
                  </a:tcPr>
                </a:tc>
              </a:tr>
              <a:tr h="342900">
                <a:tc>
                  <a:txBody>
                    <a:bodyPr wrap="square"/>
                    <a:lstStyle/>
                    <a:p>
                      <a:pPr algn="ctr">
                        <a:lnSpc>
                          <a:spcPct val="96000"/>
                        </a:lnSpc>
                      </a:pPr>
                      <a:r>
                        <a:rPr sz="1270" b="1">
                          <a:solidFill>
                            <a:srgbClr val="1B5C80"/>
                          </a:solidFill>
                        </a:rPr>
                        <a:t>チーム8</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予定表・会議室・メールの権限整備が要</a:t>
                      </a:r>
                    </a:p>
                  </a:txBody>
                  <a:tcPr marL="50800" marR="50800" marT="12700" marB="12700" anchor="ctr">
                    <a:solidFill>
                      <a:srgbClr val="F8FDFA"/>
                    </a:solidFill>
                  </a:tcPr>
                </a:tc>
              </a:tr>
              <a:tr h="342900">
                <a:tc>
                  <a:txBody>
                    <a:bodyPr wrap="square"/>
                    <a:lstStyle/>
                    <a:p>
                      <a:pPr algn="ctr">
                        <a:lnSpc>
                          <a:spcPct val="96000"/>
                        </a:lnSpc>
                      </a:pPr>
                      <a:r>
                        <a:rPr sz="1270" b="1">
                          <a:solidFill>
                            <a:srgbClr val="1B5C80"/>
                          </a:solidFill>
                        </a:rPr>
                        <a:t>チーム9</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中〜高</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大</a:t>
                      </a:r>
                    </a:p>
                  </a:txBody>
                  <a:tcPr marL="50800" marR="50800" marT="12700" marB="12700" anchor="ctr">
                    <a:solidFill>
                      <a:srgbClr val="FAE5E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89" b="0">
                          <a:solidFill>
                            <a:srgbClr val="232323"/>
                          </a:solidFill>
                        </a:rPr>
                        <a:t>社外秘資料・共有サーバ・送信可否</a:t>
                      </a:r>
                    </a:p>
                  </a:txBody>
                  <a:tcPr marL="50800" marR="50800" marT="12700" marB="12700" anchor="ctr">
                    <a:solidFill>
                      <a:srgbClr val="FFFFFF"/>
                    </a:solidFill>
                  </a:tcPr>
                </a:tc>
              </a:tr>
              <a:tr h="342900">
                <a:tc>
                  <a:txBody>
                    <a:bodyPr wrap="square"/>
                    <a:lstStyle/>
                    <a:p>
                      <a:pPr algn="ctr">
                        <a:lnSpc>
                          <a:spcPct val="96000"/>
                        </a:lnSpc>
                      </a:pPr>
                      <a:r>
                        <a:rPr sz="1270" b="1">
                          <a:solidFill>
                            <a:srgbClr val="1B5C80"/>
                          </a:solidFill>
                        </a:rPr>
                        <a:t>チーム10</a:t>
                      </a:r>
                    </a:p>
                  </a:txBody>
                  <a:tcPr marL="50800" marR="50800" marT="12700" marB="12700" anchor="ctr">
                    <a:solidFill>
                      <a:srgbClr val="F8FDFA"/>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ctr">
                        <a:lnSpc>
                          <a:spcPct val="96000"/>
                        </a:lnSpc>
                      </a:pPr>
                      <a:r>
                        <a:rPr sz="1270" b="1">
                          <a:solidFill>
                            <a:srgbClr val="232323"/>
                          </a:solidFill>
                        </a:rPr>
                        <a:t>中</a:t>
                      </a:r>
                    </a:p>
                  </a:txBody>
                  <a:tcPr marL="50800" marR="50800" marT="12700" marB="12700" anchor="ctr">
                    <a:solidFill>
                      <a:srgbClr val="DBF1F7"/>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8FDFA"/>
                    </a:solidFill>
                  </a:tcPr>
                </a:tc>
                <a:tc>
                  <a:txBody>
                    <a:bodyPr wrap="square"/>
                    <a:lstStyle/>
                    <a:p>
                      <a:pPr algn="l">
                        <a:lnSpc>
                          <a:spcPct val="96000"/>
                        </a:lnSpc>
                      </a:pPr>
                      <a:r>
                        <a:rPr sz="1089" b="0">
                          <a:solidFill>
                            <a:srgbClr val="232323"/>
                          </a:solidFill>
                        </a:rPr>
                        <a:t>文字起こしの権限・転記精度の検証</a:t>
                      </a:r>
                    </a:p>
                  </a:txBody>
                  <a:tcPr marL="50800" marR="50800" marT="12700" marB="12700" anchor="ctr">
                    <a:solidFill>
                      <a:srgbClr val="F8FDFA"/>
                    </a:solidFill>
                  </a:tcPr>
                </a:tc>
              </a:tr>
              <a:tr h="342900">
                <a:tc>
                  <a:txBody>
                    <a:bodyPr wrap="square"/>
                    <a:lstStyle/>
                    <a:p>
                      <a:pPr algn="ctr">
                        <a:lnSpc>
                          <a:spcPct val="96000"/>
                        </a:lnSpc>
                      </a:pPr>
                      <a:r>
                        <a:rPr sz="1270" b="1">
                          <a:solidFill>
                            <a:srgbClr val="1B5C80"/>
                          </a:solidFill>
                        </a:rPr>
                        <a:t>チーム11</a:t>
                      </a:r>
                    </a:p>
                  </a:txBody>
                  <a:tcPr marL="50800" marR="50800" marT="12700" marB="12700" anchor="ctr">
                    <a:solidFill>
                      <a:srgbClr val="FFFFFF"/>
                    </a:solidFill>
                  </a:tcPr>
                </a:tc>
                <a:tc>
                  <a:txBody>
                    <a:bodyPr wrap="square"/>
                    <a:lstStyle/>
                    <a:p>
                      <a:pPr algn="ctr">
                        <a:lnSpc>
                          <a:spcPct val="96000"/>
                        </a:lnSpc>
                      </a:pPr>
                      <a:r>
                        <a:rPr sz="1270" b="1">
                          <a:solidFill>
                            <a:srgbClr val="232323"/>
                          </a:solidFill>
                        </a:rPr>
                        <a:t>中〜高</a:t>
                      </a:r>
                    </a:p>
                  </a:txBody>
                  <a:tcPr marL="50800" marR="50800" marT="12700" marB="12700" anchor="ctr">
                    <a:solidFill>
                      <a:srgbClr val="E7E8F8"/>
                    </a:solidFill>
                  </a:tcPr>
                </a:tc>
                <a:tc>
                  <a:txBody>
                    <a:bodyPr wrap="square"/>
                    <a:lstStyle/>
                    <a:p>
                      <a:pPr algn="ctr">
                        <a:lnSpc>
                          <a:spcPct val="96000"/>
                        </a:lnSpc>
                      </a:pPr>
                      <a:r>
                        <a:rPr sz="1270" b="1">
                          <a:solidFill>
                            <a:srgbClr val="232323"/>
                          </a:solidFill>
                        </a:rPr>
                        <a:t>大</a:t>
                      </a:r>
                    </a:p>
                  </a:txBody>
                  <a:tcPr marL="50800" marR="50800" marT="12700" marB="12700" anchor="ctr">
                    <a:solidFill>
                      <a:srgbClr val="FAE5E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ctr">
                        <a:lnSpc>
                          <a:spcPct val="96000"/>
                        </a:lnSpc>
                      </a:pPr>
                      <a:r>
                        <a:rPr sz="1270" b="1">
                          <a:solidFill>
                            <a:srgbClr val="1B5C80"/>
                          </a:solidFill>
                        </a:rPr>
                        <a:t>●</a:t>
                      </a:r>
                    </a:p>
                  </a:txBody>
                  <a:tcPr marL="50800" marR="50800" marT="12700" marB="12700" anchor="ctr">
                    <a:solidFill>
                      <a:srgbClr val="A6E2F3"/>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00" b="0">
                          <a:solidFill>
                            <a:srgbClr val="232323"/>
                          </a:solidFill>
                        </a:rPr>
                        <a:t/>
                      </a:r>
                    </a:p>
                  </a:txBody>
                  <a:tcPr marL="50800" marR="50800" marT="12700" marB="12700" anchor="ctr">
                    <a:solidFill>
                      <a:srgbClr val="FFFFFF"/>
                    </a:solidFill>
                  </a:tcPr>
                </a:tc>
                <a:tc>
                  <a:txBody>
                    <a:bodyPr wrap="square"/>
                    <a:lstStyle/>
                    <a:p>
                      <a:pPr algn="l">
                        <a:lnSpc>
                          <a:spcPct val="96000"/>
                        </a:lnSpc>
                      </a:pPr>
                      <a:r>
                        <a:rPr sz="1089" b="0">
                          <a:solidFill>
                            <a:srgbClr val="232323"/>
                          </a:solidFill>
                        </a:rPr>
                        <a:t>本番移行・FAQ品質・運用保守が焦点</a:t>
                      </a:r>
                    </a:p>
                  </a:txBody>
                  <a:tcPr marL="50800" marR="50800" marT="12700" marB="12700" anchor="ctr">
                    <a:solidFill>
                      <a:srgbClr val="FFFFFF"/>
                    </a:solidFill>
                  </a:tcPr>
                </a:tc>
              </a:tr>
            </a:tbl>
          </a:graphicData>
        </a:graphic>
      </p:graphicFrame>
      <p:pic>
        <p:nvPicPr>
          <p:cNvPr id="13"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1568" y="1344168"/>
            <a:ext cx="219456" cy="11927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4151376" y="1344168"/>
            <a:ext cx="216839" cy="21945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4901184" y="1344168"/>
            <a:ext cx="219456" cy="15811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outlook アイコン に対する画像結果">
            <a:extLst>
              <a:ext uri="{FF2B5EF4-FFF2-40B4-BE49-F238E27FC236}">
                <a16:creationId xmlns:a16="http://schemas.microsoft.com/office/drawing/2014/main" id="{6FE74E7B-573A-01B7-97DF-C1548AB0A5A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843" b="93701" l="787" r="97638">
                        <a14:foregroundMark x1="29134" y1="45276" x2="29134" y2="45276"/>
                        <a14:foregroundMark x1="29921" y1="44882" x2="55906" y2="46457"/>
                        <a14:foregroundMark x1="1181" y1="28346" x2="4724" y2="48031"/>
                        <a14:foregroundMark x1="4724" y1="48031" x2="33465" y2="60236"/>
                        <a14:foregroundMark x1="33465" y1="60236" x2="60236" y2="56299"/>
                        <a14:foregroundMark x1="44882" y1="10630" x2="81890" y2="20472"/>
                        <a14:foregroundMark x1="81890" y1="20472" x2="87402" y2="39370"/>
                        <a14:foregroundMark x1="87402" y1="39370" x2="86614" y2="43307"/>
                        <a14:foregroundMark x1="66142" y1="26378" x2="92913" y2="54331"/>
                        <a14:foregroundMark x1="91732" y1="70866" x2="58268" y2="84646"/>
                        <a14:foregroundMark x1="58268" y1="84646" x2="34646" y2="78346"/>
                        <a14:foregroundMark x1="34646" y1="78346" x2="14961" y2="65354"/>
                        <a14:foregroundMark x1="14961" y1="65354" x2="25591" y2="42126"/>
                        <a14:foregroundMark x1="25591" y1="42126" x2="75984" y2="40157"/>
                        <a14:foregroundMark x1="75984" y1="40157" x2="98425" y2="54724"/>
                        <a14:foregroundMark x1="98425" y1="54724" x2="87008" y2="79528"/>
                        <a14:foregroundMark x1="87008" y1="79528" x2="57087" y2="89370"/>
                        <a14:foregroundMark x1="57087" y1="89370" x2="48819" y2="74409"/>
                        <a14:foregroundMark x1="17323" y1="39370" x2="38976" y2="38976"/>
                        <a14:foregroundMark x1="38976" y1="38976" x2="61024" y2="22047"/>
                        <a14:foregroundMark x1="61024" y1="22047" x2="64567" y2="16929"/>
                        <a14:foregroundMark x1="41339" y1="89370" x2="66142" y2="88189"/>
                        <a14:foregroundMark x1="66142" y1="88189" x2="74409" y2="88189"/>
                        <a14:foregroundMark x1="29134" y1="88976" x2="54276" y2="93110"/>
                        <a14:foregroundMark x1="62162" y1="92645" x2="85039" y2="87008"/>
                        <a14:foregroundMark x1="37008" y1="52362" x2="9449" y2="65748"/>
                        <a14:foregroundMark x1="9449" y1="65748" x2="787" y2="54331"/>
                        <a14:foregroundMark x1="14961" y1="43701" x2="26772" y2="58661"/>
                        <a14:foregroundMark x1="27559" y1="62205" x2="27559" y2="62205"/>
                        <a14:foregroundMark x1="37008" y1="13780" x2="37008" y2="13780"/>
                        <a14:foregroundMark x1="68898" y1="11811" x2="68898" y2="11811"/>
                        <a14:foregroundMark x1="76772" y1="10236" x2="76772" y2="10236"/>
                        <a14:foregroundMark x1="86220" y1="11024" x2="75197" y2="12598"/>
                        <a14:foregroundMark x1="93701" y1="50000" x2="93307" y2="51575"/>
                        <a14:backgroundMark x1="55512" y1="95669" x2="60236" y2="95669"/>
                        <a14:backgroundMark x1="60236" y1="95669" x2="55906" y2="95669"/>
                      </a14:backgroundRemoval>
                    </a14:imgEffect>
                  </a14:imgLayer>
                </a14:imgProps>
              </a:ext>
              <a:ext uri="{28A0092B-C50C-407E-A947-70E740481C1C}">
                <a14:useLocalDpi xmlns:a14="http://schemas.microsoft.com/office/drawing/2010/main" val="0"/>
              </a:ext>
            </a:extLst>
          </a:blip>
          <a:srcRect/>
          <a:stretch>
            <a:fillRect/>
          </a:stretch>
        </p:blipFill>
        <p:spPr bwMode="auto">
          <a:xfrm>
            <a:off x="5650992" y="1344168"/>
            <a:ext cx="219456" cy="219456"/>
          </a:xfrm>
          <a:prstGeom prst="rect">
            <a:avLst/>
          </a:prstGeom>
          <a:noFill/>
          <a:extLst>
            <a:ext uri="{909E8E84-426E-40DD-AFC4-6F175D3DCCD1}">
              <a14:hiddenFill xmlns:a14="http://schemas.microsoft.com/office/drawing/2010/main">
                <a:solidFill>
                  <a:srgbClr val="FFFFFF"/>
                </a:solidFill>
              </a14:hiddenFill>
            </a:ext>
          </a:extLst>
        </p:spPr>
      </p:pic>
      <p:pic>
        <p:nvPicPr>
          <p:cNvPr id="7" name="グラフィックス 6" descr="円グラフ 単色塗りつぶし">
            <a:extLst>
              <a:ext uri="{FF2B5EF4-FFF2-40B4-BE49-F238E27FC236}">
                <a16:creationId xmlns:a16="http://schemas.microsoft.com/office/drawing/2014/main" id="{F9A215B2-ADA0-323F-FAF1-F768B2876CA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50608" y="1344168"/>
            <a:ext cx="219456" cy="219456"/>
          </a:xfrm>
          <a:prstGeom prst="rect">
            <a:avLst/>
          </a:prstGeom>
        </p:spPr>
      </p:pic>
      <p:pic>
        <p:nvPicPr>
          <p:cNvPr id="178" name="Picture 28" descr="Microsoft Excel Logo – PNG e Vetor – Download de Logo">
            <a:extLst>
              <a:ext uri="{FF2B5EF4-FFF2-40B4-BE49-F238E27FC236}">
                <a16:creationId xmlns:a16="http://schemas.microsoft.com/office/drawing/2014/main" id="{965D3620-FE3E-E9BE-B5D1-EC4F20D1D3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0416" y="1344168"/>
            <a:ext cx="219455" cy="219456"/>
          </a:xfrm>
          <a:prstGeom prst="rect">
            <a:avLst/>
          </a:prstGeom>
          <a:noFill/>
          <a:extLst>
            <a:ext uri="{909E8E84-426E-40DD-AFC4-6F175D3DCCD1}">
              <a14:hiddenFill xmlns:a14="http://schemas.microsoft.com/office/drawing/2010/main">
                <a:solidFill>
                  <a:srgbClr val="FFFFFF"/>
                </a:solidFill>
              </a14:hiddenFill>
            </a:ext>
          </a:extLst>
        </p:spPr>
      </p:pic>
      <p:pic>
        <p:nvPicPr>
          <p:cNvPr id="179" name="Picture 30" descr="Microsoft PowerPoint Logo - PNG and Vector - Logo Download">
            <a:extLst>
              <a:ext uri="{FF2B5EF4-FFF2-40B4-BE49-F238E27FC236}">
                <a16:creationId xmlns:a16="http://schemas.microsoft.com/office/drawing/2014/main" id="{FCDCAA7A-5916-B3BA-9493-3B02330A2A8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50224" y="1344168"/>
            <a:ext cx="219456" cy="204144"/>
          </a:xfrm>
          <a:prstGeom prst="rect">
            <a:avLst/>
          </a:prstGeom>
          <a:noFill/>
          <a:extLst>
            <a:ext uri="{909E8E84-426E-40DD-AFC4-6F175D3DCCD1}">
              <a14:hiddenFill xmlns:a14="http://schemas.microsoft.com/office/drawing/2010/main">
                <a:solidFill>
                  <a:srgbClr val="FFFFFF"/>
                </a:solidFill>
              </a14:hiddenFill>
            </a:ext>
          </a:extLst>
        </p:spPr>
      </p:pic>
      <p:sp>
        <p:nvSpPr>
          <p:cNvPr id="180" name="Rectangle 179"/>
          <p:cNvSpPr/>
          <p:nvPr/>
        </p:nvSpPr>
        <p:spPr>
          <a:xfrm>
            <a:off x="740664" y="5783580"/>
            <a:ext cx="10716768" cy="566928"/>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8680" y="5856732"/>
            <a:ext cx="182880" cy="182880"/>
          </a:xfrm>
          <a:prstGeom prst="rect">
            <a:avLst/>
          </a:prstGeom>
          <a:noFill/>
          <a:extLst>
            <a:ext uri="{909E8E84-426E-40DD-AFC4-6F175D3DCCD1}">
              <a14:hiddenFill xmlns:a14="http://schemas.microsoft.com/office/drawing/2010/main">
                <a:solidFill>
                  <a:srgbClr val="FFFFFF"/>
                </a:solidFill>
              </a14:hiddenFill>
            </a:ext>
          </a:extLst>
        </p:spPr>
      </p:pic>
      <p:sp>
        <p:nvSpPr>
          <p:cNvPr id="181" name="TextBox 180"/>
          <p:cNvSpPr txBox="1"/>
          <p:nvPr/>
        </p:nvSpPr>
        <p:spPr>
          <a:xfrm>
            <a:off x="1106424" y="5801868"/>
            <a:ext cx="10222992" cy="530352"/>
          </a:xfrm>
          <a:prstGeom prst="rect">
            <a:avLst/>
          </a:prstGeom>
          <a:noFill/>
        </p:spPr>
        <p:txBody>
          <a:bodyPr wrap="square" anchor="t" lIns="25400" rIns="25400" tIns="12700" bIns="12700">
            <a:spAutoFit/>
          </a:bodyPr>
          <a:lstStyle/>
          <a:p>
            <a:pPr algn="l">
              <a:lnSpc>
                <a:spcPct val="120000"/>
              </a:lnSpc>
            </a:pPr>
            <a:r>
              <a:rPr sz="1089" b="0">
                <a:solidFill>
                  <a:srgbClr val="232323"/>
                </a:solidFill>
              </a:rPr>
              <a:t>● ＝ 想定される使用アプリ（Copilot Studio は全11チームが使用のため列を省略）／難易度：中＝M365標準で実現しやすい・中〜高＝検証項目が多い・高＝外部連携や制約が大きい</a:t>
            </a:r>
          </a:p>
          <a:p>
            <a:pPr algn="l">
              <a:lnSpc>
                <a:spcPct val="120000"/>
              </a:lnSpc>
            </a:pPr>
            <a:r>
              <a:rPr sz="1089" b="0">
                <a:solidFill>
                  <a:srgbClr val="232323"/>
                </a:solidFill>
              </a:rPr>
              <a:t>ボリューム ＝ 企画着手から実業務で使い始めるまでの総作業量（開発＋資料整備＋連携・権限・本番移行・運用展開）　※暫定評価</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第2回で挙がった課題は、大きく3点</a:t>
            </a:r>
          </a:p>
        </p:txBody>
      </p:sp>
      <p:sp>
        <p:nvSpPr>
          <p:cNvPr id="3" name="Text Placeholder 2"/>
          <p:cNvSpPr>
            <a:spLocks noGrp="1"/>
          </p:cNvSpPr>
          <p:nvPr>
            <p:ph type="body" idx="2" sz="half"/>
          </p:nvPr>
        </p:nvSpPr>
        <p:spPr/>
        <p:txBody>
          <a:bodyPr wrap="square"/>
          <a:lstStyle/>
          <a:p>
            <a:r>
              <a:rPr sz="1270">
                <a:solidFill>
                  <a:srgbClr val="6E767C"/>
                </a:solidFill>
              </a:rPr>
              <a:t>チーム1・2・3・4・5・10・11で実際に挙がった論点を集約</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8</a:t>
            </a:r>
          </a:p>
        </p:txBody>
      </p:sp>
      <p:sp>
        <p:nvSpPr>
          <p:cNvPr id="5" name="Rectangle 4"/>
          <p:cNvSpPr/>
          <p:nvPr/>
        </p:nvSpPr>
        <p:spPr>
          <a:xfrm>
            <a:off x="740664" y="1325880"/>
            <a:ext cx="10716768" cy="1563624"/>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0664" y="1325880"/>
            <a:ext cx="3200400" cy="1563624"/>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508760"/>
            <a:ext cx="731520" cy="502920"/>
          </a:xfrm>
          <a:prstGeom prst="rect">
            <a:avLst/>
          </a:prstGeom>
          <a:noFill/>
        </p:spPr>
        <p:txBody>
          <a:bodyPr wrap="square" anchor="t" lIns="25400" rIns="25400" tIns="12700" bIns="12700">
            <a:spAutoFit/>
          </a:bodyPr>
          <a:lstStyle/>
          <a:p>
            <a:pPr algn="ctr">
              <a:lnSpc>
                <a:spcPct val="100000"/>
              </a:lnSpc>
            </a:pPr>
            <a:r>
              <a:rPr sz="2800" b="1">
                <a:solidFill>
                  <a:srgbClr val="232323"/>
                </a:solidFill>
              </a:rPr>
              <a:t>01</a:t>
            </a:r>
          </a:p>
        </p:txBody>
      </p:sp>
      <p:sp>
        <p:nvSpPr>
          <p:cNvPr id="8" name="TextBox 7"/>
          <p:cNvSpPr txBox="1"/>
          <p:nvPr/>
        </p:nvSpPr>
        <p:spPr>
          <a:xfrm>
            <a:off x="1655064" y="1600200"/>
            <a:ext cx="2194560" cy="457200"/>
          </a:xfrm>
          <a:prstGeom prst="rect">
            <a:avLst/>
          </a:prstGeom>
          <a:noFill/>
        </p:spPr>
        <p:txBody>
          <a:bodyPr wrap="square" anchor="t" lIns="25400" rIns="25400" tIns="12700" bIns="12700">
            <a:spAutoFit/>
          </a:bodyPr>
          <a:lstStyle/>
          <a:p>
            <a:pPr algn="l">
              <a:lnSpc>
                <a:spcPct val="105000"/>
              </a:lnSpc>
            </a:pPr>
            <a:r>
              <a:rPr sz="1632" b="1">
                <a:solidFill>
                  <a:srgbClr val="232323"/>
                </a:solidFill>
              </a:rPr>
              <a:t>使えるデータ・環境</a:t>
            </a:r>
          </a:p>
        </p:txBody>
      </p:sp>
      <p:sp>
        <p:nvSpPr>
          <p:cNvPr id="9" name="TextBox 8"/>
          <p:cNvSpPr txBox="1"/>
          <p:nvPr/>
        </p:nvSpPr>
        <p:spPr>
          <a:xfrm>
            <a:off x="1655064" y="2130552"/>
            <a:ext cx="2194560" cy="274320"/>
          </a:xfrm>
          <a:prstGeom prst="rect">
            <a:avLst/>
          </a:prstGeom>
          <a:noFill/>
        </p:spPr>
        <p:txBody>
          <a:bodyPr wrap="square" anchor="t" lIns="25400" rIns="25400" tIns="12700" bIns="12700">
            <a:spAutoFit/>
          </a:bodyPr>
          <a:lstStyle/>
          <a:p>
            <a:pPr algn="l">
              <a:lnSpc>
                <a:spcPct val="100000"/>
              </a:lnSpc>
            </a:pPr>
            <a:r>
              <a:rPr sz="1089" b="0">
                <a:solidFill>
                  <a:srgbClr val="232323"/>
                </a:solidFill>
              </a:rPr>
              <a:t>ガバナンス・制約</a:t>
            </a:r>
          </a:p>
        </p:txBody>
      </p:sp>
      <p:sp>
        <p:nvSpPr>
          <p:cNvPr id="10" name="Rectangle 9"/>
          <p:cNvSpPr/>
          <p:nvPr/>
        </p:nvSpPr>
        <p:spPr>
          <a:xfrm>
            <a:off x="4142232" y="1545336"/>
            <a:ext cx="91440" cy="9144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435608"/>
            <a:ext cx="6949440" cy="292608"/>
          </a:xfrm>
          <a:prstGeom prst="rect">
            <a:avLst/>
          </a:prstGeom>
          <a:noFill/>
        </p:spPr>
        <p:txBody>
          <a:bodyPr wrap="square" anchor="t" lIns="25400" rIns="25400" tIns="12700" bIns="12700">
            <a:spAutoFit/>
          </a:bodyPr>
          <a:lstStyle/>
          <a:p>
            <a:pPr algn="l">
              <a:lnSpc>
                <a:spcPct val="100000"/>
              </a:lnSpc>
            </a:pPr>
            <a:r>
              <a:rPr sz="1089" b="0">
                <a:solidFill>
                  <a:srgbClr val="232323"/>
                </a:solidFill>
              </a:rPr>
              <a:t>外部Web参照・M365外連携・機密情報は原則不可。依存する案は再設計が必要　… チーム3・4</a:t>
            </a:r>
          </a:p>
        </p:txBody>
      </p:sp>
      <p:sp>
        <p:nvSpPr>
          <p:cNvPr id="12" name="Rectangle 11"/>
          <p:cNvSpPr/>
          <p:nvPr/>
        </p:nvSpPr>
        <p:spPr>
          <a:xfrm>
            <a:off x="4142232" y="1856232"/>
            <a:ext cx="91440" cy="9144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1746504"/>
            <a:ext cx="6949440" cy="292608"/>
          </a:xfrm>
          <a:prstGeom prst="rect">
            <a:avLst/>
          </a:prstGeom>
          <a:noFill/>
        </p:spPr>
        <p:txBody>
          <a:bodyPr wrap="square" anchor="t" lIns="25400" rIns="25400" tIns="12700" bIns="12700">
            <a:spAutoFit/>
          </a:bodyPr>
          <a:lstStyle/>
          <a:p>
            <a:pPr algn="l">
              <a:lnSpc>
                <a:spcPct val="100000"/>
              </a:lnSpc>
            </a:pPr>
            <a:r>
              <a:rPr sz="1089" b="0">
                <a:solidFill>
                  <a:srgbClr val="232323"/>
                </a:solidFill>
              </a:rPr>
              <a:t>開発環境から本番環境への移行は、社内の申請・決裁フローを要確認　… チーム11</a:t>
            </a:r>
          </a:p>
        </p:txBody>
      </p:sp>
      <p:sp>
        <p:nvSpPr>
          <p:cNvPr id="14" name="TextBox 13"/>
          <p:cNvSpPr txBox="1"/>
          <p:nvPr/>
        </p:nvSpPr>
        <p:spPr>
          <a:xfrm>
            <a:off x="4142232" y="2505456"/>
            <a:ext cx="7269480" cy="310896"/>
          </a:xfrm>
          <a:prstGeom prst="rect">
            <a:avLst/>
          </a:prstGeom>
          <a:noFill/>
        </p:spPr>
        <p:txBody>
          <a:bodyPr wrap="square" anchor="t" lIns="25400" rIns="25400" tIns="12700" bIns="12700">
            <a:spAutoFit/>
          </a:bodyPr>
          <a:lstStyle/>
          <a:p>
            <a:pPr algn="l">
              <a:lnSpc>
                <a:spcPct val="100000"/>
              </a:lnSpc>
            </a:pPr>
            <a:r>
              <a:rPr sz="1089" b="1">
                <a:solidFill>
                  <a:srgbClr val="1B5C80"/>
                </a:solidFill>
              </a:rPr>
              <a:t>▶ 事務局へ：可否の判断を早期に。抵触時は案が頓挫するため最優先で確認したい。</a:t>
            </a:r>
          </a:p>
        </p:txBody>
      </p:sp>
      <p:sp>
        <p:nvSpPr>
          <p:cNvPr id="15" name="Rectangle 14"/>
          <p:cNvSpPr/>
          <p:nvPr/>
        </p:nvSpPr>
        <p:spPr>
          <a:xfrm>
            <a:off x="740664" y="3035808"/>
            <a:ext cx="10716768" cy="156362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 y="3035808"/>
            <a:ext cx="3200400" cy="1563624"/>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 y="3218688"/>
            <a:ext cx="731520" cy="502920"/>
          </a:xfrm>
          <a:prstGeom prst="rect">
            <a:avLst/>
          </a:prstGeom>
          <a:noFill/>
        </p:spPr>
        <p:txBody>
          <a:bodyPr wrap="square" anchor="t" lIns="25400" rIns="25400" tIns="12700" bIns="12700">
            <a:spAutoFit/>
          </a:bodyPr>
          <a:lstStyle/>
          <a:p>
            <a:pPr algn="ctr">
              <a:lnSpc>
                <a:spcPct val="100000"/>
              </a:lnSpc>
            </a:pPr>
            <a:r>
              <a:rPr sz="2800" b="1">
                <a:solidFill>
                  <a:srgbClr val="232323"/>
                </a:solidFill>
              </a:rPr>
              <a:t>02</a:t>
            </a:r>
          </a:p>
        </p:txBody>
      </p:sp>
      <p:sp>
        <p:nvSpPr>
          <p:cNvPr id="18" name="TextBox 17"/>
          <p:cNvSpPr txBox="1"/>
          <p:nvPr/>
        </p:nvSpPr>
        <p:spPr>
          <a:xfrm>
            <a:off x="1655064" y="3310128"/>
            <a:ext cx="2194560" cy="457200"/>
          </a:xfrm>
          <a:prstGeom prst="rect">
            <a:avLst/>
          </a:prstGeom>
          <a:noFill/>
        </p:spPr>
        <p:txBody>
          <a:bodyPr wrap="square" anchor="t" lIns="25400" rIns="25400" tIns="12700" bIns="12700">
            <a:spAutoFit/>
          </a:bodyPr>
          <a:lstStyle/>
          <a:p>
            <a:pPr algn="l">
              <a:lnSpc>
                <a:spcPct val="105000"/>
              </a:lnSpc>
            </a:pPr>
            <a:r>
              <a:rPr sz="1632" b="1">
                <a:solidFill>
                  <a:srgbClr val="232323"/>
                </a:solidFill>
              </a:rPr>
              <a:t>進め方の型</a:t>
            </a:r>
          </a:p>
        </p:txBody>
      </p:sp>
      <p:sp>
        <p:nvSpPr>
          <p:cNvPr id="19" name="TextBox 18"/>
          <p:cNvSpPr txBox="1"/>
          <p:nvPr/>
        </p:nvSpPr>
        <p:spPr>
          <a:xfrm>
            <a:off x="1655064" y="3840480"/>
            <a:ext cx="2194560" cy="274320"/>
          </a:xfrm>
          <a:prstGeom prst="rect">
            <a:avLst/>
          </a:prstGeom>
          <a:noFill/>
        </p:spPr>
        <p:txBody>
          <a:bodyPr wrap="square" anchor="t" lIns="25400" rIns="25400" tIns="12700" bIns="12700">
            <a:spAutoFit/>
          </a:bodyPr>
          <a:lstStyle/>
          <a:p>
            <a:pPr algn="l">
              <a:lnSpc>
                <a:spcPct val="100000"/>
              </a:lnSpc>
            </a:pPr>
            <a:r>
              <a:rPr sz="1089" b="0">
                <a:solidFill>
                  <a:srgbClr val="232323"/>
                </a:solidFill>
              </a:rPr>
              <a:t>構築フェーズの支援</a:t>
            </a:r>
          </a:p>
        </p:txBody>
      </p:sp>
      <p:sp>
        <p:nvSpPr>
          <p:cNvPr id="20" name="Rectangle 19"/>
          <p:cNvSpPr/>
          <p:nvPr/>
        </p:nvSpPr>
        <p:spPr>
          <a:xfrm>
            <a:off x="4142232" y="3255264"/>
            <a:ext cx="91440" cy="9144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3145536"/>
            <a:ext cx="6949440" cy="292608"/>
          </a:xfrm>
          <a:prstGeom prst="rect">
            <a:avLst/>
          </a:prstGeom>
          <a:noFill/>
        </p:spPr>
        <p:txBody>
          <a:bodyPr wrap="square" anchor="t" lIns="25400" rIns="25400" tIns="12700" bIns="12700">
            <a:spAutoFit/>
          </a:bodyPr>
          <a:lstStyle/>
          <a:p>
            <a:pPr algn="l">
              <a:lnSpc>
                <a:spcPct val="100000"/>
              </a:lnSpc>
            </a:pPr>
            <a:r>
              <a:rPr sz="1089" b="0">
                <a:solidFill>
                  <a:srgbClr val="232323"/>
                </a:solidFill>
              </a:rPr>
              <a:t>開発手順の型（基本フォーマット）と8〜9月のスケジュール提示　… チーム1・5</a:t>
            </a:r>
          </a:p>
        </p:txBody>
      </p:sp>
      <p:sp>
        <p:nvSpPr>
          <p:cNvPr id="22" name="Rectangle 21"/>
          <p:cNvSpPr/>
          <p:nvPr/>
        </p:nvSpPr>
        <p:spPr>
          <a:xfrm>
            <a:off x="4142232" y="3566160"/>
            <a:ext cx="91440" cy="9144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3456432"/>
            <a:ext cx="6949440" cy="292608"/>
          </a:xfrm>
          <a:prstGeom prst="rect">
            <a:avLst/>
          </a:prstGeom>
          <a:noFill/>
        </p:spPr>
        <p:txBody>
          <a:bodyPr wrap="square" anchor="t" lIns="25400" rIns="25400" tIns="12700" bIns="12700">
            <a:spAutoFit/>
          </a:bodyPr>
          <a:lstStyle/>
          <a:p>
            <a:pPr algn="l">
              <a:lnSpc>
                <a:spcPct val="100000"/>
              </a:lnSpc>
            </a:pPr>
            <a:r>
              <a:rPr sz="1089" b="0">
                <a:solidFill>
                  <a:srgbClr val="232323"/>
                </a:solidFill>
              </a:rPr>
              <a:t>設計相談の進め方と、指示文（プロンプト）の見本　… チーム1・2</a:t>
            </a:r>
          </a:p>
        </p:txBody>
      </p:sp>
      <p:sp>
        <p:nvSpPr>
          <p:cNvPr id="24" name="Rectangle 23"/>
          <p:cNvSpPr/>
          <p:nvPr/>
        </p:nvSpPr>
        <p:spPr>
          <a:xfrm>
            <a:off x="4142232" y="3877056"/>
            <a:ext cx="91440" cy="9144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3767328"/>
            <a:ext cx="6949440" cy="292608"/>
          </a:xfrm>
          <a:prstGeom prst="rect">
            <a:avLst/>
          </a:prstGeom>
          <a:noFill/>
        </p:spPr>
        <p:txBody>
          <a:bodyPr wrap="square" anchor="t" lIns="25400" rIns="25400" tIns="12700" bIns="12700">
            <a:spAutoFit/>
          </a:bodyPr>
          <a:lstStyle/>
          <a:p>
            <a:pPr algn="l">
              <a:lnSpc>
                <a:spcPct val="100000"/>
              </a:lnSpc>
            </a:pPr>
            <a:r>
              <a:rPr sz="1089" b="0">
                <a:solidFill>
                  <a:srgbClr val="232323"/>
                </a:solidFill>
              </a:rPr>
              <a:t>Copilotの回答は鵜呑みにせず、根拠の提示と実機確認で精度を担保　… チーム10</a:t>
            </a:r>
          </a:p>
        </p:txBody>
      </p:sp>
      <p:sp>
        <p:nvSpPr>
          <p:cNvPr id="26" name="TextBox 25"/>
          <p:cNvSpPr txBox="1"/>
          <p:nvPr/>
        </p:nvSpPr>
        <p:spPr>
          <a:xfrm>
            <a:off x="4142232" y="4215384"/>
            <a:ext cx="7269480" cy="310896"/>
          </a:xfrm>
          <a:prstGeom prst="rect">
            <a:avLst/>
          </a:prstGeom>
          <a:noFill/>
        </p:spPr>
        <p:txBody>
          <a:bodyPr wrap="square" anchor="t" lIns="25400" rIns="25400" tIns="12700" bIns="12700">
            <a:spAutoFit/>
          </a:bodyPr>
          <a:lstStyle/>
          <a:p>
            <a:pPr algn="l">
              <a:lnSpc>
                <a:spcPct val="100000"/>
              </a:lnSpc>
            </a:pPr>
            <a:r>
              <a:rPr sz="1089" b="1">
                <a:solidFill>
                  <a:srgbClr val="1B5C80"/>
                </a:solidFill>
              </a:rPr>
              <a:t>▶ 事務局へ：進め方の型・スケジュール・指示文の見本を配布いただきたい。</a:t>
            </a:r>
          </a:p>
        </p:txBody>
      </p:sp>
      <p:sp>
        <p:nvSpPr>
          <p:cNvPr id="27" name="Rectangle 26"/>
          <p:cNvSpPr/>
          <p:nvPr/>
        </p:nvSpPr>
        <p:spPr>
          <a:xfrm>
            <a:off x="740664" y="4745736"/>
            <a:ext cx="10716768" cy="156362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0664" y="4745736"/>
            <a:ext cx="3200400" cy="1563624"/>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5256" y="4928616"/>
            <a:ext cx="731520" cy="502920"/>
          </a:xfrm>
          <a:prstGeom prst="rect">
            <a:avLst/>
          </a:prstGeom>
          <a:noFill/>
        </p:spPr>
        <p:txBody>
          <a:bodyPr wrap="square" anchor="t" lIns="25400" rIns="25400" tIns="12700" bIns="12700">
            <a:spAutoFit/>
          </a:bodyPr>
          <a:lstStyle/>
          <a:p>
            <a:pPr algn="ctr">
              <a:lnSpc>
                <a:spcPct val="100000"/>
              </a:lnSpc>
            </a:pPr>
            <a:r>
              <a:rPr sz="2800" b="1">
                <a:solidFill>
                  <a:srgbClr val="232323"/>
                </a:solidFill>
              </a:rPr>
              <a:t>03</a:t>
            </a:r>
          </a:p>
        </p:txBody>
      </p:sp>
      <p:sp>
        <p:nvSpPr>
          <p:cNvPr id="30" name="TextBox 29"/>
          <p:cNvSpPr txBox="1"/>
          <p:nvPr/>
        </p:nvSpPr>
        <p:spPr>
          <a:xfrm>
            <a:off x="1655064" y="5020056"/>
            <a:ext cx="2194560" cy="457200"/>
          </a:xfrm>
          <a:prstGeom prst="rect">
            <a:avLst/>
          </a:prstGeom>
          <a:noFill/>
        </p:spPr>
        <p:txBody>
          <a:bodyPr wrap="square" anchor="t" lIns="25400" rIns="25400" tIns="12700" bIns="12700">
            <a:spAutoFit/>
          </a:bodyPr>
          <a:lstStyle/>
          <a:p>
            <a:pPr algn="l">
              <a:lnSpc>
                <a:spcPct val="105000"/>
              </a:lnSpc>
            </a:pPr>
            <a:r>
              <a:rPr sz="1632" b="1">
                <a:solidFill>
                  <a:srgbClr val="232323"/>
                </a:solidFill>
              </a:rPr>
              <a:t>10月以降の展開</a:t>
            </a:r>
          </a:p>
        </p:txBody>
      </p:sp>
      <p:sp>
        <p:nvSpPr>
          <p:cNvPr id="31" name="TextBox 30"/>
          <p:cNvSpPr txBox="1"/>
          <p:nvPr/>
        </p:nvSpPr>
        <p:spPr>
          <a:xfrm>
            <a:off x="1655064" y="5550408"/>
            <a:ext cx="2194560" cy="274320"/>
          </a:xfrm>
          <a:prstGeom prst="rect">
            <a:avLst/>
          </a:prstGeom>
          <a:noFill/>
        </p:spPr>
        <p:txBody>
          <a:bodyPr wrap="square" anchor="t" lIns="25400" rIns="25400" tIns="12700" bIns="12700">
            <a:spAutoFit/>
          </a:bodyPr>
          <a:lstStyle/>
          <a:p>
            <a:pPr algn="l">
              <a:lnSpc>
                <a:spcPct val="100000"/>
              </a:lnSpc>
            </a:pPr>
            <a:r>
              <a:rPr sz="1089" b="0">
                <a:solidFill>
                  <a:srgbClr val="232323"/>
                </a:solidFill>
              </a:rPr>
              <a:t>運用・定着</a:t>
            </a:r>
          </a:p>
        </p:txBody>
      </p:sp>
      <p:sp>
        <p:nvSpPr>
          <p:cNvPr id="32" name="Rectangle 31"/>
          <p:cNvSpPr/>
          <p:nvPr/>
        </p:nvSpPr>
        <p:spPr>
          <a:xfrm>
            <a:off x="4142232" y="4965192"/>
            <a:ext cx="91440" cy="91440"/>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43400" y="4855464"/>
            <a:ext cx="6949440" cy="292608"/>
          </a:xfrm>
          <a:prstGeom prst="rect">
            <a:avLst/>
          </a:prstGeom>
          <a:noFill/>
        </p:spPr>
        <p:txBody>
          <a:bodyPr wrap="square" anchor="t" lIns="25400" rIns="25400" tIns="12700" bIns="12700">
            <a:spAutoFit/>
          </a:bodyPr>
          <a:lstStyle/>
          <a:p>
            <a:pPr algn="l">
              <a:lnSpc>
                <a:spcPct val="100000"/>
              </a:lnSpc>
            </a:pPr>
            <a:r>
              <a:rPr sz="1089" b="0">
                <a:solidFill>
                  <a:srgbClr val="232323"/>
                </a:solidFill>
              </a:rPr>
              <a:t>8月のデモは範囲を絞り「入力→処理→出力」を一本通す　… チーム4・5</a:t>
            </a:r>
          </a:p>
        </p:txBody>
      </p:sp>
      <p:sp>
        <p:nvSpPr>
          <p:cNvPr id="34" name="Rectangle 33"/>
          <p:cNvSpPr/>
          <p:nvPr/>
        </p:nvSpPr>
        <p:spPr>
          <a:xfrm>
            <a:off x="4142232" y="5276088"/>
            <a:ext cx="91440" cy="91440"/>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5166360"/>
            <a:ext cx="6949440" cy="292608"/>
          </a:xfrm>
          <a:prstGeom prst="rect">
            <a:avLst/>
          </a:prstGeom>
          <a:noFill/>
        </p:spPr>
        <p:txBody>
          <a:bodyPr wrap="square" anchor="t" lIns="25400" rIns="25400" tIns="12700" bIns="12700">
            <a:spAutoFit/>
          </a:bodyPr>
          <a:lstStyle/>
          <a:p>
            <a:pPr algn="l">
              <a:lnSpc>
                <a:spcPct val="100000"/>
              </a:lnSpc>
            </a:pPr>
            <a:r>
              <a:rPr sz="1089" b="0">
                <a:solidFill>
                  <a:srgbClr val="232323"/>
                </a:solidFill>
              </a:rPr>
              <a:t>手順書・利用ルールの整備（項目の洗い出しと全体量の把握）と運用保守　… チーム5・11</a:t>
            </a:r>
          </a:p>
        </p:txBody>
      </p:sp>
      <p:sp>
        <p:nvSpPr>
          <p:cNvPr id="36" name="Rectangle 35"/>
          <p:cNvSpPr/>
          <p:nvPr/>
        </p:nvSpPr>
        <p:spPr>
          <a:xfrm>
            <a:off x="4142232" y="5586984"/>
            <a:ext cx="91440" cy="91440"/>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43400" y="5477256"/>
            <a:ext cx="6949440" cy="292608"/>
          </a:xfrm>
          <a:prstGeom prst="rect">
            <a:avLst/>
          </a:prstGeom>
          <a:noFill/>
        </p:spPr>
        <p:txBody>
          <a:bodyPr wrap="square" anchor="t" lIns="25400" rIns="25400" tIns="12700" bIns="12700">
            <a:spAutoFit/>
          </a:bodyPr>
          <a:lstStyle/>
          <a:p>
            <a:pPr algn="l">
              <a:lnSpc>
                <a:spcPct val="100000"/>
              </a:lnSpc>
            </a:pPr>
            <a:r>
              <a:rPr sz="1089" b="0">
                <a:solidFill>
                  <a:srgbClr val="232323"/>
                </a:solidFill>
              </a:rPr>
              <a:t>8月以降の定例（週次／隔週）の進め方の案内　… チーム2・10</a:t>
            </a:r>
          </a:p>
        </p:txBody>
      </p:sp>
      <p:sp>
        <p:nvSpPr>
          <p:cNvPr id="38" name="TextBox 37"/>
          <p:cNvSpPr txBox="1"/>
          <p:nvPr/>
        </p:nvSpPr>
        <p:spPr>
          <a:xfrm>
            <a:off x="4142232" y="5925312"/>
            <a:ext cx="7269480" cy="310896"/>
          </a:xfrm>
          <a:prstGeom prst="rect">
            <a:avLst/>
          </a:prstGeom>
          <a:noFill/>
        </p:spPr>
        <p:txBody>
          <a:bodyPr wrap="square" anchor="t" lIns="25400" rIns="25400" tIns="12700" bIns="12700">
            <a:spAutoFit/>
          </a:bodyPr>
          <a:lstStyle/>
          <a:p>
            <a:pPr algn="l">
              <a:lnSpc>
                <a:spcPct val="100000"/>
              </a:lnSpc>
            </a:pPr>
            <a:r>
              <a:rPr sz="1089" b="1">
                <a:solidFill>
                  <a:srgbClr val="1B5C80"/>
                </a:solidFill>
              </a:rPr>
              <a:t>▶ 事務局へ：展開・運用の枠組みと定例の進め方を案内いただきたい。</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40664" y="2331720"/>
            <a:ext cx="1828800" cy="914400"/>
          </a:xfrm>
          <a:prstGeom prst="rect">
            <a:avLst/>
          </a:prstGeom>
          <a:noFill/>
        </p:spPr>
        <p:txBody>
          <a:bodyPr wrap="square" anchor="t" lIns="25400" rIns="25400" tIns="12700" bIns="12700">
            <a:spAutoFit/>
          </a:bodyPr>
          <a:lstStyle/>
          <a:p>
            <a:pPr algn="l">
              <a:lnSpc>
                <a:spcPct val="100000"/>
              </a:lnSpc>
            </a:pPr>
            <a:r>
              <a:rPr sz="5400" b="1">
                <a:solidFill>
                  <a:srgbClr val="A6E2F3"/>
                </a:solidFill>
              </a:rPr>
              <a:t>02</a:t>
            </a:r>
          </a:p>
        </p:txBody>
      </p:sp>
      <p:sp>
        <p:nvSpPr>
          <p:cNvPr id="3" name="TextBox 2"/>
          <p:cNvSpPr txBox="1"/>
          <p:nvPr/>
        </p:nvSpPr>
        <p:spPr>
          <a:xfrm>
            <a:off x="740664" y="3200400"/>
            <a:ext cx="10716768" cy="731520"/>
          </a:xfrm>
          <a:prstGeom prst="rect">
            <a:avLst/>
          </a:prstGeom>
          <a:noFill/>
        </p:spPr>
        <p:txBody>
          <a:bodyPr wrap="square" anchor="t" lIns="25400" rIns="25400" tIns="12700" bIns="12700">
            <a:spAutoFit/>
          </a:bodyPr>
          <a:lstStyle/>
          <a:p>
            <a:pPr algn="l">
              <a:lnSpc>
                <a:spcPct val="100000"/>
              </a:lnSpc>
            </a:pPr>
            <a:r>
              <a:rPr sz="3200" b="1">
                <a:solidFill>
                  <a:srgbClr val="1B5C80"/>
                </a:solidFill>
              </a:rPr>
              <a:t>各チームの状況</a:t>
            </a:r>
          </a:p>
        </p:txBody>
      </p:sp>
      <p:sp>
        <p:nvSpPr>
          <p:cNvPr id="4" name="Rectangle 3"/>
          <p:cNvSpPr/>
          <p:nvPr/>
        </p:nvSpPr>
        <p:spPr>
          <a:xfrm>
            <a:off x="740664" y="4069080"/>
            <a:ext cx="1463040" cy="4572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チーム1：加盟店提出様式の自動チェック</a:t>
            </a:r>
          </a:p>
        </p:txBody>
      </p:sp>
      <p:sp>
        <p:nvSpPr>
          <p:cNvPr id="3" name="Text Placeholder 2"/>
          <p:cNvSpPr>
            <a:spLocks noGrp="1"/>
          </p:cNvSpPr>
          <p:nvPr>
            <p:ph type="body" idx="2" sz="half"/>
          </p:nvPr>
        </p:nvSpPr>
        <p:spPr/>
        <p:txBody>
          <a:bodyPr wrap="square"/>
          <a:lstStyle/>
          <a:p>
            <a:r>
              <a:rPr sz="1270">
                <a:solidFill>
                  <a:srgbClr val="6E767C"/>
                </a:solidFill>
              </a:rPr>
              <a:t>エージェント名：カクニンジャ</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10</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10月発表の見込み（○）の根拠：作るものは明確。開発手順の型とスケジュール提示があれば自走できる。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加盟店から提出される様式の記載漏れ・形式不備をAIがチェックする。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4809744"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28" descr="Microsoft Excel Logo – PNG e Vetor – Download de Logo">
            <a:extLst>
              <a:ext uri="{FF2B5EF4-FFF2-40B4-BE49-F238E27FC236}">
                <a16:creationId xmlns:a16="http://schemas.microsoft.com/office/drawing/2014/main" id="{965D3620-FE3E-E9BE-B5D1-EC4F20D1D3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2352" y="2615184"/>
            <a:ext cx="237743" cy="237744"/>
          </a:xfrm>
          <a:prstGeom prst="rect">
            <a:avLst/>
          </a:prstGeom>
          <a:noFill/>
          <a:extLst>
            <a:ext uri="{909E8E84-426E-40DD-AFC4-6F175D3DCCD1}">
              <a14:hiddenFill xmlns:a14="http://schemas.microsoft.com/office/drawing/2010/main">
                <a:solidFill>
                  <a:srgbClr val="FFFFFF"/>
                </a:solidFill>
              </a14:hiddenFill>
            </a:ext>
          </a:extLst>
        </p:spPr>
      </p:pic>
      <p:sp>
        <p:nvSpPr>
          <p:cNvPr id="179" name="TextBox 178"/>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Copilot チャット ／ Excel ／ SharePoint（想定）</a:t>
            </a:r>
          </a:p>
        </p:txBody>
      </p:sp>
      <p:sp>
        <p:nvSpPr>
          <p:cNvPr id="180" name="Rectangle 179"/>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183" name="TextBox 182"/>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AIの判定結果にばらつきが出る可能性。判定基準と「AIに任せる範囲／人が確認する範囲」の切り分けが必要。</a:t>
            </a:r>
          </a:p>
        </p:txBody>
      </p:sp>
      <p:sp>
        <p:nvSpPr>
          <p:cNvPr id="184" name="Rectangle 183"/>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187" name="TextBox 186"/>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第2回：構築フェーズで何を優先すべきか。開発手順の型（基本フォーマット）と8〜9月のスケジュール提示が欲しい。</a:t>
            </a:r>
          </a:p>
        </p:txBody>
      </p:sp>
      <p:sp>
        <p:nvSpPr>
          <p:cNvPr id="188" name="Rectangle 187"/>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191" name="TextBox 190"/>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8〜9月の進め方は事務局から共有する方針。Copilot Studioは通常のチャットより回答範囲・出力形式を制御しやすい点が利点。</a:t>
            </a:r>
          </a:p>
        </p:txBody>
      </p:sp>
      <p:sp>
        <p:nvSpPr>
          <p:cNvPr id="192" name="Rectangle 191"/>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194" name="TextBox 193"/>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チェック項目を分解し、AI判断・自動化・人の確認の境界を設計。サンプル様式で結果の再現性を確認する。</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チーム2：受付Cエラーの原因案内</a:t>
            </a:r>
          </a:p>
        </p:txBody>
      </p:sp>
      <p:sp>
        <p:nvSpPr>
          <p:cNvPr id="3" name="Text Placeholder 2"/>
          <p:cNvSpPr>
            <a:spLocks noGrp="1"/>
          </p:cNvSpPr>
          <p:nvPr>
            <p:ph type="body" idx="2" sz="half"/>
          </p:nvPr>
        </p:nvSpPr>
        <p:spPr/>
        <p:txBody>
          <a:bodyPr wrap="square"/>
          <a:lstStyle/>
          <a:p>
            <a:r>
              <a:rPr sz="1270">
                <a:solidFill>
                  <a:srgbClr val="6E767C"/>
                </a:solidFill>
              </a:rPr>
              <a:t>エージェント名：受付Cエラー原因ナビゲーター</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11</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10月発表の見込み（○）の根拠：対象エラーと回答テンプレートを絞れば動くデモを作れる。指示文の見本で加速。</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カード会社が受付エラーの原因を自分で解決できるよう、AIが原因と対処を案内する。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744" y="2615184"/>
            <a:ext cx="237744" cy="12921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02352"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18" r="12318"/>
          <a:stretch/>
        </p:blipFill>
        <p:spPr bwMode="auto">
          <a:xfrm>
            <a:off x="5394960" y="2615184"/>
            <a:ext cx="237744" cy="171288"/>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SharePoint ／ Teams・Web画面 ／ Power Automate（想定）</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エラーファイルの取り込み形式と、回答の根拠となるFAQ・ガイドの整備状況が成否を左右する。</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第2回：Copilotに設計や成果物を相談するときの指示文（プロンプト）の見本が欲しい。</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企画内容をそのまま貼り付け、「必要な設定・使うべきアプリ・構成案」を尋ねる進め方を助言。ファイル形式は試して見極める。</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代表的なエラーパターンと回答テンプレートを絞り、最初に作る範囲の入力・出力例を用意する。</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チーム3：加盟店防衛マネジメント支援</a:t>
            </a:r>
          </a:p>
        </p:txBody>
      </p:sp>
      <p:sp>
        <p:nvSpPr>
          <p:cNvPr id="3" name="Text Placeholder 2"/>
          <p:cNvSpPr>
            <a:spLocks noGrp="1"/>
          </p:cNvSpPr>
          <p:nvPr>
            <p:ph type="body" idx="2" sz="half"/>
          </p:nvPr>
        </p:nvSpPr>
        <p:spPr/>
        <p:txBody>
          <a:bodyPr wrap="square"/>
          <a:lstStyle/>
          <a:p>
            <a:r>
              <a:rPr sz="1270">
                <a:solidFill>
                  <a:srgbClr val="6E767C"/>
                </a:solidFill>
              </a:rPr>
              <a:t>エージェント名：加盟店防衛マネジメントエージェント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12</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高</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10月発表の見込み（○）の根拠：構想は明確。使うデータの可否を整理し範囲を絞れば発表できる（作業量は大）。</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営業データを統合し、リスク分析や訪問前のサマリをAIが作成する。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744" y="2615184"/>
            <a:ext cx="237744" cy="12921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02352"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7" name="グラフィックス 6" descr="円グラフ 単色塗りつぶし">
            <a:extLst>
              <a:ext uri="{FF2B5EF4-FFF2-40B4-BE49-F238E27FC236}">
                <a16:creationId xmlns:a16="http://schemas.microsoft.com/office/drawing/2014/main" id="{F9A215B2-ADA0-323F-FAF1-F768B2876C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94960" y="2615184"/>
            <a:ext cx="237744" cy="237744"/>
          </a:xfrm>
          <a:prstGeom prst="rect">
            <a:avLst/>
          </a:prstGeom>
        </p:spPr>
      </p:pic>
      <p:sp>
        <p:nvSpPr>
          <p:cNvPr id="37" name="TextBox 36"/>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Power Automate ／ Power Query ／ SharePoint ／ Power BI ／ Copilot Studio ／ 営業システム等（取得可否が論点）</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外部情報・営業システムからの取得制約が大きい。使うデータを洗い出し、可否の判断を得る必要がある。</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第2回：外部のIR情報等を参照したいが、外部情報の参照禁止によるリスクと代替策を知りたい。</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外部サイトの自動参照は相手先サーバへの負荷などの観点から原則不可。必要な資料は事前に取得し参照資料として登録する方法が現実的。</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使うデータを「M365内／M365外／外部Web」に分類し、最初に作る範囲を再定義する。</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チーム4：市場・企業分析</a:t>
            </a:r>
          </a:p>
        </p:txBody>
      </p:sp>
      <p:sp>
        <p:nvSpPr>
          <p:cNvPr id="3" name="Text Placeholder 2"/>
          <p:cNvSpPr>
            <a:spLocks noGrp="1"/>
          </p:cNvSpPr>
          <p:nvPr>
            <p:ph type="body" idx="2" sz="half"/>
          </p:nvPr>
        </p:nvSpPr>
        <p:spPr/>
        <p:txBody>
          <a:bodyPr wrap="square"/>
          <a:lstStyle/>
          <a:p>
            <a:r>
              <a:rPr sz="1270">
                <a:solidFill>
                  <a:srgbClr val="6E767C"/>
                </a:solidFill>
              </a:rPr>
              <a:t>エージェント名：市場・企業分析エージェント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13</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② 2案から選定中</a:t>
            </a:r>
          </a:p>
        </p:txBody>
      </p:sp>
      <p:sp>
        <p:nvSpPr>
          <p:cNvPr id="13" name="Rounded Rectangle 12"/>
          <p:cNvSpPr/>
          <p:nvPr/>
        </p:nvSpPr>
        <p:spPr>
          <a:xfrm>
            <a:off x="4398264" y="1353312"/>
            <a:ext cx="1371600" cy="347472"/>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高</a:t>
            </a:r>
          </a:p>
        </p:txBody>
      </p:sp>
      <p:sp>
        <p:nvSpPr>
          <p:cNvPr id="14" name="Rounded Rectangle 13"/>
          <p:cNvSpPr/>
          <p:nvPr/>
        </p:nvSpPr>
        <p:spPr>
          <a:xfrm>
            <a:off x="5879592" y="1353312"/>
            <a:ext cx="1600200" cy="347472"/>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中〜大</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10月発表の見込み（△）の根拠：外部Web参照の禁止で企画の中心が抵触。代替案が未確定で、作るものが定まっていない。</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企業名やキーワードを起点に、調査結果の整理と提案書のドラフトをAIが作成する。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744" y="2615184"/>
            <a:ext cx="237744" cy="12921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02352"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18" r="12318"/>
          <a:stretch/>
        </p:blipFill>
        <p:spPr bwMode="auto">
          <a:xfrm>
            <a:off x="5394960" y="2615184"/>
            <a:ext cx="237744" cy="171288"/>
          </a:xfrm>
          <a:prstGeom prst="rect">
            <a:avLst/>
          </a:prstGeom>
          <a:noFill/>
          <a:extLst>
            <a:ext uri="{909E8E84-426E-40DD-AFC4-6F175D3DCCD1}">
              <a14:hiddenFill xmlns:a14="http://schemas.microsoft.com/office/drawing/2010/main">
                <a:solidFill>
                  <a:srgbClr val="FFFFFF"/>
                </a:solidFill>
              </a14:hiddenFill>
            </a:ext>
          </a:extLst>
        </p:spPr>
      </p:pic>
      <p:pic>
        <p:nvPicPr>
          <p:cNvPr id="179" name="Picture 30" descr="Microsoft PowerPoint Logo - PNG and Vector - Logo Download">
            <a:extLst>
              <a:ext uri="{FF2B5EF4-FFF2-40B4-BE49-F238E27FC236}">
                <a16:creationId xmlns:a16="http://schemas.microsoft.com/office/drawing/2014/main" id="{FCDCAA7A-5916-B3BA-9493-3B02330A2A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7568" y="2615184"/>
            <a:ext cx="237744" cy="221156"/>
          </a:xfrm>
          <a:prstGeom prst="rect">
            <a:avLst/>
          </a:prstGeom>
          <a:noFill/>
          <a:extLst>
            <a:ext uri="{909E8E84-426E-40DD-AFC4-6F175D3DCCD1}">
              <a14:hiddenFill xmlns:a14="http://schemas.microsoft.com/office/drawing/2010/main">
                <a:solidFill>
                  <a:srgbClr val="FFFFFF"/>
                </a:solidFill>
              </a14:hiddenFill>
            </a:ext>
          </a:extLst>
        </p:spPr>
      </p:pic>
      <p:sp>
        <p:nvSpPr>
          <p:cNvPr id="180" name="TextBox 179"/>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Power Automate ／ SharePoint ／ Teams ／ Word・PowerPoint（外部Web・RSS・APIは原則不可）</a:t>
            </a:r>
          </a:p>
        </p:txBody>
      </p:sp>
      <p:sp>
        <p:nvSpPr>
          <p:cNvPr id="181" name="Rectangle 180"/>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184" name="TextBox 183"/>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企画の中心が外部情報の取得であるため、今回の条件下では実装できる効果が大きく下がる。</a:t>
            </a:r>
          </a:p>
        </p:txBody>
      </p:sp>
      <p:sp>
        <p:nvSpPr>
          <p:cNvPr id="185" name="Rectangle 184"/>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188" name="TextBox 187"/>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第2回：外部サイトからの情報取得が原則禁止となり、現在の案がガイドラインに抵触する可能性を確認したい。</a:t>
            </a:r>
          </a:p>
        </p:txBody>
      </p:sp>
      <p:sp>
        <p:nvSpPr>
          <p:cNvPr id="189" name="Rectangle 188"/>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192" name="TextBox 191"/>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Web検索が主機能となる場合は案の練り直しが必要。手元の資料を整えてドラフト化するだけで効果が出るかを検討するよう助言。</a:t>
            </a:r>
          </a:p>
        </p:txBody>
      </p:sp>
      <p:sp>
        <p:nvSpPr>
          <p:cNvPr id="193" name="Rectangle 192"/>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195" name="TextBox 194"/>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外部参照なしで成立する使い方に再設計する（過去の調査結果や社内資料をもとにした整理など）。</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チーム5：依頼事項の自動リマインド</a:t>
            </a:r>
          </a:p>
        </p:txBody>
      </p:sp>
      <p:sp>
        <p:nvSpPr>
          <p:cNvPr id="3" name="Text Placeholder 2"/>
          <p:cNvSpPr>
            <a:spLocks noGrp="1"/>
          </p:cNvSpPr>
          <p:nvPr>
            <p:ph type="body" idx="2" sz="half"/>
          </p:nvPr>
        </p:nvSpPr>
        <p:spPr/>
        <p:txBody>
          <a:bodyPr wrap="square"/>
          <a:lstStyle/>
          <a:p>
            <a:r>
              <a:rPr sz="1270">
                <a:solidFill>
                  <a:srgbClr val="6E767C"/>
                </a:solidFill>
              </a:rPr>
              <a:t>エージェント名：おはようリマインドくん</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14</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⑤ 効果試算まで完了</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10月発表の見込み（◎）の根拠：業務の流れ・効果・構成まで具体化済み。8月のデモまで道筋が明確。</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依頼事項の登録・通知・回答集約・未回答者へのリマインドを自動化する。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744" y="2615184"/>
            <a:ext cx="237744" cy="12921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5102352" y="2615184"/>
            <a:ext cx="237744" cy="171288"/>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Microsoft Forms ／ Power Automate ／ Teams ／ 管理ダッシュボード</a:t>
            </a:r>
          </a:p>
        </p:txBody>
      </p:sp>
      <p:sp>
        <p:nvSpPr>
          <p:cNvPr id="35" name="Rectangle 34"/>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38" name="TextBox 37"/>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運用の定着と、依頼元の入力ルールが鍵。リマインドの設計と回答形式の標準化が必要。</a:t>
            </a:r>
          </a:p>
        </p:txBody>
      </p:sp>
      <p:sp>
        <p:nvSpPr>
          <p:cNvPr id="39" name="Rectangle 38"/>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42" name="TextBox 41"/>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第2回：管理表の項目立てをどう始めるか。Copilot Studioの更新に伴う保守リスクも知りたい。</a:t>
            </a:r>
          </a:p>
        </p:txBody>
      </p:sp>
      <p:sp>
        <p:nvSpPr>
          <p:cNvPr id="43" name="Rectangle 42"/>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46" name="TextBox 45"/>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まず項目を仮決めし、3件程度のサンプルで Power Automate から一連の流れを通す。更新による不具合は運用保守の観点で考慮が必要。</a:t>
            </a:r>
          </a:p>
        </p:txBody>
      </p:sp>
      <p:sp>
        <p:nvSpPr>
          <p:cNvPr id="47" name="Rectangle 46"/>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49" name="TextBox 48"/>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「依頼1件の登録→対象者へ通知→回答集約→未回答リマインド」を8月中に動くデモにする。</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チーム6：会議資料作成と会議招集の自動化</a:t>
            </a:r>
          </a:p>
        </p:txBody>
      </p:sp>
      <p:sp>
        <p:nvSpPr>
          <p:cNvPr id="3" name="Text Placeholder 2"/>
          <p:cNvSpPr>
            <a:spLocks noGrp="1"/>
          </p:cNvSpPr>
          <p:nvPr>
            <p:ph type="body" idx="2" sz="half"/>
          </p:nvPr>
        </p:nvSpPr>
        <p:spPr/>
        <p:txBody>
          <a:bodyPr wrap="square"/>
          <a:lstStyle/>
          <a:p>
            <a:r>
              <a:rPr sz="1270">
                <a:solidFill>
                  <a:srgbClr val="6E767C"/>
                </a:solidFill>
              </a:rPr>
              <a:t>エージェント名：Forecast ONE</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15</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中〜高</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第2回 未実施</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10月発表の見込み（○）の根拠：構成は明確。資料収集・資料生成・会議通知を分けて検証すれば発表できる。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フォーキャスト会議の資料作成と、会議の招集をあわせて自動化する。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744" y="2615184"/>
            <a:ext cx="237744" cy="12921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02352"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18" r="12318"/>
          <a:stretch/>
        </p:blipFill>
        <p:spPr bwMode="auto">
          <a:xfrm>
            <a:off x="5394960" y="2615184"/>
            <a:ext cx="237744" cy="17128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outlook アイコン に対する画像結果">
            <a:extLst>
              <a:ext uri="{FF2B5EF4-FFF2-40B4-BE49-F238E27FC236}">
                <a16:creationId xmlns:a16="http://schemas.microsoft.com/office/drawing/2014/main" id="{6FE74E7B-573A-01B7-97DF-C1548AB0A5A9}"/>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9843" b="93701" l="787" r="97638">
                        <a14:foregroundMark x1="29134" y1="45276" x2="29134" y2="45276"/>
                        <a14:foregroundMark x1="29921" y1="44882" x2="55906" y2="46457"/>
                        <a14:foregroundMark x1="1181" y1="28346" x2="4724" y2="48031"/>
                        <a14:foregroundMark x1="4724" y1="48031" x2="33465" y2="60236"/>
                        <a14:foregroundMark x1="33465" y1="60236" x2="60236" y2="56299"/>
                        <a14:foregroundMark x1="44882" y1="10630" x2="81890" y2="20472"/>
                        <a14:foregroundMark x1="81890" y1="20472" x2="87402" y2="39370"/>
                        <a14:foregroundMark x1="87402" y1="39370" x2="86614" y2="43307"/>
                        <a14:foregroundMark x1="66142" y1="26378" x2="92913" y2="54331"/>
                        <a14:foregroundMark x1="91732" y1="70866" x2="58268" y2="84646"/>
                        <a14:foregroundMark x1="58268" y1="84646" x2="34646" y2="78346"/>
                        <a14:foregroundMark x1="34646" y1="78346" x2="14961" y2="65354"/>
                        <a14:foregroundMark x1="14961" y1="65354" x2="25591" y2="42126"/>
                        <a14:foregroundMark x1="25591" y1="42126" x2="75984" y2="40157"/>
                        <a14:foregroundMark x1="75984" y1="40157" x2="98425" y2="54724"/>
                        <a14:foregroundMark x1="98425" y1="54724" x2="87008" y2="79528"/>
                        <a14:foregroundMark x1="87008" y1="79528" x2="57087" y2="89370"/>
                        <a14:foregroundMark x1="57087" y1="89370" x2="48819" y2="74409"/>
                        <a14:foregroundMark x1="17323" y1="39370" x2="38976" y2="38976"/>
                        <a14:foregroundMark x1="38976" y1="38976" x2="61024" y2="22047"/>
                        <a14:foregroundMark x1="61024" y1="22047" x2="64567" y2="16929"/>
                        <a14:foregroundMark x1="41339" y1="89370" x2="66142" y2="88189"/>
                        <a14:foregroundMark x1="66142" y1="88189" x2="74409" y2="88189"/>
                        <a14:foregroundMark x1="29134" y1="88976" x2="54276" y2="93110"/>
                        <a14:foregroundMark x1="62162" y1="92645" x2="85039" y2="87008"/>
                        <a14:foregroundMark x1="37008" y1="52362" x2="9449" y2="65748"/>
                        <a14:foregroundMark x1="9449" y1="65748" x2="787" y2="54331"/>
                        <a14:foregroundMark x1="14961" y1="43701" x2="26772" y2="58661"/>
                        <a14:foregroundMark x1="27559" y1="62205" x2="27559" y2="62205"/>
                        <a14:foregroundMark x1="37008" y1="13780" x2="37008" y2="13780"/>
                        <a14:foregroundMark x1="68898" y1="11811" x2="68898" y2="11811"/>
                        <a14:foregroundMark x1="76772" y1="10236" x2="76772" y2="10236"/>
                        <a14:foregroundMark x1="86220" y1="11024" x2="75197" y2="12598"/>
                        <a14:foregroundMark x1="93701" y1="50000" x2="93307" y2="51575"/>
                        <a14:backgroundMark x1="55512" y1="95669" x2="60236" y2="95669"/>
                        <a14:backgroundMark x1="60236" y1="95669" x2="55906" y2="95669"/>
                      </a14:backgroundRemoval>
                    </a14:imgEffect>
                  </a14:imgLayer>
                </a14:imgProps>
              </a:ext>
              <a:ext uri="{28A0092B-C50C-407E-A947-70E740481C1C}">
                <a14:useLocalDpi xmlns:a14="http://schemas.microsoft.com/office/drawing/2010/main" val="0"/>
              </a:ext>
            </a:extLst>
          </a:blip>
          <a:srcRect/>
          <a:stretch>
            <a:fillRect/>
          </a:stretch>
        </p:blipFill>
        <p:spPr bwMode="auto">
          <a:xfrm>
            <a:off x="5687568"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79" name="Picture 30" descr="Microsoft PowerPoint Logo - PNG and Vector - Logo Download">
            <a:extLst>
              <a:ext uri="{FF2B5EF4-FFF2-40B4-BE49-F238E27FC236}">
                <a16:creationId xmlns:a16="http://schemas.microsoft.com/office/drawing/2014/main" id="{FCDCAA7A-5916-B3BA-9493-3B02330A2A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0176" y="2615184"/>
            <a:ext cx="237744" cy="221156"/>
          </a:xfrm>
          <a:prstGeom prst="rect">
            <a:avLst/>
          </a:prstGeom>
          <a:noFill/>
          <a:extLst>
            <a:ext uri="{909E8E84-426E-40DD-AFC4-6F175D3DCCD1}">
              <a14:hiddenFill xmlns:a14="http://schemas.microsoft.com/office/drawing/2010/main">
                <a:solidFill>
                  <a:srgbClr val="FFFFFF"/>
                </a:solidFill>
              </a14:hiddenFill>
            </a:ext>
          </a:extLst>
        </p:spPr>
      </p:pic>
      <p:sp>
        <p:nvSpPr>
          <p:cNvPr id="180" name="TextBox 179"/>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Power Automate ／ SharePoint・OneDrive ／ Outlook ／ Teams ／ PowerPoint</a:t>
            </a:r>
          </a:p>
        </p:txBody>
      </p:sp>
      <p:sp>
        <p:nvSpPr>
          <p:cNvPr id="181" name="Rectangle 180"/>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184" name="TextBox 183"/>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資料の保管場所、資料の自動生成、会議招集の自動化は、それぞれ分けて実現性を検証する必要がある。</a:t>
            </a:r>
          </a:p>
        </p:txBody>
      </p:sp>
      <p:sp>
        <p:nvSpPr>
          <p:cNvPr id="185" name="Rectangle 184"/>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188" name="TextBox 187"/>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第2回は未実施。第1回では Power Automate と Copilot Studio の違い、研修の予定、困ったときの相談先を確認。</a:t>
            </a:r>
          </a:p>
        </p:txBody>
      </p:sp>
      <p:sp>
        <p:nvSpPr>
          <p:cNvPr id="189" name="Rectangle 188"/>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192" name="TextBox 191"/>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Power AutomateはAIではなく自動化の道具だが、時間削減には重要。資料収集・資料生成・会議通知の役割分担を明確にする必要がある。</a:t>
            </a:r>
          </a:p>
        </p:txBody>
      </p:sp>
      <p:sp>
        <p:nvSpPr>
          <p:cNvPr id="193" name="Rectangle 192"/>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195" name="TextBox 194"/>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3つの入力資料・前月資料・出力資料・会議通知について、データの流れをM365内で整理する。</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チーム7：加盟店課金精算のチェック</a:t>
            </a:r>
          </a:p>
        </p:txBody>
      </p:sp>
      <p:sp>
        <p:nvSpPr>
          <p:cNvPr id="3" name="Text Placeholder 2"/>
          <p:cNvSpPr>
            <a:spLocks noGrp="1"/>
          </p:cNvSpPr>
          <p:nvPr>
            <p:ph type="body" idx="2" sz="half"/>
          </p:nvPr>
        </p:nvSpPr>
        <p:spPr/>
        <p:txBody>
          <a:bodyPr wrap="square"/>
          <a:lstStyle/>
          <a:p>
            <a:r>
              <a:rPr sz="1270">
                <a:solidFill>
                  <a:srgbClr val="6E767C"/>
                </a:solidFill>
              </a:rPr>
              <a:t>エージェント名：加盟店課金精算チェックエージェント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16</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⑤ 効果試算まで完了</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第2回 未実施</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10月発表の見込み（◎）の根拠：固定の判断基準＋毎月の入力照合という構成が明確で、実現性が高い。</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請求データと関連システムのデータを突き合わせ、差異をAIがチェックする。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4809744"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28" descr="Microsoft Excel Logo – PNG e Vetor – Download de Logo">
            <a:extLst>
              <a:ext uri="{FF2B5EF4-FFF2-40B4-BE49-F238E27FC236}">
                <a16:creationId xmlns:a16="http://schemas.microsoft.com/office/drawing/2014/main" id="{965D3620-FE3E-E9BE-B5D1-EC4F20D1D3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2352" y="2615184"/>
            <a:ext cx="237743" cy="237744"/>
          </a:xfrm>
          <a:prstGeom prst="rect">
            <a:avLst/>
          </a:prstGeom>
          <a:noFill/>
          <a:extLst>
            <a:ext uri="{909E8E84-426E-40DD-AFC4-6F175D3DCCD1}">
              <a14:hiddenFill xmlns:a14="http://schemas.microsoft.com/office/drawing/2010/main">
                <a:solidFill>
                  <a:srgbClr val="FFFFFF"/>
                </a:solidFill>
              </a14:hiddenFill>
            </a:ext>
          </a:extLst>
        </p:spPr>
      </p:pic>
      <p:sp>
        <p:nvSpPr>
          <p:cNvPr id="179" name="TextBox 178"/>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SharePoint ／ Excel または CSV ／ 人手で取得したデータ</a:t>
            </a:r>
          </a:p>
        </p:txBody>
      </p:sp>
      <p:sp>
        <p:nvSpPr>
          <p:cNvPr id="180" name="Rectangle 179"/>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183" name="TextBox 182"/>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外部システムと直接つながず人手取得データを前提とするため、ファイル名やフォルダ構成の維持が前提条件になる。</a:t>
            </a:r>
          </a:p>
        </p:txBody>
      </p:sp>
      <p:sp>
        <p:nvSpPr>
          <p:cNvPr id="184" name="Rectangle 183"/>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187" name="TextBox 186"/>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第2回は未実施。第1回では、判断基準と毎月の入力ファイルを分ける構成について確認。</a:t>
            </a:r>
          </a:p>
        </p:txBody>
      </p:sp>
      <p:sp>
        <p:nvSpPr>
          <p:cNvPr id="188" name="Rectangle 187"/>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191" name="TextBox 190"/>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固定のチェックリストを判断基準として登録し、毎月の入力ファイルは都度読み込んで照合・修正出力する構成は実現しやすい。</a:t>
            </a:r>
          </a:p>
        </p:txBody>
      </p:sp>
      <p:sp>
        <p:nvSpPr>
          <p:cNvPr id="192" name="Rectangle 191"/>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194" name="TextBox 193"/>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まず3種類程度のデータと固定のチェック項目で、突合結果のレポートを作成する。</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チーム8：会議調整・タスク整理の支援</a:t>
            </a:r>
          </a:p>
        </p:txBody>
      </p:sp>
      <p:sp>
        <p:nvSpPr>
          <p:cNvPr id="3" name="Text Placeholder 2"/>
          <p:cNvSpPr>
            <a:spLocks noGrp="1"/>
          </p:cNvSpPr>
          <p:nvPr>
            <p:ph type="body" idx="2" sz="half"/>
          </p:nvPr>
        </p:nvSpPr>
        <p:spPr/>
        <p:txBody>
          <a:bodyPr wrap="square"/>
          <a:lstStyle/>
          <a:p>
            <a:r>
              <a:rPr sz="1270">
                <a:solidFill>
                  <a:srgbClr val="6E767C"/>
                </a:solidFill>
              </a:rPr>
              <a:t>エージェント名：段取（Dandori）AI</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17</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第2回 未実施</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10月発表の見込み（○）の根拠：会議調整とタスク整理のどちらを軸にするか決めれば、デモを1本作れる。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会議の調整、タスクの洗い出し、レビュー観点の蓄積をAIが支援する。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744" y="2615184"/>
            <a:ext cx="237744" cy="12921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02352"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18" r="12318"/>
          <a:stretch/>
        </p:blipFill>
        <p:spPr bwMode="auto">
          <a:xfrm>
            <a:off x="5394960" y="2615184"/>
            <a:ext cx="237744" cy="17128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outlook アイコン に対する画像結果">
            <a:extLst>
              <a:ext uri="{FF2B5EF4-FFF2-40B4-BE49-F238E27FC236}">
                <a16:creationId xmlns:a16="http://schemas.microsoft.com/office/drawing/2014/main" id="{6FE74E7B-573A-01B7-97DF-C1548AB0A5A9}"/>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9843" b="93701" l="787" r="97638">
                        <a14:foregroundMark x1="29134" y1="45276" x2="29134" y2="45276"/>
                        <a14:foregroundMark x1="29921" y1="44882" x2="55906" y2="46457"/>
                        <a14:foregroundMark x1="1181" y1="28346" x2="4724" y2="48031"/>
                        <a14:foregroundMark x1="4724" y1="48031" x2="33465" y2="60236"/>
                        <a14:foregroundMark x1="33465" y1="60236" x2="60236" y2="56299"/>
                        <a14:foregroundMark x1="44882" y1="10630" x2="81890" y2="20472"/>
                        <a14:foregroundMark x1="81890" y1="20472" x2="87402" y2="39370"/>
                        <a14:foregroundMark x1="87402" y1="39370" x2="86614" y2="43307"/>
                        <a14:foregroundMark x1="66142" y1="26378" x2="92913" y2="54331"/>
                        <a14:foregroundMark x1="91732" y1="70866" x2="58268" y2="84646"/>
                        <a14:foregroundMark x1="58268" y1="84646" x2="34646" y2="78346"/>
                        <a14:foregroundMark x1="34646" y1="78346" x2="14961" y2="65354"/>
                        <a14:foregroundMark x1="14961" y1="65354" x2="25591" y2="42126"/>
                        <a14:foregroundMark x1="25591" y1="42126" x2="75984" y2="40157"/>
                        <a14:foregroundMark x1="75984" y1="40157" x2="98425" y2="54724"/>
                        <a14:foregroundMark x1="98425" y1="54724" x2="87008" y2="79528"/>
                        <a14:foregroundMark x1="87008" y1="79528" x2="57087" y2="89370"/>
                        <a14:foregroundMark x1="57087" y1="89370" x2="48819" y2="74409"/>
                        <a14:foregroundMark x1="17323" y1="39370" x2="38976" y2="38976"/>
                        <a14:foregroundMark x1="38976" y1="38976" x2="61024" y2="22047"/>
                        <a14:foregroundMark x1="61024" y1="22047" x2="64567" y2="16929"/>
                        <a14:foregroundMark x1="41339" y1="89370" x2="66142" y2="88189"/>
                        <a14:foregroundMark x1="66142" y1="88189" x2="74409" y2="88189"/>
                        <a14:foregroundMark x1="29134" y1="88976" x2="54276" y2="93110"/>
                        <a14:foregroundMark x1="62162" y1="92645" x2="85039" y2="87008"/>
                        <a14:foregroundMark x1="37008" y1="52362" x2="9449" y2="65748"/>
                        <a14:foregroundMark x1="9449" y1="65748" x2="787" y2="54331"/>
                        <a14:foregroundMark x1="14961" y1="43701" x2="26772" y2="58661"/>
                        <a14:foregroundMark x1="27559" y1="62205" x2="27559" y2="62205"/>
                        <a14:foregroundMark x1="37008" y1="13780" x2="37008" y2="13780"/>
                        <a14:foregroundMark x1="68898" y1="11811" x2="68898" y2="11811"/>
                        <a14:foregroundMark x1="76772" y1="10236" x2="76772" y2="10236"/>
                        <a14:foregroundMark x1="86220" y1="11024" x2="75197" y2="12598"/>
                        <a14:foregroundMark x1="93701" y1="50000" x2="93307" y2="51575"/>
                        <a14:backgroundMark x1="55512" y1="95669" x2="60236" y2="95669"/>
                        <a14:backgroundMark x1="60236" y1="95669" x2="55906" y2="95669"/>
                      </a14:backgroundRemoval>
                    </a14:imgEffect>
                  </a14:imgLayer>
                </a14:imgProps>
              </a:ext>
              <a:ext uri="{28A0092B-C50C-407E-A947-70E740481C1C}">
                <a14:useLocalDpi xmlns:a14="http://schemas.microsoft.com/office/drawing/2010/main" val="0"/>
              </a:ext>
            </a:extLst>
          </a:blip>
          <a:srcRect/>
          <a:stretch>
            <a:fillRect/>
          </a:stretch>
        </p:blipFill>
        <p:spPr bwMode="auto">
          <a:xfrm>
            <a:off x="5687568" y="2615184"/>
            <a:ext cx="237744" cy="237744"/>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Power Automate ／ Outlook ／ Teams ／ SharePoint</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予定表・会議室・メールへのアクセス権限、対象者リストの整備が必要。</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第2回は未実施。第1回では、発表する1案以外の案も並行して進めてよいかを確認。</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発表は1案だが、2案目を並行して進めることは問題ない。会議調整・タスク洗い出しを主軸に、レビュー観点の蓄積は付加価値と整理。</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会議調整とタスク洗い出しのどちらを中心にするか決め、デモの筋書きを1本作る。</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チーム9：レビュー進捗の管理</a:t>
            </a:r>
          </a:p>
        </p:txBody>
      </p:sp>
      <p:sp>
        <p:nvSpPr>
          <p:cNvPr id="3" name="Text Placeholder 2"/>
          <p:cNvSpPr>
            <a:spLocks noGrp="1"/>
          </p:cNvSpPr>
          <p:nvPr>
            <p:ph type="body" idx="2" sz="half"/>
          </p:nvPr>
        </p:nvSpPr>
        <p:spPr/>
        <p:txBody>
          <a:bodyPr wrap="square"/>
          <a:lstStyle/>
          <a:p>
            <a:r>
              <a:rPr sz="1270">
                <a:solidFill>
                  <a:srgbClr val="6E767C"/>
                </a:solidFill>
              </a:rPr>
              <a:t>エージェント名：レビュー進捗管理アシスタント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18</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中〜高</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第2回 未実施</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10月発表の見込み（○）の根拠：構想は明確。社外秘・外部連携は別課題として切り出し、範囲を絞れば発表できる。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レビュー対象の一覧化、依頼、完了確認、リマインドまでを自動化する。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744" y="2615184"/>
            <a:ext cx="237744" cy="12921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02352"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18" r="12318"/>
          <a:stretch/>
        </p:blipFill>
        <p:spPr bwMode="auto">
          <a:xfrm>
            <a:off x="5394960" y="2615184"/>
            <a:ext cx="237744" cy="17128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outlook アイコン に対する画像結果">
            <a:extLst>
              <a:ext uri="{FF2B5EF4-FFF2-40B4-BE49-F238E27FC236}">
                <a16:creationId xmlns:a16="http://schemas.microsoft.com/office/drawing/2014/main" id="{6FE74E7B-573A-01B7-97DF-C1548AB0A5A9}"/>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9843" b="93701" l="787" r="97638">
                        <a14:foregroundMark x1="29134" y1="45276" x2="29134" y2="45276"/>
                        <a14:foregroundMark x1="29921" y1="44882" x2="55906" y2="46457"/>
                        <a14:foregroundMark x1="1181" y1="28346" x2="4724" y2="48031"/>
                        <a14:foregroundMark x1="4724" y1="48031" x2="33465" y2="60236"/>
                        <a14:foregroundMark x1="33465" y1="60236" x2="60236" y2="56299"/>
                        <a14:foregroundMark x1="44882" y1="10630" x2="81890" y2="20472"/>
                        <a14:foregroundMark x1="81890" y1="20472" x2="87402" y2="39370"/>
                        <a14:foregroundMark x1="87402" y1="39370" x2="86614" y2="43307"/>
                        <a14:foregroundMark x1="66142" y1="26378" x2="92913" y2="54331"/>
                        <a14:foregroundMark x1="91732" y1="70866" x2="58268" y2="84646"/>
                        <a14:foregroundMark x1="58268" y1="84646" x2="34646" y2="78346"/>
                        <a14:foregroundMark x1="34646" y1="78346" x2="14961" y2="65354"/>
                        <a14:foregroundMark x1="14961" y1="65354" x2="25591" y2="42126"/>
                        <a14:foregroundMark x1="25591" y1="42126" x2="75984" y2="40157"/>
                        <a14:foregroundMark x1="75984" y1="40157" x2="98425" y2="54724"/>
                        <a14:foregroundMark x1="98425" y1="54724" x2="87008" y2="79528"/>
                        <a14:foregroundMark x1="87008" y1="79528" x2="57087" y2="89370"/>
                        <a14:foregroundMark x1="57087" y1="89370" x2="48819" y2="74409"/>
                        <a14:foregroundMark x1="17323" y1="39370" x2="38976" y2="38976"/>
                        <a14:foregroundMark x1="38976" y1="38976" x2="61024" y2="22047"/>
                        <a14:foregroundMark x1="61024" y1="22047" x2="64567" y2="16929"/>
                        <a14:foregroundMark x1="41339" y1="89370" x2="66142" y2="88189"/>
                        <a14:foregroundMark x1="66142" y1="88189" x2="74409" y2="88189"/>
                        <a14:foregroundMark x1="29134" y1="88976" x2="54276" y2="93110"/>
                        <a14:foregroundMark x1="62162" y1="92645" x2="85039" y2="87008"/>
                        <a14:foregroundMark x1="37008" y1="52362" x2="9449" y2="65748"/>
                        <a14:foregroundMark x1="9449" y1="65748" x2="787" y2="54331"/>
                        <a14:foregroundMark x1="14961" y1="43701" x2="26772" y2="58661"/>
                        <a14:foregroundMark x1="27559" y1="62205" x2="27559" y2="62205"/>
                        <a14:foregroundMark x1="37008" y1="13780" x2="37008" y2="13780"/>
                        <a14:foregroundMark x1="68898" y1="11811" x2="68898" y2="11811"/>
                        <a14:foregroundMark x1="76772" y1="10236" x2="76772" y2="10236"/>
                        <a14:foregroundMark x1="86220" y1="11024" x2="75197" y2="12598"/>
                        <a14:foregroundMark x1="93701" y1="50000" x2="93307" y2="51575"/>
                        <a14:backgroundMark x1="55512" y1="95669" x2="60236" y2="95669"/>
                        <a14:backgroundMark x1="60236" y1="95669" x2="55906" y2="95669"/>
                      </a14:backgroundRemoval>
                    </a14:imgEffect>
                  </a14:imgLayer>
                </a14:imgProps>
              </a:ext>
              <a:ext uri="{28A0092B-C50C-407E-A947-70E740481C1C}">
                <a14:useLocalDpi xmlns:a14="http://schemas.microsoft.com/office/drawing/2010/main" val="0"/>
              </a:ext>
            </a:extLst>
          </a:blip>
          <a:srcRect/>
          <a:stretch>
            <a:fillRect/>
          </a:stretch>
        </p:blipFill>
        <p:spPr bwMode="auto">
          <a:xfrm>
            <a:off x="5687568"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28" descr="Microsoft Excel Logo – PNG e Vetor – Download de Logo">
            <a:extLst>
              <a:ext uri="{FF2B5EF4-FFF2-40B4-BE49-F238E27FC236}">
                <a16:creationId xmlns:a16="http://schemas.microsoft.com/office/drawing/2014/main" id="{965D3620-FE3E-E9BE-B5D1-EC4F20D1D3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0176" y="2615184"/>
            <a:ext cx="237743" cy="237744"/>
          </a:xfrm>
          <a:prstGeom prst="rect">
            <a:avLst/>
          </a:prstGeom>
          <a:noFill/>
          <a:extLst>
            <a:ext uri="{909E8E84-426E-40DD-AFC4-6F175D3DCCD1}">
              <a14:hiddenFill xmlns:a14="http://schemas.microsoft.com/office/drawing/2010/main">
                <a:solidFill>
                  <a:srgbClr val="FFFFFF"/>
                </a:solidFill>
              </a14:hiddenFill>
            </a:ext>
          </a:extLst>
        </p:spPr>
      </p:pic>
      <p:sp>
        <p:nvSpPr>
          <p:cNvPr id="179" name="TextBox 178"/>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Power Automate ／ Outlook ／ Excel ／ Teams ／ 共有ファイルサーバ（制約あり）</a:t>
            </a:r>
          </a:p>
        </p:txBody>
      </p:sp>
      <p:sp>
        <p:nvSpPr>
          <p:cNvPr id="180" name="Rectangle 179"/>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183" name="TextBox 182"/>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開発中案件・社外秘情報の扱い、共有サーバの参照、メール自動送信の可否を整理する必要がある。</a:t>
            </a:r>
          </a:p>
        </p:txBody>
      </p:sp>
      <p:sp>
        <p:nvSpPr>
          <p:cNvPr id="184" name="Rectangle 183"/>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187" name="TextBox 186"/>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第2回は未実施。第1回では、社外秘ファイルや外部システムからの取得、メールの下書き・送付可否が論点。</a:t>
            </a:r>
          </a:p>
        </p:txBody>
      </p:sp>
      <p:sp>
        <p:nvSpPr>
          <p:cNvPr id="188" name="Rectangle 187"/>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191" name="TextBox 190"/>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管理ツールとしての性格が強くCopilot Studioで作りやすい一方、社外秘・共有サーバ・外部システムの扱いは事務局の判断が必要。</a:t>
            </a:r>
          </a:p>
        </p:txBody>
      </p:sp>
      <p:sp>
        <p:nvSpPr>
          <p:cNvPr id="192" name="Rectangle 191"/>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194" name="TextBox 193"/>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まずメール検知→管理表への反映→下書き作成までに絞り、共有サーバの処理は別課題として切り出す。</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チーム10：対面会議の議事録ドラフト生成</a:t>
            </a:r>
          </a:p>
        </p:txBody>
      </p:sp>
      <p:sp>
        <p:nvSpPr>
          <p:cNvPr id="3" name="Text Placeholder 2"/>
          <p:cNvSpPr>
            <a:spLocks noGrp="1"/>
          </p:cNvSpPr>
          <p:nvPr>
            <p:ph type="body" idx="2" sz="half"/>
          </p:nvPr>
        </p:nvSpPr>
        <p:spPr/>
        <p:txBody>
          <a:bodyPr wrap="square"/>
          <a:lstStyle/>
          <a:p>
            <a:r>
              <a:rPr sz="1270">
                <a:solidFill>
                  <a:srgbClr val="6E767C"/>
                </a:solidFill>
              </a:rPr>
              <a:t>エージェント名：議事録ドラフト生成エージェント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19</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10月発表の見込み（○）の根拠：構成は明確。文字起こしの権限とドラフト品質の検証を進めれば発表できる。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会議資料・文字起こし・出席者情報から、議事録のドラフトをAIが作成する。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4809744"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5102352" y="2615184"/>
            <a:ext cx="237744" cy="171288"/>
          </a:xfrm>
          <a:prstGeom prst="rect">
            <a:avLst/>
          </a:prstGeom>
          <a:noFill/>
          <a:extLst>
            <a:ext uri="{909E8E84-426E-40DD-AFC4-6F175D3DCCD1}">
              <a14:hiddenFill xmlns:a14="http://schemas.microsoft.com/office/drawing/2010/main">
                <a:solidFill>
                  <a:srgbClr val="FFFFFF"/>
                </a:solidFill>
              </a14:hiddenFill>
            </a:ext>
          </a:extLst>
        </p:spPr>
      </p:pic>
      <p:pic>
        <p:nvPicPr>
          <p:cNvPr id="179" name="Picture 30" descr="Microsoft PowerPoint Logo - PNG and Vector - Logo Download">
            <a:extLst>
              <a:ext uri="{FF2B5EF4-FFF2-40B4-BE49-F238E27FC236}">
                <a16:creationId xmlns:a16="http://schemas.microsoft.com/office/drawing/2014/main" id="{FCDCAA7A-5916-B3BA-9493-3B02330A2A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4960" y="2615184"/>
            <a:ext cx="237744" cy="221156"/>
          </a:xfrm>
          <a:prstGeom prst="rect">
            <a:avLst/>
          </a:prstGeom>
          <a:noFill/>
          <a:extLst>
            <a:ext uri="{909E8E84-426E-40DD-AFC4-6F175D3DCCD1}">
              <a14:hiddenFill xmlns:a14="http://schemas.microsoft.com/office/drawing/2010/main">
                <a:solidFill>
                  <a:srgbClr val="FFFFFF"/>
                </a:solidFill>
              </a14:hiddenFill>
            </a:ext>
          </a:extLst>
        </p:spPr>
      </p:pic>
      <p:sp>
        <p:nvSpPr>
          <p:cNvPr id="180" name="TextBox 179"/>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Teams の文字起こし ／ SharePoint ／ 議事録フォーマット ／ Word（想定）</a:t>
            </a:r>
          </a:p>
        </p:txBody>
      </p:sp>
      <p:sp>
        <p:nvSpPr>
          <p:cNvPr id="181" name="Rectangle 180"/>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184" name="TextBox 183"/>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文字起こしの取得権限、会議形式やライセンス、決まった書式への転記精度の検証が必要。</a:t>
            </a:r>
          </a:p>
        </p:txBody>
      </p:sp>
      <p:sp>
        <p:nvSpPr>
          <p:cNvPr id="185" name="Rectangle 184"/>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188" name="TextBox 187"/>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第2回：Copilotチャットの回答をそのまま信じて進めてよいか。今後の定例の進め方も知りたい。</a:t>
            </a:r>
          </a:p>
        </p:txBody>
      </p:sp>
      <p:sp>
        <p:nvSpPr>
          <p:cNvPr id="189" name="Rectangle 188"/>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192" name="TextBox 191"/>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Copilotの回答は必ず正解とは限らないため、根拠の提示を求め、実際の画面操作で確認する。8〜9月は定例で伴走予定。</a:t>
            </a:r>
          </a:p>
        </p:txBody>
      </p:sp>
      <p:sp>
        <p:nvSpPr>
          <p:cNvPr id="193" name="Rectangle 192"/>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195" name="TextBox 194"/>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サンプルの会議資料・文字起こし・議事録テンプレートを用意し、ドラフトの品質を確認する。</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チーム11：社内LAN問い合わせチャットボット</a:t>
            </a:r>
          </a:p>
        </p:txBody>
      </p:sp>
      <p:sp>
        <p:nvSpPr>
          <p:cNvPr id="3" name="Text Placeholder 2"/>
          <p:cNvSpPr>
            <a:spLocks noGrp="1"/>
          </p:cNvSpPr>
          <p:nvPr>
            <p:ph type="body" idx="2" sz="half"/>
          </p:nvPr>
        </p:nvSpPr>
        <p:spPr/>
        <p:txBody>
          <a:bodyPr wrap="square"/>
          <a:lstStyle/>
          <a:p>
            <a:r>
              <a:rPr sz="1270">
                <a:solidFill>
                  <a:srgbClr val="6E767C"/>
                </a:solidFill>
              </a:rPr>
              <a:t>エージェント名：社内LAN問い合わせチャットボット</a:t>
            </a:r>
          </a:p>
        </p:txBody>
      </p:sp>
      <p:sp>
        <p:nvSpPr>
          <p:cNvPr id="4" name="TextBox 3"/>
          <p:cNvSpPr txBox="1"/>
          <p:nvPr/>
        </p:nvSpPr>
        <p:spPr>
          <a:xfrm>
            <a:off x="11585448" y="6400800"/>
            <a:ext cx="493776" cy="329184"/>
          </a:xfrm>
          <a:prstGeom prst="rect">
            <a:avLst/>
          </a:prstGeom>
          <a:noFill/>
        </p:spPr>
        <p:txBody>
          <a:bodyPr wrap="square" anchor="ctr" lIns="25400" rIns="25400" tIns="12700" bIns="12700">
            <a:spAutoFit/>
          </a:bodyPr>
          <a:lstStyle/>
          <a:p>
            <a:pPr algn="ctr">
              <a:lnSpc>
                <a:spcPct val="100000"/>
              </a:lnSpc>
            </a:pPr>
            <a:r>
              <a:rPr sz="1089" b="0">
                <a:solidFill>
                  <a:srgbClr val="6E767C"/>
                </a:solidFill>
              </a:rPr>
              <a:t>20</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280160"/>
            <a:ext cx="548640" cy="493776"/>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06624" y="1280160"/>
            <a:ext cx="1600200" cy="493776"/>
          </a:xfrm>
          <a:prstGeom prst="rect">
            <a:avLst/>
          </a:prstGeom>
          <a:noFill/>
        </p:spPr>
        <p:txBody>
          <a:bodyPr wrap="square" anchor="ctr" lIns="25400" rIns="25400" tIns="12700" bIns="12700">
            <a:spAutoFit/>
          </a:bodyPr>
          <a:lstStyle/>
          <a:p>
            <a:pPr algn="l">
              <a:lnSpc>
                <a:spcPct val="100000"/>
              </a:lnSpc>
            </a:pPr>
            <a:r>
              <a:rPr sz="1089"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難易度 中〜高</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anchor="ctr" lIns="25400" rIns="25400" tIns="12700" bIns="12700">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anchor="t" lIns="25400" rIns="25400" tIns="12700" bIns="12700">
            <a:spAutoFit/>
          </a:bodyPr>
          <a:lstStyle/>
          <a:p>
            <a:pPr algn="l">
              <a:lnSpc>
                <a:spcPct val="100000"/>
              </a:lnSpc>
            </a:pPr>
            <a:r>
              <a:rPr sz="1089" b="0">
                <a:solidFill>
                  <a:srgbClr val="232323"/>
                </a:solidFill>
              </a:rPr>
              <a:t>10月発表の見込み（○）の根拠：構成・前提は明確。FAQ整備・本番移行・運用項目の洗い出しを進めれば発表できる。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社内LANに関するFAQや申請種別の案内を、チャットボットが一次受付する。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8"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使用アプリ・データ（想定）</a:t>
            </a:r>
          </a:p>
        </p:txBody>
      </p:sp>
      <p:pic>
        <p:nvPicPr>
          <p:cNvPr id="30" name="Picture 2" descr="Microsoft Copilot Studio Pricing 2024">
            <a:extLst>
              <a:ext uri="{FF2B5EF4-FFF2-40B4-BE49-F238E27FC236}">
                <a16:creationId xmlns:a16="http://schemas.microsoft.com/office/drawing/2014/main" id="{5B4996B7-D9FD-5776-A6DE-F3ADD7B754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7136" y="2615184"/>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4809744"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5102352" y="2615184"/>
            <a:ext cx="237744" cy="171288"/>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4498848" y="2926080"/>
            <a:ext cx="3209544" cy="621792"/>
          </a:xfrm>
          <a:prstGeom prst="rect">
            <a:avLst/>
          </a:prstGeom>
          <a:noFill/>
        </p:spPr>
        <p:txBody>
          <a:bodyPr wrap="square" anchor="t" lIns="25400" rIns="25400" tIns="12700" bIns="12700">
            <a:spAutoFit/>
          </a:bodyPr>
          <a:lstStyle/>
          <a:p>
            <a:pPr algn="l">
              <a:lnSpc>
                <a:spcPct val="120000"/>
              </a:lnSpc>
            </a:pPr>
            <a:r>
              <a:rPr sz="1089" b="0">
                <a:solidFill>
                  <a:srgbClr val="232323"/>
                </a:solidFill>
              </a:rPr>
              <a:t>Copilot Studio ／ SharePoint（参照資料） ／ Teams またはチャット画面 ／ FAQ</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29016" y="2157984"/>
            <a:ext cx="32095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anchor="t" lIns="25400" rIns="25400" tIns="12700" bIns="12700">
            <a:spAutoFit/>
          </a:bodyPr>
          <a:lstStyle/>
          <a:p>
            <a:pPr algn="l">
              <a:lnSpc>
                <a:spcPct val="120000"/>
              </a:lnSpc>
            </a:pPr>
            <a:r>
              <a:rPr sz="1089" b="0">
                <a:solidFill>
                  <a:srgbClr val="232323"/>
                </a:solidFill>
              </a:rPr>
              <a:t>FAQの整備状況と参照資料の品質、本番環境への移行、利用ルールと運用保守が焦点。</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80"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第2回：開発環境から本番環境への移行、年度末の展開、手順書・利用ルールを社長報告までに完成させるべきか。</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91072" y="3767328"/>
            <a:ext cx="5038344" cy="365760"/>
          </a:xfrm>
          <a:prstGeom prst="rect">
            <a:avLst/>
          </a:prstGeom>
          <a:noFill/>
        </p:spPr>
        <p:txBody>
          <a:bodyPr wrap="square" anchor="ctr" lIns="25400" rIns="25400" tIns="12700" bIns="12700">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anchor="t" lIns="25400" rIns="25400" tIns="12700" bIns="12700">
            <a:spAutoFit/>
          </a:bodyPr>
          <a:lstStyle/>
          <a:p>
            <a:pPr algn="l">
              <a:lnSpc>
                <a:spcPct val="120000"/>
              </a:lnSpc>
            </a:pPr>
            <a:r>
              <a:rPr sz="1089" b="0">
                <a:solidFill>
                  <a:srgbClr val="232323"/>
                </a:solidFill>
              </a:rPr>
              <a:t>手順書は完成していれば望ましいが、10月時点では準備中でも可。項目の洗い出しと全体量の把握が重要。本番移行は社内の申請フローを要確認。</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 y="5321808"/>
            <a:ext cx="10277856" cy="256032"/>
          </a:xfrm>
          <a:prstGeom prst="rect">
            <a:avLst/>
          </a:prstGeom>
          <a:noFill/>
        </p:spPr>
        <p:txBody>
          <a:bodyPr wrap="square" anchor="t" lIns="25400" rIns="25400" tIns="12700" bIns="12700">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anchor="t" lIns="25400" rIns="25400" tIns="12700" bIns="12700">
            <a:spAutoFit/>
          </a:bodyPr>
          <a:lstStyle/>
          <a:p>
            <a:pPr algn="l">
              <a:lnSpc>
                <a:spcPct val="114000"/>
              </a:lnSpc>
            </a:pPr>
            <a:r>
              <a:rPr sz="1089" b="0">
                <a:solidFill>
                  <a:srgbClr val="232323"/>
                </a:solidFill>
              </a:rPr>
              <a:t>FAQをCopilot Studioが扱いやすい形に整備し、段階展開（第1〜第3フェーズ）の運用項目を洗い出す。</a:t>
            </a:r>
          </a:p>
        </p:txBody>
      </p:sp>
    </p:spTree>
  </p:cSld>
  <p:clrMapOvr>
    <a:masterClrMapping/>
  </p:clrMapOvr>
</p:sld>
</file>

<file path=ppt/theme/theme1.xml><?xml version="1.0" encoding="utf-8"?>
<a:theme xmlns:a="http://schemas.openxmlformats.org/drawingml/2006/main" name="1_Office テーマ">
  <a:themeElements>
    <a:clrScheme name="Lowcode風">
      <a:dk1>
        <a:srgbClr val="232323"/>
      </a:dk1>
      <a:lt1>
        <a:srgbClr val="F8FDFA"/>
      </a:lt1>
      <a:dk2>
        <a:srgbClr val="1B5C80"/>
      </a:dk2>
      <a:lt2>
        <a:srgbClr val="F7E2ED"/>
      </a:lt2>
      <a:accent1>
        <a:srgbClr val="EC856F"/>
      </a:accent1>
      <a:accent2>
        <a:srgbClr val="0FA4CC"/>
      </a:accent2>
      <a:accent3>
        <a:srgbClr val="A6E2F3"/>
      </a:accent3>
      <a:accent4>
        <a:srgbClr val="DBF1F7"/>
      </a:accent4>
      <a:accent5>
        <a:srgbClr val="E7E8F8"/>
      </a:accent5>
      <a:accent6>
        <a:srgbClr val="FAE5E3"/>
      </a:accent6>
      <a:hlink>
        <a:srgbClr val="0FA4CC"/>
      </a:hlink>
      <a:folHlink>
        <a:srgbClr val="D0D4D7"/>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ホワイト">
  <a:themeElements>
    <a:clrScheme name="MITSUI &amp; CO.">
      <a:dk1>
        <a:sysClr val="windowText" lastClr="000000"/>
      </a:dk1>
      <a:lt1>
        <a:sysClr val="window" lastClr="FFFFFF"/>
      </a:lt1>
      <a:dk2>
        <a:srgbClr val="DDDDDD"/>
      </a:dk2>
      <a:lt2>
        <a:srgbClr val="FFFFFF"/>
      </a:lt2>
      <a:accent1>
        <a:srgbClr val="8CC33C"/>
      </a:accent1>
      <a:accent2>
        <a:srgbClr val="19B9CD"/>
      </a:accent2>
      <a:accent3>
        <a:srgbClr val="A0D7E6"/>
      </a:accent3>
      <a:accent4>
        <a:srgbClr val="FFE141"/>
      </a:accent4>
      <a:accent5>
        <a:srgbClr val="EB5541"/>
      </a:accent5>
      <a:accent6>
        <a:srgbClr val="0078C3"/>
      </a:accent6>
      <a:hlink>
        <a:srgbClr val="666666"/>
      </a:hlink>
      <a:folHlink>
        <a:srgbClr val="666666"/>
      </a:folHlink>
    </a:clrScheme>
    <a:fontScheme name="テンプレート用">
      <a:majorFont>
        <a:latin typeface="Mitsui and Co Sans"/>
        <a:ea typeface="Meiryo UI"/>
        <a:cs typeface=""/>
      </a:majorFont>
      <a:minorFont>
        <a:latin typeface="Mitsui and Co Sans"/>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kumimoji="1"/>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none" lIns="0" tIns="0" rIns="0" bIns="0" numCol="1" spcCol="0" anchor="ctr" anchorCtr="0" compatLnSpc="1">
        <a:prstTxWarp prst="textNoShape">
          <a:avLst/>
        </a:prstTxWarp>
        <a:spAutoFit/>
      </a:bodyPr>
      <a:lstStyle>
        <a:defPPr algn="l">
          <a:defRPr sz="11500" b="0" dirty="0">
            <a:solidFill>
              <a:schemeClr val="tx1">
                <a:lumMod val="50000"/>
                <a:lumOff val="50000"/>
                <a:alpha val="30000"/>
              </a:schemeClr>
            </a:solidFill>
          </a:defRPr>
        </a:defPPr>
      </a:lstStyle>
    </a:tx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d273834-d721-4430-a0ce-0f063538582a">
      <Terms xmlns="http://schemas.microsoft.com/office/infopath/2007/PartnerControls"/>
    </lcf76f155ced4ddcb4097134ff3c332f>
    <TaxCatchAll xmlns="05d0f595-ae3c-4a1a-bc85-add804576b0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6F6B4358CDFD745962B226452FC776B" ma:contentTypeVersion="11" ma:contentTypeDescription="新しいドキュメントを作成します。" ma:contentTypeScope="" ma:versionID="9bd21d57d2bc0587c3ce9f86e023fb60">
  <xsd:schema xmlns:xsd="http://www.w3.org/2001/XMLSchema" xmlns:xs="http://www.w3.org/2001/XMLSchema" xmlns:p="http://schemas.microsoft.com/office/2006/metadata/properties" xmlns:ns2="1d273834-d721-4430-a0ce-0f063538582a" xmlns:ns3="05d0f595-ae3c-4a1a-bc85-add804576b0f" targetNamespace="http://schemas.microsoft.com/office/2006/metadata/properties" ma:root="true" ma:fieldsID="ecd3235cfe8864a66741c8aa8f2f9e1a" ns2:_="" ns3:_="">
    <xsd:import namespace="1d273834-d721-4430-a0ce-0f063538582a"/>
    <xsd:import namespace="05d0f595-ae3c-4a1a-bc85-add804576b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273834-d721-4430-a0ce-0f06353858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136beab5-4bf6-4079-a770-168c569e1b3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5d0f595-ae3c-4a1a-bc85-add804576b0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ef50e22-d52d-48e5-b9a3-31b7c3424201}" ma:internalName="TaxCatchAll" ma:showField="CatchAllData" ma:web="05d0f595-ae3c-4a1a-bc85-add804576b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D94422-D3E2-4866-B515-6B7EEDDCD9C2}">
  <ds:schemaRefs>
    <ds:schemaRef ds:uri="http://schemas.microsoft.com/sharepoint/v3/contenttype/forms"/>
  </ds:schemaRefs>
</ds:datastoreItem>
</file>

<file path=customXml/itemProps2.xml><?xml version="1.0" encoding="utf-8"?>
<ds:datastoreItem xmlns:ds="http://schemas.openxmlformats.org/officeDocument/2006/customXml" ds:itemID="{B867A143-5C6E-43D3-A017-0F3504499C9C}">
  <ds:schemaRefs>
    <ds:schemaRef ds:uri="http://schemas.microsoft.com/office/2006/documentManagement/types"/>
    <ds:schemaRef ds:uri="http://purl.org/dc/terms/"/>
    <ds:schemaRef ds:uri="http://purl.org/dc/dcmitype/"/>
    <ds:schemaRef ds:uri="http://purl.org/dc/elements/1.1/"/>
    <ds:schemaRef ds:uri="http://www.w3.org/XML/1998/namespace"/>
    <ds:schemaRef ds:uri="http://schemas.microsoft.com/office/2006/metadata/properties"/>
    <ds:schemaRef ds:uri="b9db976c-ad42-4e1e-bd47-02c3eaed91aa"/>
    <ds:schemaRef ds:uri="http://schemas.microsoft.com/office/infopath/2007/PartnerControls"/>
    <ds:schemaRef ds:uri="http://schemas.openxmlformats.org/package/2006/metadata/core-properties"/>
    <ds:schemaRef ds:uri="24d54c13-2659-45b1-b3ee-c76f5ff48956"/>
    <ds:schemaRef ds:uri="1d273834-d721-4430-a0ce-0f063538582a"/>
    <ds:schemaRef ds:uri="05d0f595-ae3c-4a1a-bc85-add804576b0f"/>
  </ds:schemaRefs>
</ds:datastoreItem>
</file>

<file path=customXml/itemProps3.xml><?xml version="1.0" encoding="utf-8"?>
<ds:datastoreItem xmlns:ds="http://schemas.openxmlformats.org/officeDocument/2006/customXml" ds:itemID="{5C9777B7-2E16-4D96-9F0C-511D7C0CD5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273834-d721-4430-a0ce-0f063538582a"/>
    <ds:schemaRef ds:uri="05d0f595-ae3c-4a1a-bc85-add804576b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462</TotalTime>
  <Words>4928</Words>
  <Application>Microsoft Office PowerPoint</Application>
  <PresentationFormat>ワイド画面</PresentationFormat>
  <Paragraphs>886</Paragraphs>
  <Slides>69</Slides>
  <Notes>22</Notes>
  <HiddenSlides>0</HiddenSlides>
  <MMClips>0</MMClips>
  <ScaleCrop>false</ScaleCrop>
  <HeadingPairs>
    <vt:vector size="6" baseType="variant">
      <vt:variant>
        <vt:lpstr>使用されているフォント</vt:lpstr>
      </vt:variant>
      <vt:variant>
        <vt:i4>12</vt:i4>
      </vt:variant>
      <vt:variant>
        <vt:lpstr>テーマ</vt:lpstr>
      </vt:variant>
      <vt:variant>
        <vt:i4>2</vt:i4>
      </vt:variant>
      <vt:variant>
        <vt:lpstr>スライド タイトル</vt:lpstr>
      </vt:variant>
      <vt:variant>
        <vt:i4>69</vt:i4>
      </vt:variant>
    </vt:vector>
  </HeadingPairs>
  <TitlesOfParts>
    <vt:vector size="83" baseType="lpstr">
      <vt:lpstr>M PLUS 1</vt:lpstr>
      <vt:lpstr>Meiryo UI</vt:lpstr>
      <vt:lpstr>Mitsui and Co Sans</vt:lpstr>
      <vt:lpstr>Noto Sans JP</vt:lpstr>
      <vt:lpstr>UD デジタル 教科書体 NK-B</vt:lpstr>
      <vt:lpstr>Zen Kaku Gothic New</vt:lpstr>
      <vt:lpstr>游ゴシック</vt:lpstr>
      <vt:lpstr>Arial</vt:lpstr>
      <vt:lpstr>Calibri</vt:lpstr>
      <vt:lpstr>Segoe UI</vt:lpstr>
      <vt:lpstr>Segoe UI Emoji</vt:lpstr>
      <vt:lpstr>Times New Roman</vt:lpstr>
      <vt:lpstr>1_Office テーマ</vt:lpstr>
      <vt:lpstr>ホワイト</vt:lpstr>
      <vt:lpstr>資料作成ガイドライン＆ 汎用スライド・パーツ集</vt:lpstr>
      <vt:lpstr>基本のルール</vt:lpstr>
      <vt:lpstr>【参考】色</vt:lpstr>
      <vt:lpstr>ルールほど厳格ではないけどやってもらえると嬉しい</vt:lpstr>
      <vt:lpstr>スライド集・パーツ集の使い方</vt:lpstr>
      <vt:lpstr>スライド集</vt:lpstr>
      <vt:lpstr>PowerPoint プレゼンテーション</vt:lpstr>
      <vt:lpstr>この説明会の目的</vt:lpstr>
      <vt:lpstr>本日の研修について</vt:lpstr>
      <vt:lpstr>ハンズオンの特徴</vt:lpstr>
      <vt:lpstr>PowerPoint プレゼンテーション</vt:lpstr>
      <vt:lpstr>生成AI活用上の注意点</vt:lpstr>
      <vt:lpstr>『木こりのジレンマ』</vt:lpstr>
      <vt:lpstr>メンバー紹介</vt:lpstr>
      <vt:lpstr>個人ワーク①</vt:lpstr>
      <vt:lpstr>Power Automate で自動化フローを作るときの手順</vt:lpstr>
      <vt:lpstr>アプリ作成の流れ</vt:lpstr>
      <vt:lpstr>特定の業務を効率化するためのフロー</vt:lpstr>
      <vt:lpstr>アプリ作成手順</vt:lpstr>
      <vt:lpstr>重要な添付ファイルが受信フォルダに埋もれてしまう…</vt:lpstr>
      <vt:lpstr>[要件洗い出し]現状の業務フロー</vt:lpstr>
      <vt:lpstr>[設計]システムフロー</vt:lpstr>
      <vt:lpstr>完成イメージ（業務とシステムの流れ）</vt:lpstr>
      <vt:lpstr>例1</vt:lpstr>
      <vt:lpstr>例2</vt:lpstr>
      <vt:lpstr>説明会後の流れについて</vt:lpstr>
      <vt:lpstr>PowerAutomate/PowerApps ハンズオン研修</vt:lpstr>
      <vt:lpstr>今後の研修スケジュール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パーツ・挿絵集</vt:lpstr>
      <vt:lpstr>ハンズオン用</vt:lpstr>
      <vt:lpstr>見出し・バッジ</vt:lpstr>
      <vt:lpstr>アイコン類　2025/11/12更新</vt:lpstr>
      <vt:lpstr>アイコン類</vt:lpstr>
      <vt:lpstr>イラスト（カスタマイズしたもの）</vt:lpstr>
      <vt:lpstr>イラスト（カスタマイズしたもの）</vt:lpstr>
      <vt:lpstr>イラスト（カスタマイズしたもの）</vt:lpstr>
      <vt:lpstr>PowerPoint プレゼンテーション</vt:lpstr>
      <vt:lpstr>Scene 1：作る（目的を定義しないまま作ってしまう）</vt:lpstr>
      <vt:lpstr>Scene 2：能力と権限を定めずに作ってしまう</vt:lpstr>
      <vt:lpstr>Scene 3：使う（能力を理解せず頼む／そもそも頼まない）</vt:lpstr>
      <vt:lpstr>Scene 4：見守る（放置した3ヶ月後）</vt:lpstr>
      <vt:lpstr>会社ロゴ</vt:lpstr>
      <vt:lpstr>PowerPoint プレゼンテーション</vt:lpstr>
      <vt:lpstr>汎用レイアウト集</vt:lpstr>
      <vt:lpstr>3つのポイント</vt:lpstr>
      <vt:lpstr>アプリの例</vt:lpstr>
      <vt:lpstr>オーケストレーションモードを『使いたくなる』ポイント</vt:lpstr>
      <vt:lpstr>表</vt:lpstr>
      <vt:lpstr>表</vt:lpstr>
      <vt:lpstr>今後の事業戦略</vt:lpstr>
      <vt:lpstr>商社様の生成AI導入の例</vt:lpstr>
      <vt:lpstr>進化の5段階</vt:lpstr>
      <vt:lpstr>生成AIとは？</vt:lpstr>
      <vt:lpstr>生成AIの種類</vt:lpstr>
      <vt:lpstr>エグゼクティブサマリ</vt:lpstr>
      <vt:lpstr>2026年3月の目指すべき姿（To-Be）</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shibata mari</dc:creator>
  <cp:lastModifiedBy>nakamura takuya</cp:lastModifiedBy>
  <cp:revision>71</cp:revision>
  <dcterms:created xsi:type="dcterms:W3CDTF">2025-03-05T06:45:02Z</dcterms:created>
  <dcterms:modified xsi:type="dcterms:W3CDTF">2026-07-26T14:49:50Z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0x01010086F6B4358CDFD745962B226452FC776B</vt:lpwstr>
  </property>
  <property fmtid="{D5CDD505-2E9C-101B-9397-08002B2CF9AE}" pid="3" name="MediaServiceImageTags">
    <vt:lpwstr/>
  </property>
</Properties>
</file>