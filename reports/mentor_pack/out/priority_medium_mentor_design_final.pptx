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5"/>
  </p:notesMasterIdLst>
  <p:sldIdLst>
    <p:sldId id="261" r:id="rId81"/>
    <p:sldId id="268" r:id="rId82"/>
    <p:sldId id="283" r:id="rId83"/>
    <p:sldId id="284" r:id="rId84"/>
    <p:sldId id="285" r:id="rId85"/>
    <p:sldId id="286" r:id="rId86"/>
    <p:sldId id="287" r:id="rId87"/>
    <p:sldId id="288" r:id="rId88"/>
    <p:sldId id="289" r:id="rId89"/>
    <p:sldId id="290" r:id="rId90"/>
    <p:sldId id="291" r:id="rId91"/>
    <p:sldId id="293" r:id="rId92"/>
    <p:sldId id="294" r:id="rId93"/>
    <p:sldId id="295" r:id="rId94"/>
    <p:sldId id="296" r:id="rId95"/>
    <p:sldId id="297" r:id="rId96"/>
    <p:sldId id="298" r:id="rId97"/>
    <p:sldId id="299" r:id="rId98"/>
    <p:sldId id="300" r:id="rId99"/>
    <p:sldId id="301" r:id="rId100"/>
    <p:sldId id="321" r:id="rId101"/>
    <p:sldId id="322" r:id="rId102"/>
    <p:sldId id="323" r:id="rId103"/>
    <p:sldId id="324" r:id="rId104"/>
    <p:sldId id="325" r:id="rId105"/>
    <p:sldId id="326" r:id="rId106"/>
    <p:sldId id="327" r:id="rId107"/>
    <p:sldId id="328" r:id="rId108"/>
    <p:sldId id="329" r:id="rId109"/>
    <p:sldId id="330" r:id="rId110"/>
    <p:sldId id="331" r:id="rId111"/>
    <p:sldId id="332" r:id="rId1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このファイルについて" id="{5528AA72-FFF1-450C-9421-0132155A03B8}">
          <p14:sldIdLst>
            <p14:sldId id="263"/>
            <p14:sldId id="274"/>
            <p14:sldId id="2147483643"/>
            <p14:sldId id="275"/>
            <p14:sldId id="267"/>
          </p14:sldIdLst>
        </p14:section>
        <p14:section name="共通で使えるスライド" id="{D0878468-6D70-4783-A4F3-1B78278DEFE6}">
          <p14:sldIdLst>
            <p14:sldId id="272"/>
            <p14:sldId id="2147483511"/>
            <p14:sldId id="2147483641"/>
            <p14:sldId id="2147483559"/>
            <p14:sldId id="2147483622"/>
            <p14:sldId id="2147483560"/>
            <p14:sldId id="2147479477"/>
            <p14:sldId id="302"/>
          </p14:sldIdLst>
        </p14:section>
        <p14:section name="プロフィール" id="{CBB7FE09-18A4-4773-87AC-ADA7C3235EA2}">
          <p14:sldIdLst>
            <p14:sldId id="320"/>
          </p14:sldIdLst>
        </p14:section>
        <p14:section name="ワークの説明と例" id="{2AD72043-BE0F-4B36-8943-845A96AEE764}">
          <p14:sldIdLst>
            <p14:sldId id="278"/>
          </p14:sldIdLst>
        </p14:section>
        <p14:section name="ステップ" id="{39BE862F-8507-4B50-8900-C03C443C5DBC}">
          <p14:sldIdLst>
            <p14:sldId id="259"/>
            <p14:sldId id="2147483524"/>
            <p14:sldId id="280"/>
            <p14:sldId id="270"/>
          </p14:sldIdLst>
        </p14:section>
        <p14:section name="フロー" id="{7BD2170E-920B-4144-B217-1D8F9CBC974C}">
          <p14:sldIdLst>
            <p14:sldId id="269"/>
            <p14:sldId id="2147483647"/>
            <p14:sldId id="257"/>
            <p14:sldId id="2147479158"/>
            <p14:sldId id="265"/>
            <p14:sldId id="266"/>
          </p14:sldIdLst>
        </p14:section>
        <p14:section name="スケジュール" id="{FDD7CB19-26B9-4F4D-AE3B-06DF585E31C8}">
          <p14:sldIdLst>
            <p14:sldId id="2147483601"/>
            <p14:sldId id="2147483646"/>
            <p14:sldId id="292"/>
          </p14:sldIdLst>
        </p14:section>
        <p14:section name="見出し" id="{6DBAA19C-A3B3-4E3F-9A2F-884F35DA555F}">
          <p14:sldIdLst>
            <p14:sldId id="2147483435"/>
            <p14:sldId id="264"/>
            <p14:sldId id="380"/>
            <p14:sldId id="381"/>
            <p14:sldId id="281"/>
            <p14:sldId id="2147483637"/>
            <p14:sldId id="279"/>
            <p14:sldId id="2147483591"/>
            <p14:sldId id="262"/>
            <p14:sldId id="309"/>
            <p14:sldId id="310"/>
          </p14:sldIdLst>
        </p14:section>
        <p14:section name="アイコン・バッジ・挿絵" id="{EADAE858-BD04-4C40-9CDF-53BAC12A1E40}">
          <p14:sldIdLst>
            <p14:sldId id="273"/>
            <p14:sldId id="271"/>
            <p14:sldId id="256"/>
            <p14:sldId id="316"/>
            <p14:sldId id="260"/>
            <p14:sldId id="303"/>
            <p14:sldId id="277"/>
            <p14:sldId id="276"/>
            <p14:sldId id="318"/>
            <p14:sldId id="319"/>
            <p14:sldId id="2147483527"/>
            <p14:sldId id="2147483528"/>
            <p14:sldId id="2147483529"/>
            <p14:sldId id="258"/>
            <p14:sldId id="282"/>
            <p14:sldId id="304"/>
            <p14:sldId id="305"/>
            <p14:sldId id="306"/>
            <p14:sldId id="2147483632"/>
            <p14:sldId id="307"/>
            <p14:sldId id="308"/>
            <p14:sldId id="311"/>
            <p14:sldId id="312"/>
            <p14:sldId id="313"/>
            <p14:sldId id="336"/>
            <p14:sldId id="2147483563"/>
            <p14:sldId id="2147483620"/>
            <p14:sldId id="315"/>
            <p14:sldId id="314"/>
            <p14:sldId id="317"/>
          </p14:sldIdLst>
        </p14:section>
      </p14:sectionLst>
    </p:ext>
    <p:ext uri="{EFAFB233-063F-42B5-8137-9DF3F51BA10A}">
      <p15:sldGuideLst xmlns:p15="http://schemas.microsoft.com/office/powerpoint/2012/main">
        <p15:guide id="1" orient="horz" pos="2137" userDrawn="1">
          <p15:clr>
            <a:srgbClr val="A4A3A4"/>
          </p15:clr>
        </p15:guide>
        <p15:guide id="2" pos="3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DFA"/>
    <a:srgbClr val="0FA4CC"/>
    <a:srgbClr val="1A587B"/>
    <a:srgbClr val="2F2E41"/>
    <a:srgbClr val="3F3D56"/>
    <a:srgbClr val="CCCCCC"/>
    <a:srgbClr val="FFFFFF"/>
    <a:srgbClr val="FFD4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C01F3A-7635-26D4-F007-FD34118FA49D}" v="42" dt="2026-07-26T09:41:50.8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2" d="100"/>
          <a:sy n="82" d="100"/>
        </p:scale>
        <p:origin x="691" y="72"/>
      </p:cViewPr>
      <p:guideLst>
        <p:guide orient="horz" pos="2137"/>
        <p:guide pos="3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microsoft.com/office/2015/10/relationships/revisionInfo" Target="revisionInfo.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 Id="rId97" Type="http://schemas.openxmlformats.org/officeDocument/2006/relationships/slide" Target="slides/slide86.xml"/><Relationship Id="rId98" Type="http://schemas.openxmlformats.org/officeDocument/2006/relationships/slide" Target="slides/slide87.xml"/><Relationship Id="rId99" Type="http://schemas.openxmlformats.org/officeDocument/2006/relationships/slide" Target="slides/slide88.xml"/><Relationship Id="rId100" Type="http://schemas.openxmlformats.org/officeDocument/2006/relationships/slide" Target="slides/slide89.xml"/><Relationship Id="rId101" Type="http://schemas.openxmlformats.org/officeDocument/2006/relationships/slide" Target="slides/slide90.xml"/><Relationship Id="rId102" Type="http://schemas.openxmlformats.org/officeDocument/2006/relationships/slide" Target="slides/slide91.xml"/><Relationship Id="rId103" Type="http://schemas.openxmlformats.org/officeDocument/2006/relationships/slide" Target="slides/slide92.xml"/><Relationship Id="rId104" Type="http://schemas.openxmlformats.org/officeDocument/2006/relationships/slide" Target="slides/slide93.xml"/><Relationship Id="rId105" Type="http://schemas.openxmlformats.org/officeDocument/2006/relationships/slide" Target="slides/slide94.xml"/><Relationship Id="rId106" Type="http://schemas.openxmlformats.org/officeDocument/2006/relationships/slide" Target="slides/slide95.xml"/><Relationship Id="rId107" Type="http://schemas.openxmlformats.org/officeDocument/2006/relationships/slide" Target="slides/slide96.xml"/><Relationship Id="rId108" Type="http://schemas.openxmlformats.org/officeDocument/2006/relationships/slide" Target="slides/slide97.xml"/><Relationship Id="rId109" Type="http://schemas.openxmlformats.org/officeDocument/2006/relationships/slide" Target="slides/slide98.xml"/><Relationship Id="rId110" Type="http://schemas.openxmlformats.org/officeDocument/2006/relationships/slide" Target="slides/slide99.xml"/><Relationship Id="rId111" Type="http://schemas.openxmlformats.org/officeDocument/2006/relationships/slide" Target="slides/slide100.xml"/><Relationship Id="rId112"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E7BBA-1A57-4CFB-883E-2D12E1B74D29}" type="datetimeFigureOut">
              <a:rPr kumimoji="1" lang="ja-JP" altLang="en-US" smtClean="0"/>
              <a:t>2026/7/26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38C158-C7C8-4711-9209-A02984D40B1D}" type="slidenum">
              <a:rPr kumimoji="1" lang="ja-JP" altLang="en-US" smtClean="0"/>
              <a:t>‹#›</a:t>
            </a:fld>
            <a:endParaRPr kumimoji="1" lang="ja-JP" altLang="en-US"/>
          </a:p>
        </p:txBody>
      </p:sp>
    </p:spTree>
    <p:extLst>
      <p:ext uri="{BB962C8B-B14F-4D97-AF65-F5344CB8AC3E}">
        <p14:creationId xmlns:p14="http://schemas.microsoft.com/office/powerpoint/2010/main" val="36226601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表紙">
    <p:bg>
      <p:bgPr>
        <a:solidFill>
          <a:schemeClr val="bg1"/>
        </a:solidFill>
        <a:effectLst/>
      </p:bgPr>
    </p:bg>
    <p:spTree>
      <p:nvGrpSpPr>
        <p:cNvPr id="1" name=""/>
        <p:cNvGrpSpPr/>
        <p:nvPr/>
      </p:nvGrpSpPr>
      <p:grpSpPr>
        <a:xfrm>
          <a:off x="0" y="0"/>
          <a:ext cx="0" cy="0"/>
          <a:chOff x="0" y="0"/>
          <a:chExt cx="0" cy="0"/>
        </a:xfrm>
      </p:grpSpPr>
      <p:sp>
        <p:nvSpPr>
          <p:cNvPr id="14" name="テキスト プレースホルダー 13">
            <a:extLst>
              <a:ext uri="{FF2B5EF4-FFF2-40B4-BE49-F238E27FC236}">
                <a16:creationId xmlns:a16="http://schemas.microsoft.com/office/drawing/2014/main" id="{5A29DF86-A2DE-CC98-8D90-9053B6FD6938}"/>
              </a:ext>
            </a:extLst>
          </p:cNvPr>
          <p:cNvSpPr>
            <a:spLocks noGrp="1"/>
          </p:cNvSpPr>
          <p:nvPr>
            <p:ph type="body" sz="quarter" idx="12"/>
          </p:nvPr>
        </p:nvSpPr>
        <p:spPr>
          <a:xfrm>
            <a:off x="1149211" y="3360716"/>
            <a:ext cx="9419782" cy="789800"/>
          </a:xfrm>
          <a:prstGeom prst="rect">
            <a:avLst/>
          </a:prstGeom>
        </p:spPr>
        <p:txBody>
          <a:bodyPr anchor="ctr" anchorCtr="0">
            <a:normAutofit/>
          </a:bodyPr>
          <a:lstStyle>
            <a:lvl1pPr marL="0" indent="0">
              <a:buNone/>
              <a:defRPr sz="4355"/>
            </a:lvl1pPr>
          </a:lstStyle>
          <a:p>
            <a:pPr lvl="0"/>
            <a:r>
              <a:rPr kumimoji="1" lang="ja-JP" altLang="en-US"/>
              <a:t>マスター テキストの書式設定</a:t>
            </a:r>
          </a:p>
        </p:txBody>
      </p:sp>
      <p:sp>
        <p:nvSpPr>
          <p:cNvPr id="2" name="Title 1"/>
          <p:cNvSpPr>
            <a:spLocks noGrp="1"/>
          </p:cNvSpPr>
          <p:nvPr>
            <p:ph type="ctrTitle" hasCustomPrompt="1"/>
          </p:nvPr>
        </p:nvSpPr>
        <p:spPr>
          <a:xfrm>
            <a:off x="1149699" y="2391227"/>
            <a:ext cx="9418806" cy="862077"/>
          </a:xfrm>
          <a:prstGeom prst="rect">
            <a:avLst/>
          </a:prstGeom>
        </p:spPr>
        <p:txBody>
          <a:bodyPr lIns="0" tIns="0" rIns="0" bIns="0" anchor="t">
            <a:noAutofit/>
          </a:bodyPr>
          <a:lstStyle>
            <a:lvl1pPr algn="l">
              <a:lnSpc>
                <a:spcPct val="100000"/>
              </a:lnSpc>
              <a:defRPr sz="4899" b="1" cap="none" spc="0">
                <a:ln w="0">
                  <a:noFill/>
                  <a:prstDash val="solid"/>
                </a:ln>
                <a:gradFill>
                  <a:gsLst>
                    <a:gs pos="97000">
                      <a:schemeClr val="accent5">
                        <a:lumMod val="50000"/>
                      </a:schemeClr>
                    </a:gs>
                    <a:gs pos="73000">
                      <a:srgbClr val="3CBACB"/>
                    </a:gs>
                    <a:gs pos="0">
                      <a:schemeClr val="accent5">
                        <a:lumMod val="90000"/>
                      </a:schemeClr>
                    </a:gs>
                  </a:gsLst>
                  <a:lin ang="10800000" scaled="0"/>
                </a:gradFill>
                <a:effectLst/>
                <a:latin typeface="+mn-ea"/>
                <a:ea typeface="+mn-ea"/>
              </a:defRPr>
            </a:lvl1pPr>
          </a:lstStyle>
          <a:p>
            <a:r>
              <a:rPr lang="ja-JP" altLang="en-US"/>
              <a:t>プレゼンテーションテンプレート</a:t>
            </a:r>
            <a:endParaRPr lang="en-US"/>
          </a:p>
        </p:txBody>
      </p:sp>
      <p:sp>
        <p:nvSpPr>
          <p:cNvPr id="3" name="Subtitle 2"/>
          <p:cNvSpPr>
            <a:spLocks noGrp="1"/>
          </p:cNvSpPr>
          <p:nvPr>
            <p:ph type="subTitle" idx="1"/>
          </p:nvPr>
        </p:nvSpPr>
        <p:spPr>
          <a:xfrm>
            <a:off x="1149706" y="1992752"/>
            <a:ext cx="8360289" cy="291063"/>
          </a:xfrm>
          <a:prstGeom prst="rect">
            <a:avLst/>
          </a:prstGeom>
          <a:ln>
            <a:noFill/>
          </a:ln>
        </p:spPr>
        <p:txBody>
          <a:bodyPr lIns="0" tIns="0" rIns="0" bIns="0" anchor="ctr">
            <a:noAutofit/>
          </a:bodyPr>
          <a:lstStyle>
            <a:lvl1pPr marL="0" indent="0" algn="l">
              <a:buNone/>
              <a:defRPr sz="1633" b="0" cap="none" spc="0">
                <a:ln w="0">
                  <a:noFill/>
                  <a:prstDash val="solid"/>
                </a:ln>
                <a:solidFill>
                  <a:schemeClr val="tx2"/>
                </a:solidFill>
                <a:effectLst/>
                <a:latin typeface="+mn-ea"/>
                <a:ea typeface="+mn-ea"/>
              </a:defRPr>
            </a:lvl1pPr>
            <a:lvl2pPr marL="457203" indent="0" algn="ctr">
              <a:buNone/>
              <a:defRPr sz="2000"/>
            </a:lvl2pPr>
            <a:lvl3pPr marL="914406" indent="0" algn="ctr">
              <a:buNone/>
              <a:defRPr sz="1800"/>
            </a:lvl3pPr>
            <a:lvl4pPr marL="1371609" indent="0" algn="ctr">
              <a:buNone/>
              <a:defRPr sz="1600"/>
            </a:lvl4pPr>
            <a:lvl5pPr marL="1828812" indent="0" algn="ctr">
              <a:buNone/>
              <a:defRPr sz="1600"/>
            </a:lvl5pPr>
            <a:lvl6pPr marL="2286015" indent="0" algn="ctr">
              <a:buNone/>
              <a:defRPr sz="1600"/>
            </a:lvl6pPr>
            <a:lvl7pPr marL="2743218" indent="0" algn="ctr">
              <a:buNone/>
              <a:defRPr sz="1600"/>
            </a:lvl7pPr>
            <a:lvl8pPr marL="3200421" indent="0" algn="ctr">
              <a:buNone/>
              <a:defRPr sz="1600"/>
            </a:lvl8pPr>
            <a:lvl9pPr marL="3657624" indent="0" algn="ctr">
              <a:buNone/>
              <a:defRPr sz="1600"/>
            </a:lvl9pPr>
          </a:lstStyle>
          <a:p>
            <a:r>
              <a:rPr lang="ja-JP" altLang="en-US"/>
              <a:t>マスター サブタイトルの書式設定</a:t>
            </a:r>
            <a:endParaRPr lang="en-US"/>
          </a:p>
        </p:txBody>
      </p:sp>
      <p:sp>
        <p:nvSpPr>
          <p:cNvPr id="8" name="Text Placeholder 3">
            <a:extLst>
              <a:ext uri="{FF2B5EF4-FFF2-40B4-BE49-F238E27FC236}">
                <a16:creationId xmlns:a16="http://schemas.microsoft.com/office/drawing/2014/main" id="{9649C234-A319-4CA8-B571-4E8F7ACF547B}"/>
              </a:ext>
            </a:extLst>
          </p:cNvPr>
          <p:cNvSpPr>
            <a:spLocks noGrp="1"/>
          </p:cNvSpPr>
          <p:nvPr>
            <p:ph type="body" sz="half" idx="2" hasCustomPrompt="1"/>
          </p:nvPr>
        </p:nvSpPr>
        <p:spPr>
          <a:xfrm>
            <a:off x="1149706" y="4575512"/>
            <a:ext cx="1600953" cy="291063"/>
          </a:xfrm>
          <a:prstGeom prst="rect">
            <a:avLst/>
          </a:prstGeom>
          <a:solidFill>
            <a:schemeClr val="accent1"/>
          </a:solidFill>
        </p:spPr>
        <p:txBody>
          <a:bodyPr tIns="18000" bIns="0" anchor="ctr">
            <a:normAutofit/>
          </a:bodyPr>
          <a:lstStyle>
            <a:lvl1pPr marL="0" indent="0" algn="ctr">
              <a:buNone/>
              <a:defRPr sz="1452" spc="91" baseline="0">
                <a:solidFill>
                  <a:schemeClr val="bg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lvl="0"/>
            <a:r>
              <a:rPr lang="en-US" altLang="ja-JP"/>
              <a:t>2020.10.01</a:t>
            </a:r>
            <a:endParaRPr lang="ja-JP" altLang="en-US"/>
          </a:p>
        </p:txBody>
      </p:sp>
      <p:sp>
        <p:nvSpPr>
          <p:cNvPr id="4" name="正方形/長方形 3">
            <a:extLst>
              <a:ext uri="{FF2B5EF4-FFF2-40B4-BE49-F238E27FC236}">
                <a16:creationId xmlns:a16="http://schemas.microsoft.com/office/drawing/2014/main" id="{1D3A9960-2BBC-1A7F-6AAF-9F051165E927}"/>
              </a:ext>
            </a:extLst>
          </p:cNvPr>
          <p:cNvSpPr/>
          <p:nvPr userDrawn="1"/>
        </p:nvSpPr>
        <p:spPr>
          <a:xfrm>
            <a:off x="760380" y="1825900"/>
            <a:ext cx="209297" cy="31834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spc="100">
              <a:solidFill>
                <a:schemeClr val="tx2"/>
              </a:solidFill>
              <a:latin typeface="+mn-ea"/>
            </a:endParaRPr>
          </a:p>
        </p:txBody>
      </p:sp>
      <p:sp>
        <p:nvSpPr>
          <p:cNvPr id="7" name="テキスト プレースホルダー 9">
            <a:extLst>
              <a:ext uri="{FF2B5EF4-FFF2-40B4-BE49-F238E27FC236}">
                <a16:creationId xmlns:a16="http://schemas.microsoft.com/office/drawing/2014/main" id="{8FB24792-959A-16B7-4899-5AAC1A2D7F79}"/>
              </a:ext>
            </a:extLst>
          </p:cNvPr>
          <p:cNvSpPr>
            <a:spLocks noGrp="1"/>
          </p:cNvSpPr>
          <p:nvPr>
            <p:ph type="body" sz="half" idx="10" hasCustomPrompt="1"/>
          </p:nvPr>
        </p:nvSpPr>
        <p:spPr>
          <a:xfrm>
            <a:off x="1149706" y="4575512"/>
            <a:ext cx="1600953" cy="291063"/>
          </a:xfrm>
          <a:prstGeom prst="rect">
            <a:avLst/>
          </a:prstGeom>
          <a:solidFill>
            <a:schemeClr val="accent1"/>
          </a:solidFill>
        </p:spPr>
        <p:txBody>
          <a:bodyPr anchor="ctr" anchorCtr="0">
            <a:normAutofit/>
          </a:bodyPr>
          <a:lstStyle>
            <a:lvl1pPr marL="0" indent="0" algn="ctr">
              <a:buNone/>
              <a:defRPr sz="1452">
                <a:solidFill>
                  <a:schemeClr val="bg1"/>
                </a:solidFill>
              </a:defRPr>
            </a:lvl1pPr>
          </a:lstStyle>
          <a:p>
            <a:r>
              <a:rPr lang="en-US" altLang="ja-JP" spc="100"/>
              <a:t>2024.07.08</a:t>
            </a:r>
            <a:endParaRPr lang="ja-JP" altLang="en-US" spc="100"/>
          </a:p>
        </p:txBody>
      </p:sp>
    </p:spTree>
    <p:extLst>
      <p:ext uri="{BB962C8B-B14F-4D97-AF65-F5344CB8AC3E}">
        <p14:creationId xmlns:p14="http://schemas.microsoft.com/office/powerpoint/2010/main" val="271980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目次">
    <p:bg>
      <p:bgPr>
        <a:solidFill>
          <a:schemeClr val="tx2"/>
        </a:solidFill>
        <a:effectLst/>
      </p:bgPr>
    </p:bg>
    <p:spTree>
      <p:nvGrpSpPr>
        <p:cNvPr id="1" name=""/>
        <p:cNvGrpSpPr/>
        <p:nvPr/>
      </p:nvGrpSpPr>
      <p:grpSpPr>
        <a:xfrm>
          <a:off x="0" y="0"/>
          <a:ext cx="0" cy="0"/>
          <a:chOff x="0" y="0"/>
          <a:chExt cx="0" cy="0"/>
        </a:xfrm>
      </p:grpSpPr>
      <p:sp>
        <p:nvSpPr>
          <p:cNvPr id="8" name="Slide Number Placeholder 4">
            <a:extLst>
              <a:ext uri="{FF2B5EF4-FFF2-40B4-BE49-F238E27FC236}">
                <a16:creationId xmlns:a16="http://schemas.microsoft.com/office/drawing/2014/main" id="{F72A3028-8B63-5839-5C17-9FEE3D5EEA41}"/>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bg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6EE881AC-9F0B-8A67-2800-BA379A144F6C}"/>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0">
                <a:solidFill>
                  <a:schemeClr val="bg1"/>
                </a:solidFill>
                <a:latin typeface="+mj-ea"/>
                <a:ea typeface="+mj-ea"/>
              </a:defRPr>
            </a:lvl1pPr>
          </a:lstStyle>
          <a:p>
            <a:r>
              <a:rPr lang="ja-JP" altLang="en-US"/>
              <a:t>タイトルが入ります</a:t>
            </a:r>
            <a:endParaRPr lang="en-US"/>
          </a:p>
        </p:txBody>
      </p:sp>
      <p:sp>
        <p:nvSpPr>
          <p:cNvPr id="11" name="正方形/長方形 10">
            <a:extLst>
              <a:ext uri="{FF2B5EF4-FFF2-40B4-BE49-F238E27FC236}">
                <a16:creationId xmlns:a16="http://schemas.microsoft.com/office/drawing/2014/main" id="{2E03C316-8F5D-4D06-0CEA-3CBFA4DDAEE5}"/>
              </a:ext>
            </a:extLst>
          </p:cNvPr>
          <p:cNvSpPr/>
          <p:nvPr userDrawn="1"/>
        </p:nvSpPr>
        <p:spPr>
          <a:xfrm flipV="1">
            <a:off x="723630" y="734794"/>
            <a:ext cx="10729319" cy="810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3" name="Text Placeholder 3">
            <a:extLst>
              <a:ext uri="{FF2B5EF4-FFF2-40B4-BE49-F238E27FC236}">
                <a16:creationId xmlns:a16="http://schemas.microsoft.com/office/drawing/2014/main" id="{A75236A4-19FE-66B8-28AB-FE24B4935AA7}"/>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bg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2" name="テキスト ボックス 1">
            <a:extLst>
              <a:ext uri="{FF2B5EF4-FFF2-40B4-BE49-F238E27FC236}">
                <a16:creationId xmlns:a16="http://schemas.microsoft.com/office/drawing/2014/main" id="{57118DB0-D694-263A-335C-6D6B33275B18}"/>
              </a:ext>
            </a:extLst>
          </p:cNvPr>
          <p:cNvSpPr txBox="1"/>
          <p:nvPr userDrawn="1"/>
        </p:nvSpPr>
        <p:spPr>
          <a:xfrm>
            <a:off x="-1925" y="6598271"/>
            <a:ext cx="3345200" cy="261610"/>
          </a:xfrm>
          <a:prstGeom prst="rect">
            <a:avLst/>
          </a:prstGeom>
          <a:noFill/>
        </p:spPr>
        <p:txBody>
          <a:bodyPr wrap="square">
            <a:spAutoFit/>
          </a:bodyPr>
          <a:lstStyle/>
          <a:p>
            <a:r>
              <a:rPr lang="en-US" altLang="ja-JP" sz="1050">
                <a:solidFill>
                  <a:schemeClr val="bg1"/>
                </a:solidFill>
              </a:rPr>
              <a:t>© 2025 Low Code Inc. All rights reserved.</a:t>
            </a:r>
            <a:endParaRPr lang="ja-JP" altLang="en-US" sz="1050">
              <a:solidFill>
                <a:schemeClr val="bg1"/>
              </a:solidFill>
            </a:endParaRPr>
          </a:p>
        </p:txBody>
      </p:sp>
    </p:spTree>
    <p:extLst>
      <p:ext uri="{BB962C8B-B14F-4D97-AF65-F5344CB8AC3E}">
        <p14:creationId xmlns:p14="http://schemas.microsoft.com/office/powerpoint/2010/main" val="2622215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p:bg>
      <p:bgPr>
        <a:solidFill>
          <a:schemeClr val="tx2"/>
        </a:solidFill>
        <a:effectLst/>
      </p:bgPr>
    </p:bg>
    <p:spTree>
      <p:nvGrpSpPr>
        <p:cNvPr id="1" name=""/>
        <p:cNvGrpSpPr/>
        <p:nvPr/>
      </p:nvGrpSpPr>
      <p:grpSpPr>
        <a:xfrm>
          <a:off x="0" y="0"/>
          <a:ext cx="0" cy="0"/>
          <a:chOff x="0" y="0"/>
          <a:chExt cx="0" cy="0"/>
        </a:xfrm>
      </p:grpSpPr>
      <p:sp>
        <p:nvSpPr>
          <p:cNvPr id="13" name="テキスト プレースホルダー 12">
            <a:extLst>
              <a:ext uri="{FF2B5EF4-FFF2-40B4-BE49-F238E27FC236}">
                <a16:creationId xmlns:a16="http://schemas.microsoft.com/office/drawing/2014/main" id="{486585F4-B4A4-7E2B-5A9B-E0D9D6AF55BF}"/>
              </a:ext>
            </a:extLst>
          </p:cNvPr>
          <p:cNvSpPr>
            <a:spLocks noGrp="1"/>
          </p:cNvSpPr>
          <p:nvPr>
            <p:ph type="body" sz="quarter" idx="13" hasCustomPrompt="1"/>
          </p:nvPr>
        </p:nvSpPr>
        <p:spPr>
          <a:xfrm>
            <a:off x="838202" y="3083902"/>
            <a:ext cx="2102772" cy="1488294"/>
          </a:xfrm>
          <a:prstGeom prst="rect">
            <a:avLst/>
          </a:prstGeom>
        </p:spPr>
        <p:txBody>
          <a:bodyPr>
            <a:noAutofit/>
          </a:bodyPr>
          <a:lstStyle>
            <a:lvl1pPr marL="0" indent="0" algn="ctr">
              <a:buNone/>
              <a:defRPr sz="12701" b="1">
                <a:solidFill>
                  <a:schemeClr val="bg1"/>
                </a:solidFill>
                <a:latin typeface="+mn-lt"/>
                <a:ea typeface="+mj-ea"/>
              </a:defRPr>
            </a:lvl1pPr>
          </a:lstStyle>
          <a:p>
            <a:pPr lvl="0"/>
            <a:r>
              <a:rPr kumimoji="1" lang="en-US" altLang="ja-JP"/>
              <a:t>01</a:t>
            </a:r>
            <a:endParaRPr kumimoji="1" lang="ja-JP" altLang="en-US"/>
          </a:p>
        </p:txBody>
      </p:sp>
      <p:sp>
        <p:nvSpPr>
          <p:cNvPr id="6" name="正方形/長方形 5">
            <a:extLst>
              <a:ext uri="{FF2B5EF4-FFF2-40B4-BE49-F238E27FC236}">
                <a16:creationId xmlns:a16="http://schemas.microsoft.com/office/drawing/2014/main" id="{8A26D1C4-164F-4322-A4D6-2E3981258678}"/>
              </a:ext>
            </a:extLst>
          </p:cNvPr>
          <p:cNvSpPr/>
          <p:nvPr userDrawn="1"/>
        </p:nvSpPr>
        <p:spPr>
          <a:xfrm>
            <a:off x="0" y="4572196"/>
            <a:ext cx="12192213" cy="2286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7" name="Title 1">
            <a:extLst>
              <a:ext uri="{FF2B5EF4-FFF2-40B4-BE49-F238E27FC236}">
                <a16:creationId xmlns:a16="http://schemas.microsoft.com/office/drawing/2014/main" id="{B79C810F-C10A-4F50-B56E-13AAF759F028}"/>
              </a:ext>
            </a:extLst>
          </p:cNvPr>
          <p:cNvSpPr>
            <a:spLocks noGrp="1"/>
          </p:cNvSpPr>
          <p:nvPr>
            <p:ph type="title" hasCustomPrompt="1"/>
          </p:nvPr>
        </p:nvSpPr>
        <p:spPr>
          <a:xfrm>
            <a:off x="838200" y="5052463"/>
            <a:ext cx="10515600" cy="1325563"/>
          </a:xfrm>
          <a:prstGeom prst="rect">
            <a:avLst/>
          </a:prstGeom>
        </p:spPr>
        <p:txBody>
          <a:bodyPr/>
          <a:lstStyle>
            <a:lvl1pPr>
              <a:defRPr>
                <a:latin typeface="+mn-ea"/>
                <a:ea typeface="+mn-ea"/>
              </a:defRPr>
            </a:lvl1pPr>
          </a:lstStyle>
          <a:p>
            <a:r>
              <a:rPr lang="ja-JP" altLang="en-US"/>
              <a:t>大見出しが入ります</a:t>
            </a:r>
            <a:endParaRPr lang="en-US"/>
          </a:p>
        </p:txBody>
      </p:sp>
      <p:sp>
        <p:nvSpPr>
          <p:cNvPr id="2" name="テキスト ボックス 1">
            <a:extLst>
              <a:ext uri="{FF2B5EF4-FFF2-40B4-BE49-F238E27FC236}">
                <a16:creationId xmlns:a16="http://schemas.microsoft.com/office/drawing/2014/main" id="{C5BDC495-5B43-81E7-C3A6-F1843E74FD46}"/>
              </a:ext>
            </a:extLst>
          </p:cNvPr>
          <p:cNvSpPr txBox="1"/>
          <p:nvPr userDrawn="1"/>
        </p:nvSpPr>
        <p:spPr>
          <a:xfrm>
            <a:off x="-1925" y="6596390"/>
            <a:ext cx="3345200" cy="261610"/>
          </a:xfrm>
          <a:prstGeom prst="rect">
            <a:avLst/>
          </a:prstGeom>
          <a:noFill/>
        </p:spPr>
        <p:txBody>
          <a:bodyPr wrap="square">
            <a:spAutoFit/>
          </a:bodyPr>
          <a:lstStyle/>
          <a:p>
            <a:r>
              <a:rPr lang="en-US" altLang="ja-JP" sz="1050">
                <a:solidFill>
                  <a:schemeClr val="tx1">
                    <a:lumMod val="50000"/>
                    <a:lumOff val="50000"/>
                  </a:schemeClr>
                </a:solidFill>
              </a:rPr>
              <a:t>© 2025 Low Code Inc. All rights reserved.</a:t>
            </a:r>
            <a:endParaRPr lang="ja-JP" altLang="en-US" sz="1050">
              <a:solidFill>
                <a:schemeClr val="tx1">
                  <a:lumMod val="50000"/>
                  <a:lumOff val="50000"/>
                </a:schemeClr>
              </a:solidFill>
            </a:endParaRPr>
          </a:p>
        </p:txBody>
      </p:sp>
    </p:spTree>
    <p:extLst>
      <p:ext uri="{BB962C8B-B14F-4D97-AF65-F5344CB8AC3E}">
        <p14:creationId xmlns:p14="http://schemas.microsoft.com/office/powerpoint/2010/main" val="2737734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白紙">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4016915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タイトル＋見出し">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2546055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のみ">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Tree>
    <p:extLst>
      <p:ext uri="{BB962C8B-B14F-4D97-AF65-F5344CB8AC3E}">
        <p14:creationId xmlns:p14="http://schemas.microsoft.com/office/powerpoint/2010/main" val="3954299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見出し＋本文">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580" y="943691"/>
            <a:ext cx="10714369" cy="689877"/>
          </a:xfrm>
          <a:prstGeom prst="rect">
            <a:avLst/>
          </a:prstGeom>
        </p:spPr>
        <p:txBody>
          <a:bodyPr lIns="0" tIns="0" rIns="0" bIns="0">
            <a:noAutofit/>
          </a:bodyPr>
          <a:lstStyle>
            <a:lvl1pPr algn="ctr">
              <a:defRPr sz="3992" b="1">
                <a:solidFill>
                  <a:schemeClr val="accent1"/>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2" name="Text Placeholder 3">
            <a:extLst>
              <a:ext uri="{FF2B5EF4-FFF2-40B4-BE49-F238E27FC236}">
                <a16:creationId xmlns:a16="http://schemas.microsoft.com/office/drawing/2014/main" id="{6DD37CF5-7C7F-3337-6675-B8C0883DE6AE}"/>
              </a:ext>
            </a:extLst>
          </p:cNvPr>
          <p:cNvSpPr>
            <a:spLocks noGrp="1"/>
          </p:cNvSpPr>
          <p:nvPr>
            <p:ph type="body" sz="half" idx="13" hasCustomPrompt="1"/>
          </p:nvPr>
        </p:nvSpPr>
        <p:spPr>
          <a:xfrm>
            <a:off x="738238" y="532239"/>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5" name="Text Placeholder 3">
            <a:extLst>
              <a:ext uri="{FF2B5EF4-FFF2-40B4-BE49-F238E27FC236}">
                <a16:creationId xmlns:a16="http://schemas.microsoft.com/office/drawing/2014/main" id="{A6F2A11C-217B-3933-B175-8675779FAA7D}"/>
              </a:ext>
            </a:extLst>
          </p:cNvPr>
          <p:cNvSpPr>
            <a:spLocks noGrp="1"/>
          </p:cNvSpPr>
          <p:nvPr>
            <p:ph type="body" sz="half" idx="14" hasCustomPrompt="1"/>
          </p:nvPr>
        </p:nvSpPr>
        <p:spPr>
          <a:xfrm>
            <a:off x="738580" y="1796220"/>
            <a:ext cx="10714369" cy="954702"/>
          </a:xfrm>
          <a:prstGeom prst="rect">
            <a:avLst/>
          </a:prstGeom>
        </p:spPr>
        <p:txBody>
          <a:bodyPr lIns="0" tIns="0" rIns="0" bIns="0">
            <a:noAutofit/>
          </a:bodyPr>
          <a:lstStyle>
            <a:lvl1pPr marL="0" marR="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sz="1633"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Tree>
    <p:extLst>
      <p:ext uri="{BB962C8B-B14F-4D97-AF65-F5344CB8AC3E}">
        <p14:creationId xmlns:p14="http://schemas.microsoft.com/office/powerpoint/2010/main" val="195162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大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580" y="943691"/>
            <a:ext cx="10714369" cy="689877"/>
          </a:xfrm>
          <a:prstGeom prst="rect">
            <a:avLst/>
          </a:prstGeom>
        </p:spPr>
        <p:txBody>
          <a:bodyPr lIns="0" tIns="0" rIns="0" bIns="0">
            <a:noAutofit/>
          </a:bodyPr>
          <a:lstStyle>
            <a:lvl1pPr algn="ctr">
              <a:defRPr sz="3992" b="1">
                <a:solidFill>
                  <a:schemeClr val="accent1"/>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3004430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922" y="260550"/>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7" name="Text Placeholder 3">
            <a:extLst>
              <a:ext uri="{FF2B5EF4-FFF2-40B4-BE49-F238E27FC236}">
                <a16:creationId xmlns:a16="http://schemas.microsoft.com/office/drawing/2014/main" id="{82F3A894-26DD-135E-5E9C-9F62E01F9C79}"/>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3601827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1933337"/>
            <a:ext cx="12192213" cy="2991325"/>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1932683"/>
            <a:ext cx="7926384" cy="2992634"/>
          </a:xfrm>
          <a:prstGeom prst="rect">
            <a:avLst/>
          </a:prstGeom>
        </p:spPr>
        <p:txBody>
          <a:bodyPr anchor="ctr"/>
          <a:lstStyle>
            <a:lvl1pPr marL="0" indent="0" algn="l">
              <a:lnSpc>
                <a:spcPct val="110000"/>
              </a:lnSpc>
              <a:buNone/>
              <a:defRPr sz="3266"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2517553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8045051"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5370619" y="22188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2664334" y="22197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4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906515" y="2950543"/>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grpSp>
        <p:nvGrpSpPr>
          <p:cNvPr id="84" name="グループ化 83">
            <a:extLst>
              <a:ext uri="{FF2B5EF4-FFF2-40B4-BE49-F238E27FC236}">
                <a16:creationId xmlns:a16="http://schemas.microsoft.com/office/drawing/2014/main" id="{F1BCF46B-65B4-214A-25C4-A4B14A484C6A}"/>
              </a:ext>
            </a:extLst>
          </p:cNvPr>
          <p:cNvGrpSpPr/>
          <p:nvPr userDrawn="1"/>
        </p:nvGrpSpPr>
        <p:grpSpPr>
          <a:xfrm>
            <a:off x="8825582" y="2219733"/>
            <a:ext cx="190132" cy="3951134"/>
            <a:chOff x="3779235" y="2382999"/>
            <a:chExt cx="209591" cy="4378192"/>
          </a:xfrm>
        </p:grpSpPr>
        <p:grpSp>
          <p:nvGrpSpPr>
            <p:cNvPr id="85" name="グループ化 84">
              <a:extLst>
                <a:ext uri="{FF2B5EF4-FFF2-40B4-BE49-F238E27FC236}">
                  <a16:creationId xmlns:a16="http://schemas.microsoft.com/office/drawing/2014/main" id="{792DEC4C-0FB0-19E3-5AB2-2BCF152EB512}"/>
                </a:ext>
              </a:extLst>
            </p:cNvPr>
            <p:cNvGrpSpPr/>
            <p:nvPr userDrawn="1"/>
          </p:nvGrpSpPr>
          <p:grpSpPr>
            <a:xfrm>
              <a:off x="3779235" y="2382999"/>
              <a:ext cx="209107" cy="2184968"/>
              <a:chOff x="919218" y="2399232"/>
              <a:chExt cx="206847" cy="2167379"/>
            </a:xfrm>
          </p:grpSpPr>
          <p:cxnSp>
            <p:nvCxnSpPr>
              <p:cNvPr id="88" name="直線コネクタ 87">
                <a:extLst>
                  <a:ext uri="{FF2B5EF4-FFF2-40B4-BE49-F238E27FC236}">
                    <a16:creationId xmlns:a16="http://schemas.microsoft.com/office/drawing/2014/main" id="{C8625060-6C63-6F9F-2FF3-C68399D69F8A}"/>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9" name="直線コネクタ 88">
                <a:extLst>
                  <a:ext uri="{FF2B5EF4-FFF2-40B4-BE49-F238E27FC236}">
                    <a16:creationId xmlns:a16="http://schemas.microsoft.com/office/drawing/2014/main" id="{198C3B02-FFBA-B4D0-D449-DB73FECE5BEE}"/>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6" name="直線コネクタ 85">
              <a:extLst>
                <a:ext uri="{FF2B5EF4-FFF2-40B4-BE49-F238E27FC236}">
                  <a16:creationId xmlns:a16="http://schemas.microsoft.com/office/drawing/2014/main" id="{672CB4A5-3AD3-B0D6-D823-5BC5E863D436}"/>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7" name="直線コネクタ 86">
              <a:extLst>
                <a:ext uri="{FF2B5EF4-FFF2-40B4-BE49-F238E27FC236}">
                  <a16:creationId xmlns:a16="http://schemas.microsoft.com/office/drawing/2014/main" id="{A0DD468B-01C0-2F4F-4825-F6A8AD1D02AE}"/>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6094201" y="2172072"/>
            <a:ext cx="190132" cy="395113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05792" y="2172072"/>
            <a:ext cx="0" cy="3956109"/>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p:nvPr userDrawn="1"/>
        </p:nvCxnSpPr>
        <p:spPr>
          <a:xfrm>
            <a:off x="11488253" y="2184427"/>
            <a:ext cx="0" cy="3956109"/>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3397477" y="2210557"/>
            <a:ext cx="190132" cy="395113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905976"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3605759" y="3445018"/>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6324530"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5" name="Text Placeholder 3">
            <a:extLst>
              <a:ext uri="{FF2B5EF4-FFF2-40B4-BE49-F238E27FC236}">
                <a16:creationId xmlns:a16="http://schemas.microsoft.com/office/drawing/2014/main" id="{5DC40CB0-CF89-06B0-15F2-001456AED622}"/>
              </a:ext>
            </a:extLst>
          </p:cNvPr>
          <p:cNvSpPr>
            <a:spLocks noGrp="1"/>
          </p:cNvSpPr>
          <p:nvPr>
            <p:ph type="body" sz="half" idx="16" hasCustomPrompt="1"/>
          </p:nvPr>
        </p:nvSpPr>
        <p:spPr>
          <a:xfrm>
            <a:off x="9000721"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10" name="Title 1">
            <a:extLst>
              <a:ext uri="{FF2B5EF4-FFF2-40B4-BE49-F238E27FC236}">
                <a16:creationId xmlns:a16="http://schemas.microsoft.com/office/drawing/2014/main" id="{EA17699E-E28A-A32E-64EF-819E35538314}"/>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111" name="正方形/長方形 110">
            <a:extLst>
              <a:ext uri="{FF2B5EF4-FFF2-40B4-BE49-F238E27FC236}">
                <a16:creationId xmlns:a16="http://schemas.microsoft.com/office/drawing/2014/main" id="{D9354407-8F6B-98CD-0219-8ECFBEC0C56D}"/>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8E1F175E-5ECB-471A-1E2D-8D505757BC59}"/>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3605760" y="2990121"/>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6317944" y="2964552"/>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6" name="Text Placeholder 3">
            <a:extLst>
              <a:ext uri="{FF2B5EF4-FFF2-40B4-BE49-F238E27FC236}">
                <a16:creationId xmlns:a16="http://schemas.microsoft.com/office/drawing/2014/main" id="{F9581288-422D-8EE3-EF12-2FF43008D0D6}"/>
              </a:ext>
            </a:extLst>
          </p:cNvPr>
          <p:cNvSpPr>
            <a:spLocks noGrp="1"/>
          </p:cNvSpPr>
          <p:nvPr>
            <p:ph type="body" sz="half" idx="20" hasCustomPrompt="1"/>
          </p:nvPr>
        </p:nvSpPr>
        <p:spPr>
          <a:xfrm>
            <a:off x="8997105" y="2990121"/>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10" name="Text Placeholder 3">
            <a:extLst>
              <a:ext uri="{FF2B5EF4-FFF2-40B4-BE49-F238E27FC236}">
                <a16:creationId xmlns:a16="http://schemas.microsoft.com/office/drawing/2014/main" id="{43F98BC1-121C-665C-5E5A-3C2BF34A4CA7}"/>
              </a:ext>
            </a:extLst>
          </p:cNvPr>
          <p:cNvSpPr>
            <a:spLocks noGrp="1"/>
          </p:cNvSpPr>
          <p:nvPr>
            <p:ph type="body" sz="half" idx="24" hasCustomPrompt="1"/>
          </p:nvPr>
        </p:nvSpPr>
        <p:spPr>
          <a:xfrm>
            <a:off x="10741868"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4</a:t>
            </a:r>
            <a:endParaRPr kumimoji="1" lang="ja-JP" altLang="en-US"/>
          </a:p>
        </p:txBody>
      </p:sp>
    </p:spTree>
    <p:extLst>
      <p:ext uri="{BB962C8B-B14F-4D97-AF65-F5344CB8AC3E}">
        <p14:creationId xmlns:p14="http://schemas.microsoft.com/office/powerpoint/2010/main" val="1756736081"/>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10626804"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6969174" y="22188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3311643" y="22197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4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972157" y="2950543"/>
            <a:ext cx="2179960"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7830723" y="2191314"/>
            <a:ext cx="190132" cy="395113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05792" y="2188827"/>
            <a:ext cx="0" cy="3956109"/>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a:cxnSpLocks/>
          </p:cNvCxnSpPr>
          <p:nvPr userDrawn="1"/>
        </p:nvCxnSpPr>
        <p:spPr>
          <a:xfrm>
            <a:off x="11488253" y="2188827"/>
            <a:ext cx="0" cy="3956109"/>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4173192" y="2191314"/>
            <a:ext cx="190132" cy="395113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971617" y="3579606"/>
            <a:ext cx="2939146"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4441765" y="3590954"/>
            <a:ext cx="3126527"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8099735" y="3579606"/>
            <a:ext cx="3126525"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4441766" y="2990121"/>
            <a:ext cx="2365495"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8093150" y="2964552"/>
            <a:ext cx="2271123"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11" name="Title 1">
            <a:extLst>
              <a:ext uri="{FF2B5EF4-FFF2-40B4-BE49-F238E27FC236}">
                <a16:creationId xmlns:a16="http://schemas.microsoft.com/office/drawing/2014/main" id="{D771318B-6A52-C879-20C9-001B5F4C0137}"/>
              </a:ext>
            </a:extLst>
          </p:cNvPr>
          <p:cNvSpPr>
            <a:spLocks noGrp="1"/>
          </p:cNvSpPr>
          <p:nvPr>
            <p:ph type="title" hasCustomPrompt="1"/>
          </p:nvPr>
        </p:nvSpPr>
        <p:spPr>
          <a:xfrm>
            <a:off x="738580" y="788640"/>
            <a:ext cx="10714369" cy="689877"/>
          </a:xfrm>
          <a:prstGeom prst="rect">
            <a:avLst/>
          </a:prstGeom>
        </p:spPr>
        <p:txBody>
          <a:bodyPr lIns="0" tIns="0" rIns="0" bIns="0">
            <a:noAutofit/>
          </a:bodyPr>
          <a:lstStyle>
            <a:lvl1pPr algn="ctr">
              <a:defRPr sz="3992" b="1">
                <a:solidFill>
                  <a:schemeClr val="bg2">
                    <a:lumMod val="50000"/>
                  </a:schemeClr>
                </a:solidFill>
                <a:latin typeface="+mn-ea"/>
                <a:ea typeface="+mn-ea"/>
              </a:defRPr>
            </a:lvl1pPr>
          </a:lstStyle>
          <a:p>
            <a:r>
              <a:rPr lang="ja-JP" altLang="en-US"/>
              <a:t>タイトルが入ります</a:t>
            </a:r>
            <a:endParaRPr lang="en-US"/>
          </a:p>
        </p:txBody>
      </p:sp>
      <p:sp>
        <p:nvSpPr>
          <p:cNvPr id="12" name="Text Placeholder 3">
            <a:extLst>
              <a:ext uri="{FF2B5EF4-FFF2-40B4-BE49-F238E27FC236}">
                <a16:creationId xmlns:a16="http://schemas.microsoft.com/office/drawing/2014/main" id="{2C7FCACB-61D6-0A4A-592D-E89D26182D9C}"/>
              </a:ext>
            </a:extLst>
          </p:cNvPr>
          <p:cNvSpPr>
            <a:spLocks noGrp="1"/>
          </p:cNvSpPr>
          <p:nvPr>
            <p:ph type="body" sz="half" idx="25" hasCustomPrompt="1"/>
          </p:nvPr>
        </p:nvSpPr>
        <p:spPr>
          <a:xfrm>
            <a:off x="738238" y="377188"/>
            <a:ext cx="10714369" cy="222492"/>
          </a:xfrm>
          <a:prstGeom prst="rect">
            <a:avLst/>
          </a:prstGeom>
        </p:spPr>
        <p:txBody>
          <a:bodyPr lIns="0" tIns="0" rIns="0" bIns="0">
            <a:noAutofit/>
          </a:bodyPr>
          <a:lstStyle>
            <a:lvl1pPr marL="0" indent="0" algn="l">
              <a:buNone/>
              <a:defRPr sz="1814" b="1">
                <a:solidFill>
                  <a:schemeClr val="tx2"/>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985273255"/>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タイトルのみ">
    <p:spTree>
      <p:nvGrpSpPr>
        <p:cNvPr id="1" name=""/>
        <p:cNvGrpSpPr/>
        <p:nvPr/>
      </p:nvGrpSpPr>
      <p:grpSpPr>
        <a:xfrm>
          <a:off x="0" y="0"/>
          <a:ext cx="0" cy="0"/>
          <a:chOff x="0" y="0"/>
          <a:chExt cx="0" cy="0"/>
        </a:xfrm>
      </p:grpSpPr>
      <p:grpSp>
        <p:nvGrpSpPr>
          <p:cNvPr id="23" name="グループ化 22">
            <a:extLst>
              <a:ext uri="{FF2B5EF4-FFF2-40B4-BE49-F238E27FC236}">
                <a16:creationId xmlns:a16="http://schemas.microsoft.com/office/drawing/2014/main" id="{B9DD1BC7-3980-0C96-2751-31697F7F4867}"/>
              </a:ext>
            </a:extLst>
          </p:cNvPr>
          <p:cNvGrpSpPr/>
          <p:nvPr userDrawn="1"/>
        </p:nvGrpSpPr>
        <p:grpSpPr>
          <a:xfrm>
            <a:off x="8514512" y="1906623"/>
            <a:ext cx="3072594" cy="483007"/>
            <a:chOff x="9638795" y="2160001"/>
            <a:chExt cx="3387055" cy="3077019"/>
          </a:xfrm>
          <a:solidFill>
            <a:schemeClr val="accent1"/>
          </a:solidFill>
          <a:effectLst/>
        </p:grpSpPr>
        <p:sp>
          <p:nvSpPr>
            <p:cNvPr id="9" name="正方形/長方形 8">
              <a:extLst>
                <a:ext uri="{FF2B5EF4-FFF2-40B4-BE49-F238E27FC236}">
                  <a16:creationId xmlns:a16="http://schemas.microsoft.com/office/drawing/2014/main" id="{5B4B8025-F3FB-4423-A09F-29504390EA20}"/>
                </a:ext>
              </a:extLst>
            </p:cNvPr>
            <p:cNvSpPr/>
            <p:nvPr userDrawn="1"/>
          </p:nvSpPr>
          <p:spPr>
            <a:xfrm>
              <a:off x="9638795"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2" name="二等辺三角形 11">
              <a:extLst>
                <a:ext uri="{FF2B5EF4-FFF2-40B4-BE49-F238E27FC236}">
                  <a16:creationId xmlns:a16="http://schemas.microsoft.com/office/drawing/2014/main" id="{5170295F-A81D-48B3-AD2B-AE78494A83A6}"/>
                </a:ext>
              </a:extLst>
            </p:cNvPr>
            <p:cNvSpPr/>
            <p:nvPr userDrawn="1"/>
          </p:nvSpPr>
          <p:spPr>
            <a:xfrm rot="5400000">
              <a:off x="11261869" y="3473040"/>
              <a:ext cx="3077019" cy="450942"/>
            </a:xfrm>
            <a:prstGeom prst="triangle">
              <a:avLst/>
            </a:prstGeom>
            <a:grp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8" name="二等辺三角形 10">
            <a:extLst>
              <a:ext uri="{FF2B5EF4-FFF2-40B4-BE49-F238E27FC236}">
                <a16:creationId xmlns:a16="http://schemas.microsoft.com/office/drawing/2014/main" id="{7E812083-83F7-B2C2-81AC-BF8D56D23646}"/>
              </a:ext>
            </a:extLst>
          </p:cNvPr>
          <p:cNvSpPr/>
          <p:nvPr userDrawn="1"/>
        </p:nvSpPr>
        <p:spPr>
          <a:xfrm rot="5400000">
            <a:off x="8448596" y="1902863"/>
            <a:ext cx="575877"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a:t>C</a:t>
            </a:r>
            <a:endParaRPr kumimoji="1" lang="ja-JP" altLang="en-US" sz="1633"/>
          </a:p>
        </p:txBody>
      </p:sp>
      <p:grpSp>
        <p:nvGrpSpPr>
          <p:cNvPr id="22" name="グループ化 21">
            <a:extLst>
              <a:ext uri="{FF2B5EF4-FFF2-40B4-BE49-F238E27FC236}">
                <a16:creationId xmlns:a16="http://schemas.microsoft.com/office/drawing/2014/main" id="{D05F8747-21CD-50CD-6E50-56D00AB8B3AA}"/>
              </a:ext>
            </a:extLst>
          </p:cNvPr>
          <p:cNvGrpSpPr/>
          <p:nvPr userDrawn="1"/>
        </p:nvGrpSpPr>
        <p:grpSpPr>
          <a:xfrm>
            <a:off x="5846182" y="1906623"/>
            <a:ext cx="3077467" cy="483008"/>
            <a:chOff x="6697379" y="2160001"/>
            <a:chExt cx="3392426" cy="3077023"/>
          </a:xfrm>
          <a:solidFill>
            <a:schemeClr val="accent1"/>
          </a:solidFill>
        </p:grpSpPr>
        <p:sp>
          <p:nvSpPr>
            <p:cNvPr id="8" name="正方形/長方形 7">
              <a:extLst>
                <a:ext uri="{FF2B5EF4-FFF2-40B4-BE49-F238E27FC236}">
                  <a16:creationId xmlns:a16="http://schemas.microsoft.com/office/drawing/2014/main" id="{47A7C1DC-6837-43AB-9B9F-2850EDF1B6E9}"/>
                </a:ext>
              </a:extLst>
            </p:cNvPr>
            <p:cNvSpPr/>
            <p:nvPr userDrawn="1"/>
          </p:nvSpPr>
          <p:spPr>
            <a:xfrm>
              <a:off x="6697379"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0" name="二等辺三角形 9">
              <a:extLst>
                <a:ext uri="{FF2B5EF4-FFF2-40B4-BE49-F238E27FC236}">
                  <a16:creationId xmlns:a16="http://schemas.microsoft.com/office/drawing/2014/main" id="{DD857EBF-638D-4B7A-A9BA-ADD063F7F618}"/>
                </a:ext>
              </a:extLst>
            </p:cNvPr>
            <p:cNvSpPr/>
            <p:nvPr userDrawn="1"/>
          </p:nvSpPr>
          <p:spPr>
            <a:xfrm rot="5400000">
              <a:off x="8325824" y="3473042"/>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7" name="二等辺三角形 10">
            <a:extLst>
              <a:ext uri="{FF2B5EF4-FFF2-40B4-BE49-F238E27FC236}">
                <a16:creationId xmlns:a16="http://schemas.microsoft.com/office/drawing/2014/main" id="{EA6D61CE-38AE-2D01-DAF3-8BB8B78516D3}"/>
              </a:ext>
            </a:extLst>
          </p:cNvPr>
          <p:cNvSpPr/>
          <p:nvPr userDrawn="1"/>
        </p:nvSpPr>
        <p:spPr>
          <a:xfrm rot="5400000">
            <a:off x="5780669" y="1902862"/>
            <a:ext cx="575877"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a:t>C</a:t>
            </a:r>
            <a:endParaRPr kumimoji="1" lang="ja-JP" altLang="en-US" sz="1633"/>
          </a:p>
        </p:txBody>
      </p:sp>
      <p:grpSp>
        <p:nvGrpSpPr>
          <p:cNvPr id="20" name="グループ化 19">
            <a:extLst>
              <a:ext uri="{FF2B5EF4-FFF2-40B4-BE49-F238E27FC236}">
                <a16:creationId xmlns:a16="http://schemas.microsoft.com/office/drawing/2014/main" id="{8D8DE07F-8DF4-D9B3-1D45-04483F63B588}"/>
              </a:ext>
            </a:extLst>
          </p:cNvPr>
          <p:cNvGrpSpPr/>
          <p:nvPr userDrawn="1"/>
        </p:nvGrpSpPr>
        <p:grpSpPr>
          <a:xfrm>
            <a:off x="3177852" y="1906623"/>
            <a:ext cx="3077406" cy="483008"/>
            <a:chOff x="3755962" y="2160001"/>
            <a:chExt cx="3392359" cy="3077022"/>
          </a:xfrm>
          <a:solidFill>
            <a:schemeClr val="accent1"/>
          </a:solidFill>
        </p:grpSpPr>
        <p:sp>
          <p:nvSpPr>
            <p:cNvPr id="6" name="正方形/長方形 5">
              <a:extLst>
                <a:ext uri="{FF2B5EF4-FFF2-40B4-BE49-F238E27FC236}">
                  <a16:creationId xmlns:a16="http://schemas.microsoft.com/office/drawing/2014/main" id="{7F866882-3358-4B1C-B9BB-23453510852A}"/>
                </a:ext>
              </a:extLst>
            </p:cNvPr>
            <p:cNvSpPr/>
            <p:nvPr userDrawn="1"/>
          </p:nvSpPr>
          <p:spPr>
            <a:xfrm>
              <a:off x="3755962"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1" name="二等辺三角形 10">
              <a:extLst>
                <a:ext uri="{FF2B5EF4-FFF2-40B4-BE49-F238E27FC236}">
                  <a16:creationId xmlns:a16="http://schemas.microsoft.com/office/drawing/2014/main" id="{E12EFBD9-B0DB-467D-8EA7-95A95923D774}"/>
                </a:ext>
              </a:extLst>
            </p:cNvPr>
            <p:cNvSpPr/>
            <p:nvPr userDrawn="1"/>
          </p:nvSpPr>
          <p:spPr>
            <a:xfrm rot="5400000">
              <a:off x="5384340" y="3473041"/>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4" name="二等辺三角形 10">
            <a:extLst>
              <a:ext uri="{FF2B5EF4-FFF2-40B4-BE49-F238E27FC236}">
                <a16:creationId xmlns:a16="http://schemas.microsoft.com/office/drawing/2014/main" id="{BD8C0228-5963-C28B-1010-9AB04B993B68}"/>
              </a:ext>
            </a:extLst>
          </p:cNvPr>
          <p:cNvSpPr/>
          <p:nvPr userDrawn="1"/>
        </p:nvSpPr>
        <p:spPr>
          <a:xfrm rot="5400000">
            <a:off x="3112741" y="1902861"/>
            <a:ext cx="575875"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err="1"/>
              <a:t>Cz</a:t>
            </a:r>
            <a:endParaRPr kumimoji="1" lang="ja-JP" altLang="en-US" sz="1633"/>
          </a:p>
        </p:txBody>
      </p:sp>
      <p:grpSp>
        <p:nvGrpSpPr>
          <p:cNvPr id="21" name="グループ化 20">
            <a:extLst>
              <a:ext uri="{FF2B5EF4-FFF2-40B4-BE49-F238E27FC236}">
                <a16:creationId xmlns:a16="http://schemas.microsoft.com/office/drawing/2014/main" id="{48256F1F-06F9-C3BB-40CB-BF4A3CBCDC96}"/>
              </a:ext>
            </a:extLst>
          </p:cNvPr>
          <p:cNvGrpSpPr/>
          <p:nvPr userDrawn="1"/>
        </p:nvGrpSpPr>
        <p:grpSpPr>
          <a:xfrm>
            <a:off x="509522" y="1906623"/>
            <a:ext cx="3077006" cy="483007"/>
            <a:chOff x="814546" y="2160001"/>
            <a:chExt cx="3391918" cy="3077021"/>
          </a:xfrm>
          <a:solidFill>
            <a:schemeClr val="accent1"/>
          </a:solidFill>
        </p:grpSpPr>
        <p:sp>
          <p:nvSpPr>
            <p:cNvPr id="3" name="正方形/長方形 2">
              <a:extLst>
                <a:ext uri="{FF2B5EF4-FFF2-40B4-BE49-F238E27FC236}">
                  <a16:creationId xmlns:a16="http://schemas.microsoft.com/office/drawing/2014/main" id="{E9AC23DF-6E82-48A5-AA8E-A4275CE6481B}"/>
                </a:ext>
              </a:extLst>
            </p:cNvPr>
            <p:cNvSpPr/>
            <p:nvPr userDrawn="1"/>
          </p:nvSpPr>
          <p:spPr>
            <a:xfrm>
              <a:off x="814546"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4" name="二等辺三角形 10">
              <a:extLst>
                <a:ext uri="{FF2B5EF4-FFF2-40B4-BE49-F238E27FC236}">
                  <a16:creationId xmlns:a16="http://schemas.microsoft.com/office/drawing/2014/main" id="{F4FAD457-5C19-A5E1-2E3A-04CC1C8EF011}"/>
                </a:ext>
              </a:extLst>
            </p:cNvPr>
            <p:cNvSpPr/>
            <p:nvPr userDrawn="1"/>
          </p:nvSpPr>
          <p:spPr>
            <a:xfrm rot="5400000">
              <a:off x="2442483" y="3473040"/>
              <a:ext cx="3077020" cy="450943"/>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15" name="テキスト ボックス 14">
            <a:extLst>
              <a:ext uri="{FF2B5EF4-FFF2-40B4-BE49-F238E27FC236}">
                <a16:creationId xmlns:a16="http://schemas.microsoft.com/office/drawing/2014/main" id="{48643049-3CAD-4B94-980D-41666905C702}"/>
              </a:ext>
            </a:extLst>
          </p:cNvPr>
          <p:cNvSpPr txBox="1"/>
          <p:nvPr userDrawn="1"/>
        </p:nvSpPr>
        <p:spPr>
          <a:xfrm>
            <a:off x="1093226" y="1895764"/>
            <a:ext cx="532229" cy="558486"/>
          </a:xfrm>
          <a:prstGeom prst="rect">
            <a:avLst/>
          </a:prstGeom>
          <a:noFill/>
        </p:spPr>
        <p:txBody>
          <a:bodyPr wrap="square" lIns="0" tIns="0" rIns="0" bIns="0" rtlCol="0">
            <a:spAutoFit/>
          </a:bodyPr>
          <a:lstStyle/>
          <a:p>
            <a:r>
              <a:rPr kumimoji="1" lang="en-US" altLang="ja-JP" sz="3629" b="0">
                <a:solidFill>
                  <a:schemeClr val="bg1"/>
                </a:solidFill>
              </a:rPr>
              <a:t>01</a:t>
            </a:r>
            <a:endParaRPr kumimoji="1" lang="ja-JP" altLang="en-US" sz="3629" b="0">
              <a:solidFill>
                <a:schemeClr val="bg1"/>
              </a:solidFill>
            </a:endParaRPr>
          </a:p>
        </p:txBody>
      </p:sp>
      <p:sp>
        <p:nvSpPr>
          <p:cNvPr id="16" name="テキスト ボックス 15">
            <a:extLst>
              <a:ext uri="{FF2B5EF4-FFF2-40B4-BE49-F238E27FC236}">
                <a16:creationId xmlns:a16="http://schemas.microsoft.com/office/drawing/2014/main" id="{0685CF7B-ECA6-492C-B248-CBBDC3A30195}"/>
              </a:ext>
            </a:extLst>
          </p:cNvPr>
          <p:cNvSpPr txBox="1"/>
          <p:nvPr userDrawn="1"/>
        </p:nvSpPr>
        <p:spPr>
          <a:xfrm>
            <a:off x="3754450" y="1895764"/>
            <a:ext cx="532229" cy="558486"/>
          </a:xfrm>
          <a:prstGeom prst="rect">
            <a:avLst/>
          </a:prstGeom>
          <a:noFill/>
        </p:spPr>
        <p:txBody>
          <a:bodyPr wrap="square" lIns="0" tIns="0" rIns="0" bIns="0" rtlCol="0">
            <a:spAutoFit/>
          </a:bodyPr>
          <a:lstStyle/>
          <a:p>
            <a:r>
              <a:rPr kumimoji="1" lang="en-US" altLang="ja-JP" sz="3629" b="0">
                <a:solidFill>
                  <a:schemeClr val="bg1"/>
                </a:solidFill>
              </a:rPr>
              <a:t>02</a:t>
            </a:r>
            <a:endParaRPr kumimoji="1" lang="ja-JP" altLang="en-US" sz="3629" b="0">
              <a:solidFill>
                <a:schemeClr val="bg1"/>
              </a:solidFill>
            </a:endParaRPr>
          </a:p>
        </p:txBody>
      </p:sp>
      <p:sp>
        <p:nvSpPr>
          <p:cNvPr id="17" name="テキスト ボックス 16">
            <a:extLst>
              <a:ext uri="{FF2B5EF4-FFF2-40B4-BE49-F238E27FC236}">
                <a16:creationId xmlns:a16="http://schemas.microsoft.com/office/drawing/2014/main" id="{7FFDB837-CFD6-46AD-8B11-7A65E7C7524C}"/>
              </a:ext>
            </a:extLst>
          </p:cNvPr>
          <p:cNvSpPr txBox="1"/>
          <p:nvPr userDrawn="1"/>
        </p:nvSpPr>
        <p:spPr>
          <a:xfrm>
            <a:off x="6415672" y="1895764"/>
            <a:ext cx="532229" cy="558486"/>
          </a:xfrm>
          <a:prstGeom prst="rect">
            <a:avLst/>
          </a:prstGeom>
          <a:noFill/>
        </p:spPr>
        <p:txBody>
          <a:bodyPr wrap="square" lIns="0" tIns="0" rIns="0" bIns="0" rtlCol="0">
            <a:spAutoFit/>
          </a:bodyPr>
          <a:lstStyle/>
          <a:p>
            <a:r>
              <a:rPr kumimoji="1" lang="en-US" altLang="ja-JP" sz="3629" b="0">
                <a:solidFill>
                  <a:schemeClr val="bg1"/>
                </a:solidFill>
              </a:rPr>
              <a:t>03</a:t>
            </a:r>
            <a:endParaRPr kumimoji="1" lang="ja-JP" altLang="en-US" sz="3629" b="0">
              <a:solidFill>
                <a:schemeClr val="bg1"/>
              </a:solidFill>
            </a:endParaRPr>
          </a:p>
        </p:txBody>
      </p:sp>
      <p:sp>
        <p:nvSpPr>
          <p:cNvPr id="18" name="テキスト ボックス 17">
            <a:extLst>
              <a:ext uri="{FF2B5EF4-FFF2-40B4-BE49-F238E27FC236}">
                <a16:creationId xmlns:a16="http://schemas.microsoft.com/office/drawing/2014/main" id="{47FC57A1-DC1F-4EE5-80FC-18029B5E8DC1}"/>
              </a:ext>
            </a:extLst>
          </p:cNvPr>
          <p:cNvSpPr txBox="1"/>
          <p:nvPr userDrawn="1"/>
        </p:nvSpPr>
        <p:spPr>
          <a:xfrm>
            <a:off x="9114441" y="1895764"/>
            <a:ext cx="532229" cy="558486"/>
          </a:xfrm>
          <a:prstGeom prst="rect">
            <a:avLst/>
          </a:prstGeom>
          <a:noFill/>
        </p:spPr>
        <p:txBody>
          <a:bodyPr wrap="square" lIns="0" tIns="0" rIns="0" bIns="0" rtlCol="0">
            <a:spAutoFit/>
          </a:bodyPr>
          <a:lstStyle/>
          <a:p>
            <a:r>
              <a:rPr kumimoji="1" lang="en-US" altLang="ja-JP" sz="3629" b="0">
                <a:solidFill>
                  <a:schemeClr val="bg1"/>
                </a:solidFill>
              </a:rPr>
              <a:t>04</a:t>
            </a:r>
            <a:endParaRPr kumimoji="1" lang="ja-JP" altLang="en-US" sz="3629" b="0">
              <a:solidFill>
                <a:schemeClr val="bg1"/>
              </a:solidFill>
            </a:endParaRPr>
          </a:p>
        </p:txBody>
      </p:sp>
      <p:sp>
        <p:nvSpPr>
          <p:cNvPr id="30" name="Slide Number Placeholder 4">
            <a:extLst>
              <a:ext uri="{FF2B5EF4-FFF2-40B4-BE49-F238E27FC236}">
                <a16:creationId xmlns:a16="http://schemas.microsoft.com/office/drawing/2014/main" id="{0B99F887-ACB9-5489-BCB6-695B9048862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34" name="Title 1">
            <a:extLst>
              <a:ext uri="{FF2B5EF4-FFF2-40B4-BE49-F238E27FC236}">
                <a16:creationId xmlns:a16="http://schemas.microsoft.com/office/drawing/2014/main" id="{4E7D2908-BB39-EAE2-72F1-026DD4F5BAA6}"/>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35" name="正方形/長方形 34">
            <a:extLst>
              <a:ext uri="{FF2B5EF4-FFF2-40B4-BE49-F238E27FC236}">
                <a16:creationId xmlns:a16="http://schemas.microsoft.com/office/drawing/2014/main" id="{E221DB00-D6E3-A798-6005-C00682F4E968}"/>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4" name="Text Placeholder 3">
            <a:extLst>
              <a:ext uri="{FF2B5EF4-FFF2-40B4-BE49-F238E27FC236}">
                <a16:creationId xmlns:a16="http://schemas.microsoft.com/office/drawing/2014/main" id="{EE255D7A-1661-E040-D44D-9CB3A7EDF1FF}"/>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2334694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6096000" y="0"/>
            <a:ext cx="6096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8" name="Text Placeholder 3">
            <a:extLst>
              <a:ext uri="{FF2B5EF4-FFF2-40B4-BE49-F238E27FC236}">
                <a16:creationId xmlns:a16="http://schemas.microsoft.com/office/drawing/2014/main" id="{834527BA-F12F-4DF3-AC21-D992A929487C}"/>
              </a:ext>
            </a:extLst>
          </p:cNvPr>
          <p:cNvSpPr>
            <a:spLocks noGrp="1"/>
          </p:cNvSpPr>
          <p:nvPr>
            <p:ph type="body" sz="half" idx="2" hasCustomPrompt="1"/>
          </p:nvPr>
        </p:nvSpPr>
        <p:spPr>
          <a:xfrm>
            <a:off x="738922" y="1226086"/>
            <a:ext cx="5173878" cy="788480"/>
          </a:xfrm>
          <a:prstGeom prst="rect">
            <a:avLst/>
          </a:prstGeom>
        </p:spPr>
        <p:txBody>
          <a:bodyPr lIns="0" tIns="0" rIns="0" bIns="0">
            <a:noAutofit/>
          </a:bodyPr>
          <a:lstStyle>
            <a:lvl1pPr marL="0" indent="0" algn="l">
              <a:buNone/>
              <a:defRPr sz="1814" b="0">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6" name="図プレースホルダー 9">
            <a:extLst>
              <a:ext uri="{FF2B5EF4-FFF2-40B4-BE49-F238E27FC236}">
                <a16:creationId xmlns:a16="http://schemas.microsoft.com/office/drawing/2014/main" id="{45723AF5-434A-467D-A96A-FC76156FAB7A}"/>
              </a:ext>
            </a:extLst>
          </p:cNvPr>
          <p:cNvSpPr>
            <a:spLocks noGrp="1"/>
          </p:cNvSpPr>
          <p:nvPr>
            <p:ph type="pic" sz="quarter" idx="13"/>
          </p:nvPr>
        </p:nvSpPr>
        <p:spPr>
          <a:xfrm>
            <a:off x="7091439" y="897962"/>
            <a:ext cx="4105122" cy="5062075"/>
          </a:xfrm>
          <a:prstGeom prst="rect">
            <a:avLst/>
          </a:prstGeom>
        </p:spPr>
        <p:txBody>
          <a:bodyPr/>
          <a:lstStyle/>
          <a:p>
            <a:r>
              <a:rPr kumimoji="1" lang="ja-JP" altLang="en-US"/>
              <a:t>アイコンをクリックして図を追加</a:t>
            </a:r>
          </a:p>
        </p:txBody>
      </p:sp>
      <p:sp>
        <p:nvSpPr>
          <p:cNvPr id="4" name="Slide Number Placeholder 4">
            <a:extLst>
              <a:ext uri="{FF2B5EF4-FFF2-40B4-BE49-F238E27FC236}">
                <a16:creationId xmlns:a16="http://schemas.microsoft.com/office/drawing/2014/main" id="{502417FE-7354-5D87-3AE6-241C5A5D482F}"/>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F98599E3-6686-3BDC-90EB-701469ED3235}"/>
              </a:ext>
            </a:extLst>
          </p:cNvPr>
          <p:cNvSpPr txBox="1">
            <a:spLocks/>
          </p:cNvSpPr>
          <p:nvPr userDrawn="1"/>
        </p:nvSpPr>
        <p:spPr>
          <a:xfrm>
            <a:off x="738922" y="367466"/>
            <a:ext cx="10714369" cy="365125"/>
          </a:xfrm>
          <a:prstGeom prst="rect">
            <a:avLst/>
          </a:prstGeom>
        </p:spPr>
        <p:txBody>
          <a:bodyPr vert="horz" lIns="0" tIns="0" rIns="0" bIns="0" rtlCol="0" anchor="ctr">
            <a:noAutofit/>
          </a:bodyPr>
          <a:lstStyle>
            <a:lvl1pPr algn="l" defTabSz="1007943" rtl="0" eaLnBrk="1" latinLnBrk="0" hangingPunct="1">
              <a:lnSpc>
                <a:spcPct val="90000"/>
              </a:lnSpc>
              <a:spcBef>
                <a:spcPct val="0"/>
              </a:spcBef>
              <a:buNone/>
              <a:defRPr kumimoji="1" sz="2800" b="1" kern="1200" spc="120" baseline="0">
                <a:solidFill>
                  <a:schemeClr val="tx1"/>
                </a:solidFill>
                <a:latin typeface="+mn-ea"/>
                <a:ea typeface="+mn-ea"/>
                <a:cs typeface="+mj-cs"/>
              </a:defRPr>
            </a:lvl1pPr>
          </a:lstStyle>
          <a:p>
            <a:endParaRPr lang="en-US" sz="2540" b="0">
              <a:latin typeface="+mj-ea"/>
              <a:ea typeface="+mj-ea"/>
            </a:endParaRPr>
          </a:p>
        </p:txBody>
      </p:sp>
    </p:spTree>
    <p:extLst>
      <p:ext uri="{BB962C8B-B14F-4D97-AF65-F5344CB8AC3E}">
        <p14:creationId xmlns:p14="http://schemas.microsoft.com/office/powerpoint/2010/main" val="3227311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0" y="0"/>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9" name="正方形/長方形 8">
            <a:extLst>
              <a:ext uri="{FF2B5EF4-FFF2-40B4-BE49-F238E27FC236}">
                <a16:creationId xmlns:a16="http://schemas.microsoft.com/office/drawing/2014/main" id="{7A433D0C-DB6B-40D3-88D7-776D7D0A69B1}"/>
              </a:ext>
            </a:extLst>
          </p:cNvPr>
          <p:cNvSpPr/>
          <p:nvPr userDrawn="1"/>
        </p:nvSpPr>
        <p:spPr>
          <a:xfrm>
            <a:off x="4063860" y="3428853"/>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0" name="正方形/長方形 9">
            <a:extLst>
              <a:ext uri="{FF2B5EF4-FFF2-40B4-BE49-F238E27FC236}">
                <a16:creationId xmlns:a16="http://schemas.microsoft.com/office/drawing/2014/main" id="{F06E6178-A6A4-4BFD-9F51-28EF349B5CE8}"/>
              </a:ext>
            </a:extLst>
          </p:cNvPr>
          <p:cNvSpPr/>
          <p:nvPr userDrawn="1"/>
        </p:nvSpPr>
        <p:spPr>
          <a:xfrm>
            <a:off x="8127930" y="-295"/>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1" name="Text Placeholder 3">
            <a:extLst>
              <a:ext uri="{FF2B5EF4-FFF2-40B4-BE49-F238E27FC236}">
                <a16:creationId xmlns:a16="http://schemas.microsoft.com/office/drawing/2014/main" id="{4556A793-020D-42E0-BA8C-A3348EC3D8AB}"/>
              </a:ext>
            </a:extLst>
          </p:cNvPr>
          <p:cNvSpPr>
            <a:spLocks noGrp="1"/>
          </p:cNvSpPr>
          <p:nvPr>
            <p:ph type="body" sz="half" idx="2" hasCustomPrompt="1"/>
          </p:nvPr>
        </p:nvSpPr>
        <p:spPr>
          <a:xfrm>
            <a:off x="4063860" y="1178748"/>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3" name="Text Placeholder 3">
            <a:extLst>
              <a:ext uri="{FF2B5EF4-FFF2-40B4-BE49-F238E27FC236}">
                <a16:creationId xmlns:a16="http://schemas.microsoft.com/office/drawing/2014/main" id="{3204670F-986D-4EBE-9D60-C1DB77CEAF9A}"/>
              </a:ext>
            </a:extLst>
          </p:cNvPr>
          <p:cNvSpPr>
            <a:spLocks noGrp="1"/>
          </p:cNvSpPr>
          <p:nvPr>
            <p:ph type="body" sz="half" idx="10" hasCustomPrompt="1"/>
          </p:nvPr>
        </p:nvSpPr>
        <p:spPr>
          <a:xfrm>
            <a:off x="4063860" y="1525145"/>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4" name="Text Placeholder 3">
            <a:extLst>
              <a:ext uri="{FF2B5EF4-FFF2-40B4-BE49-F238E27FC236}">
                <a16:creationId xmlns:a16="http://schemas.microsoft.com/office/drawing/2014/main" id="{2A1A9C8B-B8AE-4CAA-81FB-151F06D7EB15}"/>
              </a:ext>
            </a:extLst>
          </p:cNvPr>
          <p:cNvSpPr>
            <a:spLocks noGrp="1"/>
          </p:cNvSpPr>
          <p:nvPr>
            <p:ph type="body" sz="half" idx="11" hasCustomPrompt="1"/>
          </p:nvPr>
        </p:nvSpPr>
        <p:spPr>
          <a:xfrm>
            <a:off x="0" y="4629244"/>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5" name="Text Placeholder 3">
            <a:extLst>
              <a:ext uri="{FF2B5EF4-FFF2-40B4-BE49-F238E27FC236}">
                <a16:creationId xmlns:a16="http://schemas.microsoft.com/office/drawing/2014/main" id="{6B2BB5F7-0449-486C-BB83-ACBDAA011BDF}"/>
              </a:ext>
            </a:extLst>
          </p:cNvPr>
          <p:cNvSpPr>
            <a:spLocks noGrp="1"/>
          </p:cNvSpPr>
          <p:nvPr>
            <p:ph type="body" sz="half" idx="12" hasCustomPrompt="1"/>
          </p:nvPr>
        </p:nvSpPr>
        <p:spPr>
          <a:xfrm>
            <a:off x="0" y="4975641"/>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6" name="Text Placeholder 3">
            <a:extLst>
              <a:ext uri="{FF2B5EF4-FFF2-40B4-BE49-F238E27FC236}">
                <a16:creationId xmlns:a16="http://schemas.microsoft.com/office/drawing/2014/main" id="{5F6BB6E2-329C-47E7-BC67-E4247149DF18}"/>
              </a:ext>
            </a:extLst>
          </p:cNvPr>
          <p:cNvSpPr>
            <a:spLocks noGrp="1"/>
          </p:cNvSpPr>
          <p:nvPr>
            <p:ph type="body" sz="half" idx="13" hasCustomPrompt="1"/>
          </p:nvPr>
        </p:nvSpPr>
        <p:spPr>
          <a:xfrm>
            <a:off x="8127718" y="4629244"/>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7" name="Text Placeholder 3">
            <a:extLst>
              <a:ext uri="{FF2B5EF4-FFF2-40B4-BE49-F238E27FC236}">
                <a16:creationId xmlns:a16="http://schemas.microsoft.com/office/drawing/2014/main" id="{7889AF89-2EF8-480C-B0F3-915A3EA21C8A}"/>
              </a:ext>
            </a:extLst>
          </p:cNvPr>
          <p:cNvSpPr>
            <a:spLocks noGrp="1"/>
          </p:cNvSpPr>
          <p:nvPr>
            <p:ph type="body" sz="half" idx="14" hasCustomPrompt="1"/>
          </p:nvPr>
        </p:nvSpPr>
        <p:spPr>
          <a:xfrm>
            <a:off x="8127718" y="4975641"/>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4" name="図プレースホルダー 3">
            <a:extLst>
              <a:ext uri="{FF2B5EF4-FFF2-40B4-BE49-F238E27FC236}">
                <a16:creationId xmlns:a16="http://schemas.microsoft.com/office/drawing/2014/main" id="{1D5FA8A4-BE39-45F7-A590-2C9ACDA94BE4}"/>
              </a:ext>
            </a:extLst>
          </p:cNvPr>
          <p:cNvSpPr>
            <a:spLocks noGrp="1"/>
          </p:cNvSpPr>
          <p:nvPr>
            <p:ph type="pic" sz="quarter" idx="15"/>
          </p:nvPr>
        </p:nvSpPr>
        <p:spPr>
          <a:xfrm>
            <a:off x="0" y="0"/>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8" name="図プレースホルダー 3">
            <a:extLst>
              <a:ext uri="{FF2B5EF4-FFF2-40B4-BE49-F238E27FC236}">
                <a16:creationId xmlns:a16="http://schemas.microsoft.com/office/drawing/2014/main" id="{F4A02690-8098-4886-A490-6C32CA4E8F11}"/>
              </a:ext>
            </a:extLst>
          </p:cNvPr>
          <p:cNvSpPr>
            <a:spLocks noGrp="1"/>
          </p:cNvSpPr>
          <p:nvPr>
            <p:ph type="pic" sz="quarter" idx="16"/>
          </p:nvPr>
        </p:nvSpPr>
        <p:spPr>
          <a:xfrm>
            <a:off x="8127718" y="0"/>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9" name="図プレースホルダー 3">
            <a:extLst>
              <a:ext uri="{FF2B5EF4-FFF2-40B4-BE49-F238E27FC236}">
                <a16:creationId xmlns:a16="http://schemas.microsoft.com/office/drawing/2014/main" id="{BA7A8847-AA4E-4AB9-AFC6-AEE43199D016}"/>
              </a:ext>
            </a:extLst>
          </p:cNvPr>
          <p:cNvSpPr>
            <a:spLocks noGrp="1"/>
          </p:cNvSpPr>
          <p:nvPr>
            <p:ph type="pic" sz="quarter" idx="17"/>
          </p:nvPr>
        </p:nvSpPr>
        <p:spPr>
          <a:xfrm>
            <a:off x="4063824" y="3428853"/>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Tree>
    <p:extLst>
      <p:ext uri="{BB962C8B-B14F-4D97-AF65-F5344CB8AC3E}">
        <p14:creationId xmlns:p14="http://schemas.microsoft.com/office/powerpoint/2010/main" val="927322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62928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タイトルのみ(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1933338"/>
            <a:ext cx="12192213" cy="2991325"/>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9549" rtl="0" eaLnBrk="1" fontAlgn="auto" latinLnBrk="0" hangingPunct="1">
              <a:lnSpc>
                <a:spcPct val="100000"/>
              </a:lnSpc>
              <a:spcBef>
                <a:spcPts val="0"/>
              </a:spcBef>
              <a:spcAft>
                <a:spcPts val="0"/>
              </a:spcAft>
              <a:buClrTx/>
              <a:buSzTx/>
              <a:buFontTx/>
              <a:buNone/>
              <a:tabLst/>
              <a:defRPr/>
            </a:pPr>
            <a:endParaRPr kumimoji="1" lang="ja-JP" altLang="en-US" sz="1633" b="0" i="0" u="none" strike="noStrike" kern="1200" cap="none" spc="0" normalizeH="0" baseline="0" noProof="0">
              <a:ln>
                <a:noFill/>
              </a:ln>
              <a:solidFill>
                <a:srgbClr val="F8FDFA"/>
              </a:solidFill>
              <a:effectLst/>
              <a:uLnTx/>
              <a:uFillTx/>
              <a:latin typeface="游ゴシック" panose="020F0502020204030204"/>
              <a:ea typeface="游ゴシック" panose="020B0400000000000000" pitchFamily="50" charset="-128"/>
              <a:cs typeface="+mn-cs"/>
            </a:endParaRPr>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1587107" y="6402492"/>
            <a:ext cx="492615" cy="326585"/>
          </a:xfrm>
          <a:prstGeom prst="rect">
            <a:avLst/>
          </a:prstGeom>
          <a:noFill/>
        </p:spPr>
        <p:txBody>
          <a:bodyPr/>
          <a:lstStyle>
            <a:lvl1pPr>
              <a:defRPr>
                <a:solidFill>
                  <a:schemeClr val="tx2"/>
                </a:solidFill>
              </a:defRPr>
            </a:lvl1pPr>
          </a:lstStyle>
          <a:p>
            <a:pPr defTabSz="829549"/>
            <a:fld id="{14EC724F-F4C9-4616-8530-5BC5097559BB}" type="slidenum">
              <a:rPr lang="ja-JP" altLang="en-US" smtClean="0">
                <a:solidFill>
                  <a:srgbClr val="1B5C80"/>
                </a:solidFill>
              </a:rPr>
              <a:pPr defTabSz="829549"/>
              <a:t>‹#›</a:t>
            </a:fld>
            <a:endParaRPr lang="ja-JP" altLang="en-US">
              <a:solidFill>
                <a:srgbClr val="1B5C80"/>
              </a:solidFill>
            </a:endParaRPr>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1932683"/>
            <a:ext cx="7926384" cy="2992634"/>
          </a:xfrm>
          <a:prstGeom prst="rect">
            <a:avLst/>
          </a:prstGeom>
        </p:spPr>
        <p:txBody>
          <a:bodyPr anchor="ctr"/>
          <a:lstStyle>
            <a:lvl1pPr marL="0" indent="0" algn="l">
              <a:lnSpc>
                <a:spcPct val="110000"/>
              </a:lnSpc>
              <a:buNone/>
              <a:defRPr sz="3266"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1888638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タイトル＋見出し小">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1056099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F437E4DB-00C1-62A2-86F6-C5658624E20A}"/>
              </a:ext>
            </a:extLst>
          </p:cNvPr>
          <p:cNvSpPr/>
          <p:nvPr userDrawn="1"/>
        </p:nvSpPr>
        <p:spPr>
          <a:xfrm>
            <a:off x="1" y="91"/>
            <a:ext cx="12192213" cy="4924534"/>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29549">
              <a:defRPr/>
            </a:pPr>
            <a:endParaRPr lang="ja-JP" altLang="en-US" sz="1633">
              <a:solidFill>
                <a:srgbClr val="F8FDFA"/>
              </a:solidFill>
              <a:latin typeface="游ゴシック" panose="020F0502020204030204"/>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F25D378A-80E6-9EEB-497F-3FFE2033DCEC}"/>
              </a:ext>
            </a:extLst>
          </p:cNvPr>
          <p:cNvSpPr txBox="1"/>
          <p:nvPr userDrawn="1"/>
        </p:nvSpPr>
        <p:spPr>
          <a:xfrm>
            <a:off x="1219834" y="5056103"/>
            <a:ext cx="9752331" cy="809664"/>
          </a:xfrm>
          <a:prstGeom prst="rect">
            <a:avLst/>
          </a:prstGeom>
          <a:noFill/>
        </p:spPr>
        <p:txBody>
          <a:bodyPr rot="0" spcFirstLastPara="0" vertOverflow="overflow" horzOverflow="overflow" vert="horz" wrap="square" lIns="82951" tIns="41475" rIns="82951" bIns="41475" numCol="1" spcCol="0" rtlCol="0" fromWordArt="0" anchor="t" anchorCtr="0" forceAA="0" compatLnSpc="1">
            <a:prstTxWarp prst="textNoShape">
              <a:avLst/>
            </a:prstTxWarp>
            <a:spAutoFit/>
          </a:bodyPr>
          <a:lstStyle/>
          <a:p>
            <a:pPr algn="ctr" defTabSz="829544">
              <a:lnSpc>
                <a:spcPct val="110000"/>
              </a:lnSpc>
              <a:defRPr/>
            </a:pPr>
            <a:r>
              <a:rPr lang="ja-JP" altLang="en-US" sz="2540" b="1">
                <a:solidFill>
                  <a:srgbClr val="1B5C80"/>
                </a:solidFill>
                <a:latin typeface="游ゴシック" panose="020F0502020204030204"/>
                <a:ea typeface="游ゴシック"/>
              </a:rPr>
              <a:t>アンケートにご協力いただけますと幸いです。</a:t>
            </a:r>
            <a:endParaRPr lang="en-US" altLang="ja-JP" sz="2540" b="1">
              <a:solidFill>
                <a:srgbClr val="1B5C80"/>
              </a:solidFill>
              <a:latin typeface="游ゴシック" panose="020F0502020204030204"/>
              <a:ea typeface="游ゴシック"/>
            </a:endParaRPr>
          </a:p>
          <a:p>
            <a:pPr algn="ctr" defTabSz="829544">
              <a:lnSpc>
                <a:spcPct val="110000"/>
              </a:lnSpc>
              <a:defRPr/>
            </a:pPr>
            <a:r>
              <a:rPr lang="ja-JP" altLang="en-US" sz="1814">
                <a:solidFill>
                  <a:srgbClr val="1B5C80"/>
                </a:solidFill>
                <a:latin typeface="游ゴシック" panose="020F0502020204030204"/>
                <a:ea typeface="游ゴシック"/>
              </a:rPr>
              <a:t>今回の説明会のご感想や参加してみたい研修など、ぜひご意見をお聞かせください！</a:t>
            </a:r>
            <a:endParaRPr lang="en-US" sz="1814">
              <a:solidFill>
                <a:srgbClr val="1B5C80"/>
              </a:solidFill>
              <a:latin typeface="游ゴシック" panose="020F0502020204030204"/>
              <a:ea typeface="游ゴシック"/>
            </a:endParaRPr>
          </a:p>
        </p:txBody>
      </p:sp>
      <p:sp>
        <p:nvSpPr>
          <p:cNvPr id="5" name="スライド番号プレースホルダー 3">
            <a:extLst>
              <a:ext uri="{FF2B5EF4-FFF2-40B4-BE49-F238E27FC236}">
                <a16:creationId xmlns:a16="http://schemas.microsoft.com/office/drawing/2014/main" id="{4C15F4DE-A684-5B2E-F4DB-6524A967933B}"/>
              </a:ext>
            </a:extLst>
          </p:cNvPr>
          <p:cNvSpPr txBox="1">
            <a:spLocks/>
          </p:cNvSpPr>
          <p:nvPr userDrawn="1"/>
        </p:nvSpPr>
        <p:spPr>
          <a:xfrm>
            <a:off x="11587106" y="6402413"/>
            <a:ext cx="492615" cy="326577"/>
          </a:xfrm>
          <a:prstGeom prst="rect">
            <a:avLst/>
          </a:prstGeom>
          <a:noFill/>
        </p:spPr>
        <p:txBody>
          <a:bodyPr vert="horz" lIns="82951" tIns="41475" rIns="82951" bIns="41475" rtlCol="0" anchor="ctr"/>
          <a:lstStyle>
            <a:defPPr>
              <a:defRPr lang="ja-JP"/>
            </a:defPPr>
            <a:lvl1pPr marL="0" algn="r" defTabSz="914400" rtl="0" eaLnBrk="1" latinLnBrk="0" hangingPunct="1">
              <a:defRPr kumimoji="1" sz="1323" kern="1200" spc="120" baseline="0">
                <a:solidFill>
                  <a:schemeClr val="tx2"/>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defTabSz="829544">
              <a:defRPr/>
            </a:pPr>
            <a:fld id="{14EC724F-F4C9-4616-8530-5BC5097559BB}" type="slidenum">
              <a:rPr lang="ja-JP" altLang="en-US" sz="1200" spc="109">
                <a:solidFill>
                  <a:srgbClr val="1B5C80"/>
                </a:solidFill>
                <a:latin typeface="游ゴシック" panose="020F0502020204030204"/>
                <a:ea typeface="游ゴシック" panose="020B0400000000000000" pitchFamily="50" charset="-128"/>
              </a:rPr>
              <a:pPr defTabSz="829544">
                <a:defRPr/>
              </a:pPr>
              <a:t>‹#›</a:t>
            </a:fld>
            <a:endParaRPr lang="ja-JP" altLang="en-US" sz="1200" spc="109">
              <a:solidFill>
                <a:srgbClr val="1B5C80"/>
              </a:solidFill>
              <a:latin typeface="游ゴシック" panose="020F0502020204030204"/>
              <a:ea typeface="游ゴシック" panose="020B0400000000000000" pitchFamily="50" charset="-128"/>
            </a:endParaRPr>
          </a:p>
        </p:txBody>
      </p:sp>
      <p:sp>
        <p:nvSpPr>
          <p:cNvPr id="7" name="テキスト プレースホルダー 2">
            <a:extLst>
              <a:ext uri="{FF2B5EF4-FFF2-40B4-BE49-F238E27FC236}">
                <a16:creationId xmlns:a16="http://schemas.microsoft.com/office/drawing/2014/main" id="{834860CF-3990-F24B-1D1C-491A921C703C}"/>
              </a:ext>
            </a:extLst>
          </p:cNvPr>
          <p:cNvSpPr>
            <a:spLocks noGrp="1"/>
          </p:cNvSpPr>
          <p:nvPr>
            <p:ph type="body" sz="quarter" idx="13"/>
          </p:nvPr>
        </p:nvSpPr>
        <p:spPr>
          <a:xfrm>
            <a:off x="1" y="222608"/>
            <a:ext cx="12191999" cy="1800142"/>
          </a:xfrm>
          <a:prstGeom prst="rect">
            <a:avLst/>
          </a:prstGeom>
        </p:spPr>
        <p:txBody>
          <a:bodyPr anchor="ctr"/>
          <a:lstStyle>
            <a:lvl1pPr marL="0" indent="0">
              <a:buNone/>
              <a:defRPr kumimoji="1" lang="ja-JP" altLang="en-US" sz="3266" b="1" kern="1200" spc="109" baseline="0" dirty="0">
                <a:solidFill>
                  <a:schemeClr val="bg1"/>
                </a:solidFill>
                <a:latin typeface="+mn-ea"/>
                <a:ea typeface="+mn-ea"/>
                <a:cs typeface="+mn-cs"/>
              </a:defRPr>
            </a:lvl1pPr>
          </a:lstStyle>
          <a:p>
            <a:pPr algn="ctr"/>
            <a:endParaRPr lang="ja-JP" altLang="en-US"/>
          </a:p>
        </p:txBody>
      </p:sp>
      <p:pic>
        <p:nvPicPr>
          <p:cNvPr id="8" name="図 7">
            <a:extLst>
              <a:ext uri="{FF2B5EF4-FFF2-40B4-BE49-F238E27FC236}">
                <a16:creationId xmlns:a16="http://schemas.microsoft.com/office/drawing/2014/main" id="{B2821DD1-9DB9-AC17-1D5B-0288881DBD03}"/>
              </a:ext>
            </a:extLst>
          </p:cNvPr>
          <p:cNvPicPr>
            <a:picLocks noChangeAspect="1"/>
          </p:cNvPicPr>
          <p:nvPr userDrawn="1"/>
        </p:nvPicPr>
        <p:blipFill>
          <a:blip r:embed="rId2"/>
          <a:stretch>
            <a:fillRect/>
          </a:stretch>
        </p:blipFill>
        <p:spPr>
          <a:xfrm>
            <a:off x="5106021" y="2595039"/>
            <a:ext cx="1746207" cy="1702278"/>
          </a:xfrm>
          <a:prstGeom prst="rect">
            <a:avLst/>
          </a:prstGeom>
        </p:spPr>
      </p:pic>
      <p:pic>
        <p:nvPicPr>
          <p:cNvPr id="12" name="図 11" descr="ロゴ&#10;&#10;AI によって生成されたコンテンツは間違っている可能性があります。">
            <a:extLst>
              <a:ext uri="{FF2B5EF4-FFF2-40B4-BE49-F238E27FC236}">
                <a16:creationId xmlns:a16="http://schemas.microsoft.com/office/drawing/2014/main" id="{5CCECBAE-8F55-27AA-9502-947437DA0E8C}"/>
              </a:ext>
            </a:extLst>
          </p:cNvPr>
          <p:cNvPicPr>
            <a:picLocks noChangeAspect="1"/>
          </p:cNvPicPr>
          <p:nvPr userDrawn="1"/>
        </p:nvPicPr>
        <p:blipFill>
          <a:blip r:embed="rId3">
            <a:extLst>
              <a:ext uri="{28A0092B-C50C-407E-A947-70E740481C1C}">
                <a14:useLocalDpi xmlns:a14="http://schemas.microsoft.com/office/drawing/2010/main" val="0"/>
              </a:ext>
            </a:extLst>
          </a:blip>
          <a:srcRect l="3702" t="34625" r="3702" b="34625"/>
          <a:stretch/>
        </p:blipFill>
        <p:spPr>
          <a:xfrm>
            <a:off x="5477147" y="6519301"/>
            <a:ext cx="1237706" cy="234871"/>
          </a:xfrm>
          <a:prstGeom prst="rect">
            <a:avLst/>
          </a:prstGeom>
        </p:spPr>
      </p:pic>
      <p:sp>
        <p:nvSpPr>
          <p:cNvPr id="17" name="テキスト プレースホルダー 2">
            <a:extLst>
              <a:ext uri="{FF2B5EF4-FFF2-40B4-BE49-F238E27FC236}">
                <a16:creationId xmlns:a16="http://schemas.microsoft.com/office/drawing/2014/main" id="{E5387EDC-015F-0D42-137B-076368935D5E}"/>
              </a:ext>
            </a:extLst>
          </p:cNvPr>
          <p:cNvSpPr>
            <a:spLocks noGrp="1"/>
          </p:cNvSpPr>
          <p:nvPr>
            <p:ph type="body" sz="quarter" idx="14"/>
          </p:nvPr>
        </p:nvSpPr>
        <p:spPr>
          <a:xfrm>
            <a:off x="4384432" y="6096132"/>
            <a:ext cx="3423138" cy="234872"/>
          </a:xfrm>
          <a:prstGeom prst="rect">
            <a:avLst/>
          </a:prstGeom>
        </p:spPr>
        <p:txBody>
          <a:bodyPr anchor="ctr"/>
          <a:lstStyle>
            <a:lvl1pPr marL="0" indent="0">
              <a:buNone/>
              <a:defRPr kumimoji="1" lang="ja-JP" altLang="en-US" sz="1400" b="0" kern="1200" spc="109" baseline="0" dirty="0">
                <a:solidFill>
                  <a:schemeClr val="tx2"/>
                </a:solidFill>
                <a:latin typeface="+mn-ea"/>
                <a:ea typeface="+mn-ea"/>
                <a:cs typeface="+mn-cs"/>
              </a:defRPr>
            </a:lvl1pPr>
          </a:lstStyle>
          <a:p>
            <a:pPr algn="ctr"/>
            <a:endParaRPr lang="ja-JP" altLang="en-US"/>
          </a:p>
        </p:txBody>
      </p:sp>
    </p:spTree>
    <p:extLst>
      <p:ext uri="{BB962C8B-B14F-4D97-AF65-F5344CB8AC3E}">
        <p14:creationId xmlns:p14="http://schemas.microsoft.com/office/powerpoint/2010/main" val="21697377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タイトル＋見出し小">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kumimoji="1" lang="ja-JP" altLang="en-US" smtClean="0"/>
              <a:t>‹#›</a:t>
            </a:fld>
            <a:endParaRPr kumimoji="1" lang="ja-JP" altLang="en-US"/>
          </a:p>
        </p:txBody>
      </p:sp>
    </p:spTree>
    <p:extLst>
      <p:ext uri="{BB962C8B-B14F-4D97-AF65-F5344CB8AC3E}">
        <p14:creationId xmlns:p14="http://schemas.microsoft.com/office/powerpoint/2010/main" val="68223550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0_1タイトル＋見出し小">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8666489-4041-6ABB-59BE-F9C00D8A2B5E}"/>
              </a:ext>
            </a:extLst>
          </p:cNvPr>
          <p:cNvSpPr/>
          <p:nvPr userDrawn="1"/>
        </p:nvSpPr>
        <p:spPr>
          <a:xfrm>
            <a:off x="0" y="1"/>
            <a:ext cx="12192000" cy="732591"/>
          </a:xfrm>
          <a:prstGeom prst="rect">
            <a:avLst/>
          </a:prstGeom>
          <a:gradFill>
            <a:gsLst>
              <a:gs pos="100000">
                <a:schemeClr val="bg1"/>
              </a:gs>
              <a:gs pos="74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33">
              <a:solidFill>
                <a:schemeClr val="bg1"/>
              </a:solidFill>
            </a:endParaRPr>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380190" y="225483"/>
            <a:ext cx="10714369" cy="365125"/>
          </a:xfrm>
          <a:prstGeom prst="rect">
            <a:avLst/>
          </a:prstGeom>
        </p:spPr>
        <p:txBody>
          <a:bodyPr lIns="0" tIns="0" rIns="0" bIns="0">
            <a:noAutofit/>
          </a:bodyPr>
          <a:lstStyle>
            <a:lvl1pPr>
              <a:defRPr sz="2540" b="1">
                <a:solidFill>
                  <a:schemeClr val="bg1"/>
                </a:solidFill>
                <a:latin typeface="+mn-ea"/>
                <a:ea typeface="+mn-ea"/>
              </a:defRPr>
            </a:lvl1pPr>
          </a:lstStyle>
          <a:p>
            <a:r>
              <a:rPr lang="ja-JP" altLang="en-US"/>
              <a:t>タイトルが入ります</a:t>
            </a:r>
            <a:endParaRPr lang="en-US"/>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380190" y="820494"/>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7" name="Slide Number Placeholder 4">
            <a:extLst>
              <a:ext uri="{FF2B5EF4-FFF2-40B4-BE49-F238E27FC236}">
                <a16:creationId xmlns:a16="http://schemas.microsoft.com/office/drawing/2014/main" id="{71F4A4D7-B8FB-FB17-3199-EB075E02CA93}"/>
              </a:ext>
            </a:extLst>
          </p:cNvPr>
          <p:cNvSpPr>
            <a:spLocks noGrp="1"/>
          </p:cNvSpPr>
          <p:nvPr>
            <p:ph type="sldNum" sz="quarter" idx="12"/>
          </p:nvPr>
        </p:nvSpPr>
        <p:spPr>
          <a:xfrm>
            <a:off x="11587106" y="6402491"/>
            <a:ext cx="492615" cy="326585"/>
          </a:xfrm>
          <a:prstGeom prst="rect">
            <a:avLst/>
          </a:prstGeom>
          <a:noFill/>
        </p:spPr>
        <p:txBody>
          <a:bodyPr/>
          <a:lstStyle>
            <a:lvl1pPr algn="r">
              <a:defRPr sz="1452">
                <a:solidFill>
                  <a:schemeClr val="tx2"/>
                </a:solidFill>
              </a:defRPr>
            </a:lvl1pPr>
          </a:lstStyle>
          <a:p>
            <a:fld id="{14EC724F-F4C9-4616-8530-5BC5097559BB}" type="slidenum">
              <a:rPr lang="ja-JP" altLang="en-US" smtClean="0"/>
              <a:pPr/>
              <a:t>‹#›</a:t>
            </a:fld>
            <a:endParaRPr lang="ja-JP" altLang="en-US" sz="1452"/>
          </a:p>
        </p:txBody>
      </p:sp>
    </p:spTree>
    <p:extLst>
      <p:ext uri="{BB962C8B-B14F-4D97-AF65-F5344CB8AC3E}">
        <p14:creationId xmlns:p14="http://schemas.microsoft.com/office/powerpoint/2010/main" val="1353965076"/>
      </p:ext>
    </p:extLst>
  </p:cSld>
  <p:clrMapOvr>
    <a:masterClrMapping/>
  </p:clrMapOvr>
  <p:extLst>
    <p:ext uri="{DCECCB84-F9BA-43D5-87BE-67443E8EF086}">
      <p15:sldGuideLst xmlns:p15="http://schemas.microsoft.com/office/powerpoint/2012/main">
        <p15:guide id="1" orient="horz" pos="2381">
          <p15:clr>
            <a:srgbClr val="FBAE40"/>
          </p15:clr>
        </p15:guide>
        <p15:guide id="2" pos="26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2914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68D55906-1EB3-0E67-226D-EA5C851F6226}"/>
              </a:ext>
            </a:extLst>
          </p:cNvPr>
          <p:cNvSpPr txBox="1"/>
          <p:nvPr userDrawn="1"/>
        </p:nvSpPr>
        <p:spPr>
          <a:xfrm>
            <a:off x="-1925" y="6596390"/>
            <a:ext cx="3345200" cy="261610"/>
          </a:xfrm>
          <a:prstGeom prst="rect">
            <a:avLst/>
          </a:prstGeom>
          <a:noFill/>
        </p:spPr>
        <p:txBody>
          <a:bodyPr wrap="square">
            <a:spAutoFit/>
          </a:bodyPr>
          <a:lstStyle/>
          <a:p>
            <a:r>
              <a:rPr lang="en-US" altLang="ja-JP" sz="1050" dirty="0">
                <a:solidFill>
                  <a:schemeClr val="tx1">
                    <a:lumMod val="50000"/>
                    <a:lumOff val="50000"/>
                  </a:schemeClr>
                </a:solidFill>
              </a:rPr>
              <a:t>© Low Code Inc. All rights reserved.</a:t>
            </a:r>
            <a:endParaRPr lang="ja-JP" altLang="en-US" sz="1050" dirty="0">
              <a:solidFill>
                <a:schemeClr val="tx1">
                  <a:lumMod val="50000"/>
                  <a:lumOff val="50000"/>
                </a:schemeClr>
              </a:solidFill>
            </a:endParaRPr>
          </a:p>
        </p:txBody>
      </p:sp>
    </p:spTree>
    <p:extLst>
      <p:ext uri="{BB962C8B-B14F-4D97-AF65-F5344CB8AC3E}">
        <p14:creationId xmlns:p14="http://schemas.microsoft.com/office/powerpoint/2010/main" val="1443619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8" r:id="rId16"/>
    <p:sldLayoutId id="2147483680" r:id="rId17"/>
    <p:sldLayoutId id="2147483681" r:id="rId18"/>
    <p:sldLayoutId id="2147483682" r:id="rId19"/>
    <p:sldLayoutId id="2147483683" r:id="rId20"/>
    <p:sldLayoutId id="2147483684" r:id="rId21"/>
    <p:sldLayoutId id="2147483685" r:id="rId22"/>
  </p:sldLayoutIdLst>
  <p:hf hdr="0" ftr="0" dt="0"/>
  <p:txStyles>
    <p:titleStyle>
      <a:lvl1pPr algn="l" defTabSz="914406" rtl="0" eaLnBrk="1" latinLnBrk="0" hangingPunct="1">
        <a:lnSpc>
          <a:spcPct val="90000"/>
        </a:lnSpc>
        <a:spcBef>
          <a:spcPct val="0"/>
        </a:spcBef>
        <a:buNone/>
        <a:defRPr kumimoji="1" sz="4400" kern="1200" spc="109" baseline="0">
          <a:solidFill>
            <a:schemeClr val="tx1"/>
          </a:solidFill>
          <a:latin typeface="+mn-ea"/>
          <a:ea typeface="+mn-ea"/>
          <a:cs typeface="+mj-cs"/>
        </a:defRPr>
      </a:lvl1pPr>
    </p:titleStyle>
    <p:bodyStyle>
      <a:lvl1pPr marL="228602" indent="-228602" algn="l" defTabSz="914406" rtl="0" eaLnBrk="1" latinLnBrk="0" hangingPunct="1">
        <a:lnSpc>
          <a:spcPct val="90000"/>
        </a:lnSpc>
        <a:spcBef>
          <a:spcPts val="1000"/>
        </a:spcBef>
        <a:buFont typeface="Arial" panose="020B0604020202020204" pitchFamily="34" charset="0"/>
        <a:buChar char="•"/>
        <a:defRPr kumimoji="1" sz="2800" kern="1200" spc="109" baseline="0">
          <a:solidFill>
            <a:schemeClr val="tx1"/>
          </a:solidFill>
          <a:latin typeface="+mn-ea"/>
          <a:ea typeface="+mn-ea"/>
          <a:cs typeface="+mn-cs"/>
        </a:defRPr>
      </a:lvl1pPr>
      <a:lvl2pPr marL="685804" indent="-228602" algn="l" defTabSz="914406" rtl="0" eaLnBrk="1" latinLnBrk="0" hangingPunct="1">
        <a:lnSpc>
          <a:spcPct val="90000"/>
        </a:lnSpc>
        <a:spcBef>
          <a:spcPts val="500"/>
        </a:spcBef>
        <a:buFont typeface="Arial" panose="020B0604020202020204" pitchFamily="34" charset="0"/>
        <a:buChar char="•"/>
        <a:defRPr kumimoji="1" sz="2400" kern="1200" spc="109" baseline="0">
          <a:solidFill>
            <a:schemeClr val="tx1"/>
          </a:solidFill>
          <a:latin typeface="+mn-ea"/>
          <a:ea typeface="+mn-ea"/>
          <a:cs typeface="+mn-cs"/>
        </a:defRPr>
      </a:lvl2pPr>
      <a:lvl3pPr marL="1143008" indent="-228602" algn="l" defTabSz="914406" rtl="0" eaLnBrk="1" latinLnBrk="0" hangingPunct="1">
        <a:lnSpc>
          <a:spcPct val="90000"/>
        </a:lnSpc>
        <a:spcBef>
          <a:spcPts val="500"/>
        </a:spcBef>
        <a:buFont typeface="Arial" panose="020B0604020202020204" pitchFamily="34" charset="0"/>
        <a:buChar char="•"/>
        <a:defRPr kumimoji="1" sz="2000" kern="1200" spc="109" baseline="0">
          <a:solidFill>
            <a:schemeClr val="tx1"/>
          </a:solidFill>
          <a:latin typeface="+mn-ea"/>
          <a:ea typeface="+mn-ea"/>
          <a:cs typeface="+mn-cs"/>
        </a:defRPr>
      </a:lvl3pPr>
      <a:lvl4pPr marL="1600210" indent="-228602" algn="l" defTabSz="914406" rtl="0" eaLnBrk="1" latinLnBrk="0" hangingPunct="1">
        <a:lnSpc>
          <a:spcPct val="90000"/>
        </a:lnSpc>
        <a:spcBef>
          <a:spcPts val="500"/>
        </a:spcBef>
        <a:buFont typeface="Arial" panose="020B0604020202020204" pitchFamily="34" charset="0"/>
        <a:buChar char="•"/>
        <a:defRPr kumimoji="1" sz="1800" kern="1200" spc="109" baseline="0">
          <a:solidFill>
            <a:schemeClr val="tx1"/>
          </a:solidFill>
          <a:latin typeface="+mn-ea"/>
          <a:ea typeface="+mn-ea"/>
          <a:cs typeface="+mn-cs"/>
        </a:defRPr>
      </a:lvl4pPr>
      <a:lvl5pPr marL="2057413" indent="-228602" algn="l" defTabSz="914406" rtl="0" eaLnBrk="1" latinLnBrk="0" hangingPunct="1">
        <a:lnSpc>
          <a:spcPct val="90000"/>
        </a:lnSpc>
        <a:spcBef>
          <a:spcPts val="500"/>
        </a:spcBef>
        <a:buFont typeface="Arial" panose="020B0604020202020204" pitchFamily="34" charset="0"/>
        <a:buChar char="•"/>
        <a:defRPr kumimoji="1" sz="1800" kern="1200" spc="109" baseline="0">
          <a:solidFill>
            <a:schemeClr val="tx1"/>
          </a:solidFill>
          <a:latin typeface="+mn-ea"/>
          <a:ea typeface="+mn-ea"/>
          <a:cs typeface="+mn-cs"/>
        </a:defRPr>
      </a:lvl5pPr>
      <a:lvl6pPr marL="2514617"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19"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23"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25"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6" rtl="0" eaLnBrk="1" latinLnBrk="0" hangingPunct="1">
        <a:defRPr kumimoji="1" sz="1800" kern="1200">
          <a:solidFill>
            <a:schemeClr val="tx1"/>
          </a:solidFill>
          <a:latin typeface="+mn-lt"/>
          <a:ea typeface="+mn-ea"/>
          <a:cs typeface="+mn-cs"/>
        </a:defRPr>
      </a:lvl1pPr>
      <a:lvl2pPr marL="457203" algn="l" defTabSz="914406" rtl="0" eaLnBrk="1" latinLnBrk="0" hangingPunct="1">
        <a:defRPr kumimoji="1" sz="1800" kern="1200">
          <a:solidFill>
            <a:schemeClr val="tx1"/>
          </a:solidFill>
          <a:latin typeface="+mn-lt"/>
          <a:ea typeface="+mn-ea"/>
          <a:cs typeface="+mn-cs"/>
        </a:defRPr>
      </a:lvl2pPr>
      <a:lvl3pPr marL="914406" algn="l" defTabSz="914406" rtl="0" eaLnBrk="1" latinLnBrk="0" hangingPunct="1">
        <a:defRPr kumimoji="1" sz="1800" kern="1200">
          <a:solidFill>
            <a:schemeClr val="tx1"/>
          </a:solidFill>
          <a:latin typeface="+mn-lt"/>
          <a:ea typeface="+mn-ea"/>
          <a:cs typeface="+mn-cs"/>
        </a:defRPr>
      </a:lvl3pPr>
      <a:lvl4pPr marL="1371609" algn="l" defTabSz="914406" rtl="0" eaLnBrk="1" latinLnBrk="0" hangingPunct="1">
        <a:defRPr kumimoji="1" sz="1800" kern="1200">
          <a:solidFill>
            <a:schemeClr val="tx1"/>
          </a:solidFill>
          <a:latin typeface="+mn-lt"/>
          <a:ea typeface="+mn-ea"/>
          <a:cs typeface="+mn-cs"/>
        </a:defRPr>
      </a:lvl4pPr>
      <a:lvl5pPr marL="1828812" algn="l" defTabSz="914406" rtl="0" eaLnBrk="1" latinLnBrk="0" hangingPunct="1">
        <a:defRPr kumimoji="1" sz="1800" kern="1200">
          <a:solidFill>
            <a:schemeClr val="tx1"/>
          </a:solidFill>
          <a:latin typeface="+mn-lt"/>
          <a:ea typeface="+mn-ea"/>
          <a:cs typeface="+mn-cs"/>
        </a:defRPr>
      </a:lvl5pPr>
      <a:lvl6pPr marL="2286015" algn="l" defTabSz="914406" rtl="0" eaLnBrk="1" latinLnBrk="0" hangingPunct="1">
        <a:defRPr kumimoji="1" sz="1800" kern="1200">
          <a:solidFill>
            <a:schemeClr val="tx1"/>
          </a:solidFill>
          <a:latin typeface="+mn-lt"/>
          <a:ea typeface="+mn-ea"/>
          <a:cs typeface="+mn-cs"/>
        </a:defRPr>
      </a:lvl6pPr>
      <a:lvl7pPr marL="2743218" algn="l" defTabSz="914406" rtl="0" eaLnBrk="1" latinLnBrk="0" hangingPunct="1">
        <a:defRPr kumimoji="1" sz="1800" kern="1200">
          <a:solidFill>
            <a:schemeClr val="tx1"/>
          </a:solidFill>
          <a:latin typeface="+mn-lt"/>
          <a:ea typeface="+mn-ea"/>
          <a:cs typeface="+mn-cs"/>
        </a:defRPr>
      </a:lvl7pPr>
      <a:lvl8pPr marL="3200421" algn="l" defTabSz="914406" rtl="0" eaLnBrk="1" latinLnBrk="0" hangingPunct="1">
        <a:defRPr kumimoji="1" sz="1800" kern="1200">
          <a:solidFill>
            <a:schemeClr val="tx1"/>
          </a:solidFill>
          <a:latin typeface="+mn-lt"/>
          <a:ea typeface="+mn-ea"/>
          <a:cs typeface="+mn-cs"/>
        </a:defRPr>
      </a:lvl8pPr>
      <a:lvl9pPr marL="3657624" algn="l" defTabSz="914406" rtl="0" eaLnBrk="1" latinLnBrk="0" hangingPunct="1">
        <a:defRPr kumimoji="1" sz="1800" kern="1200">
          <a:solidFill>
            <a:schemeClr val="tx1"/>
          </a:solidFill>
          <a:latin typeface="+mn-lt"/>
          <a:ea typeface="+mn-ea"/>
          <a:cs typeface="+mn-cs"/>
        </a:defRPr>
      </a:lvl9pPr>
    </p:otherStyle>
  </p:txStyles>
</p:sldMaster>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78.png"/><Relationship Id="rId6" Type="http://schemas.openxmlformats.org/officeDocument/2006/relationships/image" Target="../media/image74.png"/><Relationship Id="rId7" Type="http://schemas.openxmlformats.org/officeDocument/2006/relationships/image" Target="../media/image73.png"/><Relationship Id="rId8" Type="http://schemas.openxmlformats.org/officeDocument/2006/relationships/image" Target="../media/image77.png"/><Relationship Id="rId9" Type="http://schemas.openxmlformats.org/officeDocument/2006/relationships/image" Target="../media/image75.png"/><Relationship Id="rId10" Type="http://schemas.openxmlformats.org/officeDocument/2006/relationships/image" Target="../media/image7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5.png"/><Relationship Id="rId4" Type="http://schemas.openxmlformats.org/officeDocument/2006/relationships/image" Target="../media/image77.png"/><Relationship Id="rId5" Type="http://schemas.openxmlformats.org/officeDocument/2006/relationships/image" Target="../media/image64.png"/><Relationship Id="rId6" Type="http://schemas.openxmlformats.org/officeDocument/2006/relationships/image" Target="../media/image7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5.png"/><Relationship Id="rId4" Type="http://schemas.openxmlformats.org/officeDocument/2006/relationships/image" Target="../media/image74.png"/><Relationship Id="rId5" Type="http://schemas.openxmlformats.org/officeDocument/2006/relationships/image" Target="../media/image64.png"/><Relationship Id="rId6" Type="http://schemas.openxmlformats.org/officeDocument/2006/relationships/image" Target="../media/image7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5.png"/><Relationship Id="rId4" Type="http://schemas.openxmlformats.org/officeDocument/2006/relationships/image" Target="../media/image77.png"/><Relationship Id="rId5" Type="http://schemas.openxmlformats.org/officeDocument/2006/relationships/image" Target="../media/image74.png"/><Relationship Id="rId6" Type="http://schemas.openxmlformats.org/officeDocument/2006/relationships/image" Target="../media/image6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7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5.png"/><Relationship Id="rId4" Type="http://schemas.openxmlformats.org/officeDocument/2006/relationships/image" Target="../media/image78.png"/><Relationship Id="rId5" Type="http://schemas.openxmlformats.org/officeDocument/2006/relationships/image" Target="../media/image64.png"/><Relationship Id="rId6" Type="http://schemas.openxmlformats.org/officeDocument/2006/relationships/image" Target="../media/image76.png"/><Relationship Id="rId7" Type="http://schemas.openxmlformats.org/officeDocument/2006/relationships/image" Target="../media/image74.png"/><Relationship Id="rId8" Type="http://schemas.openxmlformats.org/officeDocument/2006/relationships/image" Target="../media/image73.png"/><Relationship Id="rId9" Type="http://schemas.openxmlformats.org/officeDocument/2006/relationships/image" Target="../media/image7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5.png"/><Relationship Id="rId4" Type="http://schemas.openxmlformats.org/officeDocument/2006/relationships/image" Target="../media/image77.png"/><Relationship Id="rId5" Type="http://schemas.openxmlformats.org/officeDocument/2006/relationships/image" Target="../media/image64.png"/><Relationship Id="rId6" Type="http://schemas.openxmlformats.org/officeDocument/2006/relationships/image" Target="../media/image7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5.png"/><Relationship Id="rId4" Type="http://schemas.openxmlformats.org/officeDocument/2006/relationships/image" Target="../media/image74.png"/><Relationship Id="rId5" Type="http://schemas.openxmlformats.org/officeDocument/2006/relationships/image" Target="../media/image73.png"/><Relationship Id="rId6" Type="http://schemas.openxmlformats.org/officeDocument/2006/relationships/image" Target="../media/image6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5.png"/><Relationship Id="rId4" Type="http://schemas.openxmlformats.org/officeDocument/2006/relationships/image" Target="../media/image64.png"/><Relationship Id="rId5" Type="http://schemas.openxmlformats.org/officeDocument/2006/relationships/image" Target="../media/image74.png"/><Relationship Id="rId6" Type="http://schemas.openxmlformats.org/officeDocument/2006/relationships/image" Target="../media/image73.png"/><Relationship Id="rId7" Type="http://schemas.openxmlformats.org/officeDocument/2006/relationships/image" Target="../media/image7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74.png"/><Relationship Id="rId4" Type="http://schemas.openxmlformats.org/officeDocument/2006/relationships/image" Target="../media/image65.png"/><Relationship Id="rId5" Type="http://schemas.openxmlformats.org/officeDocument/2006/relationships/image" Target="../media/image75.png"/><Relationship Id="rId6" Type="http://schemas.openxmlformats.org/officeDocument/2006/relationships/image" Target="../media/image6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3.png"/><Relationship Id="rId3" Type="http://schemas.openxmlformats.org/officeDocument/2006/relationships/image" Target="../media/image65.png"/><Relationship Id="rId4" Type="http://schemas.openxmlformats.org/officeDocument/2006/relationships/image" Target="../media/image74.png"/><Relationship Id="rId5" Type="http://schemas.openxmlformats.org/officeDocument/2006/relationships/image" Target="../media/image64.png"/><Relationship Id="rId6" Type="http://schemas.openxmlformats.org/officeDocument/2006/relationships/image" Target="../media/image7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tIns="0" bIns="0"/>
          <a:lstStyle/>
          <a:p>
            <a:pPr>
              <a:lnSpc>
                <a:spcPct val="130000"/>
              </a:lnSpc>
            </a:pPr>
            <a:r>
              <a:rPr sz="1452"/>
              <a:t>全10チームのMVP設計・アーキテクチャ・構築手順・躓きポイント</a:t>
            </a:r>
          </a:p>
          <a:p>
            <a:pPr>
              <a:lnSpc>
                <a:spcPct val="130000"/>
              </a:lnSpc>
            </a:pPr>
            <a:r>
              <a:rPr sz="1452"/>
              <a:t>（T04は現行案の再設計中のため詳細設計対象外）</a:t>
            </a:r>
          </a:p>
        </p:txBody>
      </p:sp>
      <p:sp>
        <p:nvSpPr>
          <p:cNvPr id="3" name="Title 2"/>
          <p:cNvSpPr>
            <a:spLocks noGrp="1"/>
          </p:cNvSpPr>
          <p:nvPr>
            <p:ph type="ctrTitle"/>
          </p:nvPr>
        </p:nvSpPr>
        <p:spPr>
          <a:xfrm>
            <a:off x="1152144" y="2240280"/>
            <a:ext cx="9418320" cy="1463040"/>
          </a:xfrm>
        </p:spPr>
        <p:txBody>
          <a:bodyPr wrap="square" tIns="0" bIns="0"/>
          <a:lstStyle/>
          <a:p>
            <a:pPr>
              <a:lnSpc>
                <a:spcPct val="120000"/>
              </a:lnSpc>
            </a:pPr>
            <a:r>
              <a:rPr sz="3400" b="1"/>
              <a:t>メンター向け 設計資料一式</a:t>
            </a:r>
          </a:p>
          <a:p>
            <a:pPr>
              <a:lnSpc>
                <a:spcPct val="120000"/>
              </a:lnSpc>
            </a:pPr>
            <a:r>
              <a:rPr sz="3400" b="1"/>
              <a:t>MVP先行試作ガイド</a:t>
            </a:r>
          </a:p>
        </p:txBody>
      </p:sp>
      <p:sp>
        <p:nvSpPr>
          <p:cNvPr id="4" name="Subtitle 3"/>
          <p:cNvSpPr>
            <a:spLocks noGrp="1"/>
          </p:cNvSpPr>
          <p:nvPr>
            <p:ph type="subTitle" idx="1"/>
          </p:nvPr>
        </p:nvSpPr>
        <p:spPr/>
        <p:txBody>
          <a:bodyPr wrap="square" tIns="0" bIns="0"/>
          <a:lstStyle/>
          <a:p>
            <a:r>
              <a:rPr sz="1632">
                <a:solidFill>
                  <a:srgbClr val="1B5C80"/>
                </a:solidFill>
              </a:rPr>
              <a:t>Microsoft 365 Copilot Studio 活用ハッカソン</a:t>
            </a:r>
          </a:p>
        </p:txBody>
      </p:sp>
      <p:sp>
        <p:nvSpPr>
          <p:cNvPr id="5" name="Text Placeholder 4"/>
          <p:cNvSpPr>
            <a:spLocks noGrp="1"/>
          </p:cNvSpPr>
          <p:nvPr>
            <p:ph type="body" idx="2" sz="half"/>
          </p:nvPr>
        </p:nvSpPr>
        <p:spPr/>
        <p:txBody>
          <a:bodyPr wrap="square" tIns="0" bIns="0"/>
          <a:lstStyle/>
          <a:p>
            <a:r>
              <a:rPr sz="1452"/>
              <a:t>2026.07.29</a:t>
            </a:r>
          </a:p>
        </p:txBody>
      </p:sp>
      <p:sp>
        <p:nvSpPr>
          <p:cNvPr id="6" name="TextBox 5"/>
          <p:cNvSpPr txBox="1"/>
          <p:nvPr/>
        </p:nvSpPr>
        <p:spPr>
          <a:xfrm>
            <a:off x="1152144" y="4956048"/>
            <a:ext cx="5486400" cy="310896"/>
          </a:xfrm>
          <a:prstGeom prst="rect">
            <a:avLst/>
          </a:prstGeom>
          <a:noFill/>
        </p:spPr>
        <p:txBody>
          <a:bodyPr wrap="square" anchor="t" lIns="25400" rIns="25400" tIns="12700" bIns="12700">
            <a:spAutoFit/>
          </a:bodyPr>
          <a:lstStyle/>
          <a:p>
            <a:pPr algn="l">
              <a:lnSpc>
                <a:spcPct val="115000"/>
              </a:lnSpc>
            </a:pPr>
            <a:r>
              <a:rPr sz="1270" b="1">
                <a:solidFill>
                  <a:srgbClr val="1B5C80"/>
                </a:solidFill>
              </a:rPr>
              <a:t>株式会社Low Code</a:t>
            </a:r>
          </a:p>
        </p:txBody>
      </p:sp>
      <p:pic>
        <p:nvPicPr>
          <p:cNvPr id="4" name="図 3" descr="ロゴ&#10;&#10;AI によって生成されたコンテンツは間違っている可能性があります。">
            <a:extLst>
              <a:ext uri="{FF2B5EF4-FFF2-40B4-BE49-F238E27FC236}">
                <a16:creationId xmlns:a16="http://schemas.microsoft.com/office/drawing/2014/main" id="{034E6708-382D-E5BB-D843-73E38A172897}"/>
              </a:ext>
            </a:extLst>
          </p:cNvPr>
          <p:cNvPicPr>
            <a:picLocks noChangeAspect="1"/>
          </p:cNvPicPr>
          <p:nvPr/>
        </p:nvPicPr>
        <p:blipFill>
          <a:blip r:embed="rId2">
            <a:extLst>
              <a:ext uri="{28A0092B-C50C-407E-A947-70E740481C1C}">
                <a14:useLocalDpi xmlns:a14="http://schemas.microsoft.com/office/drawing/2010/main" val="0"/>
              </a:ext>
            </a:extLst>
          </a:blip>
          <a:srcRect t="29843" b="29843"/>
          <a:stretch/>
        </p:blipFill>
        <p:spPr>
          <a:xfrm>
            <a:off x="1152144" y="5349240"/>
            <a:ext cx="2461010" cy="566928"/>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本資料の目的と使い方</a:t>
            </a:r>
          </a:p>
        </p:txBody>
      </p:sp>
      <p:sp>
        <p:nvSpPr>
          <p:cNvPr id="3" name="Text Placeholder 2"/>
          <p:cNvSpPr>
            <a:spLocks noGrp="1"/>
          </p:cNvSpPr>
          <p:nvPr>
            <p:ph type="body" idx="2" sz="half"/>
          </p:nvPr>
        </p:nvSpPr>
        <p:spPr/>
        <p:txBody>
          <a:bodyPr wrap="square" tIns="0" bIns="0"/>
          <a:lstStyle/>
          <a:p>
            <a:r>
              <a:rPr sz="1270">
                <a:solidFill>
                  <a:srgbClr val="595959"/>
                </a:solidFill>
              </a:rPr>
              <a:t>メンターが各チームのMVPを手元で先行試作し、躓きポイントを事前に把握するための資料</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a:t>
            </a:r>
          </a:p>
        </p:txBody>
      </p:sp>
      <p:sp>
        <p:nvSpPr>
          <p:cNvPr id="5" name="Rectangle 4"/>
          <p:cNvSpPr/>
          <p:nvPr/>
        </p:nvSpPr>
        <p:spPr>
          <a:xfrm>
            <a:off x="740664" y="1152144"/>
            <a:ext cx="3502152" cy="11887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1152144"/>
            <a:ext cx="3502152"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152144"/>
            <a:ext cx="3282696"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目的</a:t>
            </a:r>
          </a:p>
        </p:txBody>
      </p:sp>
      <p:sp>
        <p:nvSpPr>
          <p:cNvPr id="8" name="TextBox 7"/>
          <p:cNvSpPr txBox="1"/>
          <p:nvPr/>
        </p:nvSpPr>
        <p:spPr>
          <a:xfrm>
            <a:off x="868680" y="1481328"/>
            <a:ext cx="3246120" cy="786384"/>
          </a:xfrm>
          <a:prstGeom prst="rect">
            <a:avLst/>
          </a:prstGeom>
          <a:noFill/>
        </p:spPr>
        <p:txBody>
          <a:bodyPr wrap="square" anchor="t" lIns="25400" rIns="25400" tIns="12700" bIns="12700">
            <a:spAutoFit/>
          </a:bodyPr>
          <a:lstStyle/>
          <a:p>
            <a:pPr algn="l">
              <a:lnSpc>
                <a:spcPct val="125000"/>
              </a:lnSpc>
            </a:pPr>
            <a:r>
              <a:rPr sz="900" b="0">
                <a:solidFill>
                  <a:srgbClr val="232323"/>
                </a:solidFill>
              </a:rPr>
              <a:t>メンターが各チームのMVPを事前に手元で試作し、各チームが躓きそうな課題を早期に把握する。</a:t>
            </a:r>
          </a:p>
        </p:txBody>
      </p:sp>
      <p:sp>
        <p:nvSpPr>
          <p:cNvPr id="9" name="Rectangle 8"/>
          <p:cNvSpPr/>
          <p:nvPr/>
        </p:nvSpPr>
        <p:spPr>
          <a:xfrm>
            <a:off x="4347972" y="1152144"/>
            <a:ext cx="3502152" cy="11887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7972" y="1152144"/>
            <a:ext cx="3502152"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7700" y="1152144"/>
            <a:ext cx="3282696"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対象</a:t>
            </a:r>
          </a:p>
        </p:txBody>
      </p:sp>
      <p:sp>
        <p:nvSpPr>
          <p:cNvPr id="12" name="TextBox 11"/>
          <p:cNvSpPr txBox="1"/>
          <p:nvPr/>
        </p:nvSpPr>
        <p:spPr>
          <a:xfrm>
            <a:off x="4475988" y="1481328"/>
            <a:ext cx="3246120" cy="786384"/>
          </a:xfrm>
          <a:prstGeom prst="rect">
            <a:avLst/>
          </a:prstGeom>
          <a:noFill/>
        </p:spPr>
        <p:txBody>
          <a:bodyPr wrap="square" anchor="t" lIns="25400" rIns="25400" tIns="12700" bIns="12700">
            <a:spAutoFit/>
          </a:bodyPr>
          <a:lstStyle/>
          <a:p>
            <a:pPr algn="l">
              <a:lnSpc>
                <a:spcPct val="125000"/>
              </a:lnSpc>
            </a:pPr>
            <a:r>
              <a:rPr sz="900" b="0">
                <a:solidFill>
                  <a:srgbClr val="232323"/>
                </a:solidFill>
              </a:rPr>
              <a:t>T01〜T11。ただしT04は現行案が再設計中のため、今回の詳細構築設計から除外する。</a:t>
            </a:r>
          </a:p>
        </p:txBody>
      </p:sp>
      <p:sp>
        <p:nvSpPr>
          <p:cNvPr id="13" name="Rectangle 12"/>
          <p:cNvSpPr/>
          <p:nvPr/>
        </p:nvSpPr>
        <p:spPr>
          <a:xfrm>
            <a:off x="7955280" y="1152144"/>
            <a:ext cx="3502152" cy="11887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80" y="1152144"/>
            <a:ext cx="3502152"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1152144"/>
            <a:ext cx="3282696"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読者</a:t>
            </a:r>
          </a:p>
        </p:txBody>
      </p:sp>
      <p:sp>
        <p:nvSpPr>
          <p:cNvPr id="16" name="TextBox 15"/>
          <p:cNvSpPr txBox="1"/>
          <p:nvPr/>
        </p:nvSpPr>
        <p:spPr>
          <a:xfrm>
            <a:off x="8083296" y="1481328"/>
            <a:ext cx="3246120" cy="786384"/>
          </a:xfrm>
          <a:prstGeom prst="rect">
            <a:avLst/>
          </a:prstGeom>
          <a:noFill/>
        </p:spPr>
        <p:txBody>
          <a:bodyPr wrap="square" anchor="t" lIns="25400" rIns="25400" tIns="12700" bIns="12700">
            <a:spAutoFit/>
          </a:bodyPr>
          <a:lstStyle/>
          <a:p>
            <a:pPr algn="l">
              <a:lnSpc>
                <a:spcPct val="125000"/>
              </a:lnSpc>
            </a:pPr>
            <a:r>
              <a:rPr sz="900" b="0">
                <a:solidFill>
                  <a:srgbClr val="232323"/>
                </a:solidFill>
              </a:rPr>
              <a:t>メンター。Power Platformの基本的な知識がある前提。業務背景の深掘りより、目的・入力・出力・構築手順・躓きポイントを重視する。</a:t>
            </a:r>
          </a:p>
        </p:txBody>
      </p:sp>
      <p:sp>
        <p:nvSpPr>
          <p:cNvPr id="17" name="Rectangle 16"/>
          <p:cNvSpPr/>
          <p:nvPr/>
        </p:nvSpPr>
        <p:spPr>
          <a:xfrm>
            <a:off x="740664" y="2487168"/>
            <a:ext cx="5294376" cy="18836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0664" y="2487168"/>
            <a:ext cx="5294376"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2487168"/>
            <a:ext cx="5074920"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本資料に含まれるもの（V1成果物）</a:t>
            </a:r>
          </a:p>
        </p:txBody>
      </p:sp>
      <p:sp>
        <p:nvSpPr>
          <p:cNvPr id="20" name="TextBox 19"/>
          <p:cNvSpPr txBox="1"/>
          <p:nvPr/>
        </p:nvSpPr>
        <p:spPr>
          <a:xfrm>
            <a:off x="868680" y="2816352"/>
            <a:ext cx="5038344" cy="1463040"/>
          </a:xfrm>
          <a:prstGeom prst="rect">
            <a:avLst/>
          </a:prstGeom>
          <a:noFill/>
        </p:spPr>
        <p:txBody>
          <a:bodyPr wrap="square" anchor="t" lIns="25400" rIns="25400" tIns="12700" bIns="12700">
            <a:spAutoFit/>
          </a:bodyPr>
          <a:lstStyle/>
          <a:p>
            <a:pPr algn="l">
              <a:lnSpc>
                <a:spcPct val="134000"/>
              </a:lnSpc>
            </a:pPr>
            <a:r>
              <a:rPr sz="900" b="0">
                <a:solidFill>
                  <a:srgbClr val="232323"/>
                </a:solidFill>
              </a:rPr>
              <a:t>・Mermaidアーキテクチャ図</a:t>
            </a:r>
          </a:p>
          <a:p>
            <a:pPr algn="l">
              <a:lnSpc>
                <a:spcPct val="134000"/>
              </a:lnSpc>
            </a:pPr>
            <a:r>
              <a:rPr sz="900" b="0">
                <a:solidFill>
                  <a:srgbClr val="232323"/>
                </a:solidFill>
              </a:rPr>
              <a:t>・Copilot生成の人向けバナー画像</a:t>
            </a:r>
          </a:p>
          <a:p>
            <a:pPr algn="l">
              <a:lnSpc>
                <a:spcPct val="134000"/>
              </a:lnSpc>
            </a:pPr>
            <a:r>
              <a:rPr sz="900" b="0">
                <a:solidFill>
                  <a:srgbClr val="232323"/>
                </a:solidFill>
              </a:rPr>
              <a:t>・MVP設計</a:t>
            </a:r>
          </a:p>
          <a:p>
            <a:pPr algn="l">
              <a:lnSpc>
                <a:spcPct val="134000"/>
              </a:lnSpc>
            </a:pPr>
            <a:r>
              <a:rPr sz="900" b="0">
                <a:solidFill>
                  <a:srgbClr val="232323"/>
                </a:solidFill>
              </a:rPr>
              <a:t>・メンター向け構築手順</a:t>
            </a:r>
          </a:p>
          <a:p>
            <a:pPr algn="l">
              <a:lnSpc>
                <a:spcPct val="134000"/>
              </a:lnSpc>
            </a:pPr>
            <a:r>
              <a:rPr sz="900" b="0">
                <a:solidFill>
                  <a:srgbClr val="232323"/>
                </a:solidFill>
              </a:rPr>
              <a:t>・ダミーデータ仕様</a:t>
            </a:r>
          </a:p>
          <a:p>
            <a:pPr algn="l">
              <a:lnSpc>
                <a:spcPct val="134000"/>
              </a:lnSpc>
            </a:pPr>
            <a:r>
              <a:rPr sz="900" b="0">
                <a:solidFill>
                  <a:srgbClr val="232323"/>
                </a:solidFill>
              </a:rPr>
              <a:t>・最低限テストケース</a:t>
            </a:r>
          </a:p>
          <a:p>
            <a:pPr algn="l">
              <a:lnSpc>
                <a:spcPct val="134000"/>
              </a:lnSpc>
            </a:pPr>
            <a:r>
              <a:rPr sz="900" b="0">
                <a:solidFill>
                  <a:srgbClr val="232323"/>
                </a:solidFill>
              </a:rPr>
              <a:t>・躓きポイントと助言</a:t>
            </a:r>
          </a:p>
        </p:txBody>
      </p:sp>
      <p:sp>
        <p:nvSpPr>
          <p:cNvPr id="21" name="Rectangle 20"/>
          <p:cNvSpPr/>
          <p:nvPr/>
        </p:nvSpPr>
        <p:spPr>
          <a:xfrm>
            <a:off x="6163056" y="2487168"/>
            <a:ext cx="5294376" cy="188366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2487168"/>
            <a:ext cx="5294376"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72784" y="2487168"/>
            <a:ext cx="5074920"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本資料の使い方（メンター）</a:t>
            </a:r>
          </a:p>
        </p:txBody>
      </p:sp>
      <p:sp>
        <p:nvSpPr>
          <p:cNvPr id="24" name="TextBox 23"/>
          <p:cNvSpPr txBox="1"/>
          <p:nvPr/>
        </p:nvSpPr>
        <p:spPr>
          <a:xfrm>
            <a:off x="6291072" y="2816352"/>
            <a:ext cx="5038344" cy="1463040"/>
          </a:xfrm>
          <a:prstGeom prst="rect">
            <a:avLst/>
          </a:prstGeom>
          <a:noFill/>
        </p:spPr>
        <p:txBody>
          <a:bodyPr wrap="square" anchor="t" lIns="25400" rIns="25400" tIns="12700" bIns="12700">
            <a:spAutoFit/>
          </a:bodyPr>
          <a:lstStyle/>
          <a:p>
            <a:pPr algn="l">
              <a:lnSpc>
                <a:spcPct val="134000"/>
              </a:lnSpc>
            </a:pPr>
            <a:r>
              <a:rPr sz="900" b="0">
                <a:solidFill>
                  <a:srgbClr val="232323"/>
                </a:solidFill>
              </a:rPr>
              <a:t>・共通ページ（P.4〜P.10）で制約と共通手順を確認する</a:t>
            </a:r>
          </a:p>
          <a:p>
            <a:pPr algn="l">
              <a:lnSpc>
                <a:spcPct val="134000"/>
              </a:lnSpc>
            </a:pPr>
            <a:r>
              <a:rPr sz="900" b="0">
                <a:solidFill>
                  <a:srgbClr val="232323"/>
                </a:solidFill>
              </a:rPr>
              <a:t>・担当チームの「設計サマリ」で目的・MVP範囲・使用アプリを把握する</a:t>
            </a:r>
          </a:p>
          <a:p>
            <a:pPr algn="l">
              <a:lnSpc>
                <a:spcPct val="134000"/>
              </a:lnSpc>
            </a:pPr>
            <a:r>
              <a:rPr sz="900" b="0">
                <a:solidFill>
                  <a:srgbClr val="232323"/>
                </a:solidFill>
              </a:rPr>
              <a:t>・「アーキテクチャ全体像」で入力→AI処理→保管→出力→人確認の流れを追う</a:t>
            </a:r>
          </a:p>
          <a:p>
            <a:pPr algn="l">
              <a:lnSpc>
                <a:spcPct val="134000"/>
              </a:lnSpc>
            </a:pPr>
            <a:r>
              <a:rPr sz="900" b="0">
                <a:solidFill>
                  <a:srgbClr val="232323"/>
                </a:solidFill>
              </a:rPr>
              <a:t>・共通構築手順とダミーデータ仕様に沿って、手元でMVPを一本通す</a:t>
            </a:r>
          </a:p>
          <a:p>
            <a:pPr algn="l">
              <a:lnSpc>
                <a:spcPct val="134000"/>
              </a:lnSpc>
            </a:pPr>
            <a:r>
              <a:rPr sz="900" b="0">
                <a:solidFill>
                  <a:srgbClr val="232323"/>
                </a:solidFill>
              </a:rPr>
              <a:t>・躓きポイントと助言をもとに、チームへの助言内容を準備する</a:t>
            </a:r>
          </a:p>
        </p:txBody>
      </p:sp>
      <p:sp>
        <p:nvSpPr>
          <p:cNvPr id="25" name="Rectangle 24"/>
          <p:cNvSpPr/>
          <p:nvPr/>
        </p:nvSpPr>
        <p:spPr>
          <a:xfrm>
            <a:off x="740664" y="4517136"/>
            <a:ext cx="10716768" cy="129844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0664" y="4517136"/>
            <a:ext cx="64008" cy="1298448"/>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608576"/>
            <a:ext cx="10277856" cy="256032"/>
          </a:xfrm>
          <a:prstGeom prst="rect">
            <a:avLst/>
          </a:prstGeom>
          <a:noFill/>
        </p:spPr>
        <p:txBody>
          <a:bodyPr wrap="square" anchor="t" lIns="25400" rIns="25400" tIns="12700" bIns="12700">
            <a:spAutoFit/>
          </a:bodyPr>
          <a:lstStyle/>
          <a:p>
            <a:pPr algn="l">
              <a:lnSpc>
                <a:spcPct val="115000"/>
              </a:lnSpc>
            </a:pPr>
            <a:r>
              <a:rPr sz="1089" b="1">
                <a:solidFill>
                  <a:srgbClr val="232323"/>
                </a:solidFill>
              </a:rPr>
              <a:t>本資料の取り扱い（重要）</a:t>
            </a:r>
          </a:p>
        </p:txBody>
      </p:sp>
      <p:sp>
        <p:nvSpPr>
          <p:cNvPr id="28" name="TextBox 27"/>
          <p:cNvSpPr txBox="1"/>
          <p:nvPr/>
        </p:nvSpPr>
        <p:spPr>
          <a:xfrm>
            <a:off x="960120" y="4901184"/>
            <a:ext cx="10277856" cy="786384"/>
          </a:xfrm>
          <a:prstGeom prst="rect">
            <a:avLst/>
          </a:prstGeom>
          <a:noFill/>
        </p:spPr>
        <p:txBody>
          <a:bodyPr wrap="square" anchor="t" lIns="25400" rIns="25400" tIns="12700" bIns="12700">
            <a:spAutoFit/>
          </a:bodyPr>
          <a:lstStyle/>
          <a:p>
            <a:pPr algn="l">
              <a:lnSpc>
                <a:spcPct val="142000"/>
              </a:lnSpc>
            </a:pPr>
            <a:r>
              <a:rPr sz="1089" b="0">
                <a:solidFill>
                  <a:srgbClr val="232323"/>
                </a:solidFill>
              </a:rPr>
              <a:t>・本資料はV1（priority_medium_mentor_design_v1）を正本とし、設計内容・画像・情報量を変更していない。</a:t>
            </a:r>
          </a:p>
          <a:p>
            <a:pPr algn="l">
              <a:lnSpc>
                <a:spcPct val="142000"/>
              </a:lnSpc>
            </a:pPr>
            <a:r>
              <a:rPr sz="1089" b="0">
                <a:solidFill>
                  <a:srgbClr val="232323"/>
                </a:solidFill>
              </a:rPr>
              <a:t>・アーキテクチャ画像はV1のPNGをそのまま掲載している（再生成・簡略化・アイコン加工は行っていない）。</a:t>
            </a:r>
          </a:p>
          <a:p>
            <a:pPr algn="l">
              <a:lnSpc>
                <a:spcPct val="142000"/>
              </a:lnSpc>
            </a:pPr>
            <a:r>
              <a:rPr sz="1089" b="0">
                <a:solidFill>
                  <a:srgbClr val="232323"/>
                </a:solidFill>
              </a:rPr>
              <a:t>・T04は現行案の中核が外部Web参照に依存するため、今回の詳細構築設計の対象外とする（P.31 除外メモ）。</a:t>
            </a:r>
          </a:p>
        </p:txBody>
      </p:sp>
      <p:sp>
        <p:nvSpPr>
          <p:cNvPr id="29" name="Rectangle 28"/>
          <p:cNvSpPr/>
          <p:nvPr/>
        </p:nvSpPr>
        <p:spPr>
          <a:xfrm>
            <a:off x="740664" y="5961888"/>
            <a:ext cx="10716768" cy="347472"/>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961888"/>
            <a:ext cx="10277856" cy="347472"/>
          </a:xfrm>
          <a:prstGeom prst="rect">
            <a:avLst/>
          </a:prstGeom>
          <a:noFill/>
        </p:spPr>
        <p:txBody>
          <a:bodyPr wrap="square" anchor="ctr" lIns="25400" rIns="25400" tIns="12700" bIns="12700">
            <a:spAutoFit/>
          </a:bodyPr>
          <a:lstStyle/>
          <a:p>
            <a:pPr algn="l">
              <a:lnSpc>
                <a:spcPct val="115000"/>
              </a:lnSpc>
            </a:pPr>
            <a:r>
              <a:rPr sz="900" b="0">
                <a:solidFill>
                  <a:srgbClr val="1B5C80"/>
                </a:solidFill>
              </a:rPr>
              <a:t>正本： priority_medium_mentor_design_v1.zip　／　使用しないもの： v2 ・ v3（アイコンガイドライン適用版）・ v4（アイコン差し替え版）　※ 画像品質と情報量がV1から劣化したため</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本資料の構成</a:t>
            </a:r>
          </a:p>
        </p:txBody>
      </p:sp>
      <p:sp>
        <p:nvSpPr>
          <p:cNvPr id="3" name="Text Placeholder 2"/>
          <p:cNvSpPr>
            <a:spLocks noGrp="1"/>
          </p:cNvSpPr>
          <p:nvPr>
            <p:ph type="body" idx="2" sz="half"/>
          </p:nvPr>
        </p:nvSpPr>
        <p:spPr/>
        <p:txBody>
          <a:bodyPr wrap="square" tIns="0" bIns="0"/>
          <a:lstStyle/>
          <a:p>
            <a:r>
              <a:rPr sz="1270">
                <a:solidFill>
                  <a:srgbClr val="595959"/>
                </a:solidFill>
              </a:rPr>
              <a:t>共通事項 → チーム別設計 → 補足の順に構成</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3</a:t>
            </a:r>
          </a:p>
        </p:txBody>
      </p:sp>
      <p:sp>
        <p:nvSpPr>
          <p:cNvPr id="5" name="Rectangle 4"/>
          <p:cNvSpPr/>
          <p:nvPr/>
        </p:nvSpPr>
        <p:spPr>
          <a:xfrm>
            <a:off x="740664" y="1280160"/>
            <a:ext cx="10716768" cy="138988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1280160"/>
            <a:ext cx="1097280" cy="138988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554480"/>
            <a:ext cx="1097280" cy="548640"/>
          </a:xfrm>
          <a:prstGeom prst="rect">
            <a:avLst/>
          </a:prstGeom>
          <a:noFill/>
        </p:spPr>
        <p:txBody>
          <a:bodyPr wrap="square" anchor="t" lIns="25400" rIns="25400" tIns="12700" bIns="12700">
            <a:spAutoFit/>
          </a:bodyPr>
          <a:lstStyle/>
          <a:p>
            <a:pPr algn="ctr">
              <a:lnSpc>
                <a:spcPct val="115000"/>
              </a:lnSpc>
            </a:pPr>
            <a:r>
              <a:rPr sz="3000" b="1">
                <a:solidFill>
                  <a:srgbClr val="FFFFFF"/>
                </a:solidFill>
              </a:rPr>
              <a:t>01</a:t>
            </a:r>
          </a:p>
        </p:txBody>
      </p:sp>
      <p:sp>
        <p:nvSpPr>
          <p:cNvPr id="8" name="TextBox 7"/>
          <p:cNvSpPr txBox="1"/>
          <p:nvPr/>
        </p:nvSpPr>
        <p:spPr>
          <a:xfrm>
            <a:off x="2057400" y="1463040"/>
            <a:ext cx="6766560" cy="384048"/>
          </a:xfrm>
          <a:prstGeom prst="rect">
            <a:avLst/>
          </a:prstGeom>
          <a:noFill/>
        </p:spPr>
        <p:txBody>
          <a:bodyPr wrap="square" anchor="t" lIns="25400" rIns="25400" tIns="12700" bIns="12700">
            <a:spAutoFit/>
          </a:bodyPr>
          <a:lstStyle/>
          <a:p>
            <a:pPr algn="l">
              <a:lnSpc>
                <a:spcPct val="115000"/>
              </a:lnSpc>
            </a:pPr>
            <a:r>
              <a:rPr sz="1632" b="1">
                <a:solidFill>
                  <a:srgbClr val="1B5C80"/>
                </a:solidFill>
              </a:rPr>
              <a:t>共通事項</a:t>
            </a:r>
          </a:p>
        </p:txBody>
      </p:sp>
      <p:sp>
        <p:nvSpPr>
          <p:cNvPr id="9" name="Rounded Rectangle 8"/>
          <p:cNvSpPr/>
          <p:nvPr/>
        </p:nvSpPr>
        <p:spPr>
          <a:xfrm>
            <a:off x="9244584" y="1481328"/>
            <a:ext cx="1188720" cy="292608"/>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P.4〜P.10</a:t>
            </a:r>
          </a:p>
        </p:txBody>
      </p:sp>
      <p:sp>
        <p:nvSpPr>
          <p:cNvPr id="10" name="TextBox 9"/>
          <p:cNvSpPr txBox="1"/>
          <p:nvPr/>
        </p:nvSpPr>
        <p:spPr>
          <a:xfrm>
            <a:off x="2057400" y="1938528"/>
            <a:ext cx="8375904" cy="603504"/>
          </a:xfrm>
          <a:prstGeom prst="rect">
            <a:avLst/>
          </a:prstGeom>
          <a:noFill/>
        </p:spPr>
        <p:txBody>
          <a:bodyPr wrap="square" anchor="t" lIns="25400" rIns="25400" tIns="12700" bIns="12700">
            <a:spAutoFit/>
          </a:bodyPr>
          <a:lstStyle/>
          <a:p>
            <a:pPr algn="l">
              <a:lnSpc>
                <a:spcPct val="130000"/>
              </a:lnSpc>
            </a:pPr>
            <a:r>
              <a:rPr sz="1089" b="0">
                <a:solidFill>
                  <a:srgbClr val="232323"/>
                </a:solidFill>
              </a:rPr>
              <a:t>全体俯瞰マップ／共通制約／共通アーキテクチャ原則／利用アプリ方針／横断的な要注意ポイント／共通構築手順／ダミーデータ方針・テストケース</a:t>
            </a:r>
          </a:p>
        </p:txBody>
      </p:sp>
      <p:sp>
        <p:nvSpPr>
          <p:cNvPr id="11" name="Rectangle 10"/>
          <p:cNvSpPr/>
          <p:nvPr/>
        </p:nvSpPr>
        <p:spPr>
          <a:xfrm>
            <a:off x="740664" y="2852928"/>
            <a:ext cx="10716768" cy="138988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0664" y="2852928"/>
            <a:ext cx="1097280" cy="138988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3127248"/>
            <a:ext cx="1097280" cy="548640"/>
          </a:xfrm>
          <a:prstGeom prst="rect">
            <a:avLst/>
          </a:prstGeom>
          <a:noFill/>
        </p:spPr>
        <p:txBody>
          <a:bodyPr wrap="square" anchor="t" lIns="25400" rIns="25400" tIns="12700" bIns="12700">
            <a:spAutoFit/>
          </a:bodyPr>
          <a:lstStyle/>
          <a:p>
            <a:pPr algn="ctr">
              <a:lnSpc>
                <a:spcPct val="115000"/>
              </a:lnSpc>
            </a:pPr>
            <a:r>
              <a:rPr sz="3000" b="1">
                <a:solidFill>
                  <a:srgbClr val="FFFFFF"/>
                </a:solidFill>
              </a:rPr>
              <a:t>02</a:t>
            </a:r>
          </a:p>
        </p:txBody>
      </p:sp>
      <p:sp>
        <p:nvSpPr>
          <p:cNvPr id="14" name="TextBox 13"/>
          <p:cNvSpPr txBox="1"/>
          <p:nvPr/>
        </p:nvSpPr>
        <p:spPr>
          <a:xfrm>
            <a:off x="2057400" y="3035808"/>
            <a:ext cx="6766560" cy="384048"/>
          </a:xfrm>
          <a:prstGeom prst="rect">
            <a:avLst/>
          </a:prstGeom>
          <a:noFill/>
        </p:spPr>
        <p:txBody>
          <a:bodyPr wrap="square" anchor="t" lIns="25400" rIns="25400" tIns="12700" bIns="12700">
            <a:spAutoFit/>
          </a:bodyPr>
          <a:lstStyle/>
          <a:p>
            <a:pPr algn="l">
              <a:lnSpc>
                <a:spcPct val="115000"/>
              </a:lnSpc>
            </a:pPr>
            <a:r>
              <a:rPr sz="1632" b="1">
                <a:solidFill>
                  <a:srgbClr val="1B5C80"/>
                </a:solidFill>
              </a:rPr>
              <a:t>チーム別設計（10チーム × 2ページ）</a:t>
            </a:r>
          </a:p>
        </p:txBody>
      </p:sp>
      <p:sp>
        <p:nvSpPr>
          <p:cNvPr id="15" name="Rounded Rectangle 14"/>
          <p:cNvSpPr/>
          <p:nvPr/>
        </p:nvSpPr>
        <p:spPr>
          <a:xfrm>
            <a:off x="9244584" y="3054096"/>
            <a:ext cx="1188720" cy="292608"/>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P.11〜P.30</a:t>
            </a:r>
          </a:p>
        </p:txBody>
      </p:sp>
      <p:sp>
        <p:nvSpPr>
          <p:cNvPr id="16" name="TextBox 15"/>
          <p:cNvSpPr txBox="1"/>
          <p:nvPr/>
        </p:nvSpPr>
        <p:spPr>
          <a:xfrm>
            <a:off x="2057400" y="3511296"/>
            <a:ext cx="8375904" cy="603504"/>
          </a:xfrm>
          <a:prstGeom prst="rect">
            <a:avLst/>
          </a:prstGeom>
          <a:noFill/>
        </p:spPr>
        <p:txBody>
          <a:bodyPr wrap="square" anchor="t" lIns="25400" rIns="25400" tIns="12700" bIns="12700">
            <a:spAutoFit/>
          </a:bodyPr>
          <a:lstStyle/>
          <a:p>
            <a:pPr algn="l">
              <a:lnSpc>
                <a:spcPct val="130000"/>
              </a:lnSpc>
            </a:pPr>
            <a:r>
              <a:rPr sz="1089" b="0">
                <a:solidFill>
                  <a:srgbClr val="232323"/>
                </a:solidFill>
              </a:rPr>
              <a:t>各チーム 1ページ目＝設計サマリ（企画概要・MVP範囲・使用アプリ・分担・構成・躓きポイント・助言）、2ページ目＝アーキテクチャ全体像とメンター試作手順</a:t>
            </a:r>
          </a:p>
        </p:txBody>
      </p:sp>
      <p:sp>
        <p:nvSpPr>
          <p:cNvPr id="17" name="Rectangle 16"/>
          <p:cNvSpPr/>
          <p:nvPr/>
        </p:nvSpPr>
        <p:spPr>
          <a:xfrm>
            <a:off x="740664" y="4425696"/>
            <a:ext cx="10716768" cy="138988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0664" y="4425696"/>
            <a:ext cx="1097280" cy="138988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4700016"/>
            <a:ext cx="1097280" cy="548640"/>
          </a:xfrm>
          <a:prstGeom prst="rect">
            <a:avLst/>
          </a:prstGeom>
          <a:noFill/>
        </p:spPr>
        <p:txBody>
          <a:bodyPr wrap="square" anchor="t" lIns="25400" rIns="25400" tIns="12700" bIns="12700">
            <a:spAutoFit/>
          </a:bodyPr>
          <a:lstStyle/>
          <a:p>
            <a:pPr algn="ctr">
              <a:lnSpc>
                <a:spcPct val="115000"/>
              </a:lnSpc>
            </a:pPr>
            <a:r>
              <a:rPr sz="3000" b="1">
                <a:solidFill>
                  <a:srgbClr val="FFFFFF"/>
                </a:solidFill>
              </a:rPr>
              <a:t>03</a:t>
            </a:r>
          </a:p>
        </p:txBody>
      </p:sp>
      <p:sp>
        <p:nvSpPr>
          <p:cNvPr id="20" name="TextBox 19"/>
          <p:cNvSpPr txBox="1"/>
          <p:nvPr/>
        </p:nvSpPr>
        <p:spPr>
          <a:xfrm>
            <a:off x="2057400" y="4608576"/>
            <a:ext cx="6766560" cy="384048"/>
          </a:xfrm>
          <a:prstGeom prst="rect">
            <a:avLst/>
          </a:prstGeom>
          <a:noFill/>
        </p:spPr>
        <p:txBody>
          <a:bodyPr wrap="square" anchor="t" lIns="25400" rIns="25400" tIns="12700" bIns="12700">
            <a:spAutoFit/>
          </a:bodyPr>
          <a:lstStyle/>
          <a:p>
            <a:pPr algn="l">
              <a:lnSpc>
                <a:spcPct val="115000"/>
              </a:lnSpc>
            </a:pPr>
            <a:r>
              <a:rPr sz="1632" b="1">
                <a:solidFill>
                  <a:srgbClr val="1B5C80"/>
                </a:solidFill>
              </a:rPr>
              <a:t>補足</a:t>
            </a:r>
          </a:p>
        </p:txBody>
      </p:sp>
      <p:sp>
        <p:nvSpPr>
          <p:cNvPr id="21" name="Rounded Rectangle 20"/>
          <p:cNvSpPr/>
          <p:nvPr/>
        </p:nvSpPr>
        <p:spPr>
          <a:xfrm>
            <a:off x="9244584" y="4626864"/>
            <a:ext cx="1188720" cy="292608"/>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P.31〜P.32</a:t>
            </a:r>
          </a:p>
        </p:txBody>
      </p:sp>
      <p:sp>
        <p:nvSpPr>
          <p:cNvPr id="22" name="TextBox 21"/>
          <p:cNvSpPr txBox="1"/>
          <p:nvPr/>
        </p:nvSpPr>
        <p:spPr>
          <a:xfrm>
            <a:off x="2057400" y="5084064"/>
            <a:ext cx="8375904" cy="603504"/>
          </a:xfrm>
          <a:prstGeom prst="rect">
            <a:avLst/>
          </a:prstGeom>
          <a:noFill/>
        </p:spPr>
        <p:txBody>
          <a:bodyPr wrap="square" anchor="t" lIns="25400" rIns="25400" tIns="12700" bIns="12700">
            <a:spAutoFit/>
          </a:bodyPr>
          <a:lstStyle/>
          <a:p>
            <a:pPr algn="l">
              <a:lnSpc>
                <a:spcPct val="130000"/>
              </a:lnSpc>
            </a:pPr>
            <a:r>
              <a:rPr sz="1089" b="0">
                <a:solidFill>
                  <a:srgbClr val="232323"/>
                </a:solidFill>
              </a:rPr>
              <a:t>T04 除外メモ（詳細設計対象外の理由と今後の代替案）／メンター試作チェックリストと追加確認が望ましい点</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メンター向け 全体俯瞰マップ</a:t>
            </a:r>
          </a:p>
        </p:txBody>
      </p:sp>
      <p:sp>
        <p:nvSpPr>
          <p:cNvPr id="3" name="Text Placeholder 2"/>
          <p:cNvSpPr>
            <a:spLocks noGrp="1"/>
          </p:cNvSpPr>
          <p:nvPr>
            <p:ph type="body" idx="2" sz="half"/>
          </p:nvPr>
        </p:nvSpPr>
        <p:spPr/>
        <p:txBody>
          <a:bodyPr wrap="square" tIns="0" bIns="0"/>
          <a:lstStyle/>
          <a:p>
            <a:r>
              <a:rPr sz="1270">
                <a:solidFill>
                  <a:srgbClr val="595959"/>
                </a:solidFill>
              </a:rPr>
              <a:t>対象10チームの類型と、共通する入力→AI処理→保管→出力→人確認の流れ</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4</a:t>
            </a:r>
          </a:p>
        </p:txBody>
      </p:sp>
      <p:pic>
        <p:nvPicPr>
          <p:cNvPr id="5" name="Picture 4" descr="mentor_overview_map.png"/>
          <p:cNvPicPr>
            <a:picLocks noChangeAspect="1"/>
          </p:cNvPicPr>
          <p:nvPr/>
        </p:nvPicPr>
        <p:blipFill>
          <a:blip r:embed="rId2"/>
          <a:stretch>
            <a:fillRect/>
          </a:stretch>
        </p:blipFill>
        <p:spPr>
          <a:xfrm>
            <a:off x="758952" y="1152144"/>
            <a:ext cx="5760720" cy="3840480"/>
          </a:xfrm>
          <a:prstGeom prst="rect">
            <a:avLst/>
          </a:prstGeom>
        </p:spPr>
      </p:pic>
      <p:sp>
        <p:nvSpPr>
          <p:cNvPr id="6" name="Rectangle 5"/>
          <p:cNvSpPr/>
          <p:nvPr/>
        </p:nvSpPr>
        <p:spPr>
          <a:xfrm>
            <a:off x="6684264" y="1152144"/>
            <a:ext cx="5468112" cy="38404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84264" y="1152144"/>
            <a:ext cx="5468112"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93992" y="1152144"/>
            <a:ext cx="5248656"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対象チームと類型（T04は詳細設計対象外）</a:t>
            </a:r>
          </a:p>
        </p:txBody>
      </p:sp>
      <p:sp>
        <p:nvSpPr>
          <p:cNvPr id="9" name="Rounded Rectangle 8"/>
          <p:cNvSpPr/>
          <p:nvPr/>
        </p:nvSpPr>
        <p:spPr>
          <a:xfrm>
            <a:off x="6812280" y="15179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T01</a:t>
            </a:r>
          </a:p>
        </p:txBody>
      </p:sp>
      <p:sp>
        <p:nvSpPr>
          <p:cNvPr id="10" name="TextBox 9"/>
          <p:cNvSpPr txBox="1"/>
          <p:nvPr/>
        </p:nvSpPr>
        <p:spPr>
          <a:xfrm>
            <a:off x="7452360" y="14996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提出様式チェックAI（カクニンジャ）</a:t>
            </a:r>
          </a:p>
        </p:txBody>
      </p:sp>
      <p:sp>
        <p:nvSpPr>
          <p:cNvPr id="11" name="TextBox 10"/>
          <p:cNvSpPr txBox="1"/>
          <p:nvPr/>
        </p:nvSpPr>
        <p:spPr>
          <a:xfrm>
            <a:off x="9610344" y="14996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ナレッジ参照＋ファイル確認型</a:t>
            </a:r>
          </a:p>
        </p:txBody>
      </p:sp>
      <p:sp>
        <p:nvSpPr>
          <p:cNvPr id="12" name="Rounded Rectangle 11"/>
          <p:cNvSpPr/>
          <p:nvPr/>
        </p:nvSpPr>
        <p:spPr>
          <a:xfrm>
            <a:off x="6812280" y="18608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T02</a:t>
            </a:r>
          </a:p>
        </p:txBody>
      </p:sp>
      <p:sp>
        <p:nvSpPr>
          <p:cNvPr id="13" name="TextBox 12"/>
          <p:cNvSpPr txBox="1"/>
          <p:nvPr/>
        </p:nvSpPr>
        <p:spPr>
          <a:xfrm>
            <a:off x="7452360" y="18425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受付Cエラー原因ナビゲーター</a:t>
            </a:r>
          </a:p>
        </p:txBody>
      </p:sp>
      <p:sp>
        <p:nvSpPr>
          <p:cNvPr id="14" name="TextBox 13"/>
          <p:cNvSpPr txBox="1"/>
          <p:nvPr/>
        </p:nvSpPr>
        <p:spPr>
          <a:xfrm>
            <a:off x="9610344" y="18425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FAQ/マニュアル参照型</a:t>
            </a:r>
          </a:p>
        </p:txBody>
      </p:sp>
      <p:sp>
        <p:nvSpPr>
          <p:cNvPr id="15" name="Rounded Rectangle 14"/>
          <p:cNvSpPr/>
          <p:nvPr/>
        </p:nvSpPr>
        <p:spPr>
          <a:xfrm>
            <a:off x="6812280" y="22037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T03</a:t>
            </a:r>
          </a:p>
        </p:txBody>
      </p:sp>
      <p:sp>
        <p:nvSpPr>
          <p:cNvPr id="16" name="TextBox 15"/>
          <p:cNvSpPr txBox="1"/>
          <p:nvPr/>
        </p:nvSpPr>
        <p:spPr>
          <a:xfrm>
            <a:off x="7452360" y="21854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加盟店防衛マネジメント支援</a:t>
            </a:r>
          </a:p>
        </p:txBody>
      </p:sp>
      <p:sp>
        <p:nvSpPr>
          <p:cNvPr id="17" name="TextBox 16"/>
          <p:cNvSpPr txBox="1"/>
          <p:nvPr/>
        </p:nvSpPr>
        <p:spPr>
          <a:xfrm>
            <a:off x="9610344" y="21854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データ分析＋訪問前サマリ型</a:t>
            </a:r>
          </a:p>
        </p:txBody>
      </p:sp>
      <p:sp>
        <p:nvSpPr>
          <p:cNvPr id="18" name="Rounded Rectangle 17"/>
          <p:cNvSpPr/>
          <p:nvPr/>
        </p:nvSpPr>
        <p:spPr>
          <a:xfrm>
            <a:off x="6812280" y="25466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T05</a:t>
            </a:r>
          </a:p>
        </p:txBody>
      </p:sp>
      <p:sp>
        <p:nvSpPr>
          <p:cNvPr id="19" name="TextBox 18"/>
          <p:cNvSpPr txBox="1"/>
          <p:nvPr/>
        </p:nvSpPr>
        <p:spPr>
          <a:xfrm>
            <a:off x="7452360" y="25283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おはようリマインドくん</a:t>
            </a:r>
          </a:p>
        </p:txBody>
      </p:sp>
      <p:sp>
        <p:nvSpPr>
          <p:cNvPr id="20" name="TextBox 19"/>
          <p:cNvSpPr txBox="1"/>
          <p:nvPr/>
        </p:nvSpPr>
        <p:spPr>
          <a:xfrm>
            <a:off x="9610344" y="25283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ワークフロー支援型</a:t>
            </a:r>
          </a:p>
        </p:txBody>
      </p:sp>
      <p:sp>
        <p:nvSpPr>
          <p:cNvPr id="21" name="Rounded Rectangle 20"/>
          <p:cNvSpPr/>
          <p:nvPr/>
        </p:nvSpPr>
        <p:spPr>
          <a:xfrm>
            <a:off x="6812280" y="28895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T06</a:t>
            </a:r>
          </a:p>
        </p:txBody>
      </p:sp>
      <p:sp>
        <p:nvSpPr>
          <p:cNvPr id="22" name="TextBox 21"/>
          <p:cNvSpPr txBox="1"/>
          <p:nvPr/>
        </p:nvSpPr>
        <p:spPr>
          <a:xfrm>
            <a:off x="7452360" y="28712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Forecast ONE</a:t>
            </a:r>
          </a:p>
        </p:txBody>
      </p:sp>
      <p:sp>
        <p:nvSpPr>
          <p:cNvPr id="23" name="TextBox 22"/>
          <p:cNvSpPr txBox="1"/>
          <p:nvPr/>
        </p:nvSpPr>
        <p:spPr>
          <a:xfrm>
            <a:off x="9610344" y="28712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資料作成＋会議通知支援型</a:t>
            </a:r>
          </a:p>
        </p:txBody>
      </p:sp>
      <p:sp>
        <p:nvSpPr>
          <p:cNvPr id="24" name="Rounded Rectangle 23"/>
          <p:cNvSpPr/>
          <p:nvPr/>
        </p:nvSpPr>
        <p:spPr>
          <a:xfrm>
            <a:off x="6812280" y="32324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T07</a:t>
            </a:r>
          </a:p>
        </p:txBody>
      </p:sp>
      <p:sp>
        <p:nvSpPr>
          <p:cNvPr id="25" name="TextBox 24"/>
          <p:cNvSpPr txBox="1"/>
          <p:nvPr/>
        </p:nvSpPr>
        <p:spPr>
          <a:xfrm>
            <a:off x="7452360" y="32141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加盟店課金精算チェック</a:t>
            </a:r>
          </a:p>
        </p:txBody>
      </p:sp>
      <p:sp>
        <p:nvSpPr>
          <p:cNvPr id="26" name="TextBox 25"/>
          <p:cNvSpPr txBox="1"/>
          <p:nvPr/>
        </p:nvSpPr>
        <p:spPr>
          <a:xfrm>
            <a:off x="9610344" y="32141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データ照合型</a:t>
            </a:r>
          </a:p>
        </p:txBody>
      </p:sp>
      <p:sp>
        <p:nvSpPr>
          <p:cNvPr id="27" name="Rounded Rectangle 26"/>
          <p:cNvSpPr/>
          <p:nvPr/>
        </p:nvSpPr>
        <p:spPr>
          <a:xfrm>
            <a:off x="6812280" y="35753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T08</a:t>
            </a:r>
          </a:p>
        </p:txBody>
      </p:sp>
      <p:sp>
        <p:nvSpPr>
          <p:cNvPr id="28" name="TextBox 27"/>
          <p:cNvSpPr txBox="1"/>
          <p:nvPr/>
        </p:nvSpPr>
        <p:spPr>
          <a:xfrm>
            <a:off x="7452360" y="35570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段取AI（会議と依頼整理）</a:t>
            </a:r>
          </a:p>
        </p:txBody>
      </p:sp>
      <p:sp>
        <p:nvSpPr>
          <p:cNvPr id="29" name="TextBox 28"/>
          <p:cNvSpPr txBox="1"/>
          <p:nvPr/>
        </p:nvSpPr>
        <p:spPr>
          <a:xfrm>
            <a:off x="9610344" y="35570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Outlook/Teams連携＋タスク整理型</a:t>
            </a:r>
          </a:p>
        </p:txBody>
      </p:sp>
      <p:sp>
        <p:nvSpPr>
          <p:cNvPr id="30" name="Rounded Rectangle 29"/>
          <p:cNvSpPr/>
          <p:nvPr/>
        </p:nvSpPr>
        <p:spPr>
          <a:xfrm>
            <a:off x="6812280" y="39182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T09</a:t>
            </a:r>
          </a:p>
        </p:txBody>
      </p:sp>
      <p:sp>
        <p:nvSpPr>
          <p:cNvPr id="31" name="TextBox 30"/>
          <p:cNvSpPr txBox="1"/>
          <p:nvPr/>
        </p:nvSpPr>
        <p:spPr>
          <a:xfrm>
            <a:off x="7452360" y="38999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レビュー進捗管理アシスタント</a:t>
            </a:r>
          </a:p>
        </p:txBody>
      </p:sp>
      <p:sp>
        <p:nvSpPr>
          <p:cNvPr id="32" name="TextBox 31"/>
          <p:cNvSpPr txBox="1"/>
          <p:nvPr/>
        </p:nvSpPr>
        <p:spPr>
          <a:xfrm>
            <a:off x="9610344" y="38999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レビュー管理ワークフロー型</a:t>
            </a:r>
          </a:p>
        </p:txBody>
      </p:sp>
      <p:sp>
        <p:nvSpPr>
          <p:cNvPr id="33" name="Rounded Rectangle 32"/>
          <p:cNvSpPr/>
          <p:nvPr/>
        </p:nvSpPr>
        <p:spPr>
          <a:xfrm>
            <a:off x="6812280" y="42611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T10</a:t>
            </a:r>
          </a:p>
        </p:txBody>
      </p:sp>
      <p:sp>
        <p:nvSpPr>
          <p:cNvPr id="34" name="TextBox 33"/>
          <p:cNvSpPr txBox="1"/>
          <p:nvPr/>
        </p:nvSpPr>
        <p:spPr>
          <a:xfrm>
            <a:off x="7452360" y="42428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議事録ドラフト生成エージェント</a:t>
            </a:r>
          </a:p>
        </p:txBody>
      </p:sp>
      <p:sp>
        <p:nvSpPr>
          <p:cNvPr id="35" name="TextBox 34"/>
          <p:cNvSpPr txBox="1"/>
          <p:nvPr/>
        </p:nvSpPr>
        <p:spPr>
          <a:xfrm>
            <a:off x="9610344" y="42428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議事録生成型</a:t>
            </a:r>
          </a:p>
        </p:txBody>
      </p:sp>
      <p:sp>
        <p:nvSpPr>
          <p:cNvPr id="36" name="Rounded Rectangle 35"/>
          <p:cNvSpPr/>
          <p:nvPr/>
        </p:nvSpPr>
        <p:spPr>
          <a:xfrm>
            <a:off x="6812280" y="4604004"/>
            <a:ext cx="566928" cy="237744"/>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T11</a:t>
            </a:r>
          </a:p>
        </p:txBody>
      </p:sp>
      <p:sp>
        <p:nvSpPr>
          <p:cNvPr id="37" name="TextBox 36"/>
          <p:cNvSpPr txBox="1"/>
          <p:nvPr/>
        </p:nvSpPr>
        <p:spPr>
          <a:xfrm>
            <a:off x="7452360" y="4585716"/>
            <a:ext cx="2103120" cy="274320"/>
          </a:xfrm>
          <a:prstGeom prst="rect">
            <a:avLst/>
          </a:prstGeom>
          <a:noFill/>
        </p:spPr>
        <p:txBody>
          <a:bodyPr wrap="square" anchor="ctr" lIns="25400" rIns="25400" tIns="12700" bIns="12700">
            <a:spAutoFit/>
          </a:bodyPr>
          <a:lstStyle/>
          <a:p>
            <a:pPr algn="l">
              <a:lnSpc>
                <a:spcPct val="115000"/>
              </a:lnSpc>
            </a:pPr>
            <a:r>
              <a:rPr sz="900" b="1">
                <a:solidFill>
                  <a:srgbClr val="232323"/>
                </a:solidFill>
              </a:rPr>
              <a:t>社内LAN問い合わせチャットボット</a:t>
            </a:r>
          </a:p>
        </p:txBody>
      </p:sp>
      <p:sp>
        <p:nvSpPr>
          <p:cNvPr id="38" name="TextBox 37"/>
          <p:cNvSpPr txBox="1"/>
          <p:nvPr/>
        </p:nvSpPr>
        <p:spPr>
          <a:xfrm>
            <a:off x="9610344" y="4585716"/>
            <a:ext cx="2468880" cy="274320"/>
          </a:xfrm>
          <a:prstGeom prst="rect">
            <a:avLst/>
          </a:prstGeom>
          <a:noFill/>
        </p:spPr>
        <p:txBody>
          <a:bodyPr wrap="square" anchor="ctr" lIns="25400" rIns="25400" tIns="12700" bIns="12700">
            <a:spAutoFit/>
          </a:bodyPr>
          <a:lstStyle/>
          <a:p>
            <a:pPr algn="l">
              <a:lnSpc>
                <a:spcPct val="115000"/>
              </a:lnSpc>
            </a:pPr>
            <a:r>
              <a:rPr sz="760" b="0">
                <a:solidFill>
                  <a:srgbClr val="595959"/>
                </a:solidFill>
              </a:rPr>
              <a:t>FAQ/ナレッジ参照型</a:t>
            </a:r>
          </a:p>
        </p:txBody>
      </p:sp>
      <p:sp>
        <p:nvSpPr>
          <p:cNvPr id="39" name="Rectangle 38"/>
          <p:cNvSpPr/>
          <p:nvPr/>
        </p:nvSpPr>
        <p:spPr>
          <a:xfrm>
            <a:off x="740664" y="5120640"/>
            <a:ext cx="10716768" cy="11887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5212080"/>
            <a:ext cx="10277856" cy="256032"/>
          </a:xfrm>
          <a:prstGeom prst="rect">
            <a:avLst/>
          </a:prstGeom>
          <a:noFill/>
        </p:spPr>
        <p:txBody>
          <a:bodyPr wrap="square" anchor="t" lIns="25400" rIns="25400" tIns="12700" bIns="12700">
            <a:spAutoFit/>
          </a:bodyPr>
          <a:lstStyle/>
          <a:p>
            <a:pPr algn="l">
              <a:lnSpc>
                <a:spcPct val="115000"/>
              </a:lnSpc>
            </a:pPr>
            <a:r>
              <a:rPr sz="1089" b="1">
                <a:solidFill>
                  <a:srgbClr val="1B5C80"/>
                </a:solidFill>
              </a:rPr>
              <a:t>共通の流れ（全チーム共通のMVP骨格）</a:t>
            </a:r>
          </a:p>
        </p:txBody>
      </p:sp>
      <p:sp>
        <p:nvSpPr>
          <p:cNvPr id="41" name="Rounded Rectangle 40"/>
          <p:cNvSpPr/>
          <p:nvPr/>
        </p:nvSpPr>
        <p:spPr>
          <a:xfrm>
            <a:off x="960120" y="5577840"/>
            <a:ext cx="1883664" cy="475488"/>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利用者 / メンター</a:t>
            </a:r>
          </a:p>
        </p:txBody>
      </p:sp>
      <p:sp>
        <p:nvSpPr>
          <p:cNvPr id="42" name="Right Arrow 41"/>
          <p:cNvSpPr/>
          <p:nvPr/>
        </p:nvSpPr>
        <p:spPr>
          <a:xfrm>
            <a:off x="2889504" y="5715000"/>
            <a:ext cx="182880" cy="201168"/>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118104" y="5577840"/>
            <a:ext cx="1883664" cy="475488"/>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Copilot Studio</a:t>
            </a:r>
          </a:p>
        </p:txBody>
      </p:sp>
      <p:sp>
        <p:nvSpPr>
          <p:cNvPr id="44" name="Right Arrow 43"/>
          <p:cNvSpPr/>
          <p:nvPr/>
        </p:nvSpPr>
        <p:spPr>
          <a:xfrm>
            <a:off x="5047488" y="5715000"/>
            <a:ext cx="182880" cy="201168"/>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276088" y="5577840"/>
            <a:ext cx="1883664" cy="475488"/>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SharePoint / OneDrive</a:t>
            </a:r>
          </a:p>
        </p:txBody>
      </p:sp>
      <p:sp>
        <p:nvSpPr>
          <p:cNvPr id="46" name="Right Arrow 45"/>
          <p:cNvSpPr/>
          <p:nvPr/>
        </p:nvSpPr>
        <p:spPr>
          <a:xfrm>
            <a:off x="7205472" y="5715000"/>
            <a:ext cx="182880" cy="201168"/>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434072" y="5577840"/>
            <a:ext cx="1883664" cy="475488"/>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出力（確認可能な形式1つ）</a:t>
            </a:r>
          </a:p>
        </p:txBody>
      </p:sp>
      <p:sp>
        <p:nvSpPr>
          <p:cNvPr id="48" name="Right Arrow 47"/>
          <p:cNvSpPr/>
          <p:nvPr/>
        </p:nvSpPr>
        <p:spPr>
          <a:xfrm>
            <a:off x="9363456" y="5715000"/>
            <a:ext cx="182880" cy="201168"/>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592056" y="5577840"/>
            <a:ext cx="1883664" cy="475488"/>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人の確認・修正</a:t>
            </a:r>
          </a:p>
        </p:txBody>
      </p:sp>
      <p:sp>
        <p:nvSpPr>
          <p:cNvPr id="50" name="TextBox 49"/>
          <p:cNvSpPr txBox="1"/>
          <p:nvPr/>
        </p:nvSpPr>
        <p:spPr>
          <a:xfrm>
            <a:off x="960120" y="6089904"/>
            <a:ext cx="10277856"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Power Automate（標準範囲）は必要時のみ SharePoint への保存・通知・一覧更新に使う。</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共通制約</a:t>
            </a:r>
          </a:p>
        </p:txBody>
      </p:sp>
      <p:sp>
        <p:nvSpPr>
          <p:cNvPr id="3" name="Text Placeholder 2"/>
          <p:cNvSpPr>
            <a:spLocks noGrp="1"/>
          </p:cNvSpPr>
          <p:nvPr>
            <p:ph type="body" idx="2" sz="half"/>
          </p:nvPr>
        </p:nvSpPr>
        <p:spPr/>
        <p:txBody>
          <a:bodyPr wrap="square" tIns="0" bIns="0"/>
          <a:lstStyle/>
          <a:p>
            <a:r>
              <a:rPr sz="1270">
                <a:solidFill>
                  <a:srgbClr val="595959"/>
                </a:solidFill>
              </a:rPr>
              <a:t>全チーム共通。試作前にこの範囲から外れていないかを必ず確認する</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5</a:t>
            </a:r>
          </a:p>
        </p:txBody>
      </p:sp>
      <p:sp>
        <p:nvSpPr>
          <p:cNvPr id="5" name="Rectangle 4"/>
          <p:cNvSpPr/>
          <p:nvPr/>
        </p:nvSpPr>
        <p:spPr>
          <a:xfrm>
            <a:off x="740664" y="1152144"/>
            <a:ext cx="10716768" cy="40233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25296"/>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1</a:t>
            </a:r>
          </a:p>
        </p:txBody>
      </p:sp>
      <p:sp>
        <p:nvSpPr>
          <p:cNvPr id="7" name="TextBox 6"/>
          <p:cNvSpPr txBox="1"/>
          <p:nvPr/>
        </p:nvSpPr>
        <p:spPr>
          <a:xfrm>
            <a:off x="1252728" y="1152144"/>
            <a:ext cx="10076688" cy="402336"/>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Copilot StudioをMVPに必ず含める。</a:t>
            </a:r>
          </a:p>
        </p:txBody>
      </p:sp>
      <p:sp>
        <p:nvSpPr>
          <p:cNvPr id="8" name="Rectangle 7"/>
          <p:cNvSpPr/>
          <p:nvPr/>
        </p:nvSpPr>
        <p:spPr>
          <a:xfrm>
            <a:off x="740664" y="1595628"/>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2104" y="1668780"/>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2</a:t>
            </a:r>
          </a:p>
        </p:txBody>
      </p:sp>
      <p:sp>
        <p:nvSpPr>
          <p:cNvPr id="10" name="TextBox 9"/>
          <p:cNvSpPr txBox="1"/>
          <p:nvPr/>
        </p:nvSpPr>
        <p:spPr>
          <a:xfrm>
            <a:off x="1252728" y="1595628"/>
            <a:ext cx="10076688" cy="402336"/>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Dataverseは使用しない。</a:t>
            </a:r>
          </a:p>
        </p:txBody>
      </p:sp>
      <p:sp>
        <p:nvSpPr>
          <p:cNvPr id="11" name="Rectangle 10"/>
          <p:cNvSpPr/>
          <p:nvPr/>
        </p:nvSpPr>
        <p:spPr>
          <a:xfrm>
            <a:off x="740664" y="2039112"/>
            <a:ext cx="10716768" cy="40233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2104" y="2112264"/>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3</a:t>
            </a:r>
          </a:p>
        </p:txBody>
      </p:sp>
      <p:sp>
        <p:nvSpPr>
          <p:cNvPr id="13" name="TextBox 12"/>
          <p:cNvSpPr txBox="1"/>
          <p:nvPr/>
        </p:nvSpPr>
        <p:spPr>
          <a:xfrm>
            <a:off x="1252728" y="2039112"/>
            <a:ext cx="10076688" cy="402336"/>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プレミアムコネクタは使用しない。</a:t>
            </a:r>
          </a:p>
        </p:txBody>
      </p:sp>
      <p:sp>
        <p:nvSpPr>
          <p:cNvPr id="14" name="Rectangle 13"/>
          <p:cNvSpPr/>
          <p:nvPr/>
        </p:nvSpPr>
        <p:spPr>
          <a:xfrm>
            <a:off x="740664" y="2482596"/>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2104" y="2555748"/>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4</a:t>
            </a:r>
          </a:p>
        </p:txBody>
      </p:sp>
      <p:sp>
        <p:nvSpPr>
          <p:cNvPr id="16" name="TextBox 15"/>
          <p:cNvSpPr txBox="1"/>
          <p:nvPr/>
        </p:nvSpPr>
        <p:spPr>
          <a:xfrm>
            <a:off x="1252728" y="2482596"/>
            <a:ext cx="10076688" cy="402336"/>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外部接続コネクタ・外部Web/API・スクレイピングは使用しない。</a:t>
            </a:r>
          </a:p>
        </p:txBody>
      </p:sp>
      <p:sp>
        <p:nvSpPr>
          <p:cNvPr id="17" name="Rectangle 16"/>
          <p:cNvSpPr/>
          <p:nvPr/>
        </p:nvSpPr>
        <p:spPr>
          <a:xfrm>
            <a:off x="740664" y="2926080"/>
            <a:ext cx="10716768" cy="40233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2104" y="2999232"/>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5</a:t>
            </a:r>
          </a:p>
        </p:txBody>
      </p:sp>
      <p:sp>
        <p:nvSpPr>
          <p:cNvPr id="19" name="TextBox 18"/>
          <p:cNvSpPr txBox="1"/>
          <p:nvPr/>
        </p:nvSpPr>
        <p:spPr>
          <a:xfrm>
            <a:off x="1252728" y="2926080"/>
            <a:ext cx="10076688" cy="402336"/>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Power BIは使用しない。Excel Power Query、ピボット、SharePointリストビューで代替する。</a:t>
            </a:r>
          </a:p>
        </p:txBody>
      </p:sp>
      <p:sp>
        <p:nvSpPr>
          <p:cNvPr id="20" name="Rectangle 19"/>
          <p:cNvSpPr/>
          <p:nvPr/>
        </p:nvSpPr>
        <p:spPr>
          <a:xfrm>
            <a:off x="740664" y="336956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2104" y="3442716"/>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6</a:t>
            </a:r>
          </a:p>
        </p:txBody>
      </p:sp>
      <p:sp>
        <p:nvSpPr>
          <p:cNvPr id="22" name="TextBox 21"/>
          <p:cNvSpPr txBox="1"/>
          <p:nvPr/>
        </p:nvSpPr>
        <p:spPr>
          <a:xfrm>
            <a:off x="1252728" y="3369564"/>
            <a:ext cx="10076688" cy="402336"/>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Formsは原則使用しない。Copilot Studioの会話入力やアダプティブカードで代替する。</a:t>
            </a:r>
          </a:p>
        </p:txBody>
      </p:sp>
      <p:sp>
        <p:nvSpPr>
          <p:cNvPr id="23" name="Rectangle 22"/>
          <p:cNvSpPr/>
          <p:nvPr/>
        </p:nvSpPr>
        <p:spPr>
          <a:xfrm>
            <a:off x="740664" y="3813048"/>
            <a:ext cx="10716768" cy="40233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3886200"/>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7</a:t>
            </a:r>
          </a:p>
        </p:txBody>
      </p:sp>
      <p:sp>
        <p:nvSpPr>
          <p:cNvPr id="25" name="TextBox 24"/>
          <p:cNvSpPr txBox="1"/>
          <p:nvPr/>
        </p:nvSpPr>
        <p:spPr>
          <a:xfrm>
            <a:off x="1252728" y="3813048"/>
            <a:ext cx="10076688" cy="402336"/>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共有ファイルサーバ直接参照は避け、SharePoint/OneDrive格納を原則とする。</a:t>
            </a:r>
          </a:p>
        </p:txBody>
      </p:sp>
      <p:sp>
        <p:nvSpPr>
          <p:cNvPr id="26" name="Rectangle 25"/>
          <p:cNvSpPr/>
          <p:nvPr/>
        </p:nvSpPr>
        <p:spPr>
          <a:xfrm>
            <a:off x="740664" y="4256532"/>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32104" y="4329684"/>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8</a:t>
            </a:r>
          </a:p>
        </p:txBody>
      </p:sp>
      <p:sp>
        <p:nvSpPr>
          <p:cNvPr id="28" name="TextBox 27"/>
          <p:cNvSpPr txBox="1"/>
          <p:nvPr/>
        </p:nvSpPr>
        <p:spPr>
          <a:xfrm>
            <a:off x="1252728" y="4256532"/>
            <a:ext cx="10076688" cy="402336"/>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個人情報・極秘情報はダミー化、マスキング、人確認で扱う。</a:t>
            </a:r>
          </a:p>
        </p:txBody>
      </p:sp>
      <p:sp>
        <p:nvSpPr>
          <p:cNvPr id="29" name="Rectangle 28"/>
          <p:cNvSpPr/>
          <p:nvPr/>
        </p:nvSpPr>
        <p:spPr>
          <a:xfrm>
            <a:off x="740664" y="4700016"/>
            <a:ext cx="10716768" cy="54864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32104" y="4773168"/>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9</a:t>
            </a:r>
          </a:p>
        </p:txBody>
      </p:sp>
      <p:sp>
        <p:nvSpPr>
          <p:cNvPr id="31" name="TextBox 30"/>
          <p:cNvSpPr txBox="1"/>
          <p:nvPr/>
        </p:nvSpPr>
        <p:spPr>
          <a:xfrm>
            <a:off x="1252728" y="4700016"/>
            <a:ext cx="10076688" cy="548640"/>
          </a:xfrm>
          <a:prstGeom prst="rect">
            <a:avLst/>
          </a:prstGeom>
          <a:noFill/>
        </p:spPr>
        <p:txBody>
          <a:bodyPr wrap="square" anchor="ctr" lIns="25400" rIns="25400" tIns="12700" bIns="12700">
            <a:spAutoFit/>
          </a:bodyPr>
          <a:lstStyle/>
          <a:p>
            <a:pPr algn="l">
              <a:lnSpc>
                <a:spcPct val="120000"/>
              </a:lnSpc>
            </a:pPr>
            <a:r>
              <a:rPr sz="1089" b="1">
                <a:solidFill>
                  <a:srgbClr val="232323"/>
                </a:solidFill>
              </a:rPr>
              <a:t>Power Automate側でエージェントフローを呼び出す場合は When an agent calls the flow を使用する。</a:t>
            </a:r>
          </a:p>
        </p:txBody>
      </p:sp>
      <p:sp>
        <p:nvSpPr>
          <p:cNvPr id="32" name="Rectangle 31"/>
          <p:cNvSpPr/>
          <p:nvPr/>
        </p:nvSpPr>
        <p:spPr>
          <a:xfrm>
            <a:off x="740664" y="4700016"/>
            <a:ext cx="54864" cy="54864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0664" y="5289804"/>
            <a:ext cx="10716768" cy="54864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32104" y="5362956"/>
            <a:ext cx="310896" cy="25603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10</a:t>
            </a:r>
          </a:p>
        </p:txBody>
      </p:sp>
      <p:sp>
        <p:nvSpPr>
          <p:cNvPr id="35" name="TextBox 34"/>
          <p:cNvSpPr txBox="1"/>
          <p:nvPr/>
        </p:nvSpPr>
        <p:spPr>
          <a:xfrm>
            <a:off x="1252728" y="5289804"/>
            <a:ext cx="10076688" cy="548640"/>
          </a:xfrm>
          <a:prstGeom prst="rect">
            <a:avLst/>
          </a:prstGeom>
          <a:noFill/>
        </p:spPr>
        <p:txBody>
          <a:bodyPr wrap="square" anchor="ctr" lIns="25400" rIns="25400" tIns="12700" bIns="12700">
            <a:spAutoFit/>
          </a:bodyPr>
          <a:lstStyle/>
          <a:p>
            <a:pPr algn="l">
              <a:lnSpc>
                <a:spcPct val="120000"/>
              </a:lnSpc>
            </a:pPr>
            <a:r>
              <a:rPr sz="1089" b="1">
                <a:solidFill>
                  <a:srgbClr val="232323"/>
                </a:solidFill>
              </a:rPr>
              <a:t>通常トリガーからエージェントフローを直接呼び出したい場合は、SPOリスト作成、フォルダへのダミーファイル作成、人の確認操作などの間接起動で回避できるか検討する。ただし従量課金を回避できることが確認できる場合に限る。</a:t>
            </a:r>
          </a:p>
        </p:txBody>
      </p:sp>
      <p:sp>
        <p:nvSpPr>
          <p:cNvPr id="36" name="Rectangle 35"/>
          <p:cNvSpPr/>
          <p:nvPr/>
        </p:nvSpPr>
        <p:spPr>
          <a:xfrm>
            <a:off x="740664" y="5289804"/>
            <a:ext cx="54864" cy="54864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共通アーキテクチャ原則</a:t>
            </a:r>
          </a:p>
        </p:txBody>
      </p:sp>
      <p:sp>
        <p:nvSpPr>
          <p:cNvPr id="3" name="Text Placeholder 2"/>
          <p:cNvSpPr>
            <a:spLocks noGrp="1"/>
          </p:cNvSpPr>
          <p:nvPr>
            <p:ph type="body" idx="2" sz="half"/>
          </p:nvPr>
        </p:nvSpPr>
        <p:spPr/>
        <p:txBody>
          <a:bodyPr wrap="square" tIns="0" bIns="0"/>
          <a:lstStyle/>
          <a:p>
            <a:r>
              <a:rPr sz="1270">
                <a:solidFill>
                  <a:srgbClr val="595959"/>
                </a:solidFill>
              </a:rPr>
              <a:t>6原則。MVPは完成版ではなく「一本通して動く」ことを優先する</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6</a:t>
            </a:r>
          </a:p>
        </p:txBody>
      </p:sp>
      <p:pic>
        <p:nvPicPr>
          <p:cNvPr id="5" name="Picture 4" descr="common_architecture_principles.png"/>
          <p:cNvPicPr>
            <a:picLocks noChangeAspect="1"/>
          </p:cNvPicPr>
          <p:nvPr/>
        </p:nvPicPr>
        <p:blipFill>
          <a:blip r:embed="rId2"/>
          <a:stretch>
            <a:fillRect/>
          </a:stretch>
        </p:blipFill>
        <p:spPr>
          <a:xfrm>
            <a:off x="740664" y="1207008"/>
            <a:ext cx="5623558" cy="3749039"/>
          </a:xfrm>
          <a:prstGeom prst="rect">
            <a:avLst/>
          </a:prstGeom>
        </p:spPr>
      </p:pic>
      <p:sp>
        <p:nvSpPr>
          <p:cNvPr id="6" name="Rectangle 5"/>
          <p:cNvSpPr/>
          <p:nvPr/>
        </p:nvSpPr>
        <p:spPr>
          <a:xfrm>
            <a:off x="6547104" y="1207008"/>
            <a:ext cx="5632704" cy="3749039"/>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47104" y="1207008"/>
            <a:ext cx="5632704"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207008"/>
            <a:ext cx="5394960" cy="310896"/>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共通アーキテクチャ原則（V1原文）</a:t>
            </a:r>
          </a:p>
        </p:txBody>
      </p:sp>
      <p:sp>
        <p:nvSpPr>
          <p:cNvPr id="9" name="Rounded Rectangle 8"/>
          <p:cNvSpPr/>
          <p:nvPr/>
        </p:nvSpPr>
        <p:spPr>
          <a:xfrm>
            <a:off x="6711696" y="1709928"/>
            <a:ext cx="310896" cy="274320"/>
          </a:xfrm>
          <a:prstGeom prst="round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1</a:t>
            </a:r>
          </a:p>
        </p:txBody>
      </p:sp>
      <p:sp>
        <p:nvSpPr>
          <p:cNvPr id="10" name="TextBox 9"/>
          <p:cNvSpPr txBox="1"/>
          <p:nvPr/>
        </p:nvSpPr>
        <p:spPr>
          <a:xfrm>
            <a:off x="7132320" y="1627632"/>
            <a:ext cx="4901184" cy="438912"/>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入力・処理・出力を1つに絞る。</a:t>
            </a:r>
          </a:p>
        </p:txBody>
      </p:sp>
      <p:sp>
        <p:nvSpPr>
          <p:cNvPr id="11" name="Rounded Rectangle 10"/>
          <p:cNvSpPr/>
          <p:nvPr/>
        </p:nvSpPr>
        <p:spPr>
          <a:xfrm>
            <a:off x="6711696" y="2258568"/>
            <a:ext cx="310896" cy="274320"/>
          </a:xfrm>
          <a:prstGeom prst="round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2</a:t>
            </a:r>
          </a:p>
        </p:txBody>
      </p:sp>
      <p:sp>
        <p:nvSpPr>
          <p:cNvPr id="12" name="TextBox 11"/>
          <p:cNvSpPr txBox="1"/>
          <p:nvPr/>
        </p:nvSpPr>
        <p:spPr>
          <a:xfrm>
            <a:off x="7132320" y="2176272"/>
            <a:ext cx="4901184" cy="438912"/>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Copilot Studioは、判断・案内・生成・確認支援の中核として使う。</a:t>
            </a:r>
          </a:p>
        </p:txBody>
      </p:sp>
      <p:sp>
        <p:nvSpPr>
          <p:cNvPr id="13" name="Rounded Rectangle 12"/>
          <p:cNvSpPr/>
          <p:nvPr/>
        </p:nvSpPr>
        <p:spPr>
          <a:xfrm>
            <a:off x="6711696" y="2807208"/>
            <a:ext cx="310896" cy="274320"/>
          </a:xfrm>
          <a:prstGeom prst="round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3</a:t>
            </a:r>
          </a:p>
        </p:txBody>
      </p:sp>
      <p:sp>
        <p:nvSpPr>
          <p:cNvPr id="14" name="TextBox 13"/>
          <p:cNvSpPr txBox="1"/>
          <p:nvPr/>
        </p:nvSpPr>
        <p:spPr>
          <a:xfrm>
            <a:off x="7132320" y="2724912"/>
            <a:ext cx="4901184" cy="438912"/>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SharePointはナレッジ、ファイル、リストの標準保管先とする。</a:t>
            </a:r>
          </a:p>
        </p:txBody>
      </p:sp>
      <p:sp>
        <p:nvSpPr>
          <p:cNvPr id="15" name="Rounded Rectangle 14"/>
          <p:cNvSpPr/>
          <p:nvPr/>
        </p:nvSpPr>
        <p:spPr>
          <a:xfrm>
            <a:off x="6711696" y="3355848"/>
            <a:ext cx="310896" cy="274320"/>
          </a:xfrm>
          <a:prstGeom prst="round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4</a:t>
            </a:r>
          </a:p>
        </p:txBody>
      </p:sp>
      <p:sp>
        <p:nvSpPr>
          <p:cNvPr id="16" name="TextBox 15"/>
          <p:cNvSpPr txBox="1"/>
          <p:nvPr/>
        </p:nvSpPr>
        <p:spPr>
          <a:xfrm>
            <a:off x="7132320" y="3273552"/>
            <a:ext cx="4901184" cy="438912"/>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Power Automateは標準コネクタ中心で必要最小限に使う。</a:t>
            </a:r>
          </a:p>
        </p:txBody>
      </p:sp>
      <p:sp>
        <p:nvSpPr>
          <p:cNvPr id="17" name="Rounded Rectangle 16"/>
          <p:cNvSpPr/>
          <p:nvPr/>
        </p:nvSpPr>
        <p:spPr>
          <a:xfrm>
            <a:off x="6711696" y="3904488"/>
            <a:ext cx="310896" cy="274320"/>
          </a:xfrm>
          <a:prstGeom prst="round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5</a:t>
            </a:r>
          </a:p>
        </p:txBody>
      </p:sp>
      <p:sp>
        <p:nvSpPr>
          <p:cNvPr id="18" name="TextBox 17"/>
          <p:cNvSpPr txBox="1"/>
          <p:nvPr/>
        </p:nvSpPr>
        <p:spPr>
          <a:xfrm>
            <a:off x="7132320" y="3822192"/>
            <a:ext cx="4901184" cy="438912"/>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人の確認ポイントを必ず設ける。</a:t>
            </a:r>
          </a:p>
        </p:txBody>
      </p:sp>
      <p:sp>
        <p:nvSpPr>
          <p:cNvPr id="19" name="Rounded Rectangle 18"/>
          <p:cNvSpPr/>
          <p:nvPr/>
        </p:nvSpPr>
        <p:spPr>
          <a:xfrm>
            <a:off x="6711696" y="4453128"/>
            <a:ext cx="310896" cy="274320"/>
          </a:xfrm>
          <a:prstGeom prst="round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232323"/>
                </a:solidFill>
              </a:rPr>
              <a:t>6</a:t>
            </a:r>
          </a:p>
        </p:txBody>
      </p:sp>
      <p:sp>
        <p:nvSpPr>
          <p:cNvPr id="20" name="TextBox 19"/>
          <p:cNvSpPr txBox="1"/>
          <p:nvPr/>
        </p:nvSpPr>
        <p:spPr>
          <a:xfrm>
            <a:off x="7132320" y="4370832"/>
            <a:ext cx="4901184" cy="438912"/>
          </a:xfrm>
          <a:prstGeom prst="rect">
            <a:avLst/>
          </a:prstGeom>
          <a:noFill/>
        </p:spPr>
        <p:txBody>
          <a:bodyPr wrap="square" anchor="ctr" lIns="25400" rIns="25400" tIns="12700" bIns="12700">
            <a:spAutoFit/>
          </a:bodyPr>
          <a:lstStyle/>
          <a:p>
            <a:pPr algn="l">
              <a:lnSpc>
                <a:spcPct val="120000"/>
              </a:lnSpc>
            </a:pPr>
            <a:r>
              <a:rPr sz="1089" b="0">
                <a:solidFill>
                  <a:srgbClr val="232323"/>
                </a:solidFill>
              </a:rPr>
              <a:t>8月MVPは完成版ではなく、一本通して動くことを優先する。</a:t>
            </a:r>
          </a:p>
        </p:txBody>
      </p:sp>
      <p:sp>
        <p:nvSpPr>
          <p:cNvPr id="21" name="TextBox 20"/>
          <p:cNvSpPr txBox="1"/>
          <p:nvPr/>
        </p:nvSpPr>
        <p:spPr>
          <a:xfrm>
            <a:off x="740664" y="4992624"/>
            <a:ext cx="5669280"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画像はV1をそのまま掲載（再生成・簡略化なし）</a:t>
            </a:r>
          </a:p>
        </p:txBody>
      </p:sp>
      <p:sp>
        <p:nvSpPr>
          <p:cNvPr id="22" name="Rectangle 21"/>
          <p:cNvSpPr/>
          <p:nvPr/>
        </p:nvSpPr>
        <p:spPr>
          <a:xfrm>
            <a:off x="740664" y="5230368"/>
            <a:ext cx="10716768" cy="1078992"/>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303520"/>
            <a:ext cx="10277856" cy="237744"/>
          </a:xfrm>
          <a:prstGeom prst="rect">
            <a:avLst/>
          </a:prstGeom>
          <a:noFill/>
        </p:spPr>
        <p:txBody>
          <a:bodyPr wrap="square" anchor="t" lIns="25400" rIns="25400" tIns="12700" bIns="12700">
            <a:spAutoFit/>
          </a:bodyPr>
          <a:lstStyle/>
          <a:p>
            <a:pPr algn="l">
              <a:lnSpc>
                <a:spcPct val="115000"/>
              </a:lnSpc>
            </a:pPr>
            <a:r>
              <a:rPr sz="1089" b="1">
                <a:solidFill>
                  <a:srgbClr val="1B5C80"/>
                </a:solidFill>
              </a:rPr>
              <a:t>メンターレビュー確認リスト（試作後にこの観点で確認する）</a:t>
            </a:r>
          </a:p>
        </p:txBody>
      </p:sp>
      <p:sp>
        <p:nvSpPr>
          <p:cNvPr id="24" name="TextBox 23"/>
          <p:cNvSpPr txBox="1"/>
          <p:nvPr/>
        </p:nvSpPr>
        <p:spPr>
          <a:xfrm>
            <a:off x="960120" y="5577840"/>
            <a:ext cx="5138928" cy="676656"/>
          </a:xfrm>
          <a:prstGeom prst="rect">
            <a:avLst/>
          </a:prstGeom>
          <a:noFill/>
        </p:spPr>
        <p:txBody>
          <a:bodyPr wrap="square" anchor="t" lIns="25400" rIns="25400" tIns="12700" bIns="12700">
            <a:spAutoFit/>
          </a:bodyPr>
          <a:lstStyle/>
          <a:p>
            <a:pPr algn="l">
              <a:lnSpc>
                <a:spcPct val="118000"/>
              </a:lnSpc>
            </a:pPr>
            <a:r>
              <a:rPr sz="900" b="0">
                <a:solidFill>
                  <a:srgbClr val="232323"/>
                </a:solidFill>
              </a:rPr>
              <a:t>□ MVPは1つの入力→処理→出力に絞れているか</a:t>
            </a:r>
          </a:p>
          <a:p>
            <a:pPr algn="l">
              <a:lnSpc>
                <a:spcPct val="118000"/>
              </a:lnSpc>
            </a:pPr>
            <a:r>
              <a:rPr sz="900" b="0">
                <a:solidFill>
                  <a:srgbClr val="232323"/>
                </a:solidFill>
              </a:rPr>
              <a:t>□ Copilot Studioの価値が明確か</a:t>
            </a:r>
          </a:p>
          <a:p>
            <a:pPr algn="l">
              <a:lnSpc>
                <a:spcPct val="118000"/>
              </a:lnSpc>
            </a:pPr>
            <a:r>
              <a:rPr sz="900" b="0">
                <a:solidFill>
                  <a:srgbClr val="232323"/>
                </a:solidFill>
              </a:rPr>
              <a:t>□ SharePoint格納場所が定義されているか</a:t>
            </a:r>
          </a:p>
          <a:p>
            <a:pPr algn="l">
              <a:lnSpc>
                <a:spcPct val="118000"/>
              </a:lnSpc>
            </a:pPr>
            <a:r>
              <a:rPr sz="900" b="0">
                <a:solidFill>
                  <a:srgbClr val="232323"/>
                </a:solidFill>
              </a:rPr>
              <a:t>□ 人の確認ポイントがあるか</a:t>
            </a:r>
          </a:p>
        </p:txBody>
      </p:sp>
      <p:sp>
        <p:nvSpPr>
          <p:cNvPr id="25" name="TextBox 24"/>
          <p:cNvSpPr txBox="1"/>
          <p:nvPr/>
        </p:nvSpPr>
        <p:spPr>
          <a:xfrm>
            <a:off x="6281928" y="5577840"/>
            <a:ext cx="5138928" cy="676656"/>
          </a:xfrm>
          <a:prstGeom prst="rect">
            <a:avLst/>
          </a:prstGeom>
          <a:noFill/>
        </p:spPr>
        <p:txBody>
          <a:bodyPr wrap="square" anchor="t" lIns="25400" rIns="25400" tIns="12700" bIns="12700">
            <a:spAutoFit/>
          </a:bodyPr>
          <a:lstStyle/>
          <a:p>
            <a:pPr algn="l">
              <a:lnSpc>
                <a:spcPct val="118000"/>
              </a:lnSpc>
            </a:pPr>
            <a:r>
              <a:rPr sz="900" b="0">
                <a:solidFill>
                  <a:srgbClr val="232323"/>
                </a:solidFill>
              </a:rPr>
              <a:t>□ 個人情報・機密情報を使わないダミーデータで試せるか</a:t>
            </a:r>
          </a:p>
          <a:p>
            <a:pPr algn="l">
              <a:lnSpc>
                <a:spcPct val="118000"/>
              </a:lnSpc>
            </a:pPr>
            <a:r>
              <a:rPr sz="900" b="0">
                <a:solidFill>
                  <a:srgbClr val="232323"/>
                </a:solidFill>
              </a:rPr>
              <a:t>□ Power Automateが過剰になっていないか</a:t>
            </a:r>
          </a:p>
          <a:p>
            <a:pPr algn="l">
              <a:lnSpc>
                <a:spcPct val="118000"/>
              </a:lnSpc>
            </a:pPr>
            <a:r>
              <a:rPr sz="900" b="0">
                <a:solidFill>
                  <a:srgbClr val="232323"/>
                </a:solidFill>
              </a:rPr>
              <a:t>□ エラー時の人手対応が想定されているか</a:t>
            </a:r>
          </a:p>
          <a:p>
            <a:pPr algn="l">
              <a:lnSpc>
                <a:spcPct val="118000"/>
              </a:lnSpc>
            </a:pPr>
            <a:r>
              <a:rPr sz="900" b="0">
                <a:solidFill>
                  <a:srgbClr val="232323"/>
                </a:solidFill>
              </a:rPr>
              <a:t>□ 8月中に一本通せる粒度か</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利用アプリ方針</a:t>
            </a:r>
          </a:p>
        </p:txBody>
      </p:sp>
      <p:sp>
        <p:nvSpPr>
          <p:cNvPr id="3" name="Text Placeholder 2"/>
          <p:cNvSpPr>
            <a:spLocks noGrp="1"/>
          </p:cNvSpPr>
          <p:nvPr>
            <p:ph type="body" idx="2" sz="half"/>
          </p:nvPr>
        </p:nvSpPr>
        <p:spPr/>
        <p:txBody>
          <a:bodyPr wrap="square" tIns="0" bIns="0"/>
          <a:lstStyle/>
          <a:p>
            <a:r>
              <a:rPr sz="1270">
                <a:solidFill>
                  <a:srgbClr val="595959"/>
                </a:solidFill>
              </a:rPr>
              <a:t>MVPは M365 標準の範囲で構成する。禁止側は代替手段までセットで押さえる</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7</a:t>
            </a:r>
          </a:p>
        </p:txBody>
      </p:sp>
      <p:sp>
        <p:nvSpPr>
          <p:cNvPr id="5" name="Rectangle 4"/>
          <p:cNvSpPr/>
          <p:nvPr/>
        </p:nvSpPr>
        <p:spPr>
          <a:xfrm>
            <a:off x="740664" y="1170432"/>
            <a:ext cx="6711696" cy="38039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1170432"/>
            <a:ext cx="6711696"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170432"/>
            <a:ext cx="6492240" cy="310896"/>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利用可</a:t>
            </a:r>
          </a:p>
        </p:txBody>
      </p:sp>
      <p:pic>
        <p:nvPicPr>
          <p:cNvPr id="8" name="Picture 7" descr="image.png"/>
          <p:cNvPicPr>
            <a:picLocks noChangeAspect="1"/>
          </p:cNvPicPr>
          <p:nvPr/>
        </p:nvPicPr>
        <p:blipFill>
          <a:blip r:embed="rId2"/>
          <a:stretch>
            <a:fillRect/>
          </a:stretch>
        </p:blipFill>
        <p:spPr>
          <a:xfrm>
            <a:off x="923544" y="1572768"/>
            <a:ext cx="238687" cy="237744"/>
          </a:xfrm>
          <a:prstGeom prst="rect">
            <a:avLst/>
          </a:prstGeom>
        </p:spPr>
      </p:pic>
      <p:sp>
        <p:nvSpPr>
          <p:cNvPr id="9" name="TextBox 8"/>
          <p:cNvSpPr txBox="1"/>
          <p:nvPr/>
        </p:nvSpPr>
        <p:spPr>
          <a:xfrm>
            <a:off x="1271016" y="1536192"/>
            <a:ext cx="1554480" cy="292608"/>
          </a:xfrm>
          <a:prstGeom prst="rect">
            <a:avLst/>
          </a:prstGeom>
          <a:noFill/>
        </p:spPr>
        <p:txBody>
          <a:bodyPr wrap="square" anchor="ctr" lIns="25400" rIns="25400" tIns="12700" bIns="12700">
            <a:spAutoFit/>
          </a:bodyPr>
          <a:lstStyle/>
          <a:p>
            <a:pPr algn="l">
              <a:lnSpc>
                <a:spcPct val="115000"/>
              </a:lnSpc>
            </a:pPr>
            <a:r>
              <a:rPr sz="1089" b="1">
                <a:solidFill>
                  <a:srgbClr val="232323"/>
                </a:solidFill>
              </a:rPr>
              <a:t>Copilot Studio</a:t>
            </a:r>
          </a:p>
        </p:txBody>
      </p:sp>
      <p:sp>
        <p:nvSpPr>
          <p:cNvPr id="10" name="TextBox 9"/>
          <p:cNvSpPr txBox="1"/>
          <p:nvPr/>
        </p:nvSpPr>
        <p:spPr>
          <a:xfrm>
            <a:off x="2880360" y="1536192"/>
            <a:ext cx="4443984" cy="292608"/>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判断・案内・生成・確認支援の中核（MVPに必ず含める）</a:t>
            </a:r>
          </a:p>
        </p:txBody>
      </p:sp>
      <p:pic>
        <p:nvPicPr>
          <p:cNvPr id="11" name="Picture 10" descr="image.png"/>
          <p:cNvPicPr>
            <a:picLocks noChangeAspect="1"/>
          </p:cNvPicPr>
          <p:nvPr/>
        </p:nvPicPr>
        <p:blipFill>
          <a:blip r:embed="rId3"/>
          <a:stretch>
            <a:fillRect/>
          </a:stretch>
        </p:blipFill>
        <p:spPr>
          <a:xfrm>
            <a:off x="923544" y="1938528"/>
            <a:ext cx="237744" cy="237744"/>
          </a:xfrm>
          <a:prstGeom prst="rect">
            <a:avLst/>
          </a:prstGeom>
        </p:spPr>
      </p:pic>
      <p:sp>
        <p:nvSpPr>
          <p:cNvPr id="12" name="TextBox 11"/>
          <p:cNvSpPr txBox="1"/>
          <p:nvPr/>
        </p:nvSpPr>
        <p:spPr>
          <a:xfrm>
            <a:off x="1271016" y="1901952"/>
            <a:ext cx="1554480" cy="292608"/>
          </a:xfrm>
          <a:prstGeom prst="rect">
            <a:avLst/>
          </a:prstGeom>
          <a:noFill/>
        </p:spPr>
        <p:txBody>
          <a:bodyPr wrap="square" anchor="ctr" lIns="25400" rIns="25400" tIns="12700" bIns="12700">
            <a:spAutoFit/>
          </a:bodyPr>
          <a:lstStyle/>
          <a:p>
            <a:pPr algn="l">
              <a:lnSpc>
                <a:spcPct val="115000"/>
              </a:lnSpc>
            </a:pPr>
            <a:r>
              <a:rPr sz="1089" b="1">
                <a:solidFill>
                  <a:srgbClr val="232323"/>
                </a:solidFill>
              </a:rPr>
              <a:t>Power Automate</a:t>
            </a:r>
          </a:p>
        </p:txBody>
      </p:sp>
      <p:sp>
        <p:nvSpPr>
          <p:cNvPr id="13" name="TextBox 12"/>
          <p:cNvSpPr txBox="1"/>
          <p:nvPr/>
        </p:nvSpPr>
        <p:spPr>
          <a:xfrm>
            <a:off x="2880360" y="1901952"/>
            <a:ext cx="4443984" cy="292608"/>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標準範囲。保存・通知・一覧更新を必要最小限で使う</a:t>
            </a:r>
          </a:p>
        </p:txBody>
      </p:sp>
      <p:pic>
        <p:nvPicPr>
          <p:cNvPr id="14" name="Picture 13" descr="image.png"/>
          <p:cNvPicPr>
            <a:picLocks noChangeAspect="1"/>
          </p:cNvPicPr>
          <p:nvPr/>
        </p:nvPicPr>
        <p:blipFill>
          <a:blip r:embed="rId4"/>
          <a:stretch>
            <a:fillRect/>
          </a:stretch>
        </p:blipFill>
        <p:spPr>
          <a:xfrm>
            <a:off x="923544" y="2304288"/>
            <a:ext cx="237744" cy="237744"/>
          </a:xfrm>
          <a:prstGeom prst="rect">
            <a:avLst/>
          </a:prstGeom>
        </p:spPr>
      </p:pic>
      <p:sp>
        <p:nvSpPr>
          <p:cNvPr id="15" name="TextBox 14"/>
          <p:cNvSpPr txBox="1"/>
          <p:nvPr/>
        </p:nvSpPr>
        <p:spPr>
          <a:xfrm>
            <a:off x="1271016" y="2267712"/>
            <a:ext cx="1554480" cy="292608"/>
          </a:xfrm>
          <a:prstGeom prst="rect">
            <a:avLst/>
          </a:prstGeom>
          <a:noFill/>
        </p:spPr>
        <p:txBody>
          <a:bodyPr wrap="square" anchor="ctr" lIns="25400" rIns="25400" tIns="12700" bIns="12700">
            <a:spAutoFit/>
          </a:bodyPr>
          <a:lstStyle/>
          <a:p>
            <a:pPr algn="l">
              <a:lnSpc>
                <a:spcPct val="115000"/>
              </a:lnSpc>
            </a:pPr>
            <a:r>
              <a:rPr sz="1089" b="1">
                <a:solidFill>
                  <a:srgbClr val="232323"/>
                </a:solidFill>
              </a:rPr>
              <a:t>SharePoint</a:t>
            </a:r>
          </a:p>
        </p:txBody>
      </p:sp>
      <p:sp>
        <p:nvSpPr>
          <p:cNvPr id="16" name="TextBox 15"/>
          <p:cNvSpPr txBox="1"/>
          <p:nvPr/>
        </p:nvSpPr>
        <p:spPr>
          <a:xfrm>
            <a:off x="2880360" y="2267712"/>
            <a:ext cx="4443984" cy="292608"/>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ナレッジ・ファイル・リストの標準保管先</a:t>
            </a:r>
          </a:p>
        </p:txBody>
      </p:sp>
      <p:pic>
        <p:nvPicPr>
          <p:cNvPr id="17" name="Picture 16" descr="image.png"/>
          <p:cNvPicPr>
            <a:picLocks noChangeAspect="1"/>
          </p:cNvPicPr>
          <p:nvPr/>
        </p:nvPicPr>
        <p:blipFill>
          <a:blip r:embed="rId5"/>
          <a:stretch>
            <a:fillRect/>
          </a:stretch>
        </p:blipFill>
        <p:spPr>
          <a:xfrm>
            <a:off x="923544" y="2670048"/>
            <a:ext cx="237744" cy="237744"/>
          </a:xfrm>
          <a:prstGeom prst="rect">
            <a:avLst/>
          </a:prstGeom>
        </p:spPr>
      </p:pic>
      <p:sp>
        <p:nvSpPr>
          <p:cNvPr id="18" name="TextBox 17"/>
          <p:cNvSpPr txBox="1"/>
          <p:nvPr/>
        </p:nvSpPr>
        <p:spPr>
          <a:xfrm>
            <a:off x="1271016" y="2633472"/>
            <a:ext cx="1554480" cy="292608"/>
          </a:xfrm>
          <a:prstGeom prst="rect">
            <a:avLst/>
          </a:prstGeom>
          <a:noFill/>
        </p:spPr>
        <p:txBody>
          <a:bodyPr wrap="square" anchor="ctr" lIns="25400" rIns="25400" tIns="12700" bIns="12700">
            <a:spAutoFit/>
          </a:bodyPr>
          <a:lstStyle/>
          <a:p>
            <a:pPr algn="l">
              <a:lnSpc>
                <a:spcPct val="115000"/>
              </a:lnSpc>
            </a:pPr>
            <a:r>
              <a:rPr sz="1089" b="1">
                <a:solidFill>
                  <a:srgbClr val="232323"/>
                </a:solidFill>
              </a:rPr>
              <a:t>OneDrive</a:t>
            </a:r>
          </a:p>
        </p:txBody>
      </p:sp>
      <p:sp>
        <p:nvSpPr>
          <p:cNvPr id="19" name="TextBox 18"/>
          <p:cNvSpPr txBox="1"/>
          <p:nvPr/>
        </p:nvSpPr>
        <p:spPr>
          <a:xfrm>
            <a:off x="2880360" y="2633472"/>
            <a:ext cx="4443984" cy="292608"/>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OneDrive for Business。入力資料の集約先</a:t>
            </a:r>
          </a:p>
        </p:txBody>
      </p:sp>
      <p:pic>
        <p:nvPicPr>
          <p:cNvPr id="20" name="Picture 19" descr="image.png"/>
          <p:cNvPicPr>
            <a:picLocks noChangeAspect="1"/>
          </p:cNvPicPr>
          <p:nvPr/>
        </p:nvPicPr>
        <p:blipFill>
          <a:blip r:embed="rId6"/>
          <a:stretch>
            <a:fillRect/>
          </a:stretch>
        </p:blipFill>
        <p:spPr>
          <a:xfrm>
            <a:off x="923544" y="3035808"/>
            <a:ext cx="237744" cy="237744"/>
          </a:xfrm>
          <a:prstGeom prst="rect">
            <a:avLst/>
          </a:prstGeom>
        </p:spPr>
      </p:pic>
      <p:sp>
        <p:nvSpPr>
          <p:cNvPr id="21" name="TextBox 20"/>
          <p:cNvSpPr txBox="1"/>
          <p:nvPr/>
        </p:nvSpPr>
        <p:spPr>
          <a:xfrm>
            <a:off x="1271016" y="2999232"/>
            <a:ext cx="1554480" cy="292608"/>
          </a:xfrm>
          <a:prstGeom prst="rect">
            <a:avLst/>
          </a:prstGeom>
          <a:noFill/>
        </p:spPr>
        <p:txBody>
          <a:bodyPr wrap="square" anchor="ctr" lIns="25400" rIns="25400" tIns="12700" bIns="12700">
            <a:spAutoFit/>
          </a:bodyPr>
          <a:lstStyle/>
          <a:p>
            <a:pPr algn="l">
              <a:lnSpc>
                <a:spcPct val="115000"/>
              </a:lnSpc>
            </a:pPr>
            <a:r>
              <a:rPr sz="1089" b="1">
                <a:solidFill>
                  <a:srgbClr val="232323"/>
                </a:solidFill>
              </a:rPr>
              <a:t>Teams</a:t>
            </a:r>
          </a:p>
        </p:txBody>
      </p:sp>
      <p:sp>
        <p:nvSpPr>
          <p:cNvPr id="22" name="TextBox 21"/>
          <p:cNvSpPr txBox="1"/>
          <p:nvPr/>
        </p:nvSpPr>
        <p:spPr>
          <a:xfrm>
            <a:off x="2880360" y="2999232"/>
            <a:ext cx="4443984" cy="292608"/>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通知・共有・文字起こしの取得元</a:t>
            </a:r>
          </a:p>
        </p:txBody>
      </p:sp>
      <p:pic>
        <p:nvPicPr>
          <p:cNvPr id="23" name="Picture 22" descr="image.png"/>
          <p:cNvPicPr>
            <a:picLocks noChangeAspect="1"/>
          </p:cNvPicPr>
          <p:nvPr/>
        </p:nvPicPr>
        <p:blipFill>
          <a:blip r:embed="rId7"/>
          <a:stretch>
            <a:fillRect/>
          </a:stretch>
        </p:blipFill>
        <p:spPr>
          <a:xfrm>
            <a:off x="923544" y="3401568"/>
            <a:ext cx="237744" cy="237744"/>
          </a:xfrm>
          <a:prstGeom prst="rect">
            <a:avLst/>
          </a:prstGeom>
        </p:spPr>
      </p:pic>
      <p:sp>
        <p:nvSpPr>
          <p:cNvPr id="24" name="TextBox 23"/>
          <p:cNvSpPr txBox="1"/>
          <p:nvPr/>
        </p:nvSpPr>
        <p:spPr>
          <a:xfrm>
            <a:off x="1271016" y="3364992"/>
            <a:ext cx="1554480" cy="292608"/>
          </a:xfrm>
          <a:prstGeom prst="rect">
            <a:avLst/>
          </a:prstGeom>
          <a:noFill/>
        </p:spPr>
        <p:txBody>
          <a:bodyPr wrap="square" anchor="ctr" lIns="25400" rIns="25400" tIns="12700" bIns="12700">
            <a:spAutoFit/>
          </a:bodyPr>
          <a:lstStyle/>
          <a:p>
            <a:pPr algn="l">
              <a:lnSpc>
                <a:spcPct val="115000"/>
              </a:lnSpc>
            </a:pPr>
            <a:r>
              <a:rPr sz="1089" b="1">
                <a:solidFill>
                  <a:srgbClr val="232323"/>
                </a:solidFill>
              </a:rPr>
              <a:t>Outlook</a:t>
            </a:r>
          </a:p>
        </p:txBody>
      </p:sp>
      <p:sp>
        <p:nvSpPr>
          <p:cNvPr id="25" name="TextBox 24"/>
          <p:cNvSpPr txBox="1"/>
          <p:nvPr/>
        </p:nvSpPr>
        <p:spPr>
          <a:xfrm>
            <a:off x="2880360" y="3364992"/>
            <a:ext cx="4443984" cy="292608"/>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メール文案の送信（人の確認後）</a:t>
            </a:r>
          </a:p>
        </p:txBody>
      </p:sp>
      <p:pic>
        <p:nvPicPr>
          <p:cNvPr id="26" name="Picture 25" descr="image.png"/>
          <p:cNvPicPr>
            <a:picLocks noChangeAspect="1"/>
          </p:cNvPicPr>
          <p:nvPr/>
        </p:nvPicPr>
        <p:blipFill>
          <a:blip r:embed="rId8"/>
          <a:stretch>
            <a:fillRect/>
          </a:stretch>
        </p:blipFill>
        <p:spPr>
          <a:xfrm>
            <a:off x="923544" y="3767328"/>
            <a:ext cx="237744" cy="237744"/>
          </a:xfrm>
          <a:prstGeom prst="rect">
            <a:avLst/>
          </a:prstGeom>
        </p:spPr>
      </p:pic>
      <p:sp>
        <p:nvSpPr>
          <p:cNvPr id="27" name="TextBox 26"/>
          <p:cNvSpPr txBox="1"/>
          <p:nvPr/>
        </p:nvSpPr>
        <p:spPr>
          <a:xfrm>
            <a:off x="1271016" y="3730752"/>
            <a:ext cx="1554480" cy="292608"/>
          </a:xfrm>
          <a:prstGeom prst="rect">
            <a:avLst/>
          </a:prstGeom>
          <a:noFill/>
        </p:spPr>
        <p:txBody>
          <a:bodyPr wrap="square" anchor="ctr" lIns="25400" rIns="25400" tIns="12700" bIns="12700">
            <a:spAutoFit/>
          </a:bodyPr>
          <a:lstStyle/>
          <a:p>
            <a:pPr algn="l">
              <a:lnSpc>
                <a:spcPct val="115000"/>
              </a:lnSpc>
            </a:pPr>
            <a:r>
              <a:rPr sz="1089" b="1">
                <a:solidFill>
                  <a:srgbClr val="232323"/>
                </a:solidFill>
              </a:rPr>
              <a:t>Excel</a:t>
            </a:r>
          </a:p>
        </p:txBody>
      </p:sp>
      <p:sp>
        <p:nvSpPr>
          <p:cNvPr id="28" name="TextBox 27"/>
          <p:cNvSpPr txBox="1"/>
          <p:nvPr/>
        </p:nvSpPr>
        <p:spPr>
          <a:xfrm>
            <a:off x="2880360" y="3730752"/>
            <a:ext cx="4443984" cy="292608"/>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整形・集計。Power Query／ピボットで代替</a:t>
            </a:r>
          </a:p>
        </p:txBody>
      </p:sp>
      <p:pic>
        <p:nvPicPr>
          <p:cNvPr id="29" name="Picture 28" descr="image.png"/>
          <p:cNvPicPr>
            <a:picLocks noChangeAspect="1"/>
          </p:cNvPicPr>
          <p:nvPr/>
        </p:nvPicPr>
        <p:blipFill>
          <a:blip r:embed="rId9"/>
          <a:stretch>
            <a:fillRect/>
          </a:stretch>
        </p:blipFill>
        <p:spPr>
          <a:xfrm>
            <a:off x="923544" y="4133088"/>
            <a:ext cx="237744" cy="237744"/>
          </a:xfrm>
          <a:prstGeom prst="rect">
            <a:avLst/>
          </a:prstGeom>
        </p:spPr>
      </p:pic>
      <p:sp>
        <p:nvSpPr>
          <p:cNvPr id="30" name="TextBox 29"/>
          <p:cNvSpPr txBox="1"/>
          <p:nvPr/>
        </p:nvSpPr>
        <p:spPr>
          <a:xfrm>
            <a:off x="1271016" y="4096512"/>
            <a:ext cx="1554480" cy="292608"/>
          </a:xfrm>
          <a:prstGeom prst="rect">
            <a:avLst/>
          </a:prstGeom>
          <a:noFill/>
        </p:spPr>
        <p:txBody>
          <a:bodyPr wrap="square" anchor="ctr" lIns="25400" rIns="25400" tIns="12700" bIns="12700">
            <a:spAutoFit/>
          </a:bodyPr>
          <a:lstStyle/>
          <a:p>
            <a:pPr algn="l">
              <a:lnSpc>
                <a:spcPct val="115000"/>
              </a:lnSpc>
            </a:pPr>
            <a:r>
              <a:rPr sz="1089" b="1">
                <a:solidFill>
                  <a:srgbClr val="232323"/>
                </a:solidFill>
              </a:rPr>
              <a:t>Word</a:t>
            </a:r>
          </a:p>
        </p:txBody>
      </p:sp>
      <p:sp>
        <p:nvSpPr>
          <p:cNvPr id="31" name="TextBox 30"/>
          <p:cNvSpPr txBox="1"/>
          <p:nvPr/>
        </p:nvSpPr>
        <p:spPr>
          <a:xfrm>
            <a:off x="2880360" y="4096512"/>
            <a:ext cx="4443984" cy="292608"/>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議事録・ドラフトの出力先</a:t>
            </a:r>
          </a:p>
        </p:txBody>
      </p:sp>
      <p:pic>
        <p:nvPicPr>
          <p:cNvPr id="32" name="Picture 31" descr="image.png"/>
          <p:cNvPicPr>
            <a:picLocks noChangeAspect="1"/>
          </p:cNvPicPr>
          <p:nvPr/>
        </p:nvPicPr>
        <p:blipFill>
          <a:blip r:embed="rId10"/>
          <a:stretch>
            <a:fillRect/>
          </a:stretch>
        </p:blipFill>
        <p:spPr>
          <a:xfrm>
            <a:off x="923544" y="4498848"/>
            <a:ext cx="237744" cy="237744"/>
          </a:xfrm>
          <a:prstGeom prst="rect">
            <a:avLst/>
          </a:prstGeom>
        </p:spPr>
      </p:pic>
      <p:sp>
        <p:nvSpPr>
          <p:cNvPr id="33" name="TextBox 32"/>
          <p:cNvSpPr txBox="1"/>
          <p:nvPr/>
        </p:nvSpPr>
        <p:spPr>
          <a:xfrm>
            <a:off x="1271016" y="4462272"/>
            <a:ext cx="1554480" cy="292608"/>
          </a:xfrm>
          <a:prstGeom prst="rect">
            <a:avLst/>
          </a:prstGeom>
          <a:noFill/>
        </p:spPr>
        <p:txBody>
          <a:bodyPr wrap="square" anchor="ctr" lIns="25400" rIns="25400" tIns="12700" bIns="12700">
            <a:spAutoFit/>
          </a:bodyPr>
          <a:lstStyle/>
          <a:p>
            <a:pPr algn="l">
              <a:lnSpc>
                <a:spcPct val="115000"/>
              </a:lnSpc>
            </a:pPr>
            <a:r>
              <a:rPr sz="1089" b="1">
                <a:solidFill>
                  <a:srgbClr val="232323"/>
                </a:solidFill>
              </a:rPr>
              <a:t>PowerPoint</a:t>
            </a:r>
          </a:p>
        </p:txBody>
      </p:sp>
      <p:sp>
        <p:nvSpPr>
          <p:cNvPr id="34" name="TextBox 33"/>
          <p:cNvSpPr txBox="1"/>
          <p:nvPr/>
        </p:nvSpPr>
        <p:spPr>
          <a:xfrm>
            <a:off x="2880360" y="4462272"/>
            <a:ext cx="4443984" cy="292608"/>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資料ドラフトの要点・構成案の出力先</a:t>
            </a:r>
          </a:p>
        </p:txBody>
      </p:sp>
      <p:sp>
        <p:nvSpPr>
          <p:cNvPr id="35" name="Rectangle 34"/>
          <p:cNvSpPr/>
          <p:nvPr/>
        </p:nvSpPr>
        <p:spPr>
          <a:xfrm>
            <a:off x="7598664" y="1170432"/>
            <a:ext cx="3858768" cy="3803904"/>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98664" y="1170432"/>
            <a:ext cx="3858768"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08392" y="1170432"/>
            <a:ext cx="3639312" cy="310896"/>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原則使わない（代替手段）</a:t>
            </a:r>
          </a:p>
        </p:txBody>
      </p:sp>
      <p:sp>
        <p:nvSpPr>
          <p:cNvPr id="38" name="TextBox 37"/>
          <p:cNvSpPr txBox="1"/>
          <p:nvPr/>
        </p:nvSpPr>
        <p:spPr>
          <a:xfrm>
            <a:off x="7763256" y="1536192"/>
            <a:ext cx="3529584" cy="237744"/>
          </a:xfrm>
          <a:prstGeom prst="rect">
            <a:avLst/>
          </a:prstGeom>
          <a:noFill/>
        </p:spPr>
        <p:txBody>
          <a:bodyPr wrap="square" anchor="t" lIns="25400" rIns="25400" tIns="12700" bIns="12700">
            <a:spAutoFit/>
          </a:bodyPr>
          <a:lstStyle/>
          <a:p>
            <a:pPr algn="l">
              <a:lnSpc>
                <a:spcPct val="115000"/>
              </a:lnSpc>
            </a:pPr>
            <a:r>
              <a:rPr sz="1089" b="1">
                <a:solidFill>
                  <a:srgbClr val="232323"/>
                </a:solidFill>
              </a:rPr>
              <a:t>× Forms</a:t>
            </a:r>
          </a:p>
        </p:txBody>
      </p:sp>
      <p:sp>
        <p:nvSpPr>
          <p:cNvPr id="39" name="TextBox 38"/>
          <p:cNvSpPr txBox="1"/>
          <p:nvPr/>
        </p:nvSpPr>
        <p:spPr>
          <a:xfrm>
            <a:off x="7982712" y="1764792"/>
            <a:ext cx="3310128" cy="329184"/>
          </a:xfrm>
          <a:prstGeom prst="rect">
            <a:avLst/>
          </a:prstGeom>
          <a:noFill/>
        </p:spPr>
        <p:txBody>
          <a:bodyPr wrap="square" anchor="t" lIns="25400" rIns="25400" tIns="12700" bIns="12700">
            <a:spAutoFit/>
          </a:bodyPr>
          <a:lstStyle/>
          <a:p>
            <a:pPr algn="l">
              <a:lnSpc>
                <a:spcPct val="115000"/>
              </a:lnSpc>
            </a:pPr>
            <a:r>
              <a:rPr sz="900" b="0">
                <a:solidFill>
                  <a:srgbClr val="595959"/>
                </a:solidFill>
              </a:rPr>
              <a:t>Copilot Studioの会話入力／アダプティブカードで代替</a:t>
            </a:r>
          </a:p>
        </p:txBody>
      </p:sp>
      <p:sp>
        <p:nvSpPr>
          <p:cNvPr id="40" name="TextBox 39"/>
          <p:cNvSpPr txBox="1"/>
          <p:nvPr/>
        </p:nvSpPr>
        <p:spPr>
          <a:xfrm>
            <a:off x="7763256" y="2103120"/>
            <a:ext cx="3529584" cy="237744"/>
          </a:xfrm>
          <a:prstGeom prst="rect">
            <a:avLst/>
          </a:prstGeom>
          <a:noFill/>
        </p:spPr>
        <p:txBody>
          <a:bodyPr wrap="square" anchor="t" lIns="25400" rIns="25400" tIns="12700" bIns="12700">
            <a:spAutoFit/>
          </a:bodyPr>
          <a:lstStyle/>
          <a:p>
            <a:pPr algn="l">
              <a:lnSpc>
                <a:spcPct val="115000"/>
              </a:lnSpc>
            </a:pPr>
            <a:r>
              <a:rPr sz="1089" b="1">
                <a:solidFill>
                  <a:srgbClr val="232323"/>
                </a:solidFill>
              </a:rPr>
              <a:t>× Power BI</a:t>
            </a:r>
          </a:p>
        </p:txBody>
      </p:sp>
      <p:sp>
        <p:nvSpPr>
          <p:cNvPr id="41" name="TextBox 40"/>
          <p:cNvSpPr txBox="1"/>
          <p:nvPr/>
        </p:nvSpPr>
        <p:spPr>
          <a:xfrm>
            <a:off x="7982712" y="2331720"/>
            <a:ext cx="3310128" cy="329184"/>
          </a:xfrm>
          <a:prstGeom prst="rect">
            <a:avLst/>
          </a:prstGeom>
          <a:noFill/>
        </p:spPr>
        <p:txBody>
          <a:bodyPr wrap="square" anchor="t" lIns="25400" rIns="25400" tIns="12700" bIns="12700">
            <a:spAutoFit/>
          </a:bodyPr>
          <a:lstStyle/>
          <a:p>
            <a:pPr algn="l">
              <a:lnSpc>
                <a:spcPct val="115000"/>
              </a:lnSpc>
            </a:pPr>
            <a:r>
              <a:rPr sz="900" b="0">
                <a:solidFill>
                  <a:srgbClr val="595959"/>
                </a:solidFill>
              </a:rPr>
              <a:t>Excel Power Query・ピボット・SharePointリストビューで代替</a:t>
            </a:r>
          </a:p>
        </p:txBody>
      </p:sp>
      <p:sp>
        <p:nvSpPr>
          <p:cNvPr id="42" name="TextBox 41"/>
          <p:cNvSpPr txBox="1"/>
          <p:nvPr/>
        </p:nvSpPr>
        <p:spPr>
          <a:xfrm>
            <a:off x="7763256" y="2670048"/>
            <a:ext cx="3529584" cy="237744"/>
          </a:xfrm>
          <a:prstGeom prst="rect">
            <a:avLst/>
          </a:prstGeom>
          <a:noFill/>
        </p:spPr>
        <p:txBody>
          <a:bodyPr wrap="square" anchor="t" lIns="25400" rIns="25400" tIns="12700" bIns="12700">
            <a:spAutoFit/>
          </a:bodyPr>
          <a:lstStyle/>
          <a:p>
            <a:pPr algn="l">
              <a:lnSpc>
                <a:spcPct val="115000"/>
              </a:lnSpc>
            </a:pPr>
            <a:r>
              <a:rPr sz="1089" b="1">
                <a:solidFill>
                  <a:srgbClr val="232323"/>
                </a:solidFill>
              </a:rPr>
              <a:t>× Dataverse</a:t>
            </a:r>
          </a:p>
        </p:txBody>
      </p:sp>
      <p:sp>
        <p:nvSpPr>
          <p:cNvPr id="43" name="TextBox 42"/>
          <p:cNvSpPr txBox="1"/>
          <p:nvPr/>
        </p:nvSpPr>
        <p:spPr>
          <a:xfrm>
            <a:off x="7982712" y="2898648"/>
            <a:ext cx="3310128" cy="329184"/>
          </a:xfrm>
          <a:prstGeom prst="rect">
            <a:avLst/>
          </a:prstGeom>
          <a:noFill/>
        </p:spPr>
        <p:txBody>
          <a:bodyPr wrap="square" anchor="t" lIns="25400" rIns="25400" tIns="12700" bIns="12700">
            <a:spAutoFit/>
          </a:bodyPr>
          <a:lstStyle/>
          <a:p>
            <a:pPr algn="l">
              <a:lnSpc>
                <a:spcPct val="115000"/>
              </a:lnSpc>
            </a:pPr>
            <a:r>
              <a:rPr sz="900" b="0">
                <a:solidFill>
                  <a:srgbClr val="595959"/>
                </a:solidFill>
              </a:rPr>
              <a:t>SharePointリスト／Excelで代替</a:t>
            </a:r>
          </a:p>
        </p:txBody>
      </p:sp>
      <p:sp>
        <p:nvSpPr>
          <p:cNvPr id="44" name="TextBox 43"/>
          <p:cNvSpPr txBox="1"/>
          <p:nvPr/>
        </p:nvSpPr>
        <p:spPr>
          <a:xfrm>
            <a:off x="7763256" y="3236976"/>
            <a:ext cx="3529584" cy="237744"/>
          </a:xfrm>
          <a:prstGeom prst="rect">
            <a:avLst/>
          </a:prstGeom>
          <a:noFill/>
        </p:spPr>
        <p:txBody>
          <a:bodyPr wrap="square" anchor="t" lIns="25400" rIns="25400" tIns="12700" bIns="12700">
            <a:spAutoFit/>
          </a:bodyPr>
          <a:lstStyle/>
          <a:p>
            <a:pPr algn="l">
              <a:lnSpc>
                <a:spcPct val="115000"/>
              </a:lnSpc>
            </a:pPr>
            <a:r>
              <a:rPr sz="1089" b="1">
                <a:solidFill>
                  <a:srgbClr val="232323"/>
                </a:solidFill>
              </a:rPr>
              <a:t>× Premium Connector</a:t>
            </a:r>
          </a:p>
        </p:txBody>
      </p:sp>
      <p:sp>
        <p:nvSpPr>
          <p:cNvPr id="45" name="TextBox 44"/>
          <p:cNvSpPr txBox="1"/>
          <p:nvPr/>
        </p:nvSpPr>
        <p:spPr>
          <a:xfrm>
            <a:off x="7982712" y="3465576"/>
            <a:ext cx="3310128" cy="329184"/>
          </a:xfrm>
          <a:prstGeom prst="rect">
            <a:avLst/>
          </a:prstGeom>
          <a:noFill/>
        </p:spPr>
        <p:txBody>
          <a:bodyPr wrap="square" anchor="t" lIns="25400" rIns="25400" tIns="12700" bIns="12700">
            <a:spAutoFit/>
          </a:bodyPr>
          <a:lstStyle/>
          <a:p>
            <a:pPr algn="l">
              <a:lnSpc>
                <a:spcPct val="115000"/>
              </a:lnSpc>
            </a:pPr>
            <a:r>
              <a:rPr sz="900" b="0">
                <a:solidFill>
                  <a:srgbClr val="595959"/>
                </a:solidFill>
              </a:rPr>
              <a:t>標準コネクタの範囲で構成する</a:t>
            </a:r>
          </a:p>
        </p:txBody>
      </p:sp>
      <p:sp>
        <p:nvSpPr>
          <p:cNvPr id="46" name="TextBox 45"/>
          <p:cNvSpPr txBox="1"/>
          <p:nvPr/>
        </p:nvSpPr>
        <p:spPr>
          <a:xfrm>
            <a:off x="7763256" y="3803904"/>
            <a:ext cx="3529584" cy="237744"/>
          </a:xfrm>
          <a:prstGeom prst="rect">
            <a:avLst/>
          </a:prstGeom>
          <a:noFill/>
        </p:spPr>
        <p:txBody>
          <a:bodyPr wrap="square" anchor="t" lIns="25400" rIns="25400" tIns="12700" bIns="12700">
            <a:spAutoFit/>
          </a:bodyPr>
          <a:lstStyle/>
          <a:p>
            <a:pPr algn="l">
              <a:lnSpc>
                <a:spcPct val="115000"/>
              </a:lnSpc>
            </a:pPr>
            <a:r>
              <a:rPr sz="1089" b="1">
                <a:solidFill>
                  <a:srgbClr val="232323"/>
                </a:solidFill>
              </a:rPr>
              <a:t>× 外部API</a:t>
            </a:r>
          </a:p>
        </p:txBody>
      </p:sp>
      <p:sp>
        <p:nvSpPr>
          <p:cNvPr id="47" name="TextBox 46"/>
          <p:cNvSpPr txBox="1"/>
          <p:nvPr/>
        </p:nvSpPr>
        <p:spPr>
          <a:xfrm>
            <a:off x="7982712" y="4032504"/>
            <a:ext cx="3310128" cy="329184"/>
          </a:xfrm>
          <a:prstGeom prst="rect">
            <a:avLst/>
          </a:prstGeom>
          <a:noFill/>
        </p:spPr>
        <p:txBody>
          <a:bodyPr wrap="square" anchor="t" lIns="25400" rIns="25400" tIns="12700" bIns="12700">
            <a:spAutoFit/>
          </a:bodyPr>
          <a:lstStyle/>
          <a:p>
            <a:pPr algn="l">
              <a:lnSpc>
                <a:spcPct val="115000"/>
              </a:lnSpc>
            </a:pPr>
            <a:r>
              <a:rPr sz="900" b="0">
                <a:solidFill>
                  <a:srgbClr val="595959"/>
                </a:solidFill>
              </a:rPr>
              <a:t>使用しない</a:t>
            </a:r>
          </a:p>
        </p:txBody>
      </p:sp>
      <p:sp>
        <p:nvSpPr>
          <p:cNvPr id="48" name="TextBox 47"/>
          <p:cNvSpPr txBox="1"/>
          <p:nvPr/>
        </p:nvSpPr>
        <p:spPr>
          <a:xfrm>
            <a:off x="7763256" y="4370832"/>
            <a:ext cx="3529584" cy="237744"/>
          </a:xfrm>
          <a:prstGeom prst="rect">
            <a:avLst/>
          </a:prstGeom>
          <a:noFill/>
        </p:spPr>
        <p:txBody>
          <a:bodyPr wrap="square" anchor="t" lIns="25400" rIns="25400" tIns="12700" bIns="12700">
            <a:spAutoFit/>
          </a:bodyPr>
          <a:lstStyle/>
          <a:p>
            <a:pPr algn="l">
              <a:lnSpc>
                <a:spcPct val="115000"/>
              </a:lnSpc>
            </a:pPr>
            <a:r>
              <a:rPr sz="1089" b="1">
                <a:solidFill>
                  <a:srgbClr val="232323"/>
                </a:solidFill>
              </a:rPr>
              <a:t>× 外部Web検索</a:t>
            </a:r>
          </a:p>
        </p:txBody>
      </p:sp>
      <p:sp>
        <p:nvSpPr>
          <p:cNvPr id="49" name="TextBox 48"/>
          <p:cNvSpPr txBox="1"/>
          <p:nvPr/>
        </p:nvSpPr>
        <p:spPr>
          <a:xfrm>
            <a:off x="7982712" y="4599432"/>
            <a:ext cx="3310128" cy="329184"/>
          </a:xfrm>
          <a:prstGeom prst="rect">
            <a:avLst/>
          </a:prstGeom>
          <a:noFill/>
        </p:spPr>
        <p:txBody>
          <a:bodyPr wrap="square" anchor="t" lIns="25400" rIns="25400" tIns="12700" bIns="12700">
            <a:spAutoFit/>
          </a:bodyPr>
          <a:lstStyle/>
          <a:p>
            <a:pPr algn="l">
              <a:lnSpc>
                <a:spcPct val="115000"/>
              </a:lnSpc>
            </a:pPr>
            <a:r>
              <a:rPr sz="900" b="0">
                <a:solidFill>
                  <a:srgbClr val="595959"/>
                </a:solidFill>
              </a:rPr>
              <a:t>人手取得＋SharePoint格納で回避する</a:t>
            </a:r>
          </a:p>
        </p:txBody>
      </p:sp>
      <p:sp>
        <p:nvSpPr>
          <p:cNvPr id="50" name="Rectangle 49"/>
          <p:cNvSpPr/>
          <p:nvPr/>
        </p:nvSpPr>
        <p:spPr>
          <a:xfrm>
            <a:off x="740664" y="5175504"/>
            <a:ext cx="10716768" cy="113385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40664" y="5175504"/>
            <a:ext cx="64008" cy="1133856"/>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0120" y="5248656"/>
            <a:ext cx="10277856" cy="237744"/>
          </a:xfrm>
          <a:prstGeom prst="rect">
            <a:avLst/>
          </a:prstGeom>
          <a:noFill/>
        </p:spPr>
        <p:txBody>
          <a:bodyPr wrap="square" anchor="t" lIns="25400" rIns="25400" tIns="12700" bIns="12700">
            <a:spAutoFit/>
          </a:bodyPr>
          <a:lstStyle/>
          <a:p>
            <a:pPr algn="l">
              <a:lnSpc>
                <a:spcPct val="115000"/>
              </a:lnSpc>
            </a:pPr>
            <a:r>
              <a:rPr sz="1089" b="1">
                <a:solidFill>
                  <a:srgbClr val="1B5C80"/>
                </a:solidFill>
              </a:rPr>
              <a:t>Power Automate の扱い（全チーム共通）</a:t>
            </a:r>
          </a:p>
        </p:txBody>
      </p:sp>
      <p:sp>
        <p:nvSpPr>
          <p:cNvPr id="53" name="TextBox 52"/>
          <p:cNvSpPr txBox="1"/>
          <p:nvPr/>
        </p:nvSpPr>
        <p:spPr>
          <a:xfrm>
            <a:off x="960120" y="5522976"/>
            <a:ext cx="10277856" cy="713232"/>
          </a:xfrm>
          <a:prstGeom prst="rect">
            <a:avLst/>
          </a:prstGeom>
          <a:noFill/>
        </p:spPr>
        <p:txBody>
          <a:bodyPr wrap="square" anchor="t" lIns="25400" rIns="25400" tIns="12700" bIns="12700">
            <a:spAutoFit/>
          </a:bodyPr>
          <a:lstStyle/>
          <a:p>
            <a:pPr algn="l">
              <a:lnSpc>
                <a:spcPct val="128000"/>
              </a:lnSpc>
            </a:pPr>
            <a:r>
              <a:rPr sz="1089" b="0">
                <a:solidFill>
                  <a:srgbClr val="232323"/>
                </a:solidFill>
              </a:rPr>
              <a:t>・Power Automate 側でエージェントフローを呼び出す場合は When an agent calls the flow を使用する。</a:t>
            </a:r>
          </a:p>
          <a:p>
            <a:pPr algn="l">
              <a:lnSpc>
                <a:spcPct val="128000"/>
              </a:lnSpc>
            </a:pPr>
            <a:r>
              <a:rPr sz="1089" b="0">
                <a:solidFill>
                  <a:srgbClr val="232323"/>
                </a:solidFill>
              </a:rPr>
              <a:t>・通常トリガーからエージェントフローを直接呼び出したい場合は、SPOリスト作成、フォルダへのダミーファイル作成、人の確認操作などの間接起動で回避できるか検討する。ただし従量課金を回避できることが確認できる場合に限る。</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横断的な要注意ポイント</a:t>
            </a:r>
          </a:p>
        </p:txBody>
      </p:sp>
      <p:sp>
        <p:nvSpPr>
          <p:cNvPr id="3" name="Text Placeholder 2"/>
          <p:cNvSpPr>
            <a:spLocks noGrp="1"/>
          </p:cNvSpPr>
          <p:nvPr>
            <p:ph type="body" idx="2" sz="half"/>
          </p:nvPr>
        </p:nvSpPr>
        <p:spPr/>
        <p:txBody>
          <a:bodyPr wrap="square" tIns="0" bIns="0"/>
          <a:lstStyle/>
          <a:p>
            <a:r>
              <a:rPr sz="1270">
                <a:solidFill>
                  <a:srgbClr val="595959"/>
                </a:solidFill>
              </a:rPr>
              <a:t>チームをまたいで発生しやすい論点。担当チームに当てはまるものを事前に確認する</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8</a:t>
            </a:r>
          </a:p>
        </p:txBody>
      </p:sp>
      <p:sp>
        <p:nvSpPr>
          <p:cNvPr id="5" name="Rectangle 4"/>
          <p:cNvSpPr/>
          <p:nvPr/>
        </p:nvSpPr>
        <p:spPr>
          <a:xfrm>
            <a:off x="740664" y="1207008"/>
            <a:ext cx="3502152" cy="22860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1207008"/>
            <a:ext cx="3502152"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0392" y="1271016"/>
            <a:ext cx="27432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1</a:t>
            </a:r>
          </a:p>
        </p:txBody>
      </p:sp>
      <p:sp>
        <p:nvSpPr>
          <p:cNvPr id="8" name="TextBox 7"/>
          <p:cNvSpPr txBox="1"/>
          <p:nvPr/>
        </p:nvSpPr>
        <p:spPr>
          <a:xfrm>
            <a:off x="1197864" y="1207008"/>
            <a:ext cx="2935224" cy="384048"/>
          </a:xfrm>
          <a:prstGeom prst="rect">
            <a:avLst/>
          </a:prstGeom>
          <a:noFill/>
        </p:spPr>
        <p:txBody>
          <a:bodyPr wrap="square" anchor="ctr" lIns="25400" rIns="25400" tIns="12700" bIns="12700">
            <a:spAutoFit/>
          </a:bodyPr>
          <a:lstStyle/>
          <a:p>
            <a:pPr algn="l">
              <a:lnSpc>
                <a:spcPct val="115000"/>
              </a:lnSpc>
            </a:pPr>
            <a:r>
              <a:rPr sz="1089" b="1">
                <a:solidFill>
                  <a:srgbClr val="FFFFFF"/>
                </a:solidFill>
              </a:rPr>
              <a:t>SharePoint設計</a:t>
            </a:r>
          </a:p>
        </p:txBody>
      </p:sp>
      <p:sp>
        <p:nvSpPr>
          <p:cNvPr id="9" name="TextBox 8"/>
          <p:cNvSpPr txBox="1"/>
          <p:nvPr/>
        </p:nvSpPr>
        <p:spPr>
          <a:xfrm>
            <a:off x="886968" y="1719072"/>
            <a:ext cx="3209544" cy="1207008"/>
          </a:xfrm>
          <a:prstGeom prst="rect">
            <a:avLst/>
          </a:prstGeom>
          <a:noFill/>
        </p:spPr>
        <p:txBody>
          <a:bodyPr wrap="square" anchor="t" lIns="25400" rIns="25400" tIns="12700" bIns="12700">
            <a:spAutoFit/>
          </a:bodyPr>
          <a:lstStyle/>
          <a:p>
            <a:pPr algn="l">
              <a:lnSpc>
                <a:spcPct val="132000"/>
              </a:lnSpc>
            </a:pPr>
            <a:r>
              <a:rPr sz="1089" b="0">
                <a:solidFill>
                  <a:srgbClr val="232323"/>
                </a:solidFill>
              </a:rPr>
              <a:t>ライブラリ、リスト、権限、命名規則を先に決める。</a:t>
            </a:r>
          </a:p>
        </p:txBody>
      </p:sp>
      <p:sp>
        <p:nvSpPr>
          <p:cNvPr id="10" name="Rectangle 9"/>
          <p:cNvSpPr/>
          <p:nvPr/>
        </p:nvSpPr>
        <p:spPr>
          <a:xfrm>
            <a:off x="886968" y="3035808"/>
            <a:ext cx="3209544"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3035808"/>
            <a:ext cx="2990088" cy="310896"/>
          </a:xfrm>
          <a:prstGeom prst="rect">
            <a:avLst/>
          </a:prstGeom>
          <a:noFill/>
        </p:spPr>
        <p:txBody>
          <a:bodyPr wrap="square" anchor="ctr" lIns="25400" rIns="25400" tIns="12700" bIns="12700">
            <a:spAutoFit/>
          </a:bodyPr>
          <a:lstStyle/>
          <a:p>
            <a:pPr algn="l">
              <a:lnSpc>
                <a:spcPct val="115000"/>
              </a:lnSpc>
            </a:pPr>
            <a:r>
              <a:rPr sz="760" b="1">
                <a:solidFill>
                  <a:srgbClr val="1B5C80"/>
                </a:solidFill>
              </a:rPr>
              <a:t>主な対象： 全チーム</a:t>
            </a:r>
          </a:p>
        </p:txBody>
      </p:sp>
      <p:sp>
        <p:nvSpPr>
          <p:cNvPr id="12" name="Rectangle 11"/>
          <p:cNvSpPr/>
          <p:nvPr/>
        </p:nvSpPr>
        <p:spPr>
          <a:xfrm>
            <a:off x="4347972" y="1207008"/>
            <a:ext cx="3502152" cy="228600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7972" y="1207008"/>
            <a:ext cx="3502152"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57700" y="1271016"/>
            <a:ext cx="27432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2</a:t>
            </a:r>
          </a:p>
        </p:txBody>
      </p:sp>
      <p:sp>
        <p:nvSpPr>
          <p:cNvPr id="15" name="TextBox 14"/>
          <p:cNvSpPr txBox="1"/>
          <p:nvPr/>
        </p:nvSpPr>
        <p:spPr>
          <a:xfrm>
            <a:off x="4805172" y="1207008"/>
            <a:ext cx="2935224" cy="384048"/>
          </a:xfrm>
          <a:prstGeom prst="rect">
            <a:avLst/>
          </a:prstGeom>
          <a:noFill/>
        </p:spPr>
        <p:txBody>
          <a:bodyPr wrap="square" anchor="ctr" lIns="25400" rIns="25400" tIns="12700" bIns="12700">
            <a:spAutoFit/>
          </a:bodyPr>
          <a:lstStyle/>
          <a:p>
            <a:pPr algn="l">
              <a:lnSpc>
                <a:spcPct val="115000"/>
              </a:lnSpc>
            </a:pPr>
            <a:r>
              <a:rPr sz="1089" b="1">
                <a:solidFill>
                  <a:srgbClr val="FFFFFF"/>
                </a:solidFill>
              </a:rPr>
              <a:t>個人情報</a:t>
            </a:r>
          </a:p>
        </p:txBody>
      </p:sp>
      <p:sp>
        <p:nvSpPr>
          <p:cNvPr id="16" name="TextBox 15"/>
          <p:cNvSpPr txBox="1"/>
          <p:nvPr/>
        </p:nvSpPr>
        <p:spPr>
          <a:xfrm>
            <a:off x="4494276" y="1719072"/>
            <a:ext cx="3209544" cy="1207008"/>
          </a:xfrm>
          <a:prstGeom prst="rect">
            <a:avLst/>
          </a:prstGeom>
          <a:noFill/>
        </p:spPr>
        <p:txBody>
          <a:bodyPr wrap="square" anchor="t" lIns="25400" rIns="25400" tIns="12700" bIns="12700">
            <a:spAutoFit/>
          </a:bodyPr>
          <a:lstStyle/>
          <a:p>
            <a:pPr algn="l">
              <a:lnSpc>
                <a:spcPct val="132000"/>
              </a:lnSpc>
            </a:pPr>
            <a:r>
              <a:rPr sz="1089" b="0">
                <a:solidFill>
                  <a:srgbClr val="232323"/>
                </a:solidFill>
              </a:rPr>
              <a:t>T08/T09は特に注意。予定表、会議室、メール、Teams情報の利用は確認が必要。</a:t>
            </a:r>
          </a:p>
        </p:txBody>
      </p:sp>
      <p:sp>
        <p:nvSpPr>
          <p:cNvPr id="17" name="Rectangle 16"/>
          <p:cNvSpPr/>
          <p:nvPr/>
        </p:nvSpPr>
        <p:spPr>
          <a:xfrm>
            <a:off x="4494276" y="3035808"/>
            <a:ext cx="3209544"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04004" y="3035808"/>
            <a:ext cx="2990088" cy="310896"/>
          </a:xfrm>
          <a:prstGeom prst="rect">
            <a:avLst/>
          </a:prstGeom>
          <a:noFill/>
        </p:spPr>
        <p:txBody>
          <a:bodyPr wrap="square" anchor="ctr" lIns="25400" rIns="25400" tIns="12700" bIns="12700">
            <a:spAutoFit/>
          </a:bodyPr>
          <a:lstStyle/>
          <a:p>
            <a:pPr algn="l">
              <a:lnSpc>
                <a:spcPct val="115000"/>
              </a:lnSpc>
            </a:pPr>
            <a:r>
              <a:rPr sz="760" b="1">
                <a:solidFill>
                  <a:srgbClr val="1B5C80"/>
                </a:solidFill>
              </a:rPr>
              <a:t>主な対象： T08 / T09</a:t>
            </a:r>
          </a:p>
        </p:txBody>
      </p:sp>
      <p:sp>
        <p:nvSpPr>
          <p:cNvPr id="19" name="Rectangle 18"/>
          <p:cNvSpPr/>
          <p:nvPr/>
        </p:nvSpPr>
        <p:spPr>
          <a:xfrm>
            <a:off x="7955280" y="1207008"/>
            <a:ext cx="3502152" cy="228600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80" y="1207008"/>
            <a:ext cx="3502152"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65008" y="1271016"/>
            <a:ext cx="27432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3</a:t>
            </a:r>
          </a:p>
        </p:txBody>
      </p:sp>
      <p:sp>
        <p:nvSpPr>
          <p:cNvPr id="22" name="TextBox 21"/>
          <p:cNvSpPr txBox="1"/>
          <p:nvPr/>
        </p:nvSpPr>
        <p:spPr>
          <a:xfrm>
            <a:off x="8412480" y="1207008"/>
            <a:ext cx="2935224" cy="384048"/>
          </a:xfrm>
          <a:prstGeom prst="rect">
            <a:avLst/>
          </a:prstGeom>
          <a:noFill/>
        </p:spPr>
        <p:txBody>
          <a:bodyPr wrap="square" anchor="ctr" lIns="25400" rIns="25400" tIns="12700" bIns="12700">
            <a:spAutoFit/>
          </a:bodyPr>
          <a:lstStyle/>
          <a:p>
            <a:pPr algn="l">
              <a:lnSpc>
                <a:spcPct val="115000"/>
              </a:lnSpc>
            </a:pPr>
            <a:r>
              <a:rPr sz="1089" b="1">
                <a:solidFill>
                  <a:srgbClr val="FFFFFF"/>
                </a:solidFill>
              </a:rPr>
              <a:t>Power Automate</a:t>
            </a:r>
          </a:p>
        </p:txBody>
      </p:sp>
      <p:sp>
        <p:nvSpPr>
          <p:cNvPr id="23" name="TextBox 22"/>
          <p:cNvSpPr txBox="1"/>
          <p:nvPr/>
        </p:nvSpPr>
        <p:spPr>
          <a:xfrm>
            <a:off x="8101584" y="1719072"/>
            <a:ext cx="3209544" cy="1207008"/>
          </a:xfrm>
          <a:prstGeom prst="rect">
            <a:avLst/>
          </a:prstGeom>
          <a:noFill/>
        </p:spPr>
        <p:txBody>
          <a:bodyPr wrap="square" anchor="t" lIns="25400" rIns="25400" tIns="12700" bIns="12700">
            <a:spAutoFit/>
          </a:bodyPr>
          <a:lstStyle/>
          <a:p>
            <a:pPr algn="l">
              <a:lnSpc>
                <a:spcPct val="132000"/>
              </a:lnSpc>
            </a:pPr>
            <a:r>
              <a:rPr sz="1089" b="0">
                <a:solidFill>
                  <a:srgbClr val="232323"/>
                </a:solidFill>
              </a:rPr>
              <a:t>エージェントフロー直接呼び出しは When an agent calls the flow。該当しない場合は対象外だが、従量課金回避の確認が必要。</a:t>
            </a:r>
          </a:p>
        </p:txBody>
      </p:sp>
      <p:sp>
        <p:nvSpPr>
          <p:cNvPr id="24" name="Rectangle 23"/>
          <p:cNvSpPr/>
          <p:nvPr/>
        </p:nvSpPr>
        <p:spPr>
          <a:xfrm>
            <a:off x="8101584" y="3035808"/>
            <a:ext cx="3209544"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3035808"/>
            <a:ext cx="2990088" cy="310896"/>
          </a:xfrm>
          <a:prstGeom prst="rect">
            <a:avLst/>
          </a:prstGeom>
          <a:noFill/>
        </p:spPr>
        <p:txBody>
          <a:bodyPr wrap="square" anchor="ctr" lIns="25400" rIns="25400" tIns="12700" bIns="12700">
            <a:spAutoFit/>
          </a:bodyPr>
          <a:lstStyle/>
          <a:p>
            <a:pPr algn="l">
              <a:lnSpc>
                <a:spcPct val="115000"/>
              </a:lnSpc>
            </a:pPr>
            <a:r>
              <a:rPr sz="760" b="1">
                <a:solidFill>
                  <a:srgbClr val="1B5C80"/>
                </a:solidFill>
              </a:rPr>
              <a:t>主な対象： 全チーム</a:t>
            </a:r>
          </a:p>
        </p:txBody>
      </p:sp>
      <p:sp>
        <p:nvSpPr>
          <p:cNvPr id="26" name="Rectangle 25"/>
          <p:cNvSpPr/>
          <p:nvPr/>
        </p:nvSpPr>
        <p:spPr>
          <a:xfrm>
            <a:off x="740664" y="3694176"/>
            <a:ext cx="3502152" cy="22860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0664" y="3694176"/>
            <a:ext cx="3502152"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50392" y="3758184"/>
            <a:ext cx="27432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4</a:t>
            </a:r>
          </a:p>
        </p:txBody>
      </p:sp>
      <p:sp>
        <p:nvSpPr>
          <p:cNvPr id="29" name="TextBox 28"/>
          <p:cNvSpPr txBox="1"/>
          <p:nvPr/>
        </p:nvSpPr>
        <p:spPr>
          <a:xfrm>
            <a:off x="1197864" y="3694176"/>
            <a:ext cx="2935224" cy="384048"/>
          </a:xfrm>
          <a:prstGeom prst="rect">
            <a:avLst/>
          </a:prstGeom>
          <a:noFill/>
        </p:spPr>
        <p:txBody>
          <a:bodyPr wrap="square" anchor="ctr" lIns="25400" rIns="25400" tIns="12700" bIns="12700">
            <a:spAutoFit/>
          </a:bodyPr>
          <a:lstStyle/>
          <a:p>
            <a:pPr algn="l">
              <a:lnSpc>
                <a:spcPct val="115000"/>
              </a:lnSpc>
            </a:pPr>
            <a:r>
              <a:rPr sz="1089" b="1">
                <a:solidFill>
                  <a:srgbClr val="FFFFFF"/>
                </a:solidFill>
              </a:rPr>
              <a:t>外部Web/API</a:t>
            </a:r>
          </a:p>
        </p:txBody>
      </p:sp>
      <p:sp>
        <p:nvSpPr>
          <p:cNvPr id="30" name="TextBox 29"/>
          <p:cNvSpPr txBox="1"/>
          <p:nvPr/>
        </p:nvSpPr>
        <p:spPr>
          <a:xfrm>
            <a:off x="886968" y="4206240"/>
            <a:ext cx="3209544" cy="1207008"/>
          </a:xfrm>
          <a:prstGeom prst="rect">
            <a:avLst/>
          </a:prstGeom>
          <a:noFill/>
        </p:spPr>
        <p:txBody>
          <a:bodyPr wrap="square" anchor="t" lIns="25400" rIns="25400" tIns="12700" bIns="12700">
            <a:spAutoFit/>
          </a:bodyPr>
          <a:lstStyle/>
          <a:p>
            <a:pPr algn="l">
              <a:lnSpc>
                <a:spcPct val="132000"/>
              </a:lnSpc>
            </a:pPr>
            <a:r>
              <a:rPr sz="1089" b="0">
                <a:solidFill>
                  <a:srgbClr val="232323"/>
                </a:solidFill>
              </a:rPr>
              <a:t>使わない。人手取得＋SPO格納で回避する。</a:t>
            </a:r>
          </a:p>
        </p:txBody>
      </p:sp>
      <p:sp>
        <p:nvSpPr>
          <p:cNvPr id="31" name="Rectangle 30"/>
          <p:cNvSpPr/>
          <p:nvPr/>
        </p:nvSpPr>
        <p:spPr>
          <a:xfrm>
            <a:off x="886968" y="5522976"/>
            <a:ext cx="3209544"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6696" y="5522976"/>
            <a:ext cx="2990088" cy="310896"/>
          </a:xfrm>
          <a:prstGeom prst="rect">
            <a:avLst/>
          </a:prstGeom>
          <a:noFill/>
        </p:spPr>
        <p:txBody>
          <a:bodyPr wrap="square" anchor="ctr" lIns="25400" rIns="25400" tIns="12700" bIns="12700">
            <a:spAutoFit/>
          </a:bodyPr>
          <a:lstStyle/>
          <a:p>
            <a:pPr algn="l">
              <a:lnSpc>
                <a:spcPct val="115000"/>
              </a:lnSpc>
            </a:pPr>
            <a:r>
              <a:rPr sz="760" b="1">
                <a:solidFill>
                  <a:srgbClr val="1B5C80"/>
                </a:solidFill>
              </a:rPr>
              <a:t>主な対象： 全チーム（特にT03）</a:t>
            </a:r>
          </a:p>
        </p:txBody>
      </p:sp>
      <p:sp>
        <p:nvSpPr>
          <p:cNvPr id="33" name="Rectangle 32"/>
          <p:cNvSpPr/>
          <p:nvPr/>
        </p:nvSpPr>
        <p:spPr>
          <a:xfrm>
            <a:off x="4347972" y="3694176"/>
            <a:ext cx="3502152" cy="228600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47972" y="3694176"/>
            <a:ext cx="3502152"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457700" y="3758184"/>
            <a:ext cx="27432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5</a:t>
            </a:r>
          </a:p>
        </p:txBody>
      </p:sp>
      <p:sp>
        <p:nvSpPr>
          <p:cNvPr id="36" name="TextBox 35"/>
          <p:cNvSpPr txBox="1"/>
          <p:nvPr/>
        </p:nvSpPr>
        <p:spPr>
          <a:xfrm>
            <a:off x="4805172" y="3694176"/>
            <a:ext cx="2935224" cy="384048"/>
          </a:xfrm>
          <a:prstGeom prst="rect">
            <a:avLst/>
          </a:prstGeom>
          <a:noFill/>
        </p:spPr>
        <p:txBody>
          <a:bodyPr wrap="square" anchor="ctr" lIns="25400" rIns="25400" tIns="12700" bIns="12700">
            <a:spAutoFit/>
          </a:bodyPr>
          <a:lstStyle/>
          <a:p>
            <a:pPr algn="l">
              <a:lnSpc>
                <a:spcPct val="115000"/>
              </a:lnSpc>
            </a:pPr>
            <a:r>
              <a:rPr sz="1089" b="1">
                <a:solidFill>
                  <a:srgbClr val="FFFFFF"/>
                </a:solidFill>
              </a:rPr>
              <a:t>メール送信</a:t>
            </a:r>
          </a:p>
        </p:txBody>
      </p:sp>
      <p:sp>
        <p:nvSpPr>
          <p:cNvPr id="37" name="TextBox 36"/>
          <p:cNvSpPr txBox="1"/>
          <p:nvPr/>
        </p:nvSpPr>
        <p:spPr>
          <a:xfrm>
            <a:off x="4494276" y="4206240"/>
            <a:ext cx="3209544" cy="1207008"/>
          </a:xfrm>
          <a:prstGeom prst="rect">
            <a:avLst/>
          </a:prstGeom>
          <a:noFill/>
        </p:spPr>
        <p:txBody>
          <a:bodyPr wrap="square" anchor="t" lIns="25400" rIns="25400" tIns="12700" bIns="12700">
            <a:spAutoFit/>
          </a:bodyPr>
          <a:lstStyle/>
          <a:p>
            <a:pPr algn="l">
              <a:lnSpc>
                <a:spcPct val="132000"/>
              </a:lnSpc>
            </a:pPr>
            <a:r>
              <a:rPr sz="1089" b="0">
                <a:solidFill>
                  <a:srgbClr val="232323"/>
                </a:solidFill>
              </a:rPr>
              <a:t>自動送信の可否は内容次第。T09は特に人確認を前提にする。</a:t>
            </a:r>
          </a:p>
        </p:txBody>
      </p:sp>
      <p:sp>
        <p:nvSpPr>
          <p:cNvPr id="38" name="Rectangle 37"/>
          <p:cNvSpPr/>
          <p:nvPr/>
        </p:nvSpPr>
        <p:spPr>
          <a:xfrm>
            <a:off x="4494276" y="5522976"/>
            <a:ext cx="3209544"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04004" y="5522976"/>
            <a:ext cx="2990088" cy="310896"/>
          </a:xfrm>
          <a:prstGeom prst="rect">
            <a:avLst/>
          </a:prstGeom>
          <a:noFill/>
        </p:spPr>
        <p:txBody>
          <a:bodyPr wrap="square" anchor="ctr" lIns="25400" rIns="25400" tIns="12700" bIns="12700">
            <a:spAutoFit/>
          </a:bodyPr>
          <a:lstStyle/>
          <a:p>
            <a:pPr algn="l">
              <a:lnSpc>
                <a:spcPct val="115000"/>
              </a:lnSpc>
            </a:pPr>
            <a:r>
              <a:rPr sz="760" b="1">
                <a:solidFill>
                  <a:srgbClr val="1B5C80"/>
                </a:solidFill>
              </a:rPr>
              <a:t>主な対象： T09</a:t>
            </a:r>
          </a:p>
        </p:txBody>
      </p:sp>
      <p:sp>
        <p:nvSpPr>
          <p:cNvPr id="40" name="Rectangle 39"/>
          <p:cNvSpPr/>
          <p:nvPr/>
        </p:nvSpPr>
        <p:spPr>
          <a:xfrm>
            <a:off x="7955280" y="3694176"/>
            <a:ext cx="3502152" cy="22860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55280" y="3694176"/>
            <a:ext cx="3502152"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065008" y="3758184"/>
            <a:ext cx="27432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6</a:t>
            </a:r>
          </a:p>
        </p:txBody>
      </p:sp>
      <p:sp>
        <p:nvSpPr>
          <p:cNvPr id="43" name="TextBox 42"/>
          <p:cNvSpPr txBox="1"/>
          <p:nvPr/>
        </p:nvSpPr>
        <p:spPr>
          <a:xfrm>
            <a:off x="8412480" y="3694176"/>
            <a:ext cx="2935224" cy="384048"/>
          </a:xfrm>
          <a:prstGeom prst="rect">
            <a:avLst/>
          </a:prstGeom>
          <a:noFill/>
        </p:spPr>
        <p:txBody>
          <a:bodyPr wrap="square" anchor="ctr" lIns="25400" rIns="25400" tIns="12700" bIns="12700">
            <a:spAutoFit/>
          </a:bodyPr>
          <a:lstStyle/>
          <a:p>
            <a:pPr algn="l">
              <a:lnSpc>
                <a:spcPct val="115000"/>
              </a:lnSpc>
            </a:pPr>
            <a:r>
              <a:rPr sz="1089" b="1">
                <a:solidFill>
                  <a:srgbClr val="FFFFFF"/>
                </a:solidFill>
              </a:rPr>
              <a:t>MVP肥大化</a:t>
            </a:r>
          </a:p>
        </p:txBody>
      </p:sp>
      <p:sp>
        <p:nvSpPr>
          <p:cNvPr id="44" name="TextBox 43"/>
          <p:cNvSpPr txBox="1"/>
          <p:nvPr/>
        </p:nvSpPr>
        <p:spPr>
          <a:xfrm>
            <a:off x="8101584" y="4206240"/>
            <a:ext cx="3209544" cy="1207008"/>
          </a:xfrm>
          <a:prstGeom prst="rect">
            <a:avLst/>
          </a:prstGeom>
          <a:noFill/>
        </p:spPr>
        <p:txBody>
          <a:bodyPr wrap="square" anchor="t" lIns="25400" rIns="25400" tIns="12700" bIns="12700">
            <a:spAutoFit/>
          </a:bodyPr>
          <a:lstStyle/>
          <a:p>
            <a:pPr algn="l">
              <a:lnSpc>
                <a:spcPct val="132000"/>
              </a:lnSpc>
            </a:pPr>
            <a:r>
              <a:rPr sz="1089" b="0">
                <a:solidFill>
                  <a:srgbClr val="232323"/>
                </a:solidFill>
              </a:rPr>
              <a:t>T03/T06/T08/T09は範囲が広がりやすい。1ユースケースに絞る。</a:t>
            </a:r>
          </a:p>
        </p:txBody>
      </p:sp>
      <p:sp>
        <p:nvSpPr>
          <p:cNvPr id="45" name="Rectangle 44"/>
          <p:cNvSpPr/>
          <p:nvPr/>
        </p:nvSpPr>
        <p:spPr>
          <a:xfrm>
            <a:off x="8101584" y="5522976"/>
            <a:ext cx="3209544"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1312" y="5522976"/>
            <a:ext cx="2990088" cy="310896"/>
          </a:xfrm>
          <a:prstGeom prst="rect">
            <a:avLst/>
          </a:prstGeom>
          <a:noFill/>
        </p:spPr>
        <p:txBody>
          <a:bodyPr wrap="square" anchor="ctr" lIns="25400" rIns="25400" tIns="12700" bIns="12700">
            <a:spAutoFit/>
          </a:bodyPr>
          <a:lstStyle/>
          <a:p>
            <a:pPr algn="l">
              <a:lnSpc>
                <a:spcPct val="115000"/>
              </a:lnSpc>
            </a:pPr>
            <a:r>
              <a:rPr sz="760" b="1">
                <a:solidFill>
                  <a:srgbClr val="1B5C80"/>
                </a:solidFill>
              </a:rPr>
              <a:t>主な対象： T03 / T06 / T08 / T09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メンター試作 共通構築手順</a:t>
            </a:r>
          </a:p>
        </p:txBody>
      </p:sp>
      <p:sp>
        <p:nvSpPr>
          <p:cNvPr id="3" name="Text Placeholder 2"/>
          <p:cNvSpPr>
            <a:spLocks noGrp="1"/>
          </p:cNvSpPr>
          <p:nvPr>
            <p:ph type="body" idx="2" sz="half"/>
          </p:nvPr>
        </p:nvSpPr>
        <p:spPr/>
        <p:txBody>
          <a:bodyPr wrap="square" tIns="0" bIns="0"/>
          <a:lstStyle/>
          <a:p>
            <a:r>
              <a:rPr sz="1270">
                <a:solidFill>
                  <a:srgbClr val="595959"/>
                </a:solidFill>
              </a:rPr>
              <a:t>全チーム共通の5ステップ。チーム別の入出力・ダミーデータは各チームのページを参照</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9</a:t>
            </a:r>
          </a:p>
        </p:txBody>
      </p:sp>
      <p:sp>
        <p:nvSpPr>
          <p:cNvPr id="5" name="Rectangle 4"/>
          <p:cNvSpPr/>
          <p:nvPr/>
        </p:nvSpPr>
        <p:spPr>
          <a:xfrm>
            <a:off x="740664" y="1188720"/>
            <a:ext cx="10716768" cy="78638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1188720"/>
            <a:ext cx="2377440" cy="7863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261872"/>
            <a:ext cx="2084831" cy="219456"/>
          </a:xfrm>
          <a:prstGeom prst="rect">
            <a:avLst/>
          </a:prstGeom>
          <a:noFill/>
        </p:spPr>
        <p:txBody>
          <a:bodyPr wrap="square" anchor="t" lIns="25400" rIns="25400" tIns="12700" bIns="12700">
            <a:spAutoFit/>
          </a:bodyPr>
          <a:lstStyle/>
          <a:p>
            <a:pPr algn="l">
              <a:lnSpc>
                <a:spcPct val="115000"/>
              </a:lnSpc>
            </a:pPr>
            <a:r>
              <a:rPr sz="760" b="1">
                <a:solidFill>
                  <a:srgbClr val="FFFFFF"/>
                </a:solidFill>
              </a:rPr>
              <a:t>STEP 1</a:t>
            </a:r>
          </a:p>
        </p:txBody>
      </p:sp>
      <p:sp>
        <p:nvSpPr>
          <p:cNvPr id="8" name="TextBox 7"/>
          <p:cNvSpPr txBox="1"/>
          <p:nvPr/>
        </p:nvSpPr>
        <p:spPr>
          <a:xfrm>
            <a:off x="886968" y="1481328"/>
            <a:ext cx="2084831" cy="402336"/>
          </a:xfrm>
          <a:prstGeom prst="rect">
            <a:avLst/>
          </a:prstGeom>
          <a:noFill/>
        </p:spPr>
        <p:txBody>
          <a:bodyPr wrap="square" anchor="t" lIns="25400" rIns="25400" tIns="12700" bIns="12700">
            <a:spAutoFit/>
          </a:bodyPr>
          <a:lstStyle/>
          <a:p>
            <a:pPr algn="l">
              <a:lnSpc>
                <a:spcPct val="110000"/>
              </a:lnSpc>
            </a:pPr>
            <a:r>
              <a:rPr sz="1089" b="1">
                <a:solidFill>
                  <a:srgbClr val="FFFFFF"/>
                </a:solidFill>
              </a:rPr>
              <a:t>SharePoint準備</a:t>
            </a:r>
          </a:p>
        </p:txBody>
      </p:sp>
      <p:sp>
        <p:nvSpPr>
          <p:cNvPr id="9" name="TextBox 8"/>
          <p:cNvSpPr txBox="1"/>
          <p:nvPr/>
        </p:nvSpPr>
        <p:spPr>
          <a:xfrm>
            <a:off x="3282696" y="1188720"/>
            <a:ext cx="8028432" cy="786384"/>
          </a:xfrm>
          <a:prstGeom prst="rect">
            <a:avLst/>
          </a:prstGeom>
          <a:noFill/>
        </p:spPr>
        <p:txBody>
          <a:bodyPr wrap="square" anchor="t" lIns="25400" rIns="25400" tIns="12700" bIns="12700">
            <a:spAutoFit/>
          </a:bodyPr>
          <a:lstStyle/>
          <a:p>
            <a:pPr algn="l">
              <a:lnSpc>
                <a:spcPct val="134000"/>
              </a:lnSpc>
            </a:pPr>
            <a:r>
              <a:rPr sz="1089" b="0">
                <a:solidFill>
                  <a:srgbClr val="232323"/>
                </a:solidFill>
              </a:rPr>
              <a:t>・チーム別サイトまたは検証用サイトにライブラリ/リストを作成</a:t>
            </a:r>
          </a:p>
          <a:p>
            <a:pPr algn="l">
              <a:lnSpc>
                <a:spcPct val="134000"/>
              </a:lnSpc>
            </a:pPr>
            <a:r>
              <a:rPr sz="1089" b="0">
                <a:solidFill>
                  <a:srgbClr val="232323"/>
                </a:solidFill>
              </a:rPr>
              <a:t>・入力データ、ナレッジ、出力結果を分けて保管</a:t>
            </a:r>
          </a:p>
        </p:txBody>
      </p:sp>
      <p:sp>
        <p:nvSpPr>
          <p:cNvPr id="10" name="Rectangle 9"/>
          <p:cNvSpPr/>
          <p:nvPr/>
        </p:nvSpPr>
        <p:spPr>
          <a:xfrm>
            <a:off x="740664" y="2057400"/>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4" y="2057400"/>
            <a:ext cx="2377440" cy="7863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130552"/>
            <a:ext cx="2084831" cy="219456"/>
          </a:xfrm>
          <a:prstGeom prst="rect">
            <a:avLst/>
          </a:prstGeom>
          <a:noFill/>
        </p:spPr>
        <p:txBody>
          <a:bodyPr wrap="square" anchor="t" lIns="25400" rIns="25400" tIns="12700" bIns="12700">
            <a:spAutoFit/>
          </a:bodyPr>
          <a:lstStyle/>
          <a:p>
            <a:pPr algn="l">
              <a:lnSpc>
                <a:spcPct val="115000"/>
              </a:lnSpc>
            </a:pPr>
            <a:r>
              <a:rPr sz="760" b="1">
                <a:solidFill>
                  <a:srgbClr val="FFFFFF"/>
                </a:solidFill>
              </a:rPr>
              <a:t>STEP 2</a:t>
            </a:r>
          </a:p>
        </p:txBody>
      </p:sp>
      <p:sp>
        <p:nvSpPr>
          <p:cNvPr id="13" name="TextBox 12"/>
          <p:cNvSpPr txBox="1"/>
          <p:nvPr/>
        </p:nvSpPr>
        <p:spPr>
          <a:xfrm>
            <a:off x="886968" y="2350008"/>
            <a:ext cx="2084831" cy="402336"/>
          </a:xfrm>
          <a:prstGeom prst="rect">
            <a:avLst/>
          </a:prstGeom>
          <a:noFill/>
        </p:spPr>
        <p:txBody>
          <a:bodyPr wrap="square" anchor="t" lIns="25400" rIns="25400" tIns="12700" bIns="12700">
            <a:spAutoFit/>
          </a:bodyPr>
          <a:lstStyle/>
          <a:p>
            <a:pPr algn="l">
              <a:lnSpc>
                <a:spcPct val="110000"/>
              </a:lnSpc>
            </a:pPr>
            <a:r>
              <a:rPr sz="1089" b="1">
                <a:solidFill>
                  <a:srgbClr val="FFFFFF"/>
                </a:solidFill>
              </a:rPr>
              <a:t>ダミーデータ配置</a:t>
            </a:r>
          </a:p>
        </p:txBody>
      </p:sp>
      <p:sp>
        <p:nvSpPr>
          <p:cNvPr id="14" name="TextBox 13"/>
          <p:cNvSpPr txBox="1"/>
          <p:nvPr/>
        </p:nvSpPr>
        <p:spPr>
          <a:xfrm>
            <a:off x="3282696" y="2057400"/>
            <a:ext cx="8028432" cy="786384"/>
          </a:xfrm>
          <a:prstGeom prst="rect">
            <a:avLst/>
          </a:prstGeom>
          <a:noFill/>
        </p:spPr>
        <p:txBody>
          <a:bodyPr wrap="square" anchor="t" lIns="25400" rIns="25400" tIns="12700" bIns="12700">
            <a:spAutoFit/>
          </a:bodyPr>
          <a:lstStyle/>
          <a:p>
            <a:pPr algn="l">
              <a:lnSpc>
                <a:spcPct val="134000"/>
              </a:lnSpc>
            </a:pPr>
            <a:r>
              <a:rPr sz="1089" b="0">
                <a:solidFill>
                  <a:srgbClr val="232323"/>
                </a:solidFill>
              </a:rPr>
              <a:t>・07_dummy_data_spec.md に沿ってExcel/CSV/テキストを作成</a:t>
            </a:r>
          </a:p>
          <a:p>
            <a:pPr algn="l">
              <a:lnSpc>
                <a:spcPct val="134000"/>
              </a:lnSpc>
            </a:pPr>
            <a:r>
              <a:rPr sz="1089" b="0">
                <a:solidFill>
                  <a:srgbClr val="232323"/>
                </a:solidFill>
              </a:rPr>
              <a:t>・個人情報・実データは使わない</a:t>
            </a:r>
          </a:p>
        </p:txBody>
      </p:sp>
      <p:sp>
        <p:nvSpPr>
          <p:cNvPr id="15" name="Rectangle 14"/>
          <p:cNvSpPr/>
          <p:nvPr/>
        </p:nvSpPr>
        <p:spPr>
          <a:xfrm>
            <a:off x="740664" y="2926080"/>
            <a:ext cx="10716768" cy="78638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 y="2926080"/>
            <a:ext cx="2377440" cy="7863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2999232"/>
            <a:ext cx="2084831" cy="219456"/>
          </a:xfrm>
          <a:prstGeom prst="rect">
            <a:avLst/>
          </a:prstGeom>
          <a:noFill/>
        </p:spPr>
        <p:txBody>
          <a:bodyPr wrap="square" anchor="t" lIns="25400" rIns="25400" tIns="12700" bIns="12700">
            <a:spAutoFit/>
          </a:bodyPr>
          <a:lstStyle/>
          <a:p>
            <a:pPr algn="l">
              <a:lnSpc>
                <a:spcPct val="115000"/>
              </a:lnSpc>
            </a:pPr>
            <a:r>
              <a:rPr sz="760" b="1">
                <a:solidFill>
                  <a:srgbClr val="FFFFFF"/>
                </a:solidFill>
              </a:rPr>
              <a:t>STEP 3</a:t>
            </a:r>
          </a:p>
        </p:txBody>
      </p:sp>
      <p:sp>
        <p:nvSpPr>
          <p:cNvPr id="18" name="TextBox 17"/>
          <p:cNvSpPr txBox="1"/>
          <p:nvPr/>
        </p:nvSpPr>
        <p:spPr>
          <a:xfrm>
            <a:off x="886968" y="3218688"/>
            <a:ext cx="2084831" cy="402336"/>
          </a:xfrm>
          <a:prstGeom prst="rect">
            <a:avLst/>
          </a:prstGeom>
          <a:noFill/>
        </p:spPr>
        <p:txBody>
          <a:bodyPr wrap="square" anchor="t" lIns="25400" rIns="25400" tIns="12700" bIns="12700">
            <a:spAutoFit/>
          </a:bodyPr>
          <a:lstStyle/>
          <a:p>
            <a:pPr algn="l">
              <a:lnSpc>
                <a:spcPct val="110000"/>
              </a:lnSpc>
            </a:pPr>
            <a:r>
              <a:rPr sz="1089" b="1">
                <a:solidFill>
                  <a:srgbClr val="FFFFFF"/>
                </a:solidFill>
              </a:rPr>
              <a:t>Copilot Studio構築</a:t>
            </a:r>
          </a:p>
        </p:txBody>
      </p:sp>
      <p:sp>
        <p:nvSpPr>
          <p:cNvPr id="19" name="TextBox 18"/>
          <p:cNvSpPr txBox="1"/>
          <p:nvPr/>
        </p:nvSpPr>
        <p:spPr>
          <a:xfrm>
            <a:off x="3282696" y="2926080"/>
            <a:ext cx="8028432" cy="786384"/>
          </a:xfrm>
          <a:prstGeom prst="rect">
            <a:avLst/>
          </a:prstGeom>
          <a:noFill/>
        </p:spPr>
        <p:txBody>
          <a:bodyPr wrap="square" anchor="t" lIns="25400" rIns="25400" tIns="12700" bIns="12700">
            <a:spAutoFit/>
          </a:bodyPr>
          <a:lstStyle/>
          <a:p>
            <a:pPr algn="l">
              <a:lnSpc>
                <a:spcPct val="134000"/>
              </a:lnSpc>
            </a:pPr>
            <a:r>
              <a:rPr sz="1089" b="0">
                <a:solidFill>
                  <a:srgbClr val="232323"/>
                </a:solidFill>
              </a:rPr>
              <a:t>・エージェント名を設定</a:t>
            </a:r>
          </a:p>
          <a:p>
            <a:pPr algn="l">
              <a:lnSpc>
                <a:spcPct val="134000"/>
              </a:lnSpc>
            </a:pPr>
            <a:r>
              <a:rPr sz="1089" b="0">
                <a:solidFill>
                  <a:srgbClr val="232323"/>
                </a:solidFill>
              </a:rPr>
              <a:t>・目的・制約・回答ルールをシステム指示に記載</a:t>
            </a:r>
          </a:p>
          <a:p>
            <a:pPr algn="l">
              <a:lnSpc>
                <a:spcPct val="134000"/>
              </a:lnSpc>
            </a:pPr>
            <a:r>
              <a:rPr sz="1089" b="0">
                <a:solidFill>
                  <a:srgbClr val="232323"/>
                </a:solidFill>
              </a:rPr>
              <a:t>・SharePointナレッジまたは入力ファイルを参照する流れを作る</a:t>
            </a:r>
          </a:p>
        </p:txBody>
      </p:sp>
      <p:sp>
        <p:nvSpPr>
          <p:cNvPr id="20" name="Rectangle 19"/>
          <p:cNvSpPr/>
          <p:nvPr/>
        </p:nvSpPr>
        <p:spPr>
          <a:xfrm>
            <a:off x="740664" y="3794760"/>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3794760"/>
            <a:ext cx="2377440" cy="7863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867912"/>
            <a:ext cx="2084831" cy="219456"/>
          </a:xfrm>
          <a:prstGeom prst="rect">
            <a:avLst/>
          </a:prstGeom>
          <a:noFill/>
        </p:spPr>
        <p:txBody>
          <a:bodyPr wrap="square" anchor="t" lIns="25400" rIns="25400" tIns="12700" bIns="12700">
            <a:spAutoFit/>
          </a:bodyPr>
          <a:lstStyle/>
          <a:p>
            <a:pPr algn="l">
              <a:lnSpc>
                <a:spcPct val="115000"/>
              </a:lnSpc>
            </a:pPr>
            <a:r>
              <a:rPr sz="760" b="1">
                <a:solidFill>
                  <a:srgbClr val="FFFFFF"/>
                </a:solidFill>
              </a:rPr>
              <a:t>STEP 4</a:t>
            </a:r>
          </a:p>
        </p:txBody>
      </p:sp>
      <p:sp>
        <p:nvSpPr>
          <p:cNvPr id="23" name="TextBox 22"/>
          <p:cNvSpPr txBox="1"/>
          <p:nvPr/>
        </p:nvSpPr>
        <p:spPr>
          <a:xfrm>
            <a:off x="886968" y="4087368"/>
            <a:ext cx="2084831" cy="402336"/>
          </a:xfrm>
          <a:prstGeom prst="rect">
            <a:avLst/>
          </a:prstGeom>
          <a:noFill/>
        </p:spPr>
        <p:txBody>
          <a:bodyPr wrap="square" anchor="t" lIns="25400" rIns="25400" tIns="12700" bIns="12700">
            <a:spAutoFit/>
          </a:bodyPr>
          <a:lstStyle/>
          <a:p>
            <a:pPr algn="l">
              <a:lnSpc>
                <a:spcPct val="110000"/>
              </a:lnSpc>
            </a:pPr>
            <a:r>
              <a:rPr sz="1089" b="1">
                <a:solidFill>
                  <a:srgbClr val="FFFFFF"/>
                </a:solidFill>
              </a:rPr>
              <a:t>Power Automate（必要時のみ）</a:t>
            </a:r>
          </a:p>
        </p:txBody>
      </p:sp>
      <p:sp>
        <p:nvSpPr>
          <p:cNvPr id="24" name="TextBox 23"/>
          <p:cNvSpPr txBox="1"/>
          <p:nvPr/>
        </p:nvSpPr>
        <p:spPr>
          <a:xfrm>
            <a:off x="3282696" y="3794760"/>
            <a:ext cx="8028432" cy="786384"/>
          </a:xfrm>
          <a:prstGeom prst="rect">
            <a:avLst/>
          </a:prstGeom>
          <a:noFill/>
        </p:spPr>
        <p:txBody>
          <a:bodyPr wrap="square" anchor="t" lIns="25400" rIns="25400" tIns="12700" bIns="12700">
            <a:spAutoFit/>
          </a:bodyPr>
          <a:lstStyle/>
          <a:p>
            <a:pPr algn="l">
              <a:lnSpc>
                <a:spcPct val="134000"/>
              </a:lnSpc>
            </a:pPr>
            <a:r>
              <a:rPr sz="1089" b="0">
                <a:solidFill>
                  <a:srgbClr val="232323"/>
                </a:solidFill>
              </a:rPr>
              <a:t>・標準コネクタでSPO/Teams/Outlookに限定</a:t>
            </a:r>
          </a:p>
          <a:p>
            <a:pPr algn="l">
              <a:lnSpc>
                <a:spcPct val="134000"/>
              </a:lnSpc>
            </a:pPr>
            <a:r>
              <a:rPr sz="1089" b="0">
                <a:solidFill>
                  <a:srgbClr val="232323"/>
                </a:solidFill>
              </a:rPr>
              <a:t>・エージェントフローを直接呼ぶ場合は When an agent calls the flow</a:t>
            </a:r>
          </a:p>
          <a:p>
            <a:pPr algn="l">
              <a:lnSpc>
                <a:spcPct val="134000"/>
              </a:lnSpc>
            </a:pPr>
            <a:r>
              <a:rPr sz="1089" b="0">
                <a:solidFill>
                  <a:srgbClr val="232323"/>
                </a:solidFill>
              </a:rPr>
              <a:t>・直接連携しない場合は、人手操作やSPOアイテム作成を介した回避設計を検討</a:t>
            </a:r>
          </a:p>
        </p:txBody>
      </p:sp>
      <p:sp>
        <p:nvSpPr>
          <p:cNvPr id="25" name="Rectangle 24"/>
          <p:cNvSpPr/>
          <p:nvPr/>
        </p:nvSpPr>
        <p:spPr>
          <a:xfrm>
            <a:off x="740664" y="4663440"/>
            <a:ext cx="10716768" cy="78638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0664" y="4663440"/>
            <a:ext cx="2377440" cy="7863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 y="4736592"/>
            <a:ext cx="2084831" cy="219456"/>
          </a:xfrm>
          <a:prstGeom prst="rect">
            <a:avLst/>
          </a:prstGeom>
          <a:noFill/>
        </p:spPr>
        <p:txBody>
          <a:bodyPr wrap="square" anchor="t" lIns="25400" rIns="25400" tIns="12700" bIns="12700">
            <a:spAutoFit/>
          </a:bodyPr>
          <a:lstStyle/>
          <a:p>
            <a:pPr algn="l">
              <a:lnSpc>
                <a:spcPct val="115000"/>
              </a:lnSpc>
            </a:pPr>
            <a:r>
              <a:rPr sz="760" b="1">
                <a:solidFill>
                  <a:srgbClr val="FFFFFF"/>
                </a:solidFill>
              </a:rPr>
              <a:t>STEP 5</a:t>
            </a:r>
          </a:p>
        </p:txBody>
      </p:sp>
      <p:sp>
        <p:nvSpPr>
          <p:cNvPr id="28" name="TextBox 27"/>
          <p:cNvSpPr txBox="1"/>
          <p:nvPr/>
        </p:nvSpPr>
        <p:spPr>
          <a:xfrm>
            <a:off x="886968" y="4956048"/>
            <a:ext cx="2084831" cy="402336"/>
          </a:xfrm>
          <a:prstGeom prst="rect">
            <a:avLst/>
          </a:prstGeom>
          <a:noFill/>
        </p:spPr>
        <p:txBody>
          <a:bodyPr wrap="square" anchor="t" lIns="25400" rIns="25400" tIns="12700" bIns="12700">
            <a:spAutoFit/>
          </a:bodyPr>
          <a:lstStyle/>
          <a:p>
            <a:pPr algn="l">
              <a:lnSpc>
                <a:spcPct val="110000"/>
              </a:lnSpc>
            </a:pPr>
            <a:r>
              <a:rPr sz="1089" b="1">
                <a:solidFill>
                  <a:srgbClr val="FFFFFF"/>
                </a:solidFill>
              </a:rPr>
              <a:t>テスト</a:t>
            </a:r>
          </a:p>
        </p:txBody>
      </p:sp>
      <p:sp>
        <p:nvSpPr>
          <p:cNvPr id="29" name="TextBox 28"/>
          <p:cNvSpPr txBox="1"/>
          <p:nvPr/>
        </p:nvSpPr>
        <p:spPr>
          <a:xfrm>
            <a:off x="3282696" y="4663440"/>
            <a:ext cx="8028432" cy="786384"/>
          </a:xfrm>
          <a:prstGeom prst="rect">
            <a:avLst/>
          </a:prstGeom>
          <a:noFill/>
        </p:spPr>
        <p:txBody>
          <a:bodyPr wrap="square" anchor="t" lIns="25400" rIns="25400" tIns="12700" bIns="12700">
            <a:spAutoFit/>
          </a:bodyPr>
          <a:lstStyle/>
          <a:p>
            <a:pPr algn="l">
              <a:lnSpc>
                <a:spcPct val="134000"/>
              </a:lnSpc>
            </a:pPr>
            <a:r>
              <a:rPr sz="1089" b="0">
                <a:solidFill>
                  <a:srgbClr val="232323"/>
                </a:solidFill>
              </a:rPr>
              <a:t>・08_minimum_test_cases.md の正常系・不足系・例外系を実施</a:t>
            </a:r>
          </a:p>
          <a:p>
            <a:pPr algn="l">
              <a:lnSpc>
                <a:spcPct val="134000"/>
              </a:lnSpc>
            </a:pPr>
            <a:r>
              <a:rPr sz="1089" b="0">
                <a:solidFill>
                  <a:srgbClr val="232323"/>
                </a:solidFill>
              </a:rPr>
              <a:t>・AI出力を人が確認し、誤りや不足を記録</a:t>
            </a:r>
          </a:p>
        </p:txBody>
      </p:sp>
      <p:sp>
        <p:nvSpPr>
          <p:cNvPr id="30" name="Rectangle 29"/>
          <p:cNvSpPr/>
          <p:nvPr/>
        </p:nvSpPr>
        <p:spPr>
          <a:xfrm>
            <a:off x="740664" y="5541264"/>
            <a:ext cx="10716768" cy="786384"/>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0664" y="5541264"/>
            <a:ext cx="64008" cy="786384"/>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5596128"/>
            <a:ext cx="10277856" cy="237744"/>
          </a:xfrm>
          <a:prstGeom prst="rect">
            <a:avLst/>
          </a:prstGeom>
          <a:noFill/>
        </p:spPr>
        <p:txBody>
          <a:bodyPr wrap="square" anchor="t" lIns="25400" rIns="25400" tIns="12700" bIns="12700">
            <a:spAutoFit/>
          </a:bodyPr>
          <a:lstStyle/>
          <a:p>
            <a:pPr algn="l">
              <a:lnSpc>
                <a:spcPct val="115000"/>
              </a:lnSpc>
            </a:pPr>
            <a:r>
              <a:rPr sz="1089" b="1">
                <a:solidFill>
                  <a:srgbClr val="1B5C80"/>
                </a:solidFill>
              </a:rPr>
              <a:t>先回り検証ポイント（全チーム共通・試作中に必ず確認する）</a:t>
            </a:r>
          </a:p>
        </p:txBody>
      </p:sp>
      <p:sp>
        <p:nvSpPr>
          <p:cNvPr id="33" name="TextBox 32"/>
          <p:cNvSpPr txBox="1"/>
          <p:nvPr/>
        </p:nvSpPr>
        <p:spPr>
          <a:xfrm>
            <a:off x="960120" y="5852160"/>
            <a:ext cx="2459736" cy="402336"/>
          </a:xfrm>
          <a:prstGeom prst="rect">
            <a:avLst/>
          </a:prstGeom>
          <a:noFill/>
        </p:spPr>
        <p:txBody>
          <a:bodyPr wrap="square" anchor="t" lIns="25400" rIns="25400" tIns="12700" bIns="12700">
            <a:spAutoFit/>
          </a:bodyPr>
          <a:lstStyle/>
          <a:p>
            <a:pPr algn="l">
              <a:lnSpc>
                <a:spcPct val="120000"/>
              </a:lnSpc>
            </a:pPr>
            <a:r>
              <a:rPr sz="900" b="0">
                <a:solidFill>
                  <a:srgbClr val="232323"/>
                </a:solidFill>
              </a:rPr>
              <a:t>□ ダミーデータ1件で期待出力が出るか</a:t>
            </a:r>
          </a:p>
        </p:txBody>
      </p:sp>
      <p:sp>
        <p:nvSpPr>
          <p:cNvPr id="34" name="TextBox 33"/>
          <p:cNvSpPr txBox="1"/>
          <p:nvPr/>
        </p:nvSpPr>
        <p:spPr>
          <a:xfrm>
            <a:off x="3529584" y="5852160"/>
            <a:ext cx="2459736" cy="402336"/>
          </a:xfrm>
          <a:prstGeom prst="rect">
            <a:avLst/>
          </a:prstGeom>
          <a:noFill/>
        </p:spPr>
        <p:txBody>
          <a:bodyPr wrap="square" anchor="t" lIns="25400" rIns="25400" tIns="12700" bIns="12700">
            <a:spAutoFit/>
          </a:bodyPr>
          <a:lstStyle/>
          <a:p>
            <a:pPr algn="l">
              <a:lnSpc>
                <a:spcPct val="120000"/>
              </a:lnSpc>
            </a:pPr>
            <a:r>
              <a:rPr sz="900" b="0">
                <a:solidFill>
                  <a:srgbClr val="232323"/>
                </a:solidFill>
              </a:rPr>
              <a:t>□ AI出力の根拠が説明できるか</a:t>
            </a:r>
          </a:p>
        </p:txBody>
      </p:sp>
      <p:sp>
        <p:nvSpPr>
          <p:cNvPr id="35" name="TextBox 34"/>
          <p:cNvSpPr txBox="1"/>
          <p:nvPr/>
        </p:nvSpPr>
        <p:spPr>
          <a:xfrm>
            <a:off x="6099048" y="5852160"/>
            <a:ext cx="2459736" cy="402336"/>
          </a:xfrm>
          <a:prstGeom prst="rect">
            <a:avLst/>
          </a:prstGeom>
          <a:noFill/>
        </p:spPr>
        <p:txBody>
          <a:bodyPr wrap="square" anchor="t" lIns="25400" rIns="25400" tIns="12700" bIns="12700">
            <a:spAutoFit/>
          </a:bodyPr>
          <a:lstStyle/>
          <a:p>
            <a:pPr algn="l">
              <a:lnSpc>
                <a:spcPct val="120000"/>
              </a:lnSpc>
            </a:pPr>
            <a:r>
              <a:rPr sz="900" b="0">
                <a:solidFill>
                  <a:srgbClr val="232323"/>
                </a:solidFill>
              </a:rPr>
              <a:t>□ 人の確認ポイントが明確か</a:t>
            </a:r>
          </a:p>
        </p:txBody>
      </p:sp>
      <p:sp>
        <p:nvSpPr>
          <p:cNvPr id="36" name="TextBox 35"/>
          <p:cNvSpPr txBox="1"/>
          <p:nvPr/>
        </p:nvSpPr>
        <p:spPr>
          <a:xfrm>
            <a:off x="8668512" y="5852160"/>
            <a:ext cx="2459736" cy="402336"/>
          </a:xfrm>
          <a:prstGeom prst="rect">
            <a:avLst/>
          </a:prstGeom>
          <a:noFill/>
        </p:spPr>
        <p:txBody>
          <a:bodyPr wrap="square" anchor="t" lIns="25400" rIns="25400" tIns="12700" bIns="12700">
            <a:spAutoFit/>
          </a:bodyPr>
          <a:lstStyle/>
          <a:p>
            <a:pPr algn="l">
              <a:lnSpc>
                <a:spcPct val="120000"/>
              </a:lnSpc>
            </a:pPr>
            <a:r>
              <a:rPr sz="900" b="0">
                <a:solidFill>
                  <a:srgbClr val="232323"/>
                </a:solidFill>
              </a:rPr>
              <a:t>□ 制約違反となるアプリやコネクタを使っていないか</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ダミーデータ方針・MVP範囲・最低限テストケース</a:t>
            </a:r>
          </a:p>
        </p:txBody>
      </p:sp>
      <p:sp>
        <p:nvSpPr>
          <p:cNvPr id="3" name="Text Placeholder 2"/>
          <p:cNvSpPr>
            <a:spLocks noGrp="1"/>
          </p:cNvSpPr>
          <p:nvPr>
            <p:ph type="body" idx="2" sz="half"/>
          </p:nvPr>
        </p:nvSpPr>
        <p:spPr/>
        <p:txBody>
          <a:bodyPr wrap="square" tIns="0" bIns="0"/>
          <a:lstStyle/>
          <a:p>
            <a:r>
              <a:rPr sz="1270">
                <a:solidFill>
                  <a:srgbClr val="595959"/>
                </a:solidFill>
              </a:rPr>
              <a:t>いずれも全チーム共通。チーム固有の入出力とサンプルは各チームのページを参照</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10</a:t>
            </a:r>
          </a:p>
        </p:txBody>
      </p:sp>
      <p:sp>
        <p:nvSpPr>
          <p:cNvPr id="5" name="Rectangle 4"/>
          <p:cNvSpPr/>
          <p:nvPr/>
        </p:nvSpPr>
        <p:spPr>
          <a:xfrm>
            <a:off x="740664" y="1170432"/>
            <a:ext cx="5294376" cy="21031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1170432"/>
            <a:ext cx="5294376" cy="29260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170432"/>
            <a:ext cx="5074920" cy="292608"/>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ダミーデータ方針</a:t>
            </a:r>
          </a:p>
        </p:txBody>
      </p:sp>
      <p:sp>
        <p:nvSpPr>
          <p:cNvPr id="8" name="TextBox 7"/>
          <p:cNvSpPr txBox="1"/>
          <p:nvPr/>
        </p:nvSpPr>
        <p:spPr>
          <a:xfrm>
            <a:off x="905256" y="1517904"/>
            <a:ext cx="4965192" cy="914400"/>
          </a:xfrm>
          <a:prstGeom prst="rect">
            <a:avLst/>
          </a:prstGeom>
          <a:noFill/>
        </p:spPr>
        <p:txBody>
          <a:bodyPr wrap="square" anchor="t" lIns="25400" rIns="25400" tIns="12700" bIns="12700">
            <a:spAutoFit/>
          </a:bodyPr>
          <a:lstStyle/>
          <a:p>
            <a:pPr algn="l">
              <a:lnSpc>
                <a:spcPct val="130000"/>
              </a:lnSpc>
            </a:pPr>
            <a:r>
              <a:rPr sz="900" b="0">
                <a:solidFill>
                  <a:srgbClr val="232323"/>
                </a:solidFill>
              </a:rPr>
              <a:t>・実顧客名、実社員名、実取引先名を使わない。</a:t>
            </a:r>
          </a:p>
          <a:p>
            <a:pPr algn="l">
              <a:lnSpc>
                <a:spcPct val="130000"/>
              </a:lnSpc>
            </a:pPr>
            <a:r>
              <a:rPr sz="900" b="0">
                <a:solidFill>
                  <a:srgbClr val="232323"/>
                </a:solidFill>
              </a:rPr>
              <a:t>・店舗名、案件名、担当者名は架空名称にする。</a:t>
            </a:r>
          </a:p>
          <a:p>
            <a:pPr algn="l">
              <a:lnSpc>
                <a:spcPct val="130000"/>
              </a:lnSpc>
            </a:pPr>
            <a:r>
              <a:rPr sz="900" b="0">
                <a:solidFill>
                  <a:srgbClr val="232323"/>
                </a:solidFill>
              </a:rPr>
              <a:t>・実メールアドレス、電話番号、住所を使わない。</a:t>
            </a:r>
          </a:p>
          <a:p>
            <a:pPr algn="l">
              <a:lnSpc>
                <a:spcPct val="130000"/>
              </a:lnSpc>
            </a:pPr>
            <a:r>
              <a:rPr sz="900" b="0">
                <a:solidFill>
                  <a:srgbClr val="232323"/>
                </a:solidFill>
              </a:rPr>
              <a:t>・金額・件数は現実的だが仮の値にする。</a:t>
            </a:r>
          </a:p>
          <a:p>
            <a:pPr algn="l">
              <a:lnSpc>
                <a:spcPct val="130000"/>
              </a:lnSpc>
            </a:pPr>
            <a:r>
              <a:rPr sz="900" b="0">
                <a:solidFill>
                  <a:srgbClr val="232323"/>
                </a:solidFill>
              </a:rPr>
              <a:t>・機密情報はカテゴリ名だけで表現する。</a:t>
            </a:r>
          </a:p>
        </p:txBody>
      </p:sp>
      <p:sp>
        <p:nvSpPr>
          <p:cNvPr id="9" name="TextBox 8"/>
          <p:cNvSpPr txBox="1"/>
          <p:nvPr/>
        </p:nvSpPr>
        <p:spPr>
          <a:xfrm>
            <a:off x="905256" y="2450592"/>
            <a:ext cx="4965192" cy="786384"/>
          </a:xfrm>
          <a:prstGeom prst="rect">
            <a:avLst/>
          </a:prstGeom>
          <a:noFill/>
        </p:spPr>
        <p:txBody>
          <a:bodyPr wrap="square" anchor="t" lIns="25400" rIns="25400" tIns="12700" bIns="12700">
            <a:spAutoFit/>
          </a:bodyPr>
          <a:lstStyle/>
          <a:p>
            <a:pPr algn="l">
              <a:lnSpc>
                <a:spcPct val="130000"/>
              </a:lnSpc>
            </a:pPr>
            <a:r>
              <a:rPr sz="900" b="0">
                <a:solidFill>
                  <a:srgbClr val="1B5C80"/>
                </a:solidFill>
              </a:rPr>
              <a:t>推奨列（全チーム共通）： ID／タイトル／内容／カテゴリ／担当候補／期限／ステータス／備考</a:t>
            </a:r>
          </a:p>
          <a:p>
            <a:pPr algn="l">
              <a:lnSpc>
                <a:spcPct val="130000"/>
              </a:lnSpc>
            </a:pPr>
            <a:r>
              <a:rPr sz="900" b="0">
                <a:solidFill>
                  <a:srgbClr val="1B5C80"/>
                </a:solidFill>
              </a:rPr>
              <a:t>件数の目安： 5〜10件程度でよい／正常データ、軽微な不備データ、判断が難しいデータを混ぜる</a:t>
            </a:r>
          </a:p>
        </p:txBody>
      </p:sp>
      <p:sp>
        <p:nvSpPr>
          <p:cNvPr id="10" name="Rectangle 9"/>
          <p:cNvSpPr/>
          <p:nvPr/>
        </p:nvSpPr>
        <p:spPr>
          <a:xfrm>
            <a:off x="6163056" y="1170432"/>
            <a:ext cx="5294376" cy="21031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170432"/>
            <a:ext cx="5294376" cy="29260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170432"/>
            <a:ext cx="5038344" cy="292608"/>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MVP範囲（全チーム共通）</a:t>
            </a:r>
          </a:p>
        </p:txBody>
      </p:sp>
      <p:sp>
        <p:nvSpPr>
          <p:cNvPr id="13" name="TextBox 12"/>
          <p:cNvSpPr txBox="1"/>
          <p:nvPr/>
        </p:nvSpPr>
        <p:spPr>
          <a:xfrm>
            <a:off x="6327648" y="1536192"/>
            <a:ext cx="2377440" cy="201168"/>
          </a:xfrm>
          <a:prstGeom prst="rect">
            <a:avLst/>
          </a:prstGeom>
          <a:noFill/>
        </p:spPr>
        <p:txBody>
          <a:bodyPr wrap="square" anchor="t" lIns="25400" rIns="25400" tIns="12700" bIns="12700">
            <a:spAutoFit/>
          </a:bodyPr>
          <a:lstStyle/>
          <a:p>
            <a:pPr algn="l">
              <a:lnSpc>
                <a:spcPct val="115000"/>
              </a:lnSpc>
            </a:pPr>
            <a:r>
              <a:rPr sz="900" b="1">
                <a:solidFill>
                  <a:srgbClr val="1B5C80"/>
                </a:solidFill>
              </a:rPr>
              <a:t>MVPスコープ</a:t>
            </a:r>
          </a:p>
        </p:txBody>
      </p:sp>
      <p:sp>
        <p:nvSpPr>
          <p:cNvPr id="14" name="TextBox 13"/>
          <p:cNvSpPr txBox="1"/>
          <p:nvPr/>
        </p:nvSpPr>
        <p:spPr>
          <a:xfrm>
            <a:off x="6327648" y="1755648"/>
            <a:ext cx="2377440" cy="1316736"/>
          </a:xfrm>
          <a:prstGeom prst="rect">
            <a:avLst/>
          </a:prstGeom>
          <a:noFill/>
        </p:spPr>
        <p:txBody>
          <a:bodyPr wrap="square" anchor="t" lIns="25400" rIns="25400" tIns="12700" bIns="12700">
            <a:spAutoFit/>
          </a:bodyPr>
          <a:lstStyle/>
          <a:p>
            <a:pPr algn="l">
              <a:lnSpc>
                <a:spcPct val="134000"/>
              </a:lnSpc>
            </a:pPr>
            <a:r>
              <a:rPr sz="900" b="0">
                <a:solidFill>
                  <a:srgbClr val="232323"/>
                </a:solidFill>
              </a:rPr>
              <a:t>・入力はダミーデータ1パターン</a:t>
            </a:r>
          </a:p>
          <a:p>
            <a:pPr algn="l">
              <a:lnSpc>
                <a:spcPct val="134000"/>
              </a:lnSpc>
            </a:pPr>
            <a:r>
              <a:rPr sz="900" b="0">
                <a:solidFill>
                  <a:srgbClr val="232323"/>
                </a:solidFill>
              </a:rPr>
              <a:t>・処理は代表ユースケース1本</a:t>
            </a:r>
          </a:p>
          <a:p>
            <a:pPr algn="l">
              <a:lnSpc>
                <a:spcPct val="134000"/>
              </a:lnSpc>
            </a:pPr>
            <a:r>
              <a:rPr sz="900" b="0">
                <a:solidFill>
                  <a:srgbClr val="232323"/>
                </a:solidFill>
              </a:rPr>
              <a:t>・出力は確認可能な形式1つ</a:t>
            </a:r>
          </a:p>
          <a:p>
            <a:pPr algn="l">
              <a:lnSpc>
                <a:spcPct val="134000"/>
              </a:lnSpc>
            </a:pPr>
            <a:r>
              <a:rPr sz="900" b="0">
                <a:solidFill>
                  <a:srgbClr val="232323"/>
                </a:solidFill>
              </a:rPr>
              <a:t>・人の確認を必ず含める</a:t>
            </a:r>
          </a:p>
        </p:txBody>
      </p:sp>
      <p:sp>
        <p:nvSpPr>
          <p:cNvPr id="15" name="TextBox 14"/>
          <p:cNvSpPr txBox="1"/>
          <p:nvPr/>
        </p:nvSpPr>
        <p:spPr>
          <a:xfrm>
            <a:off x="8851392" y="1536192"/>
            <a:ext cx="2432304" cy="201168"/>
          </a:xfrm>
          <a:prstGeom prst="rect">
            <a:avLst/>
          </a:prstGeom>
          <a:noFill/>
        </p:spPr>
        <p:txBody>
          <a:bodyPr wrap="square" anchor="t" lIns="25400" rIns="25400" tIns="12700" bIns="12700">
            <a:spAutoFit/>
          </a:bodyPr>
          <a:lstStyle/>
          <a:p>
            <a:pPr algn="l">
              <a:lnSpc>
                <a:spcPct val="115000"/>
              </a:lnSpc>
            </a:pPr>
            <a:r>
              <a:rPr sz="900" b="1">
                <a:solidFill>
                  <a:srgbClr val="1B5C80"/>
                </a:solidFill>
              </a:rPr>
              <a:t>非MVP範囲</a:t>
            </a:r>
          </a:p>
        </p:txBody>
      </p:sp>
      <p:sp>
        <p:nvSpPr>
          <p:cNvPr id="16" name="TextBox 15"/>
          <p:cNvSpPr txBox="1"/>
          <p:nvPr/>
        </p:nvSpPr>
        <p:spPr>
          <a:xfrm>
            <a:off x="8851392" y="1755648"/>
            <a:ext cx="2432304" cy="1316736"/>
          </a:xfrm>
          <a:prstGeom prst="rect">
            <a:avLst/>
          </a:prstGeom>
          <a:noFill/>
        </p:spPr>
        <p:txBody>
          <a:bodyPr wrap="square" anchor="t" lIns="25400" rIns="25400" tIns="12700" bIns="12700">
            <a:spAutoFit/>
          </a:bodyPr>
          <a:lstStyle/>
          <a:p>
            <a:pPr algn="l">
              <a:lnSpc>
                <a:spcPct val="134000"/>
              </a:lnSpc>
            </a:pPr>
            <a:r>
              <a:rPr sz="900" b="0">
                <a:solidFill>
                  <a:srgbClr val="232323"/>
                </a:solidFill>
              </a:rPr>
              <a:t>× 全量データ対応</a:t>
            </a:r>
          </a:p>
          <a:p>
            <a:pPr algn="l">
              <a:lnSpc>
                <a:spcPct val="134000"/>
              </a:lnSpc>
            </a:pPr>
            <a:r>
              <a:rPr sz="900" b="0">
                <a:solidFill>
                  <a:srgbClr val="232323"/>
                </a:solidFill>
              </a:rPr>
              <a:t>× 本番移行</a:t>
            </a:r>
          </a:p>
          <a:p>
            <a:pPr algn="l">
              <a:lnSpc>
                <a:spcPct val="134000"/>
              </a:lnSpc>
            </a:pPr>
            <a:r>
              <a:rPr sz="900" b="0">
                <a:solidFill>
                  <a:srgbClr val="232323"/>
                </a:solidFill>
              </a:rPr>
              <a:t>× 高度な例外処理</a:t>
            </a:r>
          </a:p>
          <a:p>
            <a:pPr algn="l">
              <a:lnSpc>
                <a:spcPct val="134000"/>
              </a:lnSpc>
            </a:pPr>
            <a:r>
              <a:rPr sz="900" b="0">
                <a:solidFill>
                  <a:srgbClr val="232323"/>
                </a:solidFill>
              </a:rPr>
              <a:t>× 外部Web/API連携</a:t>
            </a:r>
          </a:p>
          <a:p>
            <a:pPr algn="l">
              <a:lnSpc>
                <a:spcPct val="134000"/>
              </a:lnSpc>
            </a:pPr>
            <a:r>
              <a:rPr sz="900" b="0">
                <a:solidFill>
                  <a:srgbClr val="232323"/>
                </a:solidFill>
              </a:rPr>
              <a:t>× Power BI / Dataverse / Premium</a:t>
            </a:r>
          </a:p>
        </p:txBody>
      </p:sp>
      <p:sp>
        <p:nvSpPr>
          <p:cNvPr id="17" name="Rectangle 16"/>
          <p:cNvSpPr/>
          <p:nvPr/>
        </p:nvSpPr>
        <p:spPr>
          <a:xfrm>
            <a:off x="740664" y="3401568"/>
            <a:ext cx="10716768" cy="268833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0664" y="3401568"/>
            <a:ext cx="10716768"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401568"/>
            <a:ext cx="10497312" cy="310896"/>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最低限テストケース（V1原文）</a:t>
            </a:r>
          </a:p>
        </p:txBody>
      </p:sp>
      <p:graphicFrame>
        <p:nvGraphicFramePr>
          <p:cNvPr id="20" name="Table 19"/>
          <p:cNvGraphicFramePr>
            <a:graphicFrameLocks noGrp="1"/>
          </p:cNvGraphicFramePr>
          <p:nvPr/>
        </p:nvGraphicFramePr>
        <p:xfrm>
          <a:off x="896112" y="3767328"/>
          <a:ext cx="10405872" cy="2304288"/>
        </p:xfrm>
        <a:graphic>
          <a:graphicData uri="http://schemas.openxmlformats.org/drawingml/2006/table">
            <a:tbl>
              <a:tblPr>
                <a:tableStyleId>{5C22544A-7EE6-4342-B048-85BDC9FD1C3A}</a:tableStyleId>
              </a:tblPr>
              <a:tblGrid>
                <a:gridCol w="548640"/>
                <a:gridCol w="1188720"/>
                <a:gridCol w="2560320"/>
                <a:gridCol w="3383280"/>
                <a:gridCol w="2724912"/>
              </a:tblGrid>
              <a:tr h="384048">
                <a:tc>
                  <a:txBody>
                    <a:bodyPr/>
                    <a:lstStyle/>
                    <a:p>
                      <a:pPr algn="ctr">
                        <a:lnSpc>
                          <a:spcPct val="100000"/>
                        </a:lnSpc>
                      </a:pPr>
                      <a:r>
                        <a:rPr sz="1089" b="1">
                          <a:solidFill>
                            <a:srgbClr val="FFFFFF"/>
                          </a:solidFill>
                        </a:rPr>
                        <a:t>No</a:t>
                      </a:r>
                    </a:p>
                  </a:txBody>
                  <a:tcPr marL="63500" marR="63500" marT="25400" marB="25400" anchor="ctr">
                    <a:solidFill>
                      <a:srgbClr val="1B5C80"/>
                    </a:solidFill>
                  </a:tcPr>
                </a:tc>
                <a:tc>
                  <a:txBody>
                    <a:bodyPr/>
                    <a:lstStyle/>
                    <a:p>
                      <a:pPr algn="ctr">
                        <a:lnSpc>
                          <a:spcPct val="100000"/>
                        </a:lnSpc>
                      </a:pPr>
                      <a:r>
                        <a:rPr sz="1089" b="1">
                          <a:solidFill>
                            <a:srgbClr val="FFFFFF"/>
                          </a:solidFill>
                        </a:rPr>
                        <a:t>種別</a:t>
                      </a:r>
                    </a:p>
                  </a:txBody>
                  <a:tcPr marL="63500" marR="63500" marT="25400" marB="25400" anchor="ctr">
                    <a:solidFill>
                      <a:srgbClr val="1B5C80"/>
                    </a:solidFill>
                  </a:tcPr>
                </a:tc>
                <a:tc>
                  <a:txBody>
                    <a:bodyPr/>
                    <a:lstStyle/>
                    <a:p>
                      <a:pPr algn="l">
                        <a:lnSpc>
                          <a:spcPct val="100000"/>
                        </a:lnSpc>
                      </a:pPr>
                      <a:r>
                        <a:rPr sz="1089" b="1">
                          <a:solidFill>
                            <a:srgbClr val="FFFFFF"/>
                          </a:solidFill>
                        </a:rPr>
                        <a:t>入力</a:t>
                      </a:r>
                    </a:p>
                  </a:txBody>
                  <a:tcPr marL="63500" marR="63500" marT="25400" marB="25400" anchor="ctr">
                    <a:solidFill>
                      <a:srgbClr val="1B5C80"/>
                    </a:solidFill>
                  </a:tcPr>
                </a:tc>
                <a:tc>
                  <a:txBody>
                    <a:bodyPr/>
                    <a:lstStyle/>
                    <a:p>
                      <a:pPr algn="l">
                        <a:lnSpc>
                          <a:spcPct val="100000"/>
                        </a:lnSpc>
                      </a:pPr>
                      <a:r>
                        <a:rPr sz="1089" b="1">
                          <a:solidFill>
                            <a:srgbClr val="FFFFFF"/>
                          </a:solidFill>
                        </a:rPr>
                        <a:t>期待結果</a:t>
                      </a:r>
                    </a:p>
                  </a:txBody>
                  <a:tcPr marL="63500" marR="63500" marT="25400" marB="25400" anchor="ctr">
                    <a:solidFill>
                      <a:srgbClr val="1B5C80"/>
                    </a:solidFill>
                  </a:tcPr>
                </a:tc>
                <a:tc>
                  <a:txBody>
                    <a:bodyPr/>
                    <a:lstStyle/>
                    <a:p>
                      <a:pPr algn="l">
                        <a:lnSpc>
                          <a:spcPct val="100000"/>
                        </a:lnSpc>
                      </a:pPr>
                      <a:r>
                        <a:rPr sz="1089" b="1">
                          <a:solidFill>
                            <a:srgbClr val="FFFFFF"/>
                          </a:solidFill>
                        </a:rPr>
                        <a:t>確認観点</a:t>
                      </a:r>
                    </a:p>
                  </a:txBody>
                  <a:tcPr marL="63500" marR="63500" marT="25400" marB="25400" anchor="ctr">
                    <a:solidFill>
                      <a:srgbClr val="1B5C80"/>
                    </a:solidFill>
                  </a:tcPr>
                </a:tc>
              </a:tr>
              <a:tr h="384048">
                <a:tc>
                  <a:txBody>
                    <a:bodyPr/>
                    <a:lstStyle/>
                    <a:p>
                      <a:pPr algn="ctr">
                        <a:lnSpc>
                          <a:spcPct val="100000"/>
                        </a:lnSpc>
                      </a:pPr>
                      <a:r>
                        <a:rPr sz="1089" b="0">
                          <a:solidFill>
                            <a:srgbClr val="232323"/>
                          </a:solidFill>
                        </a:rPr>
                        <a:t>1</a:t>
                      </a:r>
                    </a:p>
                  </a:txBody>
                  <a:tcPr marL="63500" marR="63500" marT="25400" marB="25400" anchor="ctr">
                    <a:solidFill>
                      <a:srgbClr val="FFFFFF"/>
                    </a:solidFill>
                  </a:tcPr>
                </a:tc>
                <a:tc>
                  <a:txBody>
                    <a:bodyPr/>
                    <a:lstStyle/>
                    <a:p>
                      <a:pPr algn="ctr">
                        <a:lnSpc>
                          <a:spcPct val="100000"/>
                        </a:lnSpc>
                      </a:pPr>
                      <a:r>
                        <a:rPr sz="1089" b="0">
                          <a:solidFill>
                            <a:srgbClr val="232323"/>
                          </a:solidFill>
                        </a:rPr>
                        <a:t>正常系</a:t>
                      </a:r>
                    </a:p>
                  </a:txBody>
                  <a:tcPr marL="63500" marR="63500" marT="25400" marB="25400" anchor="ctr">
                    <a:solidFill>
                      <a:srgbClr val="FFFFFF"/>
                    </a:solidFill>
                  </a:tcPr>
                </a:tc>
                <a:tc>
                  <a:txBody>
                    <a:bodyPr/>
                    <a:lstStyle/>
                    <a:p>
                      <a:pPr algn="l">
                        <a:lnSpc>
                          <a:spcPct val="100000"/>
                        </a:lnSpc>
                      </a:pPr>
                      <a:r>
                        <a:rPr sz="1089" b="0">
                          <a:solidFill>
                            <a:srgbClr val="232323"/>
                          </a:solidFill>
                        </a:rPr>
                        <a:t>代表的な入力データ1件</a:t>
                      </a:r>
                    </a:p>
                  </a:txBody>
                  <a:tcPr marL="63500" marR="63500" marT="25400" marB="25400" anchor="ctr">
                    <a:solidFill>
                      <a:srgbClr val="FFFFFF"/>
                    </a:solidFill>
                  </a:tcPr>
                </a:tc>
                <a:tc>
                  <a:txBody>
                    <a:bodyPr/>
                    <a:lstStyle/>
                    <a:p>
                      <a:pPr algn="l">
                        <a:lnSpc>
                          <a:spcPct val="100000"/>
                        </a:lnSpc>
                      </a:pPr>
                      <a:r>
                        <a:rPr sz="1089" b="0">
                          <a:solidFill>
                            <a:srgbClr val="232323"/>
                          </a:solidFill>
                        </a:rPr>
                        <a:t>期待する出力が生成される</a:t>
                      </a:r>
                    </a:p>
                  </a:txBody>
                  <a:tcPr marL="63500" marR="63500" marT="25400" marB="25400" anchor="ctr">
                    <a:solidFill>
                      <a:srgbClr val="FFFFFF"/>
                    </a:solidFill>
                  </a:tcPr>
                </a:tc>
                <a:tc>
                  <a:txBody>
                    <a:bodyPr/>
                    <a:lstStyle/>
                    <a:p>
                      <a:pPr algn="l">
                        <a:lnSpc>
                          <a:spcPct val="100000"/>
                        </a:lnSpc>
                      </a:pPr>
                      <a:r>
                        <a:rPr sz="1089" b="0">
                          <a:solidFill>
                            <a:srgbClr val="232323"/>
                          </a:solidFill>
                        </a:rPr>
                        <a:t>MVPが一本通るか</a:t>
                      </a:r>
                    </a:p>
                  </a:txBody>
                  <a:tcPr marL="63500" marR="63500" marT="25400" marB="25400" anchor="ctr">
                    <a:solidFill>
                      <a:srgbClr val="FFFFFF"/>
                    </a:solidFill>
                  </a:tcPr>
                </a:tc>
              </a:tr>
              <a:tr h="384048">
                <a:tc>
                  <a:txBody>
                    <a:bodyPr/>
                    <a:lstStyle/>
                    <a:p>
                      <a:pPr algn="ctr">
                        <a:lnSpc>
                          <a:spcPct val="100000"/>
                        </a:lnSpc>
                      </a:pPr>
                      <a:r>
                        <a:rPr sz="1089" b="0">
                          <a:solidFill>
                            <a:srgbClr val="232323"/>
                          </a:solidFill>
                        </a:rPr>
                        <a:t>2</a:t>
                      </a:r>
                    </a:p>
                  </a:txBody>
                  <a:tcPr marL="63500" marR="63500" marT="25400" marB="25400" anchor="ctr">
                    <a:solidFill>
                      <a:srgbClr val="DBF1F7"/>
                    </a:solidFill>
                  </a:tcPr>
                </a:tc>
                <a:tc>
                  <a:txBody>
                    <a:bodyPr/>
                    <a:lstStyle/>
                    <a:p>
                      <a:pPr algn="ctr">
                        <a:lnSpc>
                          <a:spcPct val="100000"/>
                        </a:lnSpc>
                      </a:pPr>
                      <a:r>
                        <a:rPr sz="1089" b="0">
                          <a:solidFill>
                            <a:srgbClr val="232323"/>
                          </a:solidFill>
                        </a:rPr>
                        <a:t>入力不足</a:t>
                      </a:r>
                    </a:p>
                  </a:txBody>
                  <a:tcPr marL="63500" marR="63500" marT="25400" marB="25400" anchor="ctr">
                    <a:solidFill>
                      <a:srgbClr val="DBF1F7"/>
                    </a:solidFill>
                  </a:tcPr>
                </a:tc>
                <a:tc>
                  <a:txBody>
                    <a:bodyPr/>
                    <a:lstStyle/>
                    <a:p>
                      <a:pPr algn="l">
                        <a:lnSpc>
                          <a:spcPct val="100000"/>
                        </a:lnSpc>
                      </a:pPr>
                      <a:r>
                        <a:rPr sz="1089" b="0">
                          <a:solidFill>
                            <a:srgbClr val="232323"/>
                          </a:solidFill>
                        </a:rPr>
                        <a:t>必須項目が欠けたデータ</a:t>
                      </a:r>
                    </a:p>
                  </a:txBody>
                  <a:tcPr marL="63500" marR="63500" marT="25400" marB="25400" anchor="ctr">
                    <a:solidFill>
                      <a:srgbClr val="DBF1F7"/>
                    </a:solidFill>
                  </a:tcPr>
                </a:tc>
                <a:tc>
                  <a:txBody>
                    <a:bodyPr/>
                    <a:lstStyle/>
                    <a:p>
                      <a:pPr algn="l">
                        <a:lnSpc>
                          <a:spcPct val="100000"/>
                        </a:lnSpc>
                      </a:pPr>
                      <a:r>
                        <a:rPr sz="1089" b="0">
                          <a:solidFill>
                            <a:srgbClr val="232323"/>
                          </a:solidFill>
                        </a:rPr>
                        <a:t>不足項目を質問または要確認として返す</a:t>
                      </a:r>
                    </a:p>
                  </a:txBody>
                  <a:tcPr marL="63500" marR="63500" marT="25400" marB="25400" anchor="ctr">
                    <a:solidFill>
                      <a:srgbClr val="DBF1F7"/>
                    </a:solidFill>
                  </a:tcPr>
                </a:tc>
                <a:tc>
                  <a:txBody>
                    <a:bodyPr/>
                    <a:lstStyle/>
                    <a:p>
                      <a:pPr algn="l">
                        <a:lnSpc>
                          <a:spcPct val="100000"/>
                        </a:lnSpc>
                      </a:pPr>
                      <a:r>
                        <a:rPr sz="1089" b="0">
                          <a:solidFill>
                            <a:srgbClr val="232323"/>
                          </a:solidFill>
                        </a:rPr>
                        <a:t>AIが勝手に補完しないか</a:t>
                      </a:r>
                    </a:p>
                  </a:txBody>
                  <a:tcPr marL="63500" marR="63500" marT="25400" marB="25400" anchor="ctr">
                    <a:solidFill>
                      <a:srgbClr val="DBF1F7"/>
                    </a:solidFill>
                  </a:tcPr>
                </a:tc>
              </a:tr>
              <a:tr h="384048">
                <a:tc>
                  <a:txBody>
                    <a:bodyPr/>
                    <a:lstStyle/>
                    <a:p>
                      <a:pPr algn="ctr">
                        <a:lnSpc>
                          <a:spcPct val="100000"/>
                        </a:lnSpc>
                      </a:pPr>
                      <a:r>
                        <a:rPr sz="1089" b="0">
                          <a:solidFill>
                            <a:srgbClr val="232323"/>
                          </a:solidFill>
                        </a:rPr>
                        <a:t>3</a:t>
                      </a:r>
                    </a:p>
                  </a:txBody>
                  <a:tcPr marL="63500" marR="63500" marT="25400" marB="25400" anchor="ctr">
                    <a:solidFill>
                      <a:srgbClr val="FFFFFF"/>
                    </a:solidFill>
                  </a:tcPr>
                </a:tc>
                <a:tc>
                  <a:txBody>
                    <a:bodyPr/>
                    <a:lstStyle/>
                    <a:p>
                      <a:pPr algn="ctr">
                        <a:lnSpc>
                          <a:spcPct val="100000"/>
                        </a:lnSpc>
                      </a:pPr>
                      <a:r>
                        <a:rPr sz="1089" b="0">
                          <a:solidFill>
                            <a:srgbClr val="232323"/>
                          </a:solidFill>
                        </a:rPr>
                        <a:t>想定外</a:t>
                      </a:r>
                    </a:p>
                  </a:txBody>
                  <a:tcPr marL="63500" marR="63500" marT="25400" marB="25400" anchor="ctr">
                    <a:solidFill>
                      <a:srgbClr val="FFFFFF"/>
                    </a:solidFill>
                  </a:tcPr>
                </a:tc>
                <a:tc>
                  <a:txBody>
                    <a:bodyPr/>
                    <a:lstStyle/>
                    <a:p>
                      <a:pPr algn="l">
                        <a:lnSpc>
                          <a:spcPct val="100000"/>
                        </a:lnSpc>
                      </a:pPr>
                      <a:r>
                        <a:rPr sz="1089" b="0">
                          <a:solidFill>
                            <a:srgbClr val="232323"/>
                          </a:solidFill>
                        </a:rPr>
                        <a:t>形式が崩れたデータ</a:t>
                      </a:r>
                    </a:p>
                  </a:txBody>
                  <a:tcPr marL="63500" marR="63500" marT="25400" marB="25400" anchor="ctr">
                    <a:solidFill>
                      <a:srgbClr val="FFFFFF"/>
                    </a:solidFill>
                  </a:tcPr>
                </a:tc>
                <a:tc>
                  <a:txBody>
                    <a:bodyPr/>
                    <a:lstStyle/>
                    <a:p>
                      <a:pPr algn="l">
                        <a:lnSpc>
                          <a:spcPct val="100000"/>
                        </a:lnSpc>
                      </a:pPr>
                      <a:r>
                        <a:rPr sz="1089" b="0">
                          <a:solidFill>
                            <a:srgbClr val="232323"/>
                          </a:solidFill>
                        </a:rPr>
                        <a:t>エラーまたは確認依頼を返す</a:t>
                      </a:r>
                    </a:p>
                  </a:txBody>
                  <a:tcPr marL="63500" marR="63500" marT="25400" marB="25400" anchor="ctr">
                    <a:solidFill>
                      <a:srgbClr val="FFFFFF"/>
                    </a:solidFill>
                  </a:tcPr>
                </a:tc>
                <a:tc>
                  <a:txBody>
                    <a:bodyPr/>
                    <a:lstStyle/>
                    <a:p>
                      <a:pPr algn="l">
                        <a:lnSpc>
                          <a:spcPct val="100000"/>
                        </a:lnSpc>
                      </a:pPr>
                      <a:r>
                        <a:rPr sz="1089" b="0">
                          <a:solidFill>
                            <a:srgbClr val="232323"/>
                          </a:solidFill>
                        </a:rPr>
                        <a:t>例外時に止まらないか</a:t>
                      </a:r>
                    </a:p>
                  </a:txBody>
                  <a:tcPr marL="63500" marR="63500" marT="25400" marB="25400" anchor="ctr">
                    <a:solidFill>
                      <a:srgbClr val="FFFFFF"/>
                    </a:solidFill>
                  </a:tcPr>
                </a:tc>
              </a:tr>
              <a:tr h="384048">
                <a:tc>
                  <a:txBody>
                    <a:bodyPr/>
                    <a:lstStyle/>
                    <a:p>
                      <a:pPr algn="ctr">
                        <a:lnSpc>
                          <a:spcPct val="100000"/>
                        </a:lnSpc>
                      </a:pPr>
                      <a:r>
                        <a:rPr sz="1089" b="0">
                          <a:solidFill>
                            <a:srgbClr val="232323"/>
                          </a:solidFill>
                        </a:rPr>
                        <a:t>4</a:t>
                      </a:r>
                    </a:p>
                  </a:txBody>
                  <a:tcPr marL="63500" marR="63500" marT="25400" marB="25400" anchor="ctr">
                    <a:solidFill>
                      <a:srgbClr val="DBF1F7"/>
                    </a:solidFill>
                  </a:tcPr>
                </a:tc>
                <a:tc>
                  <a:txBody>
                    <a:bodyPr/>
                    <a:lstStyle/>
                    <a:p>
                      <a:pPr algn="ctr">
                        <a:lnSpc>
                          <a:spcPct val="100000"/>
                        </a:lnSpc>
                      </a:pPr>
                      <a:r>
                        <a:rPr sz="1089" b="0">
                          <a:solidFill>
                            <a:srgbClr val="232323"/>
                          </a:solidFill>
                        </a:rPr>
                        <a:t>人確認</a:t>
                      </a:r>
                    </a:p>
                  </a:txBody>
                  <a:tcPr marL="63500" marR="63500" marT="25400" marB="25400" anchor="ctr">
                    <a:solidFill>
                      <a:srgbClr val="DBF1F7"/>
                    </a:solidFill>
                  </a:tcPr>
                </a:tc>
                <a:tc>
                  <a:txBody>
                    <a:bodyPr/>
                    <a:lstStyle/>
                    <a:p>
                      <a:pPr algn="l">
                        <a:lnSpc>
                          <a:spcPct val="100000"/>
                        </a:lnSpc>
                      </a:pPr>
                      <a:r>
                        <a:rPr sz="1089" b="0">
                          <a:solidFill>
                            <a:srgbClr val="232323"/>
                          </a:solidFill>
                        </a:rPr>
                        <a:t>判断が分かれるデータ</a:t>
                      </a:r>
                    </a:p>
                  </a:txBody>
                  <a:tcPr marL="63500" marR="63500" marT="25400" marB="25400" anchor="ctr">
                    <a:solidFill>
                      <a:srgbClr val="DBF1F7"/>
                    </a:solidFill>
                  </a:tcPr>
                </a:tc>
                <a:tc>
                  <a:txBody>
                    <a:bodyPr/>
                    <a:lstStyle/>
                    <a:p>
                      <a:pPr algn="l">
                        <a:lnSpc>
                          <a:spcPct val="100000"/>
                        </a:lnSpc>
                      </a:pPr>
                      <a:r>
                        <a:rPr sz="1089" b="0">
                          <a:solidFill>
                            <a:srgbClr val="232323"/>
                          </a:solidFill>
                        </a:rPr>
                        <a:t>人の確認が必要と明示する</a:t>
                      </a:r>
                    </a:p>
                  </a:txBody>
                  <a:tcPr marL="63500" marR="63500" marT="25400" marB="25400" anchor="ctr">
                    <a:solidFill>
                      <a:srgbClr val="DBF1F7"/>
                    </a:solidFill>
                  </a:tcPr>
                </a:tc>
                <a:tc>
                  <a:txBody>
                    <a:bodyPr/>
                    <a:lstStyle/>
                    <a:p>
                      <a:pPr algn="l">
                        <a:lnSpc>
                          <a:spcPct val="100000"/>
                        </a:lnSpc>
                      </a:pPr>
                      <a:r>
                        <a:rPr sz="1089" b="0">
                          <a:solidFill>
                            <a:srgbClr val="232323"/>
                          </a:solidFill>
                        </a:rPr>
                        <a:t>自動判断しすぎないか</a:t>
                      </a:r>
                    </a:p>
                  </a:txBody>
                  <a:tcPr marL="63500" marR="63500" marT="25400" marB="25400" anchor="ctr">
                    <a:solidFill>
                      <a:srgbClr val="DBF1F7"/>
                    </a:solidFill>
                  </a:tcPr>
                </a:tc>
              </a:tr>
              <a:tr h="384048">
                <a:tc>
                  <a:txBody>
                    <a:bodyPr/>
                    <a:lstStyle/>
                    <a:p>
                      <a:pPr algn="ctr">
                        <a:lnSpc>
                          <a:spcPct val="100000"/>
                        </a:lnSpc>
                      </a:pPr>
                      <a:r>
                        <a:rPr sz="1089" b="0">
                          <a:solidFill>
                            <a:srgbClr val="232323"/>
                          </a:solidFill>
                        </a:rPr>
                        <a:t>5</a:t>
                      </a:r>
                    </a:p>
                  </a:txBody>
                  <a:tcPr marL="63500" marR="63500" marT="25400" marB="25400" anchor="ctr">
                    <a:solidFill>
                      <a:srgbClr val="FFFFFF"/>
                    </a:solidFill>
                  </a:tcPr>
                </a:tc>
                <a:tc>
                  <a:txBody>
                    <a:bodyPr/>
                    <a:lstStyle/>
                    <a:p>
                      <a:pPr algn="ctr">
                        <a:lnSpc>
                          <a:spcPct val="100000"/>
                        </a:lnSpc>
                      </a:pPr>
                      <a:r>
                        <a:rPr sz="1089" b="0">
                          <a:solidFill>
                            <a:srgbClr val="232323"/>
                          </a:solidFill>
                        </a:rPr>
                        <a:t>制約確認</a:t>
                      </a:r>
                    </a:p>
                  </a:txBody>
                  <a:tcPr marL="63500" marR="63500" marT="25400" marB="25400" anchor="ctr">
                    <a:solidFill>
                      <a:srgbClr val="FFFFFF"/>
                    </a:solidFill>
                  </a:tcPr>
                </a:tc>
                <a:tc>
                  <a:txBody>
                    <a:bodyPr/>
                    <a:lstStyle/>
                    <a:p>
                      <a:pPr algn="l">
                        <a:lnSpc>
                          <a:spcPct val="100000"/>
                        </a:lnSpc>
                      </a:pPr>
                      <a:r>
                        <a:rPr sz="1089" b="0">
                          <a:solidFill>
                            <a:srgbClr val="232323"/>
                          </a:solidFill>
                        </a:rPr>
                        <a:t>外部Web/APIを使わずに実行</a:t>
                      </a:r>
                    </a:p>
                  </a:txBody>
                  <a:tcPr marL="63500" marR="63500" marT="25400" marB="25400" anchor="ctr">
                    <a:solidFill>
                      <a:srgbClr val="FFFFFF"/>
                    </a:solidFill>
                  </a:tcPr>
                </a:tc>
                <a:tc>
                  <a:txBody>
                    <a:bodyPr/>
                    <a:lstStyle/>
                    <a:p>
                      <a:pPr algn="l">
                        <a:lnSpc>
                          <a:spcPct val="100000"/>
                        </a:lnSpc>
                      </a:pPr>
                      <a:r>
                        <a:rPr sz="1089" b="0">
                          <a:solidFill>
                            <a:srgbClr val="232323"/>
                          </a:solidFill>
                        </a:rPr>
                        <a:t>SharePoint/Excel等だけで処理できる</a:t>
                      </a:r>
                    </a:p>
                  </a:txBody>
                  <a:tcPr marL="63500" marR="63500" marT="25400" marB="25400" anchor="ctr">
                    <a:solidFill>
                      <a:srgbClr val="FFFFFF"/>
                    </a:solidFill>
                  </a:tcPr>
                </a:tc>
                <a:tc>
                  <a:txBody>
                    <a:bodyPr/>
                    <a:lstStyle/>
                    <a:p>
                      <a:pPr algn="l">
                        <a:lnSpc>
                          <a:spcPct val="100000"/>
                        </a:lnSpc>
                      </a:pPr>
                      <a:r>
                        <a:rPr sz="1089" b="0">
                          <a:solidFill>
                            <a:srgbClr val="232323"/>
                          </a:solidFill>
                        </a:rPr>
                        <a:t>ハッカソン制約に適合するか</a:t>
                      </a:r>
                    </a:p>
                  </a:txBody>
                  <a:tcPr marL="63500" marR="63500" marT="25400" marB="25400" anchor="ctr">
                    <a:solidFill>
                      <a:srgbClr val="FFFFFF"/>
                    </a:solidFill>
                  </a:tcPr>
                </a:tc>
              </a:tr>
            </a:tbl>
          </a:graphicData>
        </a:graphic>
      </p:graphicFrame>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T01 提出様式チェックAI（カクニンジャ）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11</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ナレッジ参照＋ファイル確認型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提出様式の記載漏れ・形式不備をAIで確認し、修正指示案を出す。</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1種類の提出様式、10項目程度のチェック基準で、AI判定→人確認まで一本通す。</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提出様式ファイル、チェック基準、記載例</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不備一覧、修正指示案、確認コメント</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692997" y="3145536"/>
            <a:ext cx="238687" cy="237744"/>
          </a:xfrm>
          <a:prstGeom prst="rect">
            <a:avLst/>
          </a:prstGeom>
        </p:spPr>
      </p:pic>
      <p:sp>
        <p:nvSpPr>
          <p:cNvPr id="24" name="TextBox 23"/>
          <p:cNvSpPr txBox="1"/>
          <p:nvPr/>
        </p:nvSpPr>
        <p:spPr>
          <a:xfrm>
            <a:off x="740664"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pic>
        <p:nvPicPr>
          <p:cNvPr id="25" name="Picture 24" descr="image.png"/>
          <p:cNvPicPr>
            <a:picLocks noChangeAspect="1"/>
          </p:cNvPicPr>
          <p:nvPr/>
        </p:nvPicPr>
        <p:blipFill>
          <a:blip r:embed="rId3"/>
          <a:stretch>
            <a:fillRect/>
          </a:stretch>
        </p:blipFill>
        <p:spPr>
          <a:xfrm>
            <a:off x="3836821" y="3145536"/>
            <a:ext cx="237744" cy="237744"/>
          </a:xfrm>
          <a:prstGeom prst="rect">
            <a:avLst/>
          </a:prstGeom>
        </p:spPr>
      </p:pic>
      <p:sp>
        <p:nvSpPr>
          <p:cNvPr id="26" name="TextBox 25"/>
          <p:cNvSpPr txBox="1"/>
          <p:nvPr/>
        </p:nvSpPr>
        <p:spPr>
          <a:xfrm>
            <a:off x="2884017"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pic>
        <p:nvPicPr>
          <p:cNvPr id="27" name="Picture 26" descr="image.png"/>
          <p:cNvPicPr>
            <a:picLocks noChangeAspect="1"/>
          </p:cNvPicPr>
          <p:nvPr/>
        </p:nvPicPr>
        <p:blipFill>
          <a:blip r:embed="rId4"/>
          <a:stretch>
            <a:fillRect/>
          </a:stretch>
        </p:blipFill>
        <p:spPr>
          <a:xfrm>
            <a:off x="5980174" y="3145536"/>
            <a:ext cx="237744" cy="237744"/>
          </a:xfrm>
          <a:prstGeom prst="rect">
            <a:avLst/>
          </a:prstGeom>
        </p:spPr>
      </p:pic>
      <p:sp>
        <p:nvSpPr>
          <p:cNvPr id="28" name="TextBox 27"/>
          <p:cNvSpPr txBox="1"/>
          <p:nvPr/>
        </p:nvSpPr>
        <p:spPr>
          <a:xfrm>
            <a:off x="5027370"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Excel</a:t>
            </a:r>
          </a:p>
        </p:txBody>
      </p:sp>
      <p:pic>
        <p:nvPicPr>
          <p:cNvPr id="29" name="Picture 28" descr="image.png"/>
          <p:cNvPicPr>
            <a:picLocks noChangeAspect="1"/>
          </p:cNvPicPr>
          <p:nvPr/>
        </p:nvPicPr>
        <p:blipFill>
          <a:blip r:embed="rId5"/>
          <a:stretch>
            <a:fillRect/>
          </a:stretch>
        </p:blipFill>
        <p:spPr>
          <a:xfrm>
            <a:off x="8123527" y="3145536"/>
            <a:ext cx="237744" cy="237744"/>
          </a:xfrm>
          <a:prstGeom prst="rect">
            <a:avLst/>
          </a:prstGeom>
        </p:spPr>
      </p:pic>
      <p:sp>
        <p:nvSpPr>
          <p:cNvPr id="30" name="TextBox 29"/>
          <p:cNvSpPr txBox="1"/>
          <p:nvPr/>
        </p:nvSpPr>
        <p:spPr>
          <a:xfrm>
            <a:off x="7170723"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sp>
        <p:nvSpPr>
          <p:cNvPr id="31" name="TextBox 30"/>
          <p:cNvSpPr txBox="1"/>
          <p:nvPr/>
        </p:nvSpPr>
        <p:spPr>
          <a:xfrm>
            <a:off x="7170723"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pic>
        <p:nvPicPr>
          <p:cNvPr id="32" name="Picture 31" descr="image.png"/>
          <p:cNvPicPr>
            <a:picLocks noChangeAspect="1"/>
          </p:cNvPicPr>
          <p:nvPr/>
        </p:nvPicPr>
        <p:blipFill>
          <a:blip r:embed="rId6"/>
          <a:stretch>
            <a:fillRect/>
          </a:stretch>
        </p:blipFill>
        <p:spPr>
          <a:xfrm>
            <a:off x="10266880" y="3145536"/>
            <a:ext cx="237744" cy="237744"/>
          </a:xfrm>
          <a:prstGeom prst="rect">
            <a:avLst/>
          </a:prstGeom>
        </p:spPr>
      </p:pic>
      <p:sp>
        <p:nvSpPr>
          <p:cNvPr id="33" name="TextBox 32"/>
          <p:cNvSpPr txBox="1"/>
          <p:nvPr/>
        </p:nvSpPr>
        <p:spPr>
          <a:xfrm>
            <a:off x="9314076"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sp>
        <p:nvSpPr>
          <p:cNvPr id="34" name="TextBox 33"/>
          <p:cNvSpPr txBox="1"/>
          <p:nvPr/>
        </p:nvSpPr>
        <p:spPr>
          <a:xfrm>
            <a:off x="9314076"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sp>
        <p:nvSpPr>
          <p:cNvPr id="35" name="Rectangle 34"/>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38" name="Rounded Rectangle 37"/>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39" name="Right Arrow 38"/>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41" name="Right Arrow 40"/>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3" name="Right Arrow 42"/>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不備一覧、修正指示案、確認コメント</a:t>
            </a:r>
          </a:p>
        </p:txBody>
      </p:sp>
      <p:sp>
        <p:nvSpPr>
          <p:cNvPr id="45" name="Right Arrow 44"/>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47" name="TextBox 46"/>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48" name="Rectangle 47"/>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51" name="TextBox 50"/>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2" name="TextBox 51"/>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3" name="TextBox 52"/>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4" name="TextBox 53"/>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5" name="TextBox 54"/>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56" name="TextBox 55"/>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57" name="TextBox 56"/>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58" name="TextBox 57"/>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59" name="Rectangle 58"/>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2" name="TextBox 61"/>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・AI判定の揺れ</a:t>
            </a:r>
          </a:p>
          <a:p>
            <a:pPr algn="l">
              <a:lnSpc>
                <a:spcPct val="126000"/>
              </a:lnSpc>
            </a:pPr>
            <a:r>
              <a:rPr sz="760" b="0">
                <a:solidFill>
                  <a:srgbClr val="232323"/>
                </a:solidFill>
              </a:rPr>
              <a:t>・チェック基準の粒度不足</a:t>
            </a:r>
          </a:p>
          <a:p>
            <a:pPr algn="l">
              <a:lnSpc>
                <a:spcPct val="126000"/>
              </a:lnSpc>
            </a:pPr>
            <a:r>
              <a:rPr sz="760" b="0">
                <a:solidFill>
                  <a:srgbClr val="232323"/>
                </a:solidFill>
              </a:rPr>
              <a:t>・人の最終確認範囲が曖昧</a:t>
            </a:r>
          </a:p>
        </p:txBody>
      </p:sp>
      <p:sp>
        <p:nvSpPr>
          <p:cNvPr id="63" name="Rectangle 62"/>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66" name="TextBox 65"/>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・チェック項目を表形式で固定する</a:t>
            </a:r>
          </a:p>
          <a:p>
            <a:pPr algn="l">
              <a:lnSpc>
                <a:spcPct val="126000"/>
              </a:lnSpc>
            </a:pPr>
            <a:r>
              <a:rPr sz="760" b="0">
                <a:solidFill>
                  <a:srgbClr val="232323"/>
                </a:solidFill>
              </a:rPr>
              <a:t>・AI出力は必ず人確認を挟む</a:t>
            </a:r>
          </a:p>
          <a:p>
            <a:pPr algn="l">
              <a:lnSpc>
                <a:spcPct val="126000"/>
              </a:lnSpc>
            </a:pPr>
            <a:r>
              <a:rPr sz="760" b="0">
                <a:solidFill>
                  <a:srgbClr val="232323"/>
                </a:solidFill>
              </a:rPr>
              <a:t>・まず正常/不備ありの2サンプルで検証する</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T01 提出様式チェックAI（カクニンジャ）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12</a:t>
            </a:r>
          </a:p>
        </p:txBody>
      </p:sp>
      <p:pic>
        <p:nvPicPr>
          <p:cNvPr id="5" name="Picture 4" descr="T01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44758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1063538"/>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700314"/>
            <a:ext cx="3118104" cy="1160343"/>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70031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70031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3029498"/>
            <a:ext cx="2862072" cy="776295"/>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T01_sample_input.xlsx ／ T01_sample_knowledge.xlsx ／ T01_expected_output.xlsx</a:t>
            </a:r>
          </a:p>
          <a:p>
            <a:pPr algn="l">
              <a:lnSpc>
                <a:spcPct val="124000"/>
              </a:lnSpc>
            </a:pPr>
            <a:r>
              <a:rPr sz="760" b="0">
                <a:solidFill>
                  <a:srgbClr val="232323"/>
                </a:solidFill>
              </a:rPr>
              <a:t>・入力: 提出様式ファイル、チェック基準、記載例</a:t>
            </a:r>
          </a:p>
          <a:p>
            <a:pPr algn="l">
              <a:lnSpc>
                <a:spcPct val="124000"/>
              </a:lnSpc>
            </a:pPr>
            <a:r>
              <a:rPr sz="760" b="0">
                <a:solidFill>
                  <a:srgbClr val="232323"/>
                </a:solidFill>
              </a:rPr>
              <a:t>・期待出力: 不備一覧、修正指示案、確認コメント</a:t>
            </a:r>
          </a:p>
        </p:txBody>
      </p:sp>
      <p:sp>
        <p:nvSpPr>
          <p:cNvPr id="15" name="Rectangle 14"/>
          <p:cNvSpPr/>
          <p:nvPr/>
        </p:nvSpPr>
        <p:spPr>
          <a:xfrm>
            <a:off x="8339328" y="3942953"/>
            <a:ext cx="3118104" cy="1160343"/>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3942953"/>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3942953"/>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272137"/>
            <a:ext cx="2862072" cy="776295"/>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185592"/>
            <a:ext cx="3118104" cy="1160343"/>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18559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18559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14776"/>
            <a:ext cx="2862072" cy="776295"/>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T02 受付Cエラー原因ナビゲーター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13</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FAQ/マニュアル参照型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受付Cエラーの原因、修正方法、再申請手順を案内する。</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代表エラー5件に限定し、FAQ/手順書参照から回答生成まで一本通す。</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エラーコード、エラー文、申請画面キャプチャまたはサンプルファイル</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原因候補、修正方法、再申請手順、エスカレーション案</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692997" y="3145536"/>
            <a:ext cx="238687" cy="237744"/>
          </a:xfrm>
          <a:prstGeom prst="rect">
            <a:avLst/>
          </a:prstGeom>
        </p:spPr>
      </p:pic>
      <p:sp>
        <p:nvSpPr>
          <p:cNvPr id="24" name="TextBox 23"/>
          <p:cNvSpPr txBox="1"/>
          <p:nvPr/>
        </p:nvSpPr>
        <p:spPr>
          <a:xfrm>
            <a:off x="740664"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pic>
        <p:nvPicPr>
          <p:cNvPr id="25" name="Picture 24" descr="image.png"/>
          <p:cNvPicPr>
            <a:picLocks noChangeAspect="1"/>
          </p:cNvPicPr>
          <p:nvPr/>
        </p:nvPicPr>
        <p:blipFill>
          <a:blip r:embed="rId3"/>
          <a:stretch>
            <a:fillRect/>
          </a:stretch>
        </p:blipFill>
        <p:spPr>
          <a:xfrm>
            <a:off x="3836821" y="3145536"/>
            <a:ext cx="237744" cy="237744"/>
          </a:xfrm>
          <a:prstGeom prst="rect">
            <a:avLst/>
          </a:prstGeom>
        </p:spPr>
      </p:pic>
      <p:sp>
        <p:nvSpPr>
          <p:cNvPr id="26" name="TextBox 25"/>
          <p:cNvSpPr txBox="1"/>
          <p:nvPr/>
        </p:nvSpPr>
        <p:spPr>
          <a:xfrm>
            <a:off x="2884017"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pic>
        <p:nvPicPr>
          <p:cNvPr id="27" name="Picture 26" descr="image.png"/>
          <p:cNvPicPr>
            <a:picLocks noChangeAspect="1"/>
          </p:cNvPicPr>
          <p:nvPr/>
        </p:nvPicPr>
        <p:blipFill>
          <a:blip r:embed="rId4"/>
          <a:stretch>
            <a:fillRect/>
          </a:stretch>
        </p:blipFill>
        <p:spPr>
          <a:xfrm>
            <a:off x="5980174" y="3145536"/>
            <a:ext cx="237744" cy="237744"/>
          </a:xfrm>
          <a:prstGeom prst="rect">
            <a:avLst/>
          </a:prstGeom>
        </p:spPr>
      </p:pic>
      <p:sp>
        <p:nvSpPr>
          <p:cNvPr id="28" name="TextBox 27"/>
          <p:cNvSpPr txBox="1"/>
          <p:nvPr/>
        </p:nvSpPr>
        <p:spPr>
          <a:xfrm>
            <a:off x="5027370"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pic>
        <p:nvPicPr>
          <p:cNvPr id="29" name="Picture 28" descr="image.png"/>
          <p:cNvPicPr>
            <a:picLocks noChangeAspect="1"/>
          </p:cNvPicPr>
          <p:nvPr/>
        </p:nvPicPr>
        <p:blipFill>
          <a:blip r:embed="rId5"/>
          <a:stretch>
            <a:fillRect/>
          </a:stretch>
        </p:blipFill>
        <p:spPr>
          <a:xfrm>
            <a:off x="8123527" y="3145536"/>
            <a:ext cx="237744" cy="237744"/>
          </a:xfrm>
          <a:prstGeom prst="rect">
            <a:avLst/>
          </a:prstGeom>
        </p:spPr>
      </p:pic>
      <p:sp>
        <p:nvSpPr>
          <p:cNvPr id="30" name="TextBox 29"/>
          <p:cNvSpPr txBox="1"/>
          <p:nvPr/>
        </p:nvSpPr>
        <p:spPr>
          <a:xfrm>
            <a:off x="7170723"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sp>
        <p:nvSpPr>
          <p:cNvPr id="31" name="TextBox 30"/>
          <p:cNvSpPr txBox="1"/>
          <p:nvPr/>
        </p:nvSpPr>
        <p:spPr>
          <a:xfrm>
            <a:off x="7170723"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pic>
        <p:nvPicPr>
          <p:cNvPr id="32" name="Picture 31" descr="image.png"/>
          <p:cNvPicPr>
            <a:picLocks noChangeAspect="1"/>
          </p:cNvPicPr>
          <p:nvPr/>
        </p:nvPicPr>
        <p:blipFill>
          <a:blip r:embed="rId6"/>
          <a:stretch>
            <a:fillRect/>
          </a:stretch>
        </p:blipFill>
        <p:spPr>
          <a:xfrm>
            <a:off x="10266880" y="3145536"/>
            <a:ext cx="237744" cy="237744"/>
          </a:xfrm>
          <a:prstGeom prst="rect">
            <a:avLst/>
          </a:prstGeom>
        </p:spPr>
      </p:pic>
      <p:sp>
        <p:nvSpPr>
          <p:cNvPr id="33" name="TextBox 32"/>
          <p:cNvSpPr txBox="1"/>
          <p:nvPr/>
        </p:nvSpPr>
        <p:spPr>
          <a:xfrm>
            <a:off x="9314076"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Excel</a:t>
            </a:r>
          </a:p>
        </p:txBody>
      </p:sp>
      <p:sp>
        <p:nvSpPr>
          <p:cNvPr id="34" name="TextBox 33"/>
          <p:cNvSpPr txBox="1"/>
          <p:nvPr/>
        </p:nvSpPr>
        <p:spPr>
          <a:xfrm>
            <a:off x="9314076"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sp>
        <p:nvSpPr>
          <p:cNvPr id="35" name="Rectangle 34"/>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38" name="Rounded Rectangle 37"/>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39" name="Right Arrow 38"/>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41" name="Right Arrow 40"/>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3" name="Right Arrow 42"/>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原因候補、修正方法、再申請手順、エスカレーション案</a:t>
            </a:r>
          </a:p>
        </p:txBody>
      </p:sp>
      <p:sp>
        <p:nvSpPr>
          <p:cNvPr id="45" name="Right Arrow 44"/>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47" name="TextBox 46"/>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48" name="Rectangle 47"/>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51" name="TextBox 50"/>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2" name="TextBox 51"/>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3" name="TextBox 52"/>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4" name="TextBox 53"/>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5" name="TextBox 54"/>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56" name="TextBox 55"/>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57" name="TextBox 56"/>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58" name="TextBox 57"/>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59" name="Rectangle 58"/>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2" name="TextBox 61"/>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・FAQ整備不足</a:t>
            </a:r>
          </a:p>
          <a:p>
            <a:pPr algn="l">
              <a:lnSpc>
                <a:spcPct val="126000"/>
              </a:lnSpc>
            </a:pPr>
            <a:r>
              <a:rPr sz="760" b="0">
                <a:solidFill>
                  <a:srgbClr val="232323"/>
                </a:solidFill>
              </a:rPr>
              <a:t>・エラーコードと原因の対応表不足</a:t>
            </a:r>
          </a:p>
          <a:p>
            <a:pPr algn="l">
              <a:lnSpc>
                <a:spcPct val="126000"/>
              </a:lnSpc>
            </a:pPr>
            <a:r>
              <a:rPr sz="760" b="0">
                <a:solidFill>
                  <a:srgbClr val="232323"/>
                </a:solidFill>
              </a:rPr>
              <a:t>・回答根拠が不明確</a:t>
            </a:r>
          </a:p>
        </p:txBody>
      </p:sp>
      <p:sp>
        <p:nvSpPr>
          <p:cNvPr id="63" name="Rectangle 62"/>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66" name="TextBox 65"/>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・代表エラーを先に絞る</a:t>
            </a:r>
          </a:p>
          <a:p>
            <a:pPr algn="l">
              <a:lnSpc>
                <a:spcPct val="126000"/>
              </a:lnSpc>
            </a:pPr>
            <a:r>
              <a:rPr sz="760" b="0">
                <a:solidFill>
                  <a:srgbClr val="232323"/>
                </a:solidFill>
              </a:rPr>
              <a:t>・回答テンプレートを固定する</a:t>
            </a:r>
          </a:p>
          <a:p>
            <a:pPr algn="l">
              <a:lnSpc>
                <a:spcPct val="126000"/>
              </a:lnSpc>
            </a:pPr>
            <a:r>
              <a:rPr sz="760" b="0">
                <a:solidFill>
                  <a:srgbClr val="232323"/>
                </a:solidFill>
              </a:rPr>
              <a:t>・根拠資料名を必ず返す</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T02 受付Cエラー原因ナビゲーター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14</a:t>
            </a:r>
          </a:p>
        </p:txBody>
      </p:sp>
      <p:pic>
        <p:nvPicPr>
          <p:cNvPr id="5" name="Picture 4" descr="T02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375775"/>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991727"/>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628503"/>
            <a:ext cx="3118104" cy="1375775"/>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628503"/>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628503"/>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2957687"/>
            <a:ext cx="2862072" cy="991727"/>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T02_sample_input.xlsx ／ T02_sample_knowledge.xlsx ／ T02_expected_output.xlsx</a:t>
            </a:r>
          </a:p>
          <a:p>
            <a:pPr algn="l">
              <a:lnSpc>
                <a:spcPct val="124000"/>
              </a:lnSpc>
            </a:pPr>
            <a:r>
              <a:rPr sz="760" b="0">
                <a:solidFill>
                  <a:srgbClr val="232323"/>
                </a:solidFill>
              </a:rPr>
              <a:t>・入力: エラーコード、エラー文、申請画面キャプチャまたはサンプルファイル</a:t>
            </a:r>
          </a:p>
          <a:p>
            <a:pPr algn="l">
              <a:lnSpc>
                <a:spcPct val="124000"/>
              </a:lnSpc>
            </a:pPr>
            <a:r>
              <a:rPr sz="760" b="0">
                <a:solidFill>
                  <a:srgbClr val="232323"/>
                </a:solidFill>
              </a:rPr>
              <a:t>・期待出力: 原因候補、修正方法、再申請手順、エスカレーション案</a:t>
            </a:r>
          </a:p>
        </p:txBody>
      </p:sp>
      <p:sp>
        <p:nvSpPr>
          <p:cNvPr id="15" name="Rectangle 14"/>
          <p:cNvSpPr/>
          <p:nvPr/>
        </p:nvSpPr>
        <p:spPr>
          <a:xfrm>
            <a:off x="8339328" y="4086574"/>
            <a:ext cx="3118104" cy="1088532"/>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408657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408657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415758"/>
            <a:ext cx="2862072" cy="704484"/>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257402"/>
            <a:ext cx="3118104" cy="1088532"/>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25740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25740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86586"/>
            <a:ext cx="2862072" cy="704484"/>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T03 加盟店防衛マネジメント支援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15</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データ分析＋訪問前サマリ型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人手で取得した営業データを整理し、訪問前サマリとリスク観点を生成する。</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1部署・数店舗のダミーデータをSPOに置き、Excelで整形、Copilot Studioでサマリ生成。</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加盟店基本情報、取引情報、リスクメモ、過去履歴、人手取得済み外部資料</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訪問前サマリ、重点確認事項、リスク観点、推奨アクション案</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692997" y="3145536"/>
            <a:ext cx="238687" cy="237744"/>
          </a:xfrm>
          <a:prstGeom prst="rect">
            <a:avLst/>
          </a:prstGeom>
        </p:spPr>
      </p:pic>
      <p:sp>
        <p:nvSpPr>
          <p:cNvPr id="24" name="TextBox 23"/>
          <p:cNvSpPr txBox="1"/>
          <p:nvPr/>
        </p:nvSpPr>
        <p:spPr>
          <a:xfrm>
            <a:off x="740664"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pic>
        <p:nvPicPr>
          <p:cNvPr id="25" name="Picture 24" descr="image.png"/>
          <p:cNvPicPr>
            <a:picLocks noChangeAspect="1"/>
          </p:cNvPicPr>
          <p:nvPr/>
        </p:nvPicPr>
        <p:blipFill>
          <a:blip r:embed="rId3"/>
          <a:stretch>
            <a:fillRect/>
          </a:stretch>
        </p:blipFill>
        <p:spPr>
          <a:xfrm>
            <a:off x="3836821" y="3145536"/>
            <a:ext cx="237744" cy="237744"/>
          </a:xfrm>
          <a:prstGeom prst="rect">
            <a:avLst/>
          </a:prstGeom>
        </p:spPr>
      </p:pic>
      <p:sp>
        <p:nvSpPr>
          <p:cNvPr id="26" name="TextBox 25"/>
          <p:cNvSpPr txBox="1"/>
          <p:nvPr/>
        </p:nvSpPr>
        <p:spPr>
          <a:xfrm>
            <a:off x="2884017"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pic>
        <p:nvPicPr>
          <p:cNvPr id="27" name="Picture 26" descr="image.png"/>
          <p:cNvPicPr>
            <a:picLocks noChangeAspect="1"/>
          </p:cNvPicPr>
          <p:nvPr/>
        </p:nvPicPr>
        <p:blipFill>
          <a:blip r:embed="rId4"/>
          <a:stretch>
            <a:fillRect/>
          </a:stretch>
        </p:blipFill>
        <p:spPr>
          <a:xfrm>
            <a:off x="5980174" y="3145536"/>
            <a:ext cx="237744" cy="237744"/>
          </a:xfrm>
          <a:prstGeom prst="rect">
            <a:avLst/>
          </a:prstGeom>
        </p:spPr>
      </p:pic>
      <p:sp>
        <p:nvSpPr>
          <p:cNvPr id="28" name="TextBox 27"/>
          <p:cNvSpPr txBox="1"/>
          <p:nvPr/>
        </p:nvSpPr>
        <p:spPr>
          <a:xfrm>
            <a:off x="5027370"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Excel</a:t>
            </a:r>
          </a:p>
        </p:txBody>
      </p:sp>
      <p:sp>
        <p:nvSpPr>
          <p:cNvPr id="29" name="TextBox 28"/>
          <p:cNvSpPr txBox="1"/>
          <p:nvPr/>
        </p:nvSpPr>
        <p:spPr>
          <a:xfrm>
            <a:off x="5027370"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Power Query/ピボット</a:t>
            </a:r>
          </a:p>
        </p:txBody>
      </p:sp>
      <p:pic>
        <p:nvPicPr>
          <p:cNvPr id="30" name="Picture 29" descr="image.png"/>
          <p:cNvPicPr>
            <a:picLocks noChangeAspect="1"/>
          </p:cNvPicPr>
          <p:nvPr/>
        </p:nvPicPr>
        <p:blipFill>
          <a:blip r:embed="rId5"/>
          <a:stretch>
            <a:fillRect/>
          </a:stretch>
        </p:blipFill>
        <p:spPr>
          <a:xfrm>
            <a:off x="8123527" y="3145536"/>
            <a:ext cx="237744" cy="237744"/>
          </a:xfrm>
          <a:prstGeom prst="rect">
            <a:avLst/>
          </a:prstGeom>
        </p:spPr>
      </p:pic>
      <p:sp>
        <p:nvSpPr>
          <p:cNvPr id="31" name="TextBox 30"/>
          <p:cNvSpPr txBox="1"/>
          <p:nvPr/>
        </p:nvSpPr>
        <p:spPr>
          <a:xfrm>
            <a:off x="7170723"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pic>
        <p:nvPicPr>
          <p:cNvPr id="32" name="Picture 31" descr="image.png"/>
          <p:cNvPicPr>
            <a:picLocks noChangeAspect="1"/>
          </p:cNvPicPr>
          <p:nvPr/>
        </p:nvPicPr>
        <p:blipFill>
          <a:blip r:embed="rId6"/>
          <a:stretch>
            <a:fillRect/>
          </a:stretch>
        </p:blipFill>
        <p:spPr>
          <a:xfrm>
            <a:off x="10266880" y="3145536"/>
            <a:ext cx="237744" cy="237744"/>
          </a:xfrm>
          <a:prstGeom prst="rect">
            <a:avLst/>
          </a:prstGeom>
        </p:spPr>
      </p:pic>
      <p:sp>
        <p:nvSpPr>
          <p:cNvPr id="33" name="TextBox 32"/>
          <p:cNvSpPr txBox="1"/>
          <p:nvPr/>
        </p:nvSpPr>
        <p:spPr>
          <a:xfrm>
            <a:off x="9314076"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sp>
        <p:nvSpPr>
          <p:cNvPr id="34" name="TextBox 33"/>
          <p:cNvSpPr txBox="1"/>
          <p:nvPr/>
        </p:nvSpPr>
        <p:spPr>
          <a:xfrm>
            <a:off x="9314076"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sp>
        <p:nvSpPr>
          <p:cNvPr id="35" name="Rectangle 34"/>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38" name="Rounded Rectangle 37"/>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39" name="Right Arrow 38"/>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41" name="Right Arrow 40"/>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3" name="Right Arrow 42"/>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訪問前サマリ、重点確認事項、リスク観点、推奨アクション案</a:t>
            </a:r>
          </a:p>
        </p:txBody>
      </p:sp>
      <p:sp>
        <p:nvSpPr>
          <p:cNvPr id="45" name="Right Arrow 44"/>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47" name="TextBox 46"/>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48" name="Rectangle 47"/>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51" name="TextBox 50"/>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2" name="TextBox 51"/>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3" name="TextBox 52"/>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4" name="TextBox 53"/>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5" name="TextBox 54"/>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56" name="TextBox 55"/>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57" name="TextBox 56"/>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58" name="TextBox 57"/>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59" name="Rectangle 58"/>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2" name="TextBox 61"/>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・外部Web/API禁止</a:t>
            </a:r>
          </a:p>
          <a:p>
            <a:pPr algn="l">
              <a:lnSpc>
                <a:spcPct val="126000"/>
              </a:lnSpc>
            </a:pPr>
            <a:r>
              <a:rPr sz="760" b="0">
                <a:solidFill>
                  <a:srgbClr val="232323"/>
                </a:solidFill>
              </a:rPr>
              <a:t>・営業データの機密・マスキング</a:t>
            </a:r>
          </a:p>
          <a:p>
            <a:pPr algn="l">
              <a:lnSpc>
                <a:spcPct val="126000"/>
              </a:lnSpc>
            </a:pPr>
            <a:r>
              <a:rPr sz="760" b="0">
                <a:solidFill>
                  <a:srgbClr val="232323"/>
                </a:solidFill>
              </a:rPr>
              <a:t>・データ項目が多くMVPが膨らむ</a:t>
            </a:r>
          </a:p>
        </p:txBody>
      </p:sp>
      <p:sp>
        <p:nvSpPr>
          <p:cNvPr id="63" name="Rectangle 62"/>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66" name="TextBox 65"/>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・外部情報は人手取得＋SPO格納に限定</a:t>
            </a:r>
          </a:p>
          <a:p>
            <a:pPr algn="l">
              <a:lnSpc>
                <a:spcPct val="126000"/>
              </a:lnSpc>
            </a:pPr>
            <a:r>
              <a:rPr sz="760" b="0">
                <a:solidFill>
                  <a:srgbClr val="232323"/>
                </a:solidFill>
              </a:rPr>
              <a:t>・MVPは店舗数と項目数を強く絞る</a:t>
            </a:r>
          </a:p>
          <a:p>
            <a:pPr algn="l">
              <a:lnSpc>
                <a:spcPct val="126000"/>
              </a:lnSpc>
            </a:pPr>
            <a:r>
              <a:rPr sz="760" b="0">
                <a:solidFill>
                  <a:srgbClr val="232323"/>
                </a:solidFill>
              </a:rPr>
              <a:t>・Power BIは使わずExcel/SharePointで代替</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T03 加盟店防衛マネジメント支援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16</a:t>
            </a:r>
          </a:p>
        </p:txBody>
      </p:sp>
      <p:pic>
        <p:nvPicPr>
          <p:cNvPr id="5" name="Picture 4" descr="T03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375775"/>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991727"/>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628503"/>
            <a:ext cx="3118104" cy="1375775"/>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628503"/>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628503"/>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2957687"/>
            <a:ext cx="2862072" cy="991727"/>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T03_sample_input.xlsx ／ T03_sample_knowledge.xlsx ／ T03_expected_output.xlsx</a:t>
            </a:r>
          </a:p>
          <a:p>
            <a:pPr algn="l">
              <a:lnSpc>
                <a:spcPct val="124000"/>
              </a:lnSpc>
            </a:pPr>
            <a:r>
              <a:rPr sz="760" b="0">
                <a:solidFill>
                  <a:srgbClr val="232323"/>
                </a:solidFill>
              </a:rPr>
              <a:t>・入力: 加盟店基本情報、取引情報、リスクメモ、過去履歴、人手取得済み外部資料</a:t>
            </a:r>
          </a:p>
          <a:p>
            <a:pPr algn="l">
              <a:lnSpc>
                <a:spcPct val="124000"/>
              </a:lnSpc>
            </a:pPr>
            <a:r>
              <a:rPr sz="760" b="0">
                <a:solidFill>
                  <a:srgbClr val="232323"/>
                </a:solidFill>
              </a:rPr>
              <a:t>・期待出力: 訪問前サマリ、重点確認事項、リスク観点、推奨アクション案</a:t>
            </a:r>
          </a:p>
        </p:txBody>
      </p:sp>
      <p:sp>
        <p:nvSpPr>
          <p:cNvPr id="15" name="Rectangle 14"/>
          <p:cNvSpPr/>
          <p:nvPr/>
        </p:nvSpPr>
        <p:spPr>
          <a:xfrm>
            <a:off x="8339328" y="4086574"/>
            <a:ext cx="3118104" cy="1088532"/>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408657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408657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415758"/>
            <a:ext cx="2862072" cy="704484"/>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257402"/>
            <a:ext cx="3118104" cy="1088532"/>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25740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25740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86586"/>
            <a:ext cx="2862072" cy="704484"/>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T05 おはようリマインドくん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17</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ワークフロー支援型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依頼事項登録、通知、回答状況確認、未回答リマインドを支援する。</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1件の依頼登録→対象者通知→回答状況確認→未回答者通知まで一本通す。</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依頼タイトル、依頼内容、対象者、期限、優先度</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依頼管理リスト、Teams通知、未回答者一覧、リマインド文案</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960916" y="3145536"/>
            <a:ext cx="238687" cy="237744"/>
          </a:xfrm>
          <a:prstGeom prst="rect">
            <a:avLst/>
          </a:prstGeom>
        </p:spPr>
      </p:pic>
      <p:sp>
        <p:nvSpPr>
          <p:cNvPr id="24" name="TextBox 23"/>
          <p:cNvSpPr txBox="1"/>
          <p:nvPr/>
        </p:nvSpPr>
        <p:spPr>
          <a:xfrm>
            <a:off x="740664" y="3401568"/>
            <a:ext cx="2679192"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sp>
        <p:nvSpPr>
          <p:cNvPr id="25" name="TextBox 24"/>
          <p:cNvSpPr txBox="1"/>
          <p:nvPr/>
        </p:nvSpPr>
        <p:spPr>
          <a:xfrm>
            <a:off x="740664" y="3584448"/>
            <a:ext cx="2679192"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＋アダプティブカード</a:t>
            </a:r>
          </a:p>
        </p:txBody>
      </p:sp>
      <p:pic>
        <p:nvPicPr>
          <p:cNvPr id="26" name="Picture 25" descr="image.png"/>
          <p:cNvPicPr>
            <a:picLocks noChangeAspect="1"/>
          </p:cNvPicPr>
          <p:nvPr/>
        </p:nvPicPr>
        <p:blipFill>
          <a:blip r:embed="rId3"/>
          <a:stretch>
            <a:fillRect/>
          </a:stretch>
        </p:blipFill>
        <p:spPr>
          <a:xfrm>
            <a:off x="4640580" y="3145536"/>
            <a:ext cx="237744" cy="237744"/>
          </a:xfrm>
          <a:prstGeom prst="rect">
            <a:avLst/>
          </a:prstGeom>
        </p:spPr>
      </p:pic>
      <p:sp>
        <p:nvSpPr>
          <p:cNvPr id="27" name="TextBox 26"/>
          <p:cNvSpPr txBox="1"/>
          <p:nvPr/>
        </p:nvSpPr>
        <p:spPr>
          <a:xfrm>
            <a:off x="3419856" y="3401568"/>
            <a:ext cx="2679192"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pic>
        <p:nvPicPr>
          <p:cNvPr id="28" name="Picture 27" descr="image.png"/>
          <p:cNvPicPr>
            <a:picLocks noChangeAspect="1"/>
          </p:cNvPicPr>
          <p:nvPr/>
        </p:nvPicPr>
        <p:blipFill>
          <a:blip r:embed="rId4"/>
          <a:stretch>
            <a:fillRect/>
          </a:stretch>
        </p:blipFill>
        <p:spPr>
          <a:xfrm>
            <a:off x="7319772" y="3145536"/>
            <a:ext cx="237744" cy="237744"/>
          </a:xfrm>
          <a:prstGeom prst="rect">
            <a:avLst/>
          </a:prstGeom>
        </p:spPr>
      </p:pic>
      <p:sp>
        <p:nvSpPr>
          <p:cNvPr id="29" name="TextBox 28"/>
          <p:cNvSpPr txBox="1"/>
          <p:nvPr/>
        </p:nvSpPr>
        <p:spPr>
          <a:xfrm>
            <a:off x="6099048" y="3401568"/>
            <a:ext cx="2679192"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sp>
        <p:nvSpPr>
          <p:cNvPr id="30" name="TextBox 29"/>
          <p:cNvSpPr txBox="1"/>
          <p:nvPr/>
        </p:nvSpPr>
        <p:spPr>
          <a:xfrm>
            <a:off x="6099048" y="3584448"/>
            <a:ext cx="2679192"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リスト</a:t>
            </a:r>
          </a:p>
        </p:txBody>
      </p:sp>
      <p:pic>
        <p:nvPicPr>
          <p:cNvPr id="31" name="Picture 30" descr="image.png"/>
          <p:cNvPicPr>
            <a:picLocks noChangeAspect="1"/>
          </p:cNvPicPr>
          <p:nvPr/>
        </p:nvPicPr>
        <p:blipFill>
          <a:blip r:embed="rId5"/>
          <a:stretch>
            <a:fillRect/>
          </a:stretch>
        </p:blipFill>
        <p:spPr>
          <a:xfrm>
            <a:off x="9998964" y="3145536"/>
            <a:ext cx="237744" cy="237744"/>
          </a:xfrm>
          <a:prstGeom prst="rect">
            <a:avLst/>
          </a:prstGeom>
        </p:spPr>
      </p:pic>
      <p:sp>
        <p:nvSpPr>
          <p:cNvPr id="32" name="TextBox 31"/>
          <p:cNvSpPr txBox="1"/>
          <p:nvPr/>
        </p:nvSpPr>
        <p:spPr>
          <a:xfrm>
            <a:off x="8778240" y="3401568"/>
            <a:ext cx="2679192"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sp>
        <p:nvSpPr>
          <p:cNvPr id="33" name="Rectangle 32"/>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36" name="Rounded Rectangle 35"/>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37" name="Right Arrow 36"/>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39" name="Right Arrow 38"/>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1" name="Right Arrow 40"/>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依頼管理リスト、Teams通知、未回答者一覧、リマインド文案</a:t>
            </a:r>
          </a:p>
        </p:txBody>
      </p:sp>
      <p:sp>
        <p:nvSpPr>
          <p:cNvPr id="43" name="Right Arrow 42"/>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45" name="TextBox 44"/>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46" name="Rectangle 45"/>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49" name="TextBox 48"/>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0" name="TextBox 49"/>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1" name="TextBox 50"/>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2" name="TextBox 51"/>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3" name="TextBox 52"/>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54" name="TextBox 53"/>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55" name="TextBox 54"/>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56" name="TextBox 55"/>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57" name="Rectangle 56"/>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0" name="TextBox 59"/>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・Formsに寄せすぎる</a:t>
            </a:r>
          </a:p>
          <a:p>
            <a:pPr algn="l">
              <a:lnSpc>
                <a:spcPct val="126000"/>
              </a:lnSpc>
            </a:pPr>
            <a:r>
              <a:rPr sz="760" b="0">
                <a:solidFill>
                  <a:srgbClr val="232323"/>
                </a:solidFill>
              </a:rPr>
              <a:t>・定時リマインドを前提にしがち</a:t>
            </a:r>
          </a:p>
          <a:p>
            <a:pPr algn="l">
              <a:lnSpc>
                <a:spcPct val="126000"/>
              </a:lnSpc>
            </a:pPr>
            <a:r>
              <a:rPr sz="760" b="0">
                <a:solidFill>
                  <a:srgbClr val="232323"/>
                </a:solidFill>
              </a:rPr>
              <a:t>・回答ステータス管理の設計不足</a:t>
            </a:r>
          </a:p>
        </p:txBody>
      </p:sp>
      <p:sp>
        <p:nvSpPr>
          <p:cNvPr id="61" name="Rectangle 60"/>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64" name="TextBox 63"/>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・Formsは使わず会話入力/カードで代替</a:t>
            </a:r>
          </a:p>
          <a:p>
            <a:pPr algn="l">
              <a:lnSpc>
                <a:spcPct val="126000"/>
              </a:lnSpc>
            </a:pPr>
            <a:r>
              <a:rPr sz="760" b="0">
                <a:solidFill>
                  <a:srgbClr val="232323"/>
                </a:solidFill>
              </a:rPr>
              <a:t>・リマインドは人起点またはエージェント経由で実行</a:t>
            </a:r>
          </a:p>
          <a:p>
            <a:pPr algn="l">
              <a:lnSpc>
                <a:spcPct val="126000"/>
              </a:lnSpc>
            </a:pPr>
            <a:r>
              <a:rPr sz="760" b="0">
                <a:solidFill>
                  <a:srgbClr val="232323"/>
                </a:solidFill>
              </a:rPr>
              <a:t>・SPOリスト項目を先に固める</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T05 おはようリマインドくん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18</a:t>
            </a:r>
          </a:p>
        </p:txBody>
      </p:sp>
      <p:pic>
        <p:nvPicPr>
          <p:cNvPr id="5" name="Picture 4" descr="T05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411681"/>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1027633"/>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664409"/>
            <a:ext cx="3118104" cy="1268059"/>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664409"/>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664409"/>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2993593"/>
            <a:ext cx="2862072" cy="884011"/>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T05_sample_input.xlsx ／ T05_sample_knowledge.xlsx ／ T05_expected_output.xlsx</a:t>
            </a:r>
          </a:p>
          <a:p>
            <a:pPr algn="l">
              <a:lnSpc>
                <a:spcPct val="124000"/>
              </a:lnSpc>
            </a:pPr>
            <a:r>
              <a:rPr sz="760" b="0">
                <a:solidFill>
                  <a:srgbClr val="232323"/>
                </a:solidFill>
              </a:rPr>
              <a:t>・入力: 依頼タイトル、依頼内容、対象者、期限、優先度</a:t>
            </a:r>
          </a:p>
          <a:p>
            <a:pPr algn="l">
              <a:lnSpc>
                <a:spcPct val="124000"/>
              </a:lnSpc>
            </a:pPr>
            <a:r>
              <a:rPr sz="760" b="0">
                <a:solidFill>
                  <a:srgbClr val="232323"/>
                </a:solidFill>
              </a:rPr>
              <a:t>・期待出力: 依頼管理リスト、Teams通知、未回答者一覧、リマインド文案</a:t>
            </a:r>
          </a:p>
        </p:txBody>
      </p:sp>
      <p:sp>
        <p:nvSpPr>
          <p:cNvPr id="15" name="Rectangle 14"/>
          <p:cNvSpPr/>
          <p:nvPr/>
        </p:nvSpPr>
        <p:spPr>
          <a:xfrm>
            <a:off x="8339328" y="4014764"/>
            <a:ext cx="3118104" cy="112443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401476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401476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343948"/>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221498"/>
            <a:ext cx="3118104" cy="112443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221498"/>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221498"/>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50682"/>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T06 Forecast ONE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19</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資料作成＋会議通知支援型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前月資料と入力資料をもとに、会議資料ドラフト要点と通知文案を作成する。</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人が資料作成を開始し、資料候補収集→要点生成→人確認→通知文案作成まで一本通す。</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前月資料、今回入力資料、会議メモ、通知先情報</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PPTドラフト要点、通知文案、確認チェックリスト</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291118" y="3145536"/>
            <a:ext cx="238687" cy="237744"/>
          </a:xfrm>
          <a:prstGeom prst="rect">
            <a:avLst/>
          </a:prstGeom>
        </p:spPr>
      </p:pic>
      <p:sp>
        <p:nvSpPr>
          <p:cNvPr id="24" name="TextBox 23"/>
          <p:cNvSpPr txBox="1"/>
          <p:nvPr/>
        </p:nvSpPr>
        <p:spPr>
          <a:xfrm>
            <a:off x="740664" y="3401568"/>
            <a:ext cx="1339596"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pic>
        <p:nvPicPr>
          <p:cNvPr id="25" name="Picture 24" descr="image.png"/>
          <p:cNvPicPr>
            <a:picLocks noChangeAspect="1"/>
          </p:cNvPicPr>
          <p:nvPr/>
        </p:nvPicPr>
        <p:blipFill>
          <a:blip r:embed="rId3"/>
          <a:stretch>
            <a:fillRect/>
          </a:stretch>
        </p:blipFill>
        <p:spPr>
          <a:xfrm>
            <a:off x="2631186" y="3145536"/>
            <a:ext cx="237744" cy="237744"/>
          </a:xfrm>
          <a:prstGeom prst="rect">
            <a:avLst/>
          </a:prstGeom>
        </p:spPr>
      </p:pic>
      <p:sp>
        <p:nvSpPr>
          <p:cNvPr id="26" name="TextBox 25"/>
          <p:cNvSpPr txBox="1"/>
          <p:nvPr/>
        </p:nvSpPr>
        <p:spPr>
          <a:xfrm>
            <a:off x="2080260" y="3401568"/>
            <a:ext cx="1339596"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pic>
        <p:nvPicPr>
          <p:cNvPr id="27" name="Picture 26" descr="image.png"/>
          <p:cNvPicPr>
            <a:picLocks noChangeAspect="1"/>
          </p:cNvPicPr>
          <p:nvPr/>
        </p:nvPicPr>
        <p:blipFill>
          <a:blip r:embed="rId4"/>
          <a:stretch>
            <a:fillRect/>
          </a:stretch>
        </p:blipFill>
        <p:spPr>
          <a:xfrm>
            <a:off x="3970782" y="3145536"/>
            <a:ext cx="237744" cy="237744"/>
          </a:xfrm>
          <a:prstGeom prst="rect">
            <a:avLst/>
          </a:prstGeom>
        </p:spPr>
      </p:pic>
      <p:sp>
        <p:nvSpPr>
          <p:cNvPr id="28" name="TextBox 27"/>
          <p:cNvSpPr txBox="1"/>
          <p:nvPr/>
        </p:nvSpPr>
        <p:spPr>
          <a:xfrm>
            <a:off x="3419856" y="3401568"/>
            <a:ext cx="1339596"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OneDrive</a:t>
            </a:r>
          </a:p>
        </p:txBody>
      </p:sp>
      <p:pic>
        <p:nvPicPr>
          <p:cNvPr id="29" name="Picture 28" descr="image.png"/>
          <p:cNvPicPr>
            <a:picLocks noChangeAspect="1"/>
          </p:cNvPicPr>
          <p:nvPr/>
        </p:nvPicPr>
        <p:blipFill>
          <a:blip r:embed="rId5"/>
          <a:stretch>
            <a:fillRect/>
          </a:stretch>
        </p:blipFill>
        <p:spPr>
          <a:xfrm>
            <a:off x="5310378" y="3145536"/>
            <a:ext cx="237744" cy="237744"/>
          </a:xfrm>
          <a:prstGeom prst="rect">
            <a:avLst/>
          </a:prstGeom>
        </p:spPr>
      </p:pic>
      <p:sp>
        <p:nvSpPr>
          <p:cNvPr id="30" name="TextBox 29"/>
          <p:cNvSpPr txBox="1"/>
          <p:nvPr/>
        </p:nvSpPr>
        <p:spPr>
          <a:xfrm>
            <a:off x="4759452" y="3401568"/>
            <a:ext cx="1339596"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pic>
        <p:nvPicPr>
          <p:cNvPr id="31" name="Picture 30" descr="image.png"/>
          <p:cNvPicPr>
            <a:picLocks noChangeAspect="1"/>
          </p:cNvPicPr>
          <p:nvPr/>
        </p:nvPicPr>
        <p:blipFill>
          <a:blip r:embed="rId6"/>
          <a:stretch>
            <a:fillRect/>
          </a:stretch>
        </p:blipFill>
        <p:spPr>
          <a:xfrm>
            <a:off x="6649974" y="3145536"/>
            <a:ext cx="237744" cy="237744"/>
          </a:xfrm>
          <a:prstGeom prst="rect">
            <a:avLst/>
          </a:prstGeom>
        </p:spPr>
      </p:pic>
      <p:sp>
        <p:nvSpPr>
          <p:cNvPr id="32" name="TextBox 31"/>
          <p:cNvSpPr txBox="1"/>
          <p:nvPr/>
        </p:nvSpPr>
        <p:spPr>
          <a:xfrm>
            <a:off x="6099048" y="3401568"/>
            <a:ext cx="1339596"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PowerPoint</a:t>
            </a:r>
          </a:p>
        </p:txBody>
      </p:sp>
      <p:pic>
        <p:nvPicPr>
          <p:cNvPr id="33" name="Picture 32" descr="image.png"/>
          <p:cNvPicPr>
            <a:picLocks noChangeAspect="1"/>
          </p:cNvPicPr>
          <p:nvPr/>
        </p:nvPicPr>
        <p:blipFill>
          <a:blip r:embed="rId7"/>
          <a:stretch>
            <a:fillRect/>
          </a:stretch>
        </p:blipFill>
        <p:spPr>
          <a:xfrm>
            <a:off x="7989570" y="3145536"/>
            <a:ext cx="237744" cy="237744"/>
          </a:xfrm>
          <a:prstGeom prst="rect">
            <a:avLst/>
          </a:prstGeom>
        </p:spPr>
      </p:pic>
      <p:sp>
        <p:nvSpPr>
          <p:cNvPr id="34" name="TextBox 33"/>
          <p:cNvSpPr txBox="1"/>
          <p:nvPr/>
        </p:nvSpPr>
        <p:spPr>
          <a:xfrm>
            <a:off x="7438644" y="3401568"/>
            <a:ext cx="1339596"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pic>
        <p:nvPicPr>
          <p:cNvPr id="35" name="Picture 34" descr="image.png"/>
          <p:cNvPicPr>
            <a:picLocks noChangeAspect="1"/>
          </p:cNvPicPr>
          <p:nvPr/>
        </p:nvPicPr>
        <p:blipFill>
          <a:blip r:embed="rId8"/>
          <a:stretch>
            <a:fillRect/>
          </a:stretch>
        </p:blipFill>
        <p:spPr>
          <a:xfrm>
            <a:off x="9329166" y="3145536"/>
            <a:ext cx="237744" cy="237744"/>
          </a:xfrm>
          <a:prstGeom prst="rect">
            <a:avLst/>
          </a:prstGeom>
        </p:spPr>
      </p:pic>
      <p:sp>
        <p:nvSpPr>
          <p:cNvPr id="36" name="TextBox 35"/>
          <p:cNvSpPr txBox="1"/>
          <p:nvPr/>
        </p:nvSpPr>
        <p:spPr>
          <a:xfrm>
            <a:off x="8778240" y="3401568"/>
            <a:ext cx="1339596"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Outlook</a:t>
            </a:r>
          </a:p>
        </p:txBody>
      </p:sp>
      <p:pic>
        <p:nvPicPr>
          <p:cNvPr id="37" name="Picture 36" descr="image.png"/>
          <p:cNvPicPr>
            <a:picLocks noChangeAspect="1"/>
          </p:cNvPicPr>
          <p:nvPr/>
        </p:nvPicPr>
        <p:blipFill>
          <a:blip r:embed="rId9"/>
          <a:stretch>
            <a:fillRect/>
          </a:stretch>
        </p:blipFill>
        <p:spPr>
          <a:xfrm>
            <a:off x="10668762" y="3145536"/>
            <a:ext cx="237744" cy="237744"/>
          </a:xfrm>
          <a:prstGeom prst="rect">
            <a:avLst/>
          </a:prstGeom>
        </p:spPr>
      </p:pic>
      <p:sp>
        <p:nvSpPr>
          <p:cNvPr id="38" name="TextBox 37"/>
          <p:cNvSpPr txBox="1"/>
          <p:nvPr/>
        </p:nvSpPr>
        <p:spPr>
          <a:xfrm>
            <a:off x="10117836" y="3401568"/>
            <a:ext cx="1339596"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Excel</a:t>
            </a:r>
          </a:p>
        </p:txBody>
      </p:sp>
      <p:sp>
        <p:nvSpPr>
          <p:cNvPr id="39" name="Rectangle 38"/>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42" name="Rounded Rectangle 41"/>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43" name="Right Arrow 42"/>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45" name="Right Arrow 44"/>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7" name="Right Arrow 46"/>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PPTドラフト要点、通知文案、確認チェックリスト</a:t>
            </a:r>
          </a:p>
        </p:txBody>
      </p:sp>
      <p:sp>
        <p:nvSpPr>
          <p:cNvPr id="49" name="Right Arrow 48"/>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51" name="TextBox 50"/>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52" name="Rectangle 51"/>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55" name="TextBox 54"/>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6" name="TextBox 55"/>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7" name="TextBox 56"/>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8" name="TextBox 57"/>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9" name="TextBox 58"/>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60" name="TextBox 59"/>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61" name="TextBox 60"/>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62" name="TextBox 61"/>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63" name="Rectangle 62"/>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6" name="TextBox 65"/>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・月次自動実行前提になりやすい</a:t>
            </a:r>
          </a:p>
          <a:p>
            <a:pPr algn="l">
              <a:lnSpc>
                <a:spcPct val="126000"/>
              </a:lnSpc>
            </a:pPr>
            <a:r>
              <a:rPr sz="760" b="0">
                <a:solidFill>
                  <a:srgbClr val="232323"/>
                </a:solidFill>
              </a:rPr>
              <a:t>・PPT完全自動生成の過度な期待</a:t>
            </a:r>
          </a:p>
          <a:p>
            <a:pPr algn="l">
              <a:lnSpc>
                <a:spcPct val="126000"/>
              </a:lnSpc>
            </a:pPr>
            <a:r>
              <a:rPr sz="760" b="0">
                <a:solidFill>
                  <a:srgbClr val="232323"/>
                </a:solidFill>
              </a:rPr>
              <a:t>・ファイル保管場所が曖昧</a:t>
            </a:r>
          </a:p>
        </p:txBody>
      </p:sp>
      <p:sp>
        <p:nvSpPr>
          <p:cNvPr id="67" name="Rectangle 66"/>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70" name="TextBox 69"/>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・8月MVPは人起点にする</a:t>
            </a:r>
          </a:p>
          <a:p>
            <a:pPr algn="l">
              <a:lnSpc>
                <a:spcPct val="126000"/>
              </a:lnSpc>
            </a:pPr>
            <a:r>
              <a:rPr sz="760" b="0">
                <a:solidFill>
                  <a:srgbClr val="232323"/>
                </a:solidFill>
              </a:rPr>
              <a:t>・PPTは完成版ではなく要点/構成案生成に絞る</a:t>
            </a:r>
          </a:p>
          <a:p>
            <a:pPr algn="l">
              <a:lnSpc>
                <a:spcPct val="126000"/>
              </a:lnSpc>
            </a:pPr>
            <a:r>
              <a:rPr sz="760" b="0">
                <a:solidFill>
                  <a:srgbClr val="232323"/>
                </a:solidFill>
              </a:rPr>
              <a:t>・SPO/OneDriveに入力資料を集約</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T06 Forecast ONE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20</a:t>
            </a:r>
          </a:p>
        </p:txBody>
      </p:sp>
      <p:pic>
        <p:nvPicPr>
          <p:cNvPr id="5" name="Picture 4" descr="T06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44758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1063538"/>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700314"/>
            <a:ext cx="3118104" cy="1160343"/>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70031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70031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3029498"/>
            <a:ext cx="2862072" cy="776295"/>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T06_sample_input.xlsx ／ T06_sample_knowledge.xlsx ／ T06_expected_output.xlsx</a:t>
            </a:r>
          </a:p>
          <a:p>
            <a:pPr algn="l">
              <a:lnSpc>
                <a:spcPct val="124000"/>
              </a:lnSpc>
            </a:pPr>
            <a:r>
              <a:rPr sz="760" b="0">
                <a:solidFill>
                  <a:srgbClr val="232323"/>
                </a:solidFill>
              </a:rPr>
              <a:t>・入力: 前月資料、今回入力資料、会議メモ、通知先情報</a:t>
            </a:r>
          </a:p>
          <a:p>
            <a:pPr algn="l">
              <a:lnSpc>
                <a:spcPct val="124000"/>
              </a:lnSpc>
            </a:pPr>
            <a:r>
              <a:rPr sz="760" b="0">
                <a:solidFill>
                  <a:srgbClr val="232323"/>
                </a:solidFill>
              </a:rPr>
              <a:t>・期待出力: PPTドラフト要点、通知文案、確認チェックリスト</a:t>
            </a:r>
          </a:p>
        </p:txBody>
      </p:sp>
      <p:sp>
        <p:nvSpPr>
          <p:cNvPr id="15" name="Rectangle 14"/>
          <p:cNvSpPr/>
          <p:nvPr/>
        </p:nvSpPr>
        <p:spPr>
          <a:xfrm>
            <a:off x="8339328" y="3942953"/>
            <a:ext cx="3118104" cy="1160343"/>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3942953"/>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3942953"/>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272137"/>
            <a:ext cx="2862072" cy="776295"/>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185592"/>
            <a:ext cx="3118104" cy="1160343"/>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18559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18559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14776"/>
            <a:ext cx="2862072" cy="776295"/>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T07 加盟店課金精算チェック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21</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データ照合型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月次課金精算データを固定チェックリストで照合し、差異レポートを出す。</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3種類のExcel/CSVをSPOに置き、固定ルールで差異確認し、Excelレポートを出す。</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N-Mark風データ、J-SCRUM風データ、CNC風データ、請求ルール一覧</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差異一覧、未計上/二重計上候補、確認コメント</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692997" y="3145536"/>
            <a:ext cx="238687" cy="237744"/>
          </a:xfrm>
          <a:prstGeom prst="rect">
            <a:avLst/>
          </a:prstGeom>
        </p:spPr>
      </p:pic>
      <p:sp>
        <p:nvSpPr>
          <p:cNvPr id="24" name="TextBox 23"/>
          <p:cNvSpPr txBox="1"/>
          <p:nvPr/>
        </p:nvSpPr>
        <p:spPr>
          <a:xfrm>
            <a:off x="740664"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pic>
        <p:nvPicPr>
          <p:cNvPr id="25" name="Picture 24" descr="image.png"/>
          <p:cNvPicPr>
            <a:picLocks noChangeAspect="1"/>
          </p:cNvPicPr>
          <p:nvPr/>
        </p:nvPicPr>
        <p:blipFill>
          <a:blip r:embed="rId3"/>
          <a:stretch>
            <a:fillRect/>
          </a:stretch>
        </p:blipFill>
        <p:spPr>
          <a:xfrm>
            <a:off x="3836821" y="3145536"/>
            <a:ext cx="237744" cy="237744"/>
          </a:xfrm>
          <a:prstGeom prst="rect">
            <a:avLst/>
          </a:prstGeom>
        </p:spPr>
      </p:pic>
      <p:sp>
        <p:nvSpPr>
          <p:cNvPr id="26" name="TextBox 25"/>
          <p:cNvSpPr txBox="1"/>
          <p:nvPr/>
        </p:nvSpPr>
        <p:spPr>
          <a:xfrm>
            <a:off x="2884017"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pic>
        <p:nvPicPr>
          <p:cNvPr id="27" name="Picture 26" descr="image.png"/>
          <p:cNvPicPr>
            <a:picLocks noChangeAspect="1"/>
          </p:cNvPicPr>
          <p:nvPr/>
        </p:nvPicPr>
        <p:blipFill>
          <a:blip r:embed="rId4"/>
          <a:stretch>
            <a:fillRect/>
          </a:stretch>
        </p:blipFill>
        <p:spPr>
          <a:xfrm>
            <a:off x="5980174" y="3145536"/>
            <a:ext cx="237744" cy="237744"/>
          </a:xfrm>
          <a:prstGeom prst="rect">
            <a:avLst/>
          </a:prstGeom>
        </p:spPr>
      </p:pic>
      <p:sp>
        <p:nvSpPr>
          <p:cNvPr id="28" name="TextBox 27"/>
          <p:cNvSpPr txBox="1"/>
          <p:nvPr/>
        </p:nvSpPr>
        <p:spPr>
          <a:xfrm>
            <a:off x="5027370"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Excel</a:t>
            </a:r>
          </a:p>
        </p:txBody>
      </p:sp>
      <p:pic>
        <p:nvPicPr>
          <p:cNvPr id="29" name="Picture 28" descr="image.png"/>
          <p:cNvPicPr>
            <a:picLocks noChangeAspect="1"/>
          </p:cNvPicPr>
          <p:nvPr/>
        </p:nvPicPr>
        <p:blipFill>
          <a:blip r:embed="rId5"/>
          <a:stretch>
            <a:fillRect/>
          </a:stretch>
        </p:blipFill>
        <p:spPr>
          <a:xfrm>
            <a:off x="8123527" y="3145536"/>
            <a:ext cx="237744" cy="237744"/>
          </a:xfrm>
          <a:prstGeom prst="rect">
            <a:avLst/>
          </a:prstGeom>
        </p:spPr>
      </p:pic>
      <p:sp>
        <p:nvSpPr>
          <p:cNvPr id="30" name="TextBox 29"/>
          <p:cNvSpPr txBox="1"/>
          <p:nvPr/>
        </p:nvSpPr>
        <p:spPr>
          <a:xfrm>
            <a:off x="7170723"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sp>
        <p:nvSpPr>
          <p:cNvPr id="31" name="TextBox 30"/>
          <p:cNvSpPr txBox="1"/>
          <p:nvPr/>
        </p:nvSpPr>
        <p:spPr>
          <a:xfrm>
            <a:off x="7170723"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pic>
        <p:nvPicPr>
          <p:cNvPr id="32" name="Picture 31" descr="image.png"/>
          <p:cNvPicPr>
            <a:picLocks noChangeAspect="1"/>
          </p:cNvPicPr>
          <p:nvPr/>
        </p:nvPicPr>
        <p:blipFill>
          <a:blip r:embed="rId6"/>
          <a:stretch>
            <a:fillRect/>
          </a:stretch>
        </p:blipFill>
        <p:spPr>
          <a:xfrm>
            <a:off x="10266880" y="3145536"/>
            <a:ext cx="237744" cy="237744"/>
          </a:xfrm>
          <a:prstGeom prst="rect">
            <a:avLst/>
          </a:prstGeom>
        </p:spPr>
      </p:pic>
      <p:sp>
        <p:nvSpPr>
          <p:cNvPr id="33" name="TextBox 32"/>
          <p:cNvSpPr txBox="1"/>
          <p:nvPr/>
        </p:nvSpPr>
        <p:spPr>
          <a:xfrm>
            <a:off x="9314076"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sp>
        <p:nvSpPr>
          <p:cNvPr id="34" name="TextBox 33"/>
          <p:cNvSpPr txBox="1"/>
          <p:nvPr/>
        </p:nvSpPr>
        <p:spPr>
          <a:xfrm>
            <a:off x="9314076"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sp>
        <p:nvSpPr>
          <p:cNvPr id="35" name="Rectangle 34"/>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38" name="Rounded Rectangle 37"/>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39" name="Right Arrow 38"/>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41" name="Right Arrow 40"/>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3" name="Right Arrow 42"/>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差異一覧、未計上/二重計上候補、確認コメント</a:t>
            </a:r>
          </a:p>
        </p:txBody>
      </p:sp>
      <p:sp>
        <p:nvSpPr>
          <p:cNvPr id="45" name="Right Arrow 44"/>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47" name="TextBox 46"/>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48" name="Rectangle 47"/>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51" name="TextBox 50"/>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2" name="TextBox 51"/>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3" name="TextBox 52"/>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4" name="TextBox 53"/>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5" name="TextBox 54"/>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56" name="TextBox 55"/>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57" name="TextBox 56"/>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58" name="TextBox 57"/>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59" name="Rectangle 58"/>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2" name="TextBox 61"/>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・ファイル名・列名の揺れ</a:t>
            </a:r>
          </a:p>
          <a:p>
            <a:pPr algn="l">
              <a:lnSpc>
                <a:spcPct val="126000"/>
              </a:lnSpc>
            </a:pPr>
            <a:r>
              <a:rPr sz="760" b="0">
                <a:solidFill>
                  <a:srgbClr val="232323"/>
                </a:solidFill>
              </a:rPr>
              <a:t>・突合キーの設計</a:t>
            </a:r>
          </a:p>
          <a:p>
            <a:pPr algn="l">
              <a:lnSpc>
                <a:spcPct val="126000"/>
              </a:lnSpc>
            </a:pPr>
            <a:r>
              <a:rPr sz="760" b="0">
                <a:solidFill>
                  <a:srgbClr val="232323"/>
                </a:solidFill>
              </a:rPr>
              <a:t>・差異理由の説明不足</a:t>
            </a:r>
          </a:p>
        </p:txBody>
      </p:sp>
      <p:sp>
        <p:nvSpPr>
          <p:cNvPr id="63" name="Rectangle 62"/>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66" name="TextBox 65"/>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・列仕様を固定する</a:t>
            </a:r>
          </a:p>
          <a:p>
            <a:pPr algn="l">
              <a:lnSpc>
                <a:spcPct val="126000"/>
              </a:lnSpc>
            </a:pPr>
            <a:r>
              <a:rPr sz="760" b="0">
                <a:solidFill>
                  <a:srgbClr val="232323"/>
                </a:solidFill>
              </a:rPr>
              <a:t>・チェックリストをSPOに置く</a:t>
            </a:r>
          </a:p>
          <a:p>
            <a:pPr algn="l">
              <a:lnSpc>
                <a:spcPct val="126000"/>
              </a:lnSpc>
            </a:pPr>
            <a:r>
              <a:rPr sz="760" b="0">
                <a:solidFill>
                  <a:srgbClr val="232323"/>
                </a:solidFill>
              </a:rPr>
              <a:t>・人が最終承認する前提にする</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T07 加盟店課金精算チェック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22</a:t>
            </a:r>
          </a:p>
        </p:txBody>
      </p:sp>
      <p:pic>
        <p:nvPicPr>
          <p:cNvPr id="5" name="Picture 4" descr="T07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411681"/>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1027633"/>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664409"/>
            <a:ext cx="3118104" cy="1268059"/>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664409"/>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664409"/>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2993593"/>
            <a:ext cx="2862072" cy="884011"/>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T07_sample_input.xlsx ／ T07_sample_knowledge.xlsx ／ T07_expected_output.xlsx</a:t>
            </a:r>
          </a:p>
          <a:p>
            <a:pPr algn="l">
              <a:lnSpc>
                <a:spcPct val="124000"/>
              </a:lnSpc>
            </a:pPr>
            <a:r>
              <a:rPr sz="760" b="0">
                <a:solidFill>
                  <a:srgbClr val="232323"/>
                </a:solidFill>
              </a:rPr>
              <a:t>・入力: N-Mark風データ、J-SCRUM風データ、CNC風データ、請求ルール一覧</a:t>
            </a:r>
          </a:p>
          <a:p>
            <a:pPr algn="l">
              <a:lnSpc>
                <a:spcPct val="124000"/>
              </a:lnSpc>
            </a:pPr>
            <a:r>
              <a:rPr sz="760" b="0">
                <a:solidFill>
                  <a:srgbClr val="232323"/>
                </a:solidFill>
              </a:rPr>
              <a:t>・期待出力: 差異一覧、未計上/二重計上候補、確認コメント</a:t>
            </a:r>
          </a:p>
        </p:txBody>
      </p:sp>
      <p:sp>
        <p:nvSpPr>
          <p:cNvPr id="15" name="Rectangle 14"/>
          <p:cNvSpPr/>
          <p:nvPr/>
        </p:nvSpPr>
        <p:spPr>
          <a:xfrm>
            <a:off x="8339328" y="4014764"/>
            <a:ext cx="3118104" cy="112443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401476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401476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343948"/>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221498"/>
            <a:ext cx="3118104" cy="112443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221498"/>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221498"/>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50682"/>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T08 段取AI（会議と依頼整理）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23</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Outlook/Teams連携＋タスク整理型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会議メモや依頼内容からタスクを抽出し、段取り案を生成・共有する。</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予定表・会議室自動参照は避け、会議メモからタスク抽出→SPO保存→Teams共有まで一本通す。</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会議メモ、依頼文、期限、担当候補、関連資料</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タスク一覧、段取り案、確認事項、Teams共有メッセージ</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692997" y="3145536"/>
            <a:ext cx="238687" cy="237744"/>
          </a:xfrm>
          <a:prstGeom prst="rect">
            <a:avLst/>
          </a:prstGeom>
        </p:spPr>
      </p:pic>
      <p:sp>
        <p:nvSpPr>
          <p:cNvPr id="24" name="TextBox 23"/>
          <p:cNvSpPr txBox="1"/>
          <p:nvPr/>
        </p:nvSpPr>
        <p:spPr>
          <a:xfrm>
            <a:off x="740664"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pic>
        <p:nvPicPr>
          <p:cNvPr id="25" name="Picture 24" descr="image.png"/>
          <p:cNvPicPr>
            <a:picLocks noChangeAspect="1"/>
          </p:cNvPicPr>
          <p:nvPr/>
        </p:nvPicPr>
        <p:blipFill>
          <a:blip r:embed="rId3"/>
          <a:stretch>
            <a:fillRect/>
          </a:stretch>
        </p:blipFill>
        <p:spPr>
          <a:xfrm>
            <a:off x="3836821" y="3145536"/>
            <a:ext cx="237744" cy="237744"/>
          </a:xfrm>
          <a:prstGeom prst="rect">
            <a:avLst/>
          </a:prstGeom>
        </p:spPr>
      </p:pic>
      <p:sp>
        <p:nvSpPr>
          <p:cNvPr id="26" name="TextBox 25"/>
          <p:cNvSpPr txBox="1"/>
          <p:nvPr/>
        </p:nvSpPr>
        <p:spPr>
          <a:xfrm>
            <a:off x="2884017"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sp>
        <p:nvSpPr>
          <p:cNvPr id="27" name="TextBox 26"/>
          <p:cNvSpPr txBox="1"/>
          <p:nvPr/>
        </p:nvSpPr>
        <p:spPr>
          <a:xfrm>
            <a:off x="2884017"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リスト</a:t>
            </a:r>
          </a:p>
        </p:txBody>
      </p:sp>
      <p:pic>
        <p:nvPicPr>
          <p:cNvPr id="28" name="Picture 27" descr="image.png"/>
          <p:cNvPicPr>
            <a:picLocks noChangeAspect="1"/>
          </p:cNvPicPr>
          <p:nvPr/>
        </p:nvPicPr>
        <p:blipFill>
          <a:blip r:embed="rId4"/>
          <a:stretch>
            <a:fillRect/>
          </a:stretch>
        </p:blipFill>
        <p:spPr>
          <a:xfrm>
            <a:off x="5980174" y="3145536"/>
            <a:ext cx="237744" cy="237744"/>
          </a:xfrm>
          <a:prstGeom prst="rect">
            <a:avLst/>
          </a:prstGeom>
        </p:spPr>
      </p:pic>
      <p:sp>
        <p:nvSpPr>
          <p:cNvPr id="29" name="TextBox 28"/>
          <p:cNvSpPr txBox="1"/>
          <p:nvPr/>
        </p:nvSpPr>
        <p:spPr>
          <a:xfrm>
            <a:off x="5027370"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pic>
        <p:nvPicPr>
          <p:cNvPr id="30" name="Picture 29" descr="image.png"/>
          <p:cNvPicPr>
            <a:picLocks noChangeAspect="1"/>
          </p:cNvPicPr>
          <p:nvPr/>
        </p:nvPicPr>
        <p:blipFill>
          <a:blip r:embed="rId5"/>
          <a:stretch>
            <a:fillRect/>
          </a:stretch>
        </p:blipFill>
        <p:spPr>
          <a:xfrm>
            <a:off x="8123527" y="3145536"/>
            <a:ext cx="237744" cy="237744"/>
          </a:xfrm>
          <a:prstGeom prst="rect">
            <a:avLst/>
          </a:prstGeom>
        </p:spPr>
      </p:pic>
      <p:sp>
        <p:nvSpPr>
          <p:cNvPr id="31" name="TextBox 30"/>
          <p:cNvSpPr txBox="1"/>
          <p:nvPr/>
        </p:nvSpPr>
        <p:spPr>
          <a:xfrm>
            <a:off x="7170723"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Outlook</a:t>
            </a:r>
          </a:p>
        </p:txBody>
      </p:sp>
      <p:sp>
        <p:nvSpPr>
          <p:cNvPr id="32" name="TextBox 31"/>
          <p:cNvSpPr txBox="1"/>
          <p:nvPr/>
        </p:nvSpPr>
        <p:spPr>
          <a:xfrm>
            <a:off x="7170723"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pic>
        <p:nvPicPr>
          <p:cNvPr id="33" name="Picture 32" descr="image.png"/>
          <p:cNvPicPr>
            <a:picLocks noChangeAspect="1"/>
          </p:cNvPicPr>
          <p:nvPr/>
        </p:nvPicPr>
        <p:blipFill>
          <a:blip r:embed="rId6"/>
          <a:stretch>
            <a:fillRect/>
          </a:stretch>
        </p:blipFill>
        <p:spPr>
          <a:xfrm>
            <a:off x="10266880" y="3145536"/>
            <a:ext cx="237744" cy="237744"/>
          </a:xfrm>
          <a:prstGeom prst="rect">
            <a:avLst/>
          </a:prstGeom>
        </p:spPr>
      </p:pic>
      <p:sp>
        <p:nvSpPr>
          <p:cNvPr id="34" name="TextBox 33"/>
          <p:cNvSpPr txBox="1"/>
          <p:nvPr/>
        </p:nvSpPr>
        <p:spPr>
          <a:xfrm>
            <a:off x="9314076"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sp>
        <p:nvSpPr>
          <p:cNvPr id="35" name="TextBox 34"/>
          <p:cNvSpPr txBox="1"/>
          <p:nvPr/>
        </p:nvSpPr>
        <p:spPr>
          <a:xfrm>
            <a:off x="9314076"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sp>
        <p:nvSpPr>
          <p:cNvPr id="36" name="Rectangle 35"/>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39" name="Rounded Rectangle 38"/>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40" name="Right Arrow 39"/>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42" name="Right Arrow 41"/>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4" name="Right Arrow 43"/>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タスク一覧、段取り案、確認事項、Teams共有メッセージ</a:t>
            </a:r>
          </a:p>
        </p:txBody>
      </p:sp>
      <p:sp>
        <p:nvSpPr>
          <p:cNvPr id="46" name="Right Arrow 45"/>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48" name="TextBox 47"/>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49" name="Rectangle 48"/>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52" name="TextBox 51"/>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3" name="TextBox 52"/>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4" name="TextBox 53"/>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5" name="TextBox 54"/>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6" name="TextBox 55"/>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57" name="TextBox 56"/>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58" name="TextBox 57"/>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59" name="TextBox 58"/>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60" name="Rectangle 59"/>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3" name="TextBox 62"/>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・個人情報/予定表/会議室参照の可否</a:t>
            </a:r>
          </a:p>
          <a:p>
            <a:pPr algn="l">
              <a:lnSpc>
                <a:spcPct val="126000"/>
              </a:lnSpc>
            </a:pPr>
            <a:r>
              <a:rPr sz="760" b="0">
                <a:solidFill>
                  <a:srgbClr val="232323"/>
                </a:solidFill>
              </a:rPr>
              <a:t>・MVP範囲が広がる</a:t>
            </a:r>
          </a:p>
          <a:p>
            <a:pPr algn="l">
              <a:lnSpc>
                <a:spcPct val="126000"/>
              </a:lnSpc>
            </a:pPr>
            <a:r>
              <a:rPr sz="760" b="0">
                <a:solidFill>
                  <a:srgbClr val="232323"/>
                </a:solidFill>
              </a:rPr>
              <a:t>・自動会議招集に寄りがち</a:t>
            </a:r>
          </a:p>
        </p:txBody>
      </p:sp>
      <p:sp>
        <p:nvSpPr>
          <p:cNvPr id="64" name="Rectangle 63"/>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67" name="TextBox 66"/>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・まずタスク整理に寄せる</a:t>
            </a:r>
          </a:p>
          <a:p>
            <a:pPr algn="l">
              <a:lnSpc>
                <a:spcPct val="126000"/>
              </a:lnSpc>
            </a:pPr>
            <a:r>
              <a:rPr sz="760" b="0">
                <a:solidFill>
                  <a:srgbClr val="232323"/>
                </a:solidFill>
              </a:rPr>
              <a:t>・予定表・会議室参照は事務局確認後</a:t>
            </a:r>
          </a:p>
          <a:p>
            <a:pPr algn="l">
              <a:lnSpc>
                <a:spcPct val="126000"/>
              </a:lnSpc>
            </a:pPr>
            <a:r>
              <a:rPr sz="760" b="0">
                <a:solidFill>
                  <a:srgbClr val="232323"/>
                </a:solidFill>
              </a:rPr>
              <a:t>・人が会議招集する前提で設計</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T08 段取AI（会議と依頼整理）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24</a:t>
            </a:r>
          </a:p>
        </p:txBody>
      </p:sp>
      <p:pic>
        <p:nvPicPr>
          <p:cNvPr id="5" name="Picture 4" descr="T08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411681"/>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1027633"/>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664409"/>
            <a:ext cx="3118104" cy="1268059"/>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664409"/>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664409"/>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2993593"/>
            <a:ext cx="2862072" cy="884011"/>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T08_sample_input.xlsx ／ T08_sample_knowledge.xlsx ／ T08_expected_output.xlsx</a:t>
            </a:r>
          </a:p>
          <a:p>
            <a:pPr algn="l">
              <a:lnSpc>
                <a:spcPct val="124000"/>
              </a:lnSpc>
            </a:pPr>
            <a:r>
              <a:rPr sz="760" b="0">
                <a:solidFill>
                  <a:srgbClr val="232323"/>
                </a:solidFill>
              </a:rPr>
              <a:t>・入力: 会議メモ、依頼文、期限、担当候補、関連資料</a:t>
            </a:r>
          </a:p>
          <a:p>
            <a:pPr algn="l">
              <a:lnSpc>
                <a:spcPct val="124000"/>
              </a:lnSpc>
            </a:pPr>
            <a:r>
              <a:rPr sz="760" b="0">
                <a:solidFill>
                  <a:srgbClr val="232323"/>
                </a:solidFill>
              </a:rPr>
              <a:t>・期待出力: タスク一覧、段取り案、確認事項、Teams共有メッセージ</a:t>
            </a:r>
          </a:p>
        </p:txBody>
      </p:sp>
      <p:sp>
        <p:nvSpPr>
          <p:cNvPr id="15" name="Rectangle 14"/>
          <p:cNvSpPr/>
          <p:nvPr/>
        </p:nvSpPr>
        <p:spPr>
          <a:xfrm>
            <a:off x="8339328" y="4014764"/>
            <a:ext cx="3118104" cy="112443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401476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401476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343948"/>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221498"/>
            <a:ext cx="3118104" cy="112443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221498"/>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221498"/>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50682"/>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T09 レビュー進捗管理アシスタント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25</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レビュー管理ワークフロー型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レビュー対象の登録、観点整理、進捗更新、通知を支援する。</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レビュー対象をSPOへ置き、Copilot Studioが観点整理、SPO管理表更新、Teams通知まで一本通す。</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レビュー対象ファイル、依頼情報、期限、担当者、レビュー観点</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レビュー観点一覧、管理表、Teams通知、メール文案</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514384" y="3145536"/>
            <a:ext cx="238687" cy="237744"/>
          </a:xfrm>
          <a:prstGeom prst="rect">
            <a:avLst/>
          </a:prstGeom>
        </p:spPr>
      </p:pic>
      <p:sp>
        <p:nvSpPr>
          <p:cNvPr id="24" name="TextBox 23"/>
          <p:cNvSpPr txBox="1"/>
          <p:nvPr/>
        </p:nvSpPr>
        <p:spPr>
          <a:xfrm>
            <a:off x="740664" y="3401568"/>
            <a:ext cx="1786128"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pic>
        <p:nvPicPr>
          <p:cNvPr id="25" name="Picture 24" descr="image.png"/>
          <p:cNvPicPr>
            <a:picLocks noChangeAspect="1"/>
          </p:cNvPicPr>
          <p:nvPr/>
        </p:nvPicPr>
        <p:blipFill>
          <a:blip r:embed="rId3"/>
          <a:stretch>
            <a:fillRect/>
          </a:stretch>
        </p:blipFill>
        <p:spPr>
          <a:xfrm>
            <a:off x="3300984" y="3145536"/>
            <a:ext cx="237744" cy="237744"/>
          </a:xfrm>
          <a:prstGeom prst="rect">
            <a:avLst/>
          </a:prstGeom>
        </p:spPr>
      </p:pic>
      <p:sp>
        <p:nvSpPr>
          <p:cNvPr id="26" name="TextBox 25"/>
          <p:cNvSpPr txBox="1"/>
          <p:nvPr/>
        </p:nvSpPr>
        <p:spPr>
          <a:xfrm>
            <a:off x="2526792" y="3401568"/>
            <a:ext cx="1786128"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pic>
        <p:nvPicPr>
          <p:cNvPr id="27" name="Picture 26" descr="image.png"/>
          <p:cNvPicPr>
            <a:picLocks noChangeAspect="1"/>
          </p:cNvPicPr>
          <p:nvPr/>
        </p:nvPicPr>
        <p:blipFill>
          <a:blip r:embed="rId4"/>
          <a:stretch>
            <a:fillRect/>
          </a:stretch>
        </p:blipFill>
        <p:spPr>
          <a:xfrm>
            <a:off x="5087112" y="3145536"/>
            <a:ext cx="237744" cy="237744"/>
          </a:xfrm>
          <a:prstGeom prst="rect">
            <a:avLst/>
          </a:prstGeom>
        </p:spPr>
      </p:pic>
      <p:sp>
        <p:nvSpPr>
          <p:cNvPr id="28" name="TextBox 27"/>
          <p:cNvSpPr txBox="1"/>
          <p:nvPr/>
        </p:nvSpPr>
        <p:spPr>
          <a:xfrm>
            <a:off x="4312920" y="3401568"/>
            <a:ext cx="1786128"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pic>
        <p:nvPicPr>
          <p:cNvPr id="29" name="Picture 28" descr="image.png"/>
          <p:cNvPicPr>
            <a:picLocks noChangeAspect="1"/>
          </p:cNvPicPr>
          <p:nvPr/>
        </p:nvPicPr>
        <p:blipFill>
          <a:blip r:embed="rId5"/>
          <a:stretch>
            <a:fillRect/>
          </a:stretch>
        </p:blipFill>
        <p:spPr>
          <a:xfrm>
            <a:off x="6873240" y="3145536"/>
            <a:ext cx="237744" cy="237744"/>
          </a:xfrm>
          <a:prstGeom prst="rect">
            <a:avLst/>
          </a:prstGeom>
        </p:spPr>
      </p:pic>
      <p:sp>
        <p:nvSpPr>
          <p:cNvPr id="30" name="TextBox 29"/>
          <p:cNvSpPr txBox="1"/>
          <p:nvPr/>
        </p:nvSpPr>
        <p:spPr>
          <a:xfrm>
            <a:off x="6099048" y="3401568"/>
            <a:ext cx="1786128"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pic>
        <p:nvPicPr>
          <p:cNvPr id="31" name="Picture 30" descr="image.png"/>
          <p:cNvPicPr>
            <a:picLocks noChangeAspect="1"/>
          </p:cNvPicPr>
          <p:nvPr/>
        </p:nvPicPr>
        <p:blipFill>
          <a:blip r:embed="rId6"/>
          <a:stretch>
            <a:fillRect/>
          </a:stretch>
        </p:blipFill>
        <p:spPr>
          <a:xfrm>
            <a:off x="8659368" y="3145536"/>
            <a:ext cx="237744" cy="237744"/>
          </a:xfrm>
          <a:prstGeom prst="rect">
            <a:avLst/>
          </a:prstGeom>
        </p:spPr>
      </p:pic>
      <p:sp>
        <p:nvSpPr>
          <p:cNvPr id="32" name="TextBox 31"/>
          <p:cNvSpPr txBox="1"/>
          <p:nvPr/>
        </p:nvSpPr>
        <p:spPr>
          <a:xfrm>
            <a:off x="7885176" y="3401568"/>
            <a:ext cx="1786128"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Outlook</a:t>
            </a:r>
          </a:p>
        </p:txBody>
      </p:sp>
      <p:sp>
        <p:nvSpPr>
          <p:cNvPr id="33" name="TextBox 32"/>
          <p:cNvSpPr txBox="1"/>
          <p:nvPr/>
        </p:nvSpPr>
        <p:spPr>
          <a:xfrm>
            <a:off x="7885176" y="3584448"/>
            <a:ext cx="1786128"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人確認後</a:t>
            </a:r>
          </a:p>
        </p:txBody>
      </p:sp>
      <p:pic>
        <p:nvPicPr>
          <p:cNvPr id="34" name="Picture 33" descr="image.png"/>
          <p:cNvPicPr>
            <a:picLocks noChangeAspect="1"/>
          </p:cNvPicPr>
          <p:nvPr/>
        </p:nvPicPr>
        <p:blipFill>
          <a:blip r:embed="rId7"/>
          <a:stretch>
            <a:fillRect/>
          </a:stretch>
        </p:blipFill>
        <p:spPr>
          <a:xfrm>
            <a:off x="10445496" y="3145536"/>
            <a:ext cx="237744" cy="237744"/>
          </a:xfrm>
          <a:prstGeom prst="rect">
            <a:avLst/>
          </a:prstGeom>
        </p:spPr>
      </p:pic>
      <p:sp>
        <p:nvSpPr>
          <p:cNvPr id="35" name="TextBox 34"/>
          <p:cNvSpPr txBox="1"/>
          <p:nvPr/>
        </p:nvSpPr>
        <p:spPr>
          <a:xfrm>
            <a:off x="9671304" y="3401568"/>
            <a:ext cx="1786128"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Excel</a:t>
            </a:r>
          </a:p>
        </p:txBody>
      </p:sp>
      <p:sp>
        <p:nvSpPr>
          <p:cNvPr id="36" name="Rectangle 35"/>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39" name="Rounded Rectangle 38"/>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40" name="Right Arrow 39"/>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42" name="Right Arrow 41"/>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4" name="Right Arrow 43"/>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レビュー観点一覧、管理表、Teams通知、メール文案</a:t>
            </a:r>
          </a:p>
        </p:txBody>
      </p:sp>
      <p:sp>
        <p:nvSpPr>
          <p:cNvPr id="46" name="Right Arrow 45"/>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48" name="TextBox 47"/>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49" name="Rectangle 48"/>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52" name="TextBox 51"/>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3" name="TextBox 52"/>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4" name="TextBox 53"/>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5" name="TextBox 54"/>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6" name="TextBox 55"/>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57" name="TextBox 56"/>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58" name="TextBox 57"/>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59" name="TextBox 58"/>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60" name="Rectangle 59"/>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3" name="TextBox 62"/>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・共有ファイルサーバ直接参照</a:t>
            </a:r>
          </a:p>
          <a:p>
            <a:pPr algn="l">
              <a:lnSpc>
                <a:spcPct val="126000"/>
              </a:lnSpc>
            </a:pPr>
            <a:r>
              <a:rPr sz="760" b="0">
                <a:solidFill>
                  <a:srgbClr val="232323"/>
                </a:solidFill>
              </a:rPr>
              <a:t>・メール自動送信の判断</a:t>
            </a:r>
          </a:p>
          <a:p>
            <a:pPr algn="l">
              <a:lnSpc>
                <a:spcPct val="126000"/>
              </a:lnSpc>
            </a:pPr>
            <a:r>
              <a:rPr sz="760" b="0">
                <a:solidFill>
                  <a:srgbClr val="232323"/>
                </a:solidFill>
              </a:rPr>
              <a:t>・対象ファイルの社外秘/個人情報</a:t>
            </a:r>
          </a:p>
        </p:txBody>
      </p:sp>
      <p:sp>
        <p:nvSpPr>
          <p:cNvPr id="64" name="Rectangle 63"/>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67" name="TextBox 66"/>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・SPO格納へ寄せる</a:t>
            </a:r>
          </a:p>
          <a:p>
            <a:pPr algn="l">
              <a:lnSpc>
                <a:spcPct val="126000"/>
              </a:lnSpc>
            </a:pPr>
            <a:r>
              <a:rPr sz="760" b="0">
                <a:solidFill>
                  <a:srgbClr val="232323"/>
                </a:solidFill>
              </a:rPr>
              <a:t>・メールは人確認後に送信</a:t>
            </a:r>
          </a:p>
          <a:p>
            <a:pPr algn="l">
              <a:lnSpc>
                <a:spcPct val="126000"/>
              </a:lnSpc>
            </a:pPr>
            <a:r>
              <a:rPr sz="760" b="0">
                <a:solidFill>
                  <a:srgbClr val="232323"/>
                </a:solidFill>
              </a:rPr>
              <a:t>・3フェーズに分けて試作する</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T09 レビュー進捗管理アシスタント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26</a:t>
            </a:r>
          </a:p>
        </p:txBody>
      </p:sp>
      <p:pic>
        <p:nvPicPr>
          <p:cNvPr id="5" name="Picture 4" descr="T09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375775"/>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991727"/>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628503"/>
            <a:ext cx="3118104" cy="1375775"/>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628503"/>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628503"/>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2957687"/>
            <a:ext cx="2862072" cy="991727"/>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T09_sample_input.xlsx ／ T09_sample_knowledge.xlsx ／ T09_expected_output.xlsx</a:t>
            </a:r>
          </a:p>
          <a:p>
            <a:pPr algn="l">
              <a:lnSpc>
                <a:spcPct val="124000"/>
              </a:lnSpc>
            </a:pPr>
            <a:r>
              <a:rPr sz="760" b="0">
                <a:solidFill>
                  <a:srgbClr val="232323"/>
                </a:solidFill>
              </a:rPr>
              <a:t>・入力: レビュー対象ファイル、依頼情報、期限、担当者、レビュー観点</a:t>
            </a:r>
          </a:p>
          <a:p>
            <a:pPr algn="l">
              <a:lnSpc>
                <a:spcPct val="124000"/>
              </a:lnSpc>
            </a:pPr>
            <a:r>
              <a:rPr sz="760" b="0">
                <a:solidFill>
                  <a:srgbClr val="232323"/>
                </a:solidFill>
              </a:rPr>
              <a:t>・期待出力: レビュー観点一覧、管理表、Teams通知、メール文案</a:t>
            </a:r>
          </a:p>
        </p:txBody>
      </p:sp>
      <p:sp>
        <p:nvSpPr>
          <p:cNvPr id="15" name="Rectangle 14"/>
          <p:cNvSpPr/>
          <p:nvPr/>
        </p:nvSpPr>
        <p:spPr>
          <a:xfrm>
            <a:off x="8339328" y="4086574"/>
            <a:ext cx="3118104" cy="1088532"/>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408657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408657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415758"/>
            <a:ext cx="2862072" cy="704484"/>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257402"/>
            <a:ext cx="3118104" cy="1088532"/>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25740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25740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86586"/>
            <a:ext cx="2862072" cy="704484"/>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T10 議事録ドラフト生成エージェント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27</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議事録生成型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Teams文字起こしと会議資料から議事録ドラフトを生成する。</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サンプル文字起こしと資料をSPOに置き、Wordテンプレートに沿ったドラフト生成まで一本通す。</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会議文字起こし、会議資料、議事録テンプレート、会議メタ情報</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議事録ドラフト、決定事項、ToDo、不明点リスト</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692997" y="3145536"/>
            <a:ext cx="238687" cy="237744"/>
          </a:xfrm>
          <a:prstGeom prst="rect">
            <a:avLst/>
          </a:prstGeom>
        </p:spPr>
      </p:pic>
      <p:sp>
        <p:nvSpPr>
          <p:cNvPr id="24" name="TextBox 23"/>
          <p:cNvSpPr txBox="1"/>
          <p:nvPr/>
        </p:nvSpPr>
        <p:spPr>
          <a:xfrm>
            <a:off x="740664"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pic>
        <p:nvPicPr>
          <p:cNvPr id="25" name="Picture 24" descr="image.png"/>
          <p:cNvPicPr>
            <a:picLocks noChangeAspect="1"/>
          </p:cNvPicPr>
          <p:nvPr/>
        </p:nvPicPr>
        <p:blipFill>
          <a:blip r:embed="rId3"/>
          <a:stretch>
            <a:fillRect/>
          </a:stretch>
        </p:blipFill>
        <p:spPr>
          <a:xfrm>
            <a:off x="3836821" y="3145536"/>
            <a:ext cx="237744" cy="237744"/>
          </a:xfrm>
          <a:prstGeom prst="rect">
            <a:avLst/>
          </a:prstGeom>
        </p:spPr>
      </p:pic>
      <p:sp>
        <p:nvSpPr>
          <p:cNvPr id="26" name="TextBox 25"/>
          <p:cNvSpPr txBox="1"/>
          <p:nvPr/>
        </p:nvSpPr>
        <p:spPr>
          <a:xfrm>
            <a:off x="2884017"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pic>
        <p:nvPicPr>
          <p:cNvPr id="27" name="Picture 26" descr="image.png"/>
          <p:cNvPicPr>
            <a:picLocks noChangeAspect="1"/>
          </p:cNvPicPr>
          <p:nvPr/>
        </p:nvPicPr>
        <p:blipFill>
          <a:blip r:embed="rId4"/>
          <a:stretch>
            <a:fillRect/>
          </a:stretch>
        </p:blipFill>
        <p:spPr>
          <a:xfrm>
            <a:off x="5980174" y="3145536"/>
            <a:ext cx="237744" cy="237744"/>
          </a:xfrm>
          <a:prstGeom prst="rect">
            <a:avLst/>
          </a:prstGeom>
        </p:spPr>
      </p:pic>
      <p:sp>
        <p:nvSpPr>
          <p:cNvPr id="28" name="TextBox 27"/>
          <p:cNvSpPr txBox="1"/>
          <p:nvPr/>
        </p:nvSpPr>
        <p:spPr>
          <a:xfrm>
            <a:off x="5027370"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pic>
        <p:nvPicPr>
          <p:cNvPr id="29" name="Picture 28" descr="image.png"/>
          <p:cNvPicPr>
            <a:picLocks noChangeAspect="1"/>
          </p:cNvPicPr>
          <p:nvPr/>
        </p:nvPicPr>
        <p:blipFill>
          <a:blip r:embed="rId5"/>
          <a:stretch>
            <a:fillRect/>
          </a:stretch>
        </p:blipFill>
        <p:spPr>
          <a:xfrm>
            <a:off x="8123527" y="3145536"/>
            <a:ext cx="237744" cy="237744"/>
          </a:xfrm>
          <a:prstGeom prst="rect">
            <a:avLst/>
          </a:prstGeom>
        </p:spPr>
      </p:pic>
      <p:sp>
        <p:nvSpPr>
          <p:cNvPr id="30" name="TextBox 29"/>
          <p:cNvSpPr txBox="1"/>
          <p:nvPr/>
        </p:nvSpPr>
        <p:spPr>
          <a:xfrm>
            <a:off x="7170723"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Word</a:t>
            </a:r>
          </a:p>
        </p:txBody>
      </p:sp>
      <p:pic>
        <p:nvPicPr>
          <p:cNvPr id="31" name="Picture 30" descr="image.png"/>
          <p:cNvPicPr>
            <a:picLocks noChangeAspect="1"/>
          </p:cNvPicPr>
          <p:nvPr/>
        </p:nvPicPr>
        <p:blipFill>
          <a:blip r:embed="rId6"/>
          <a:stretch>
            <a:fillRect/>
          </a:stretch>
        </p:blipFill>
        <p:spPr>
          <a:xfrm>
            <a:off x="10266880" y="3145536"/>
            <a:ext cx="237744" cy="237744"/>
          </a:xfrm>
          <a:prstGeom prst="rect">
            <a:avLst/>
          </a:prstGeom>
        </p:spPr>
      </p:pic>
      <p:sp>
        <p:nvSpPr>
          <p:cNvPr id="32" name="TextBox 31"/>
          <p:cNvSpPr txBox="1"/>
          <p:nvPr/>
        </p:nvSpPr>
        <p:spPr>
          <a:xfrm>
            <a:off x="9314076"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sp>
        <p:nvSpPr>
          <p:cNvPr id="33" name="TextBox 32"/>
          <p:cNvSpPr txBox="1"/>
          <p:nvPr/>
        </p:nvSpPr>
        <p:spPr>
          <a:xfrm>
            <a:off x="9314076"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sp>
        <p:nvSpPr>
          <p:cNvPr id="34" name="Rectangle 33"/>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37" name="Rounded Rectangle 36"/>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38" name="Right Arrow 37"/>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40" name="Right Arrow 39"/>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2" name="Right Arrow 41"/>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議事録ドラフト、決定事項、ToDo、不明点リスト</a:t>
            </a:r>
          </a:p>
        </p:txBody>
      </p:sp>
      <p:sp>
        <p:nvSpPr>
          <p:cNvPr id="44" name="Right Arrow 43"/>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46" name="TextBox 45"/>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47" name="Rectangle 46"/>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50" name="TextBox 49"/>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1" name="TextBox 50"/>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2" name="TextBox 51"/>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3" name="TextBox 52"/>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4" name="TextBox 53"/>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55" name="TextBox 54"/>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56" name="TextBox 55"/>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57" name="TextBox 56"/>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58" name="Rectangle 57"/>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1" name="TextBox 60"/>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・文字起こし取得権限</a:t>
            </a:r>
          </a:p>
          <a:p>
            <a:pPr algn="l">
              <a:lnSpc>
                <a:spcPct val="126000"/>
              </a:lnSpc>
            </a:pPr>
            <a:r>
              <a:rPr sz="760" b="0">
                <a:solidFill>
                  <a:srgbClr val="232323"/>
                </a:solidFill>
              </a:rPr>
              <a:t>・テンプレート適用品質</a:t>
            </a:r>
          </a:p>
          <a:p>
            <a:pPr algn="l">
              <a:lnSpc>
                <a:spcPct val="126000"/>
              </a:lnSpc>
            </a:pPr>
            <a:r>
              <a:rPr sz="760" b="0">
                <a:solidFill>
                  <a:srgbClr val="232323"/>
                </a:solidFill>
              </a:rPr>
              <a:t>・AI出力の事実確認</a:t>
            </a:r>
          </a:p>
        </p:txBody>
      </p:sp>
      <p:sp>
        <p:nvSpPr>
          <p:cNvPr id="62" name="Rectangle 61"/>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65" name="TextBox 64"/>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・サンプル会議で検証</a:t>
            </a:r>
          </a:p>
          <a:p>
            <a:pPr algn="l">
              <a:lnSpc>
                <a:spcPct val="126000"/>
              </a:lnSpc>
            </a:pPr>
            <a:r>
              <a:rPr sz="760" b="0">
                <a:solidFill>
                  <a:srgbClr val="232323"/>
                </a:solidFill>
              </a:rPr>
              <a:t>・人の確認・修正を必須にする</a:t>
            </a:r>
          </a:p>
          <a:p>
            <a:pPr algn="l">
              <a:lnSpc>
                <a:spcPct val="126000"/>
              </a:lnSpc>
            </a:pPr>
            <a:r>
              <a:rPr sz="760" b="0">
                <a:solidFill>
                  <a:srgbClr val="232323"/>
                </a:solidFill>
              </a:rPr>
              <a:t>・不明点は「要確認」と出す</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T10 議事録ドラフト生成エージェント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28</a:t>
            </a:r>
          </a:p>
        </p:txBody>
      </p:sp>
      <p:pic>
        <p:nvPicPr>
          <p:cNvPr id="5" name="Picture 4" descr="T10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411681"/>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1027633"/>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664409"/>
            <a:ext cx="3118104" cy="1268059"/>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664409"/>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664409"/>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2993593"/>
            <a:ext cx="2862072" cy="884011"/>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T10_sample_input.xlsx ／ T10_sample_knowledge.xlsx ／ T10_expected_output.xlsx</a:t>
            </a:r>
          </a:p>
          <a:p>
            <a:pPr algn="l">
              <a:lnSpc>
                <a:spcPct val="124000"/>
              </a:lnSpc>
            </a:pPr>
            <a:r>
              <a:rPr sz="760" b="0">
                <a:solidFill>
                  <a:srgbClr val="232323"/>
                </a:solidFill>
              </a:rPr>
              <a:t>・入力: 会議文字起こし、会議資料、議事録テンプレート、会議メタ情報</a:t>
            </a:r>
          </a:p>
          <a:p>
            <a:pPr algn="l">
              <a:lnSpc>
                <a:spcPct val="124000"/>
              </a:lnSpc>
            </a:pPr>
            <a:r>
              <a:rPr sz="760" b="0">
                <a:solidFill>
                  <a:srgbClr val="232323"/>
                </a:solidFill>
              </a:rPr>
              <a:t>・期待出力: 議事録ドラフト、決定事項、ToDo、不明点リスト</a:t>
            </a:r>
          </a:p>
        </p:txBody>
      </p:sp>
      <p:sp>
        <p:nvSpPr>
          <p:cNvPr id="15" name="Rectangle 14"/>
          <p:cNvSpPr/>
          <p:nvPr/>
        </p:nvSpPr>
        <p:spPr>
          <a:xfrm>
            <a:off x="8339328" y="4014764"/>
            <a:ext cx="3118104" cy="112443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401476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401476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343948"/>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221498"/>
            <a:ext cx="3118104" cy="112443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221498"/>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221498"/>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50682"/>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T11 社内LAN問い合わせチャットボット ｜ 設計サマリ</a:t>
            </a:r>
          </a:p>
        </p:txBody>
      </p:sp>
      <p:sp>
        <p:nvSpPr>
          <p:cNvPr id="3" name="Text Placeholder 2"/>
          <p:cNvSpPr>
            <a:spLocks noGrp="1"/>
          </p:cNvSpPr>
          <p:nvPr>
            <p:ph type="body" idx="2" sz="half"/>
          </p:nvPr>
        </p:nvSpPr>
        <p:spPr/>
        <p:txBody>
          <a:bodyPr wrap="square" tIns="0" bIns="0"/>
          <a:lstStyle/>
          <a:p>
            <a:r>
              <a:rPr sz="1270">
                <a:solidFill>
                  <a:srgbClr val="595959"/>
                </a:solidFill>
              </a:rPr>
              <a:t>企画概要・MVP範囲・使用アプリ・人/AI/自動化の分担・構成・躓きポイント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29</a:t>
            </a:r>
          </a:p>
        </p:txBody>
      </p:sp>
      <p:sp>
        <p:nvSpPr>
          <p:cNvPr id="5" name="Rectangle 4"/>
          <p:cNvSpPr/>
          <p:nvPr/>
        </p:nvSpPr>
        <p:spPr>
          <a:xfrm>
            <a:off x="740664" y="1152144"/>
            <a:ext cx="10716768" cy="402336"/>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2104" y="1216152"/>
            <a:ext cx="2395728" cy="27432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類型： FAQ/ナレッジ参照型</a:t>
            </a:r>
          </a:p>
        </p:txBody>
      </p:sp>
      <p:sp>
        <p:nvSpPr>
          <p:cNvPr id="7" name="TextBox 6"/>
          <p:cNvSpPr txBox="1"/>
          <p:nvPr/>
        </p:nvSpPr>
        <p:spPr>
          <a:xfrm>
            <a:off x="3355848" y="1152144"/>
            <a:ext cx="7955280" cy="402336"/>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目的： 社内LANに関する問い合わせを一次受付し、FAQ・手順・申請種別を案内する。</a:t>
            </a:r>
          </a:p>
        </p:txBody>
      </p:sp>
      <p:sp>
        <p:nvSpPr>
          <p:cNvPr id="8" name="Rectangle 7"/>
          <p:cNvSpPr/>
          <p:nvPr/>
        </p:nvSpPr>
        <p:spPr>
          <a:xfrm>
            <a:off x="740664" y="1627632"/>
            <a:ext cx="393192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627632"/>
            <a:ext cx="393192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27632"/>
            <a:ext cx="371246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MVPゴール（MVPの考え方）</a:t>
            </a:r>
          </a:p>
        </p:txBody>
      </p:sp>
      <p:sp>
        <p:nvSpPr>
          <p:cNvPr id="11" name="TextBox 10"/>
          <p:cNvSpPr txBox="1"/>
          <p:nvPr/>
        </p:nvSpPr>
        <p:spPr>
          <a:xfrm>
            <a:off x="868680" y="1956816"/>
            <a:ext cx="367588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FAQ/手順書20件程度をSPOに置き、問い合わせ回答と切り分けまで一本通す。</a:t>
            </a:r>
          </a:p>
        </p:txBody>
      </p:sp>
      <p:sp>
        <p:nvSpPr>
          <p:cNvPr id="12" name="Rectangle 11"/>
          <p:cNvSpPr/>
          <p:nvPr/>
        </p:nvSpPr>
        <p:spPr>
          <a:xfrm>
            <a:off x="4773168"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3168"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2896"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入力</a:t>
            </a:r>
          </a:p>
        </p:txBody>
      </p:sp>
      <p:sp>
        <p:nvSpPr>
          <p:cNvPr id="15" name="TextBox 14"/>
          <p:cNvSpPr txBox="1"/>
          <p:nvPr/>
        </p:nvSpPr>
        <p:spPr>
          <a:xfrm>
            <a:off x="4901184"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問い合わせ文、FAQ、手順書、申請種別一覧、過去QA</a:t>
            </a:r>
          </a:p>
        </p:txBody>
      </p:sp>
      <p:sp>
        <p:nvSpPr>
          <p:cNvPr id="16" name="Rectangle 15"/>
          <p:cNvSpPr/>
          <p:nvPr/>
        </p:nvSpPr>
        <p:spPr>
          <a:xfrm>
            <a:off x="8165591" y="1627632"/>
            <a:ext cx="3291840" cy="10972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65591" y="1627632"/>
            <a:ext cx="3291840"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627632"/>
            <a:ext cx="307238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出力</a:t>
            </a:r>
          </a:p>
        </p:txBody>
      </p:sp>
      <p:sp>
        <p:nvSpPr>
          <p:cNvPr id="19" name="TextBox 18"/>
          <p:cNvSpPr txBox="1"/>
          <p:nvPr/>
        </p:nvSpPr>
        <p:spPr>
          <a:xfrm>
            <a:off x="8293607" y="1956816"/>
            <a:ext cx="3035808" cy="749808"/>
          </a:xfrm>
          <a:prstGeom prst="rect">
            <a:avLst/>
          </a:prstGeom>
          <a:noFill/>
        </p:spPr>
        <p:txBody>
          <a:bodyPr wrap="square" anchor="t" lIns="25400" rIns="25400" tIns="12700" bIns="12700">
            <a:spAutoFit/>
          </a:bodyPr>
          <a:lstStyle/>
          <a:p>
            <a:pPr algn="l">
              <a:lnSpc>
                <a:spcPct val="132000"/>
              </a:lnSpc>
            </a:pPr>
            <a:r>
              <a:rPr sz="900" b="0">
                <a:solidFill>
                  <a:srgbClr val="232323"/>
                </a:solidFill>
              </a:rPr>
              <a:t>一次回答、手順案内、切り分け結果、エスカレーション案</a:t>
            </a:r>
          </a:p>
        </p:txBody>
      </p:sp>
      <p:sp>
        <p:nvSpPr>
          <p:cNvPr id="20" name="Rectangle 19"/>
          <p:cNvSpPr/>
          <p:nvPr/>
        </p:nvSpPr>
        <p:spPr>
          <a:xfrm>
            <a:off x="740664" y="2798064"/>
            <a:ext cx="10716768" cy="96926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798064"/>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798064"/>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使用アプリと役割（V1原文）</a:t>
            </a:r>
          </a:p>
        </p:txBody>
      </p:sp>
      <p:pic>
        <p:nvPicPr>
          <p:cNvPr id="23" name="Picture 22" descr="image.png"/>
          <p:cNvPicPr>
            <a:picLocks noChangeAspect="1"/>
          </p:cNvPicPr>
          <p:nvPr/>
        </p:nvPicPr>
        <p:blipFill>
          <a:blip r:embed="rId2"/>
          <a:stretch>
            <a:fillRect/>
          </a:stretch>
        </p:blipFill>
        <p:spPr>
          <a:xfrm>
            <a:off x="1692997" y="3145536"/>
            <a:ext cx="238687" cy="237744"/>
          </a:xfrm>
          <a:prstGeom prst="rect">
            <a:avLst/>
          </a:prstGeom>
        </p:spPr>
      </p:pic>
      <p:sp>
        <p:nvSpPr>
          <p:cNvPr id="24" name="TextBox 23"/>
          <p:cNvSpPr txBox="1"/>
          <p:nvPr/>
        </p:nvSpPr>
        <p:spPr>
          <a:xfrm>
            <a:off x="740664"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Copilot Studio</a:t>
            </a:r>
          </a:p>
        </p:txBody>
      </p:sp>
      <p:pic>
        <p:nvPicPr>
          <p:cNvPr id="25" name="Picture 24" descr="image.png"/>
          <p:cNvPicPr>
            <a:picLocks noChangeAspect="1"/>
          </p:cNvPicPr>
          <p:nvPr/>
        </p:nvPicPr>
        <p:blipFill>
          <a:blip r:embed="rId3"/>
          <a:stretch>
            <a:fillRect/>
          </a:stretch>
        </p:blipFill>
        <p:spPr>
          <a:xfrm>
            <a:off x="3836821" y="3145536"/>
            <a:ext cx="237744" cy="237744"/>
          </a:xfrm>
          <a:prstGeom prst="rect">
            <a:avLst/>
          </a:prstGeom>
        </p:spPr>
      </p:pic>
      <p:sp>
        <p:nvSpPr>
          <p:cNvPr id="26" name="TextBox 25"/>
          <p:cNvSpPr txBox="1"/>
          <p:nvPr/>
        </p:nvSpPr>
        <p:spPr>
          <a:xfrm>
            <a:off x="2884017"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SharePoint</a:t>
            </a:r>
          </a:p>
        </p:txBody>
      </p:sp>
      <p:pic>
        <p:nvPicPr>
          <p:cNvPr id="27" name="Picture 26" descr="image.png"/>
          <p:cNvPicPr>
            <a:picLocks noChangeAspect="1"/>
          </p:cNvPicPr>
          <p:nvPr/>
        </p:nvPicPr>
        <p:blipFill>
          <a:blip r:embed="rId4"/>
          <a:stretch>
            <a:fillRect/>
          </a:stretch>
        </p:blipFill>
        <p:spPr>
          <a:xfrm>
            <a:off x="5980174" y="3145536"/>
            <a:ext cx="237744" cy="237744"/>
          </a:xfrm>
          <a:prstGeom prst="rect">
            <a:avLst/>
          </a:prstGeom>
        </p:spPr>
      </p:pic>
      <p:sp>
        <p:nvSpPr>
          <p:cNvPr id="28" name="TextBox 27"/>
          <p:cNvSpPr txBox="1"/>
          <p:nvPr/>
        </p:nvSpPr>
        <p:spPr>
          <a:xfrm>
            <a:off x="5027370"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Teams</a:t>
            </a:r>
          </a:p>
        </p:txBody>
      </p:sp>
      <p:pic>
        <p:nvPicPr>
          <p:cNvPr id="29" name="Picture 28" descr="image.png"/>
          <p:cNvPicPr>
            <a:picLocks noChangeAspect="1"/>
          </p:cNvPicPr>
          <p:nvPr/>
        </p:nvPicPr>
        <p:blipFill>
          <a:blip r:embed="rId5"/>
          <a:stretch>
            <a:fillRect/>
          </a:stretch>
        </p:blipFill>
        <p:spPr>
          <a:xfrm>
            <a:off x="8123527" y="3145536"/>
            <a:ext cx="237744" cy="237744"/>
          </a:xfrm>
          <a:prstGeom prst="rect">
            <a:avLst/>
          </a:prstGeom>
        </p:spPr>
      </p:pic>
      <p:sp>
        <p:nvSpPr>
          <p:cNvPr id="30" name="TextBox 29"/>
          <p:cNvSpPr txBox="1"/>
          <p:nvPr/>
        </p:nvSpPr>
        <p:spPr>
          <a:xfrm>
            <a:off x="7170723"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Power Automate</a:t>
            </a:r>
          </a:p>
        </p:txBody>
      </p:sp>
      <p:sp>
        <p:nvSpPr>
          <p:cNvPr id="31" name="TextBox 30"/>
          <p:cNvSpPr txBox="1"/>
          <p:nvPr/>
        </p:nvSpPr>
        <p:spPr>
          <a:xfrm>
            <a:off x="7170723"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pic>
        <p:nvPicPr>
          <p:cNvPr id="32" name="Picture 31" descr="image.png"/>
          <p:cNvPicPr>
            <a:picLocks noChangeAspect="1"/>
          </p:cNvPicPr>
          <p:nvPr/>
        </p:nvPicPr>
        <p:blipFill>
          <a:blip r:embed="rId6"/>
          <a:stretch>
            <a:fillRect/>
          </a:stretch>
        </p:blipFill>
        <p:spPr>
          <a:xfrm>
            <a:off x="10266880" y="3145536"/>
            <a:ext cx="237744" cy="237744"/>
          </a:xfrm>
          <a:prstGeom prst="rect">
            <a:avLst/>
          </a:prstGeom>
        </p:spPr>
      </p:pic>
      <p:sp>
        <p:nvSpPr>
          <p:cNvPr id="33" name="TextBox 32"/>
          <p:cNvSpPr txBox="1"/>
          <p:nvPr/>
        </p:nvSpPr>
        <p:spPr>
          <a:xfrm>
            <a:off x="9314076" y="3401568"/>
            <a:ext cx="2143353" cy="182880"/>
          </a:xfrm>
          <a:prstGeom prst="rect">
            <a:avLst/>
          </a:prstGeom>
          <a:noFill/>
        </p:spPr>
        <p:txBody>
          <a:bodyPr wrap="square" anchor="t" lIns="25400" rIns="25400" tIns="12700" bIns="12700">
            <a:spAutoFit/>
          </a:bodyPr>
          <a:lstStyle/>
          <a:p>
            <a:pPr algn="ctr">
              <a:lnSpc>
                <a:spcPct val="115000"/>
              </a:lnSpc>
            </a:pPr>
            <a:r>
              <a:rPr sz="900" b="1">
                <a:solidFill>
                  <a:srgbClr val="232323"/>
                </a:solidFill>
              </a:rPr>
              <a:t>Excel</a:t>
            </a:r>
          </a:p>
        </p:txBody>
      </p:sp>
      <p:sp>
        <p:nvSpPr>
          <p:cNvPr id="34" name="TextBox 33"/>
          <p:cNvSpPr txBox="1"/>
          <p:nvPr/>
        </p:nvSpPr>
        <p:spPr>
          <a:xfrm>
            <a:off x="9314076" y="3584448"/>
            <a:ext cx="2143353" cy="182880"/>
          </a:xfrm>
          <a:prstGeom prst="rect">
            <a:avLst/>
          </a:prstGeom>
          <a:noFill/>
        </p:spPr>
        <p:txBody>
          <a:bodyPr wrap="square" anchor="t" lIns="25400" rIns="25400" tIns="12700" bIns="12700">
            <a:spAutoFit/>
          </a:bodyPr>
          <a:lstStyle/>
          <a:p>
            <a:pPr algn="ctr">
              <a:lnSpc>
                <a:spcPct val="115000"/>
              </a:lnSpc>
            </a:pPr>
            <a:r>
              <a:rPr sz="760" b="0">
                <a:solidFill>
                  <a:srgbClr val="595959"/>
                </a:solidFill>
              </a:rPr>
              <a:t>任意</a:t>
            </a:r>
          </a:p>
        </p:txBody>
      </p:sp>
      <p:sp>
        <p:nvSpPr>
          <p:cNvPr id="35" name="Rectangle 34"/>
          <p:cNvSpPr/>
          <p:nvPr/>
        </p:nvSpPr>
        <p:spPr>
          <a:xfrm>
            <a:off x="740664" y="3840480"/>
            <a:ext cx="10716768" cy="9144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0664" y="3840480"/>
            <a:ext cx="10716768"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0392" y="3840480"/>
            <a:ext cx="10497312"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構成（V1 Mermaidアーキテクチャの要約）</a:t>
            </a:r>
          </a:p>
        </p:txBody>
      </p:sp>
      <p:sp>
        <p:nvSpPr>
          <p:cNvPr id="38" name="Rounded Rectangle 37"/>
          <p:cNvSpPr/>
          <p:nvPr/>
        </p:nvSpPr>
        <p:spPr>
          <a:xfrm>
            <a:off x="868680" y="4206240"/>
            <a:ext cx="1600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利用者 / メンター</a:t>
            </a:r>
          </a:p>
        </p:txBody>
      </p:sp>
      <p:sp>
        <p:nvSpPr>
          <p:cNvPr id="39" name="Right Arrow 38"/>
          <p:cNvSpPr/>
          <p:nvPr/>
        </p:nvSpPr>
        <p:spPr>
          <a:xfrm>
            <a:off x="2505456"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706624" y="4206240"/>
            <a:ext cx="1737360" cy="365760"/>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FFFFFF"/>
                </a:solidFill>
              </a:rPr>
              <a:t>Copilot Studio</a:t>
            </a:r>
          </a:p>
        </p:txBody>
      </p:sp>
      <p:sp>
        <p:nvSpPr>
          <p:cNvPr id="41" name="Right Arrow 40"/>
          <p:cNvSpPr/>
          <p:nvPr/>
        </p:nvSpPr>
        <p:spPr>
          <a:xfrm>
            <a:off x="4480560"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681728" y="4206240"/>
            <a:ext cx="1920240" cy="365760"/>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SharePoint / OneDrive</a:t>
            </a:r>
          </a:p>
        </p:txBody>
      </p:sp>
      <p:sp>
        <p:nvSpPr>
          <p:cNvPr id="43" name="Right Arrow 42"/>
          <p:cNvSpPr/>
          <p:nvPr/>
        </p:nvSpPr>
        <p:spPr>
          <a:xfrm>
            <a:off x="6638544"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839712" y="4206240"/>
            <a:ext cx="2743200" cy="365760"/>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出力： 一次回答、手順案内、切り分け結果、エスカレーション案</a:t>
            </a:r>
          </a:p>
        </p:txBody>
      </p:sp>
      <p:sp>
        <p:nvSpPr>
          <p:cNvPr id="45" name="Right Arrow 44"/>
          <p:cNvSpPr/>
          <p:nvPr/>
        </p:nvSpPr>
        <p:spPr>
          <a:xfrm>
            <a:off x="9619488" y="4297680"/>
            <a:ext cx="164592" cy="182880"/>
          </a:xfrm>
          <a:prstGeom prst="rightArrow">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820656" y="4206240"/>
            <a:ext cx="1463040" cy="365760"/>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人の確認・修正</a:t>
            </a:r>
          </a:p>
        </p:txBody>
      </p:sp>
      <p:sp>
        <p:nvSpPr>
          <p:cNvPr id="47" name="TextBox 46"/>
          <p:cNvSpPr txBox="1"/>
          <p:nvPr/>
        </p:nvSpPr>
        <p:spPr>
          <a:xfrm>
            <a:off x="868680" y="4608576"/>
            <a:ext cx="10460736" cy="182880"/>
          </a:xfrm>
          <a:prstGeom prst="rect">
            <a:avLst/>
          </a:prstGeom>
          <a:noFill/>
        </p:spPr>
        <p:txBody>
          <a:bodyPr wrap="square" anchor="t" lIns="25400" rIns="25400" tIns="12700" bIns="12700">
            <a:spAutoFit/>
          </a:bodyPr>
          <a:lstStyle/>
          <a:p>
            <a:pPr algn="l">
              <a:lnSpc>
                <a:spcPct val="115000"/>
              </a:lnSpc>
            </a:pPr>
            <a:r>
              <a:rPr sz="760" b="0">
                <a:solidFill>
                  <a:srgbClr val="595959"/>
                </a:solidFill>
              </a:rPr>
              <a:t>Power Automate（標準範囲）… 必要時のみ SharePoint への保存・通知・一覧更新に使う（点線＝必要時）。</a:t>
            </a:r>
          </a:p>
        </p:txBody>
      </p:sp>
      <p:sp>
        <p:nvSpPr>
          <p:cNvPr id="48" name="Rectangle 47"/>
          <p:cNvSpPr/>
          <p:nvPr/>
        </p:nvSpPr>
        <p:spPr>
          <a:xfrm>
            <a:off x="740664" y="4828032"/>
            <a:ext cx="10716768" cy="73152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0664" y="4828032"/>
            <a:ext cx="10716768"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0392" y="4828032"/>
            <a:ext cx="10497312"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人 / AI / 自動化の分担（V1原文）</a:t>
            </a:r>
          </a:p>
        </p:txBody>
      </p:sp>
      <p:sp>
        <p:nvSpPr>
          <p:cNvPr id="51" name="TextBox 50"/>
          <p:cNvSpPr txBox="1"/>
          <p:nvPr/>
        </p:nvSpPr>
        <p:spPr>
          <a:xfrm>
            <a:off x="832104"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人</a:t>
            </a:r>
          </a:p>
        </p:txBody>
      </p:sp>
      <p:sp>
        <p:nvSpPr>
          <p:cNvPr id="52" name="TextBox 51"/>
          <p:cNvSpPr txBox="1"/>
          <p:nvPr/>
        </p:nvSpPr>
        <p:spPr>
          <a:xfrm>
            <a:off x="832104"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入力準備、最終確認、承認、例外対応</a:t>
            </a:r>
          </a:p>
        </p:txBody>
      </p:sp>
      <p:sp>
        <p:nvSpPr>
          <p:cNvPr id="53" name="TextBox 52"/>
          <p:cNvSpPr txBox="1"/>
          <p:nvPr/>
        </p:nvSpPr>
        <p:spPr>
          <a:xfrm>
            <a:off x="3511296"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Copilot Studio</a:t>
            </a:r>
          </a:p>
        </p:txBody>
      </p:sp>
      <p:sp>
        <p:nvSpPr>
          <p:cNvPr id="54" name="TextBox 53"/>
          <p:cNvSpPr txBox="1"/>
          <p:nvPr/>
        </p:nvSpPr>
        <p:spPr>
          <a:xfrm>
            <a:off x="3511296"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意図理解、判断支援、生成、案内、確認観点の提示</a:t>
            </a:r>
          </a:p>
        </p:txBody>
      </p:sp>
      <p:sp>
        <p:nvSpPr>
          <p:cNvPr id="55" name="TextBox 54"/>
          <p:cNvSpPr txBox="1"/>
          <p:nvPr/>
        </p:nvSpPr>
        <p:spPr>
          <a:xfrm>
            <a:off x="6190488"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Power Automate</a:t>
            </a:r>
          </a:p>
        </p:txBody>
      </p:sp>
      <p:sp>
        <p:nvSpPr>
          <p:cNvPr id="56" name="TextBox 55"/>
          <p:cNvSpPr txBox="1"/>
          <p:nvPr/>
        </p:nvSpPr>
        <p:spPr>
          <a:xfrm>
            <a:off x="6190488"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必要時のみ、標準コネクタで保存・通知・一覧更新</a:t>
            </a:r>
          </a:p>
        </p:txBody>
      </p:sp>
      <p:sp>
        <p:nvSpPr>
          <p:cNvPr id="57" name="TextBox 56"/>
          <p:cNvSpPr txBox="1"/>
          <p:nvPr/>
        </p:nvSpPr>
        <p:spPr>
          <a:xfrm>
            <a:off x="8869680" y="5102352"/>
            <a:ext cx="2496312" cy="182880"/>
          </a:xfrm>
          <a:prstGeom prst="rect">
            <a:avLst/>
          </a:prstGeom>
          <a:noFill/>
        </p:spPr>
        <p:txBody>
          <a:bodyPr wrap="square" anchor="t" lIns="25400" rIns="25400" tIns="12700" bIns="12700">
            <a:spAutoFit/>
          </a:bodyPr>
          <a:lstStyle/>
          <a:p>
            <a:pPr algn="l">
              <a:lnSpc>
                <a:spcPct val="115000"/>
              </a:lnSpc>
            </a:pPr>
            <a:r>
              <a:rPr sz="900" b="1">
                <a:solidFill>
                  <a:srgbClr val="1B5C80"/>
                </a:solidFill>
              </a:rPr>
              <a:t>SharePoint/OneDrive/Excel</a:t>
            </a:r>
          </a:p>
        </p:txBody>
      </p:sp>
      <p:sp>
        <p:nvSpPr>
          <p:cNvPr id="58" name="TextBox 57"/>
          <p:cNvSpPr txBox="1"/>
          <p:nvPr/>
        </p:nvSpPr>
        <p:spPr>
          <a:xfrm>
            <a:off x="8869680" y="5285232"/>
            <a:ext cx="2496312" cy="274320"/>
          </a:xfrm>
          <a:prstGeom prst="rect">
            <a:avLst/>
          </a:prstGeom>
          <a:noFill/>
        </p:spPr>
        <p:txBody>
          <a:bodyPr wrap="square" anchor="t" lIns="25400" rIns="25400" tIns="12700" bIns="12700">
            <a:spAutoFit/>
          </a:bodyPr>
          <a:lstStyle/>
          <a:p>
            <a:pPr algn="l">
              <a:lnSpc>
                <a:spcPct val="120000"/>
              </a:lnSpc>
            </a:pPr>
            <a:r>
              <a:rPr sz="760" b="0">
                <a:solidFill>
                  <a:srgbClr val="232323"/>
                </a:solidFill>
              </a:rPr>
              <a:t>データ・ナレッジ・結果の保管</a:t>
            </a:r>
          </a:p>
        </p:txBody>
      </p:sp>
      <p:sp>
        <p:nvSpPr>
          <p:cNvPr id="59" name="Rectangle 58"/>
          <p:cNvSpPr/>
          <p:nvPr/>
        </p:nvSpPr>
        <p:spPr>
          <a:xfrm>
            <a:off x="740664" y="5632704"/>
            <a:ext cx="5294376" cy="73152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0664"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0392"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想定される躓きポイント</a:t>
            </a:r>
          </a:p>
        </p:txBody>
      </p:sp>
      <p:sp>
        <p:nvSpPr>
          <p:cNvPr id="62" name="TextBox 61"/>
          <p:cNvSpPr txBox="1"/>
          <p:nvPr/>
        </p:nvSpPr>
        <p:spPr>
          <a:xfrm>
            <a:off x="868680"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・FAQ品質</a:t>
            </a:r>
          </a:p>
          <a:p>
            <a:pPr algn="l">
              <a:lnSpc>
                <a:spcPct val="126000"/>
              </a:lnSpc>
            </a:pPr>
            <a:r>
              <a:rPr sz="760" b="0">
                <a:solidFill>
                  <a:srgbClr val="232323"/>
                </a:solidFill>
              </a:rPr>
              <a:t>・参照資料の更新運用</a:t>
            </a:r>
          </a:p>
          <a:p>
            <a:pPr algn="l">
              <a:lnSpc>
                <a:spcPct val="126000"/>
              </a:lnSpc>
            </a:pPr>
            <a:r>
              <a:rPr sz="760" b="0">
                <a:solidFill>
                  <a:srgbClr val="232323"/>
                </a:solidFill>
              </a:rPr>
              <a:t>・本番移行・利用ルール</a:t>
            </a:r>
          </a:p>
        </p:txBody>
      </p:sp>
      <p:sp>
        <p:nvSpPr>
          <p:cNvPr id="63" name="Rectangle 62"/>
          <p:cNvSpPr/>
          <p:nvPr/>
        </p:nvSpPr>
        <p:spPr>
          <a:xfrm>
            <a:off x="6163056" y="5632704"/>
            <a:ext cx="5294376" cy="73152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63056" y="5632704"/>
            <a:ext cx="5294376" cy="23774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4" y="5632704"/>
            <a:ext cx="5074920" cy="237744"/>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メンターからの助言</a:t>
            </a:r>
          </a:p>
        </p:txBody>
      </p:sp>
      <p:sp>
        <p:nvSpPr>
          <p:cNvPr id="66" name="TextBox 65"/>
          <p:cNvSpPr txBox="1"/>
          <p:nvPr/>
        </p:nvSpPr>
        <p:spPr>
          <a:xfrm>
            <a:off x="6291072" y="5907024"/>
            <a:ext cx="5038344" cy="493776"/>
          </a:xfrm>
          <a:prstGeom prst="rect">
            <a:avLst/>
          </a:prstGeom>
          <a:noFill/>
        </p:spPr>
        <p:txBody>
          <a:bodyPr wrap="square" anchor="t" lIns="25400" rIns="25400" tIns="12700" bIns="12700">
            <a:spAutoFit/>
          </a:bodyPr>
          <a:lstStyle/>
          <a:p>
            <a:pPr algn="l">
              <a:lnSpc>
                <a:spcPct val="126000"/>
              </a:lnSpc>
            </a:pPr>
            <a:r>
              <a:rPr sz="760" b="0">
                <a:solidFill>
                  <a:srgbClr val="232323"/>
                </a:solidFill>
              </a:rPr>
              <a:t>・まずFAQ範囲を絞る</a:t>
            </a:r>
          </a:p>
          <a:p>
            <a:pPr algn="l">
              <a:lnSpc>
                <a:spcPct val="126000"/>
              </a:lnSpc>
            </a:pPr>
            <a:r>
              <a:rPr sz="760" b="0">
                <a:solidFill>
                  <a:srgbClr val="232323"/>
                </a:solidFill>
              </a:rPr>
              <a:t>・エスカレーション条件を決める</a:t>
            </a:r>
          </a:p>
          <a:p>
            <a:pPr algn="l">
              <a:lnSpc>
                <a:spcPct val="126000"/>
              </a:lnSpc>
            </a:pPr>
            <a:r>
              <a:rPr sz="760" b="0">
                <a:solidFill>
                  <a:srgbClr val="232323"/>
                </a:solidFill>
              </a:rPr>
              <a:t>・本番移行は10月発表の必須条件にしない</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T11 社内LAN問い合わせチャットボット ｜ アーキテクチャ全体像とメンター試作手順</a:t>
            </a:r>
          </a:p>
        </p:txBody>
      </p:sp>
      <p:sp>
        <p:nvSpPr>
          <p:cNvPr id="3" name="Text Placeholder 2"/>
          <p:cNvSpPr>
            <a:spLocks noGrp="1"/>
          </p:cNvSpPr>
          <p:nvPr>
            <p:ph type="body" idx="2" sz="half"/>
          </p:nvPr>
        </p:nvSpPr>
        <p:spPr/>
        <p:txBody>
          <a:bodyPr wrap="square" tIns="0" bIns="0"/>
          <a:lstStyle/>
          <a:p>
            <a:r>
              <a:rPr sz="1270">
                <a:solidFill>
                  <a:srgbClr val="595959"/>
                </a:solidFill>
              </a:rPr>
              <a:t>画像はV1のアーキテクチャバナーをそのまま掲載（再生成・簡略化なし）</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30</a:t>
            </a:r>
          </a:p>
        </p:txBody>
      </p:sp>
      <p:pic>
        <p:nvPicPr>
          <p:cNvPr id="5" name="Picture 4" descr="T11_architecture_banner.png"/>
          <p:cNvPicPr>
            <a:picLocks noChangeAspect="1"/>
          </p:cNvPicPr>
          <p:nvPr/>
        </p:nvPicPr>
        <p:blipFill>
          <a:blip r:embed="rId2"/>
          <a:stretch>
            <a:fillRect/>
          </a:stretch>
        </p:blipFill>
        <p:spPr>
          <a:xfrm>
            <a:off x="740664" y="1170432"/>
            <a:ext cx="7461504" cy="4974336"/>
          </a:xfrm>
          <a:prstGeom prst="rect">
            <a:avLst/>
          </a:prstGeom>
        </p:spPr>
      </p:pic>
      <p:sp>
        <p:nvSpPr>
          <p:cNvPr id="6" name="TextBox 5"/>
          <p:cNvSpPr txBox="1"/>
          <p:nvPr/>
        </p:nvSpPr>
        <p:spPr>
          <a:xfrm>
            <a:off x="740664" y="6181344"/>
            <a:ext cx="7461504" cy="201168"/>
          </a:xfrm>
          <a:prstGeom prst="rect">
            <a:avLst/>
          </a:prstGeom>
          <a:noFill/>
        </p:spPr>
        <p:txBody>
          <a:bodyPr wrap="square" anchor="t" lIns="25400" rIns="25400" tIns="12700" bIns="12700">
            <a:spAutoFit/>
          </a:bodyPr>
          <a:lstStyle/>
          <a:p>
            <a:pPr algn="l">
              <a:lnSpc>
                <a:spcPct val="115000"/>
              </a:lnSpc>
            </a:pPr>
            <a:r>
              <a:rPr sz="760" b="0">
                <a:solidFill>
                  <a:srgbClr val="595959"/>
                </a:solidFill>
              </a:rPr>
              <a:t>※ 入力／AI処理／保管／通知／出力／人の確認 の流れを、Mermaid図と矛盾しない形で1枚に整理したもの。</a:t>
            </a:r>
          </a:p>
        </p:txBody>
      </p:sp>
      <p:sp>
        <p:nvSpPr>
          <p:cNvPr id="7" name="Rectangle 6"/>
          <p:cNvSpPr/>
          <p:nvPr/>
        </p:nvSpPr>
        <p:spPr>
          <a:xfrm>
            <a:off x="8339328" y="1170432"/>
            <a:ext cx="3118104" cy="1411681"/>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39328" y="1170432"/>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70432"/>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メンター試作 構築手順（V1原文）</a:t>
            </a:r>
          </a:p>
        </p:txBody>
      </p:sp>
      <p:sp>
        <p:nvSpPr>
          <p:cNvPr id="10" name="TextBox 9"/>
          <p:cNvSpPr txBox="1"/>
          <p:nvPr/>
        </p:nvSpPr>
        <p:spPr>
          <a:xfrm>
            <a:off x="8449056" y="1499616"/>
            <a:ext cx="2862072" cy="1027633"/>
          </a:xfrm>
          <a:prstGeom prst="rect">
            <a:avLst/>
          </a:prstGeom>
          <a:noFill/>
        </p:spPr>
        <p:txBody>
          <a:bodyPr wrap="square" anchor="t" lIns="25400" rIns="25400" tIns="12700" bIns="12700">
            <a:spAutoFit/>
          </a:bodyPr>
          <a:lstStyle/>
          <a:p>
            <a:pPr algn="l">
              <a:lnSpc>
                <a:spcPct val="124000"/>
              </a:lnSpc>
            </a:pPr>
            <a:r>
              <a:rPr sz="760" b="0">
                <a:solidFill>
                  <a:srgbClr val="232323"/>
                </a:solidFill>
              </a:rPr>
              <a:t>・Step 1: SharePoint準備</a:t>
            </a:r>
          </a:p>
          <a:p>
            <a:pPr algn="l">
              <a:lnSpc>
                <a:spcPct val="124000"/>
              </a:lnSpc>
            </a:pPr>
            <a:r>
              <a:rPr sz="760" b="0">
                <a:solidFill>
                  <a:srgbClr val="232323"/>
                </a:solidFill>
              </a:rPr>
              <a:t>・Step 2: ダミーデータ配置</a:t>
            </a:r>
          </a:p>
          <a:p>
            <a:pPr algn="l">
              <a:lnSpc>
                <a:spcPct val="124000"/>
              </a:lnSpc>
            </a:pPr>
            <a:r>
              <a:rPr sz="760" b="0">
                <a:solidFill>
                  <a:srgbClr val="232323"/>
                </a:solidFill>
              </a:rPr>
              <a:t>・Step 3: Copilot Studio構築</a:t>
            </a:r>
          </a:p>
          <a:p>
            <a:pPr algn="l">
              <a:lnSpc>
                <a:spcPct val="124000"/>
              </a:lnSpc>
            </a:pPr>
            <a:r>
              <a:rPr sz="760" b="0">
                <a:solidFill>
                  <a:srgbClr val="232323"/>
                </a:solidFill>
              </a:rPr>
              <a:t>・Step 4: Power Automate（必要時のみ）</a:t>
            </a:r>
          </a:p>
          <a:p>
            <a:pPr algn="l">
              <a:lnSpc>
                <a:spcPct val="124000"/>
              </a:lnSpc>
            </a:pPr>
            <a:r>
              <a:rPr sz="760" b="0">
                <a:solidFill>
                  <a:srgbClr val="232323"/>
                </a:solidFill>
              </a:rPr>
              <a:t>・Step 5: テスト</a:t>
            </a:r>
          </a:p>
          <a:p>
            <a:pPr algn="l">
              <a:lnSpc>
                <a:spcPct val="124000"/>
              </a:lnSpc>
            </a:pPr>
            <a:r>
              <a:rPr sz="760" b="0">
                <a:solidFill>
                  <a:srgbClr val="232323"/>
                </a:solidFill>
              </a:rPr>
              <a:t>・各ステップの詳細な作業内容は P.9（全チーム共通）を参照</a:t>
            </a:r>
          </a:p>
        </p:txBody>
      </p:sp>
      <p:sp>
        <p:nvSpPr>
          <p:cNvPr id="11" name="Rectangle 10"/>
          <p:cNvSpPr/>
          <p:nvPr/>
        </p:nvSpPr>
        <p:spPr>
          <a:xfrm>
            <a:off x="8339328" y="2664409"/>
            <a:ext cx="3118104" cy="1268059"/>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8" y="2664409"/>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2664409"/>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ダミーデータ仕様（このチーム固有）</a:t>
            </a:r>
          </a:p>
        </p:txBody>
      </p:sp>
      <p:sp>
        <p:nvSpPr>
          <p:cNvPr id="14" name="TextBox 13"/>
          <p:cNvSpPr txBox="1"/>
          <p:nvPr/>
        </p:nvSpPr>
        <p:spPr>
          <a:xfrm>
            <a:off x="8449056" y="2993593"/>
            <a:ext cx="2862072" cy="884011"/>
          </a:xfrm>
          <a:prstGeom prst="rect">
            <a:avLst/>
          </a:prstGeom>
          <a:noFill/>
        </p:spPr>
        <p:txBody>
          <a:bodyPr wrap="square" anchor="t" lIns="25400" rIns="25400" tIns="12700" bIns="12700">
            <a:spAutoFit/>
          </a:bodyPr>
          <a:lstStyle/>
          <a:p>
            <a:pPr algn="l">
              <a:lnSpc>
                <a:spcPct val="124000"/>
              </a:lnSpc>
            </a:pPr>
            <a:r>
              <a:rPr sz="760" b="0">
                <a:solidFill>
                  <a:srgbClr val="232323"/>
                </a:solidFill>
              </a:rPr>
              <a:t>・サンプル： T11_sample_input.xlsx ／ T11_sample_knowledge.xlsx ／ T11_expected_output.xlsx</a:t>
            </a:r>
          </a:p>
          <a:p>
            <a:pPr algn="l">
              <a:lnSpc>
                <a:spcPct val="124000"/>
              </a:lnSpc>
            </a:pPr>
            <a:r>
              <a:rPr sz="760" b="0">
                <a:solidFill>
                  <a:srgbClr val="232323"/>
                </a:solidFill>
              </a:rPr>
              <a:t>・入力: 問い合わせ文、FAQ、手順書、申請種別一覧、過去QA</a:t>
            </a:r>
          </a:p>
          <a:p>
            <a:pPr algn="l">
              <a:lnSpc>
                <a:spcPct val="124000"/>
              </a:lnSpc>
            </a:pPr>
            <a:r>
              <a:rPr sz="760" b="0">
                <a:solidFill>
                  <a:srgbClr val="232323"/>
                </a:solidFill>
              </a:rPr>
              <a:t>・期待出力: 一次回答、手順案内、切り分け結果、エスカレーション案</a:t>
            </a:r>
          </a:p>
        </p:txBody>
      </p:sp>
      <p:sp>
        <p:nvSpPr>
          <p:cNvPr id="15" name="Rectangle 14"/>
          <p:cNvSpPr/>
          <p:nvPr/>
        </p:nvSpPr>
        <p:spPr>
          <a:xfrm>
            <a:off x="8339328" y="4014764"/>
            <a:ext cx="3118104" cy="112443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4014764"/>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4014764"/>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最低限テストケース</a:t>
            </a:r>
          </a:p>
        </p:txBody>
      </p:sp>
      <p:sp>
        <p:nvSpPr>
          <p:cNvPr id="18" name="TextBox 17"/>
          <p:cNvSpPr txBox="1"/>
          <p:nvPr/>
        </p:nvSpPr>
        <p:spPr>
          <a:xfrm>
            <a:off x="8449056" y="4343948"/>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・種別： 正常系 ／ 入力不足 ／ 想定外 ／ 人確認 ／ 制約確認 の5件</a:t>
            </a:r>
          </a:p>
          <a:p>
            <a:pPr algn="l">
              <a:lnSpc>
                <a:spcPct val="124000"/>
              </a:lnSpc>
            </a:pPr>
            <a:r>
              <a:rPr sz="760" b="0">
                <a:solidFill>
                  <a:srgbClr val="232323"/>
                </a:solidFill>
              </a:rPr>
              <a:t>・入力と期待結果は P.10（全チーム共通）を参照</a:t>
            </a:r>
          </a:p>
          <a:p>
            <a:pPr algn="l">
              <a:lnSpc>
                <a:spcPct val="124000"/>
              </a:lnSpc>
            </a:pPr>
            <a:r>
              <a:rPr sz="760" b="0">
                <a:solidFill>
                  <a:srgbClr val="232323"/>
                </a:solidFill>
              </a:rPr>
              <a:t>・AI出力は人が確認し、誤りや不足を記録する</a:t>
            </a:r>
          </a:p>
        </p:txBody>
      </p:sp>
      <p:sp>
        <p:nvSpPr>
          <p:cNvPr id="19" name="Rectangle 18"/>
          <p:cNvSpPr/>
          <p:nvPr/>
        </p:nvSpPr>
        <p:spPr>
          <a:xfrm>
            <a:off x="8339328" y="5221498"/>
            <a:ext cx="3118104" cy="112443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8" y="5221498"/>
            <a:ext cx="3118104" cy="27432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221498"/>
            <a:ext cx="2935224" cy="274320"/>
          </a:xfrm>
          <a:prstGeom prst="rect">
            <a:avLst/>
          </a:prstGeom>
          <a:noFill/>
        </p:spPr>
        <p:txBody>
          <a:bodyPr wrap="square" anchor="ctr" lIns="25400" rIns="25400" tIns="12700" bIns="12700">
            <a:spAutoFit/>
          </a:bodyPr>
          <a:lstStyle/>
          <a:p>
            <a:pPr algn="l">
              <a:lnSpc>
                <a:spcPct val="115000"/>
              </a:lnSpc>
            </a:pPr>
            <a:r>
              <a:rPr sz="900" b="1">
                <a:solidFill>
                  <a:srgbClr val="FFFFFF"/>
                </a:solidFill>
              </a:rPr>
              <a:t>先回り検証ポイント</a:t>
            </a:r>
          </a:p>
        </p:txBody>
      </p:sp>
      <p:sp>
        <p:nvSpPr>
          <p:cNvPr id="22" name="TextBox 21"/>
          <p:cNvSpPr txBox="1"/>
          <p:nvPr/>
        </p:nvSpPr>
        <p:spPr>
          <a:xfrm>
            <a:off x="8449056" y="5550682"/>
            <a:ext cx="2862072" cy="740390"/>
          </a:xfrm>
          <a:prstGeom prst="rect">
            <a:avLst/>
          </a:prstGeom>
          <a:noFill/>
        </p:spPr>
        <p:txBody>
          <a:bodyPr wrap="square" anchor="t" lIns="25400" rIns="25400" tIns="12700" bIns="12700">
            <a:spAutoFit/>
          </a:bodyPr>
          <a:lstStyle/>
          <a:p>
            <a:pPr algn="l">
              <a:lnSpc>
                <a:spcPct val="124000"/>
              </a:lnSpc>
            </a:pPr>
            <a:r>
              <a:rPr sz="760" b="0">
                <a:solidFill>
                  <a:srgbClr val="232323"/>
                </a:solidFill>
              </a:rPr>
              <a:t>・ダミーデータ1件で期待出力が出るか</a:t>
            </a:r>
          </a:p>
          <a:p>
            <a:pPr algn="l">
              <a:lnSpc>
                <a:spcPct val="124000"/>
              </a:lnSpc>
            </a:pPr>
            <a:r>
              <a:rPr sz="760" b="0">
                <a:solidFill>
                  <a:srgbClr val="232323"/>
                </a:solidFill>
              </a:rPr>
              <a:t>・AI出力の根拠が説明できるか</a:t>
            </a:r>
          </a:p>
          <a:p>
            <a:pPr algn="l">
              <a:lnSpc>
                <a:spcPct val="124000"/>
              </a:lnSpc>
            </a:pPr>
            <a:r>
              <a:rPr sz="760" b="0">
                <a:solidFill>
                  <a:srgbClr val="232323"/>
                </a:solidFill>
              </a:rPr>
              <a:t>・人の確認ポイントが明確か</a:t>
            </a:r>
          </a:p>
          <a:p>
            <a:pPr algn="l">
              <a:lnSpc>
                <a:spcPct val="124000"/>
              </a:lnSpc>
            </a:pPr>
            <a:r>
              <a:rPr sz="760" b="0">
                <a:solidFill>
                  <a:srgbClr val="232323"/>
                </a:solidFill>
              </a:rPr>
              <a:t>・制約違反となるアプリやコネクタを使っていないか</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T04 除外メモ（今回の詳細設計対象外）</a:t>
            </a:r>
          </a:p>
        </p:txBody>
      </p:sp>
      <p:sp>
        <p:nvSpPr>
          <p:cNvPr id="3" name="Text Placeholder 2"/>
          <p:cNvSpPr>
            <a:spLocks noGrp="1"/>
          </p:cNvSpPr>
          <p:nvPr>
            <p:ph type="body" idx="2" sz="half"/>
          </p:nvPr>
        </p:nvSpPr>
        <p:spPr/>
        <p:txBody>
          <a:bodyPr wrap="square" tIns="0" bIns="0"/>
          <a:lstStyle/>
          <a:p>
            <a:r>
              <a:rPr sz="1270">
                <a:solidFill>
                  <a:srgbClr val="595959"/>
                </a:solidFill>
              </a:rPr>
              <a:t>現行案の中核が外部Web参照に依存するため、案自体の再設計が必要</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31</a:t>
            </a:r>
          </a:p>
        </p:txBody>
      </p:sp>
      <p:sp>
        <p:nvSpPr>
          <p:cNvPr id="5" name="Rectangle 4"/>
          <p:cNvSpPr/>
          <p:nvPr/>
        </p:nvSpPr>
        <p:spPr>
          <a:xfrm>
            <a:off x="740664" y="1280160"/>
            <a:ext cx="10716768" cy="146304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1280160"/>
            <a:ext cx="64008" cy="146304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444752"/>
            <a:ext cx="2377440" cy="310896"/>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00" b="1">
                <a:solidFill>
                  <a:srgbClr val="FFFFFF"/>
                </a:solidFill>
              </a:rPr>
              <a:t>詳細設計対象外（V1どおり）</a:t>
            </a:r>
          </a:p>
        </p:txBody>
      </p:sp>
      <p:sp>
        <p:nvSpPr>
          <p:cNvPr id="8" name="TextBox 7"/>
          <p:cNvSpPr txBox="1"/>
          <p:nvPr/>
        </p:nvSpPr>
        <p:spPr>
          <a:xfrm>
            <a:off x="960120" y="1865376"/>
            <a:ext cx="10277856" cy="731520"/>
          </a:xfrm>
          <a:prstGeom prst="rect">
            <a:avLst/>
          </a:prstGeom>
          <a:noFill/>
        </p:spPr>
        <p:txBody>
          <a:bodyPr wrap="square" anchor="t" lIns="25400" rIns="25400" tIns="12700" bIns="12700">
            <a:spAutoFit/>
          </a:bodyPr>
          <a:lstStyle/>
          <a:p>
            <a:pPr algn="l">
              <a:lnSpc>
                <a:spcPct val="136000"/>
              </a:lnSpc>
            </a:pPr>
            <a:r>
              <a:rPr sz="1452" b="0">
                <a:solidFill>
                  <a:srgbClr val="232323"/>
                </a:solidFill>
              </a:rPr>
              <a:t>T04は現行案の中核が外部Web参照に依存しており、案自体の再設計が必要なため、今回のメンター試作用詳細設計対象外とする。</a:t>
            </a:r>
          </a:p>
        </p:txBody>
      </p:sp>
      <p:sp>
        <p:nvSpPr>
          <p:cNvPr id="9" name="Rectangle 8"/>
          <p:cNvSpPr/>
          <p:nvPr/>
        </p:nvSpPr>
        <p:spPr>
          <a:xfrm>
            <a:off x="740664" y="2944368"/>
            <a:ext cx="10716768" cy="155448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 y="2944368"/>
            <a:ext cx="10716768"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944368"/>
            <a:ext cx="10497312" cy="310896"/>
          </a:xfrm>
          <a:prstGeom prst="rect">
            <a:avLst/>
          </a:prstGeom>
          <a:noFill/>
        </p:spPr>
        <p:txBody>
          <a:bodyPr wrap="square" anchor="ctr" lIns="25400" rIns="25400" tIns="12700" bIns="12700">
            <a:spAutoFit/>
          </a:bodyPr>
          <a:lstStyle/>
          <a:p>
            <a:pPr algn="l">
              <a:lnSpc>
                <a:spcPct val="115000"/>
              </a:lnSpc>
            </a:pPr>
            <a:r>
              <a:rPr sz="900" b="1">
                <a:solidFill>
                  <a:srgbClr val="FFFFFF"/>
                </a:solidFill>
              </a:rPr>
              <a:t>今後、詳細設計を作成する場合の代替案（V1原文）</a:t>
            </a:r>
          </a:p>
        </p:txBody>
      </p:sp>
      <p:sp>
        <p:nvSpPr>
          <p:cNvPr id="12" name="TextBox 11"/>
          <p:cNvSpPr txBox="1"/>
          <p:nvPr/>
        </p:nvSpPr>
        <p:spPr>
          <a:xfrm>
            <a:off x="960120" y="3364992"/>
            <a:ext cx="10277856" cy="822960"/>
          </a:xfrm>
          <a:prstGeom prst="rect">
            <a:avLst/>
          </a:prstGeom>
          <a:noFill/>
        </p:spPr>
        <p:txBody>
          <a:bodyPr wrap="square" anchor="t" lIns="25400" rIns="25400" tIns="12700" bIns="12700">
            <a:spAutoFit/>
          </a:bodyPr>
          <a:lstStyle/>
          <a:p>
            <a:pPr algn="l">
              <a:lnSpc>
                <a:spcPct val="136000"/>
              </a:lnSpc>
            </a:pPr>
            <a:r>
              <a:rPr sz="1452" b="0">
                <a:solidFill>
                  <a:srgbClr val="232323"/>
                </a:solidFill>
              </a:rPr>
              <a:t>今後作成する場合は、社内資料、人手取得済み資料、過去調査結果をSharePointに格納し、Copilot Studioで整理・要約・提案書ドラフト化する代替案を検討する。</a:t>
            </a:r>
          </a:p>
        </p:txBody>
      </p:sp>
      <p:sp>
        <p:nvSpPr>
          <p:cNvPr id="13" name="Rectangle 12"/>
          <p:cNvSpPr/>
          <p:nvPr/>
        </p:nvSpPr>
        <p:spPr>
          <a:xfrm>
            <a:off x="740664" y="4700016"/>
            <a:ext cx="10716768" cy="160934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0664" y="4700016"/>
            <a:ext cx="10716768"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4700016"/>
            <a:ext cx="10497312" cy="310896"/>
          </a:xfrm>
          <a:prstGeom prst="rect">
            <a:avLst/>
          </a:prstGeom>
          <a:noFill/>
        </p:spPr>
        <p:txBody>
          <a:bodyPr wrap="square" anchor="ctr" lIns="25400" rIns="25400" tIns="12700" bIns="12700">
            <a:spAutoFit/>
          </a:bodyPr>
          <a:lstStyle/>
          <a:p>
            <a:pPr algn="l">
              <a:lnSpc>
                <a:spcPct val="115000"/>
              </a:lnSpc>
            </a:pPr>
            <a:r>
              <a:rPr sz="900" b="1">
                <a:solidFill>
                  <a:srgbClr val="FFFFFF"/>
                </a:solidFill>
              </a:rPr>
              <a:t>本資料での取り扱い</a:t>
            </a:r>
          </a:p>
        </p:txBody>
      </p:sp>
      <p:sp>
        <p:nvSpPr>
          <p:cNvPr id="16" name="TextBox 15"/>
          <p:cNvSpPr txBox="1"/>
          <p:nvPr/>
        </p:nvSpPr>
        <p:spPr>
          <a:xfrm>
            <a:off x="960120" y="5120640"/>
            <a:ext cx="10277856" cy="1097280"/>
          </a:xfrm>
          <a:prstGeom prst="rect">
            <a:avLst/>
          </a:prstGeom>
          <a:noFill/>
        </p:spPr>
        <p:txBody>
          <a:bodyPr wrap="square" anchor="t" lIns="25400" rIns="25400" tIns="12700" bIns="12700">
            <a:spAutoFit/>
          </a:bodyPr>
          <a:lstStyle/>
          <a:p>
            <a:pPr algn="l">
              <a:lnSpc>
                <a:spcPct val="140000"/>
              </a:lnSpc>
            </a:pPr>
            <a:r>
              <a:rPr sz="1089" b="0">
                <a:solidFill>
                  <a:srgbClr val="232323"/>
                </a:solidFill>
              </a:rPr>
              <a:t>・T04は、アーキテクチャ設計・MVP設計・構築手順・ダミーデータ仕様・テストケースのいずれも作成していない（V1の方針をそのまま維持）。</a:t>
            </a:r>
          </a:p>
          <a:p>
            <a:pPr algn="l">
              <a:lnSpc>
                <a:spcPct val="140000"/>
              </a:lnSpc>
            </a:pPr>
            <a:r>
              <a:rPr sz="1089" b="0">
                <a:solidFill>
                  <a:srgbClr val="232323"/>
                </a:solidFill>
              </a:rPr>
              <a:t>・全体俯瞰マップ・チーム別ページの対象は T01・T02・T03・T05〜T11 の10チーム。</a:t>
            </a:r>
          </a:p>
          <a:p>
            <a:pPr algn="l">
              <a:lnSpc>
                <a:spcPct val="140000"/>
              </a:lnSpc>
            </a:pPr>
            <a:r>
              <a:rPr sz="1089" b="0">
                <a:solidFill>
                  <a:srgbClr val="232323"/>
                </a:solidFill>
              </a:rPr>
              <a:t>・案の再設計後に、共通制約（P.5）と共通アーキテクチャ原則（P.6）に沿ってあらためて設計する。</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tIns="0" bIns="0"/>
          <a:lstStyle/>
          <a:p>
            <a:r>
              <a:t>メンター試作チェックリスト</a:t>
            </a:r>
          </a:p>
        </p:txBody>
      </p:sp>
      <p:sp>
        <p:nvSpPr>
          <p:cNvPr id="3" name="Text Placeholder 2"/>
          <p:cNvSpPr>
            <a:spLocks noGrp="1"/>
          </p:cNvSpPr>
          <p:nvPr>
            <p:ph type="body" idx="2" sz="half"/>
          </p:nvPr>
        </p:nvSpPr>
        <p:spPr/>
        <p:txBody>
          <a:bodyPr wrap="square" tIns="0" bIns="0"/>
          <a:lstStyle/>
          <a:p>
            <a:r>
              <a:rPr sz="1270">
                <a:solidFill>
                  <a:srgbClr val="595959"/>
                </a:solidFill>
              </a:rPr>
              <a:t>試作前・試作中・試作後の確認観点と、事務局に確認が必要な残論点</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15000"/>
              </a:lnSpc>
            </a:pPr>
            <a:r>
              <a:rPr sz="900" b="0">
                <a:solidFill>
                  <a:srgbClr val="595959"/>
                </a:solidFill>
              </a:rPr>
              <a:t>32</a:t>
            </a:r>
          </a:p>
        </p:txBody>
      </p:sp>
      <p:sp>
        <p:nvSpPr>
          <p:cNvPr id="5" name="Rectangle 4"/>
          <p:cNvSpPr/>
          <p:nvPr/>
        </p:nvSpPr>
        <p:spPr>
          <a:xfrm>
            <a:off x="740664" y="1188720"/>
            <a:ext cx="5294376" cy="237744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1188720"/>
            <a:ext cx="5294376" cy="29260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188720"/>
            <a:ext cx="5074920" cy="292608"/>
          </a:xfrm>
          <a:prstGeom prst="rect">
            <a:avLst/>
          </a:prstGeom>
          <a:noFill/>
        </p:spPr>
        <p:txBody>
          <a:bodyPr wrap="square" anchor="ctr" lIns="25400" rIns="25400" tIns="12700" bIns="12700">
            <a:spAutoFit/>
          </a:bodyPr>
          <a:lstStyle/>
          <a:p>
            <a:pPr algn="l">
              <a:lnSpc>
                <a:spcPct val="115000"/>
              </a:lnSpc>
            </a:pPr>
            <a:r>
              <a:rPr sz="900" b="1">
                <a:solidFill>
                  <a:srgbClr val="FFFFFF"/>
                </a:solidFill>
              </a:rPr>
              <a:t>試作前に確認する（制約の適合）</a:t>
            </a:r>
          </a:p>
        </p:txBody>
      </p:sp>
      <p:sp>
        <p:nvSpPr>
          <p:cNvPr id="8" name="TextBox 7"/>
          <p:cNvSpPr txBox="1"/>
          <p:nvPr/>
        </p:nvSpPr>
        <p:spPr>
          <a:xfrm>
            <a:off x="905256" y="1536192"/>
            <a:ext cx="4965192" cy="1920240"/>
          </a:xfrm>
          <a:prstGeom prst="rect">
            <a:avLst/>
          </a:prstGeom>
          <a:noFill/>
        </p:spPr>
        <p:txBody>
          <a:bodyPr wrap="square" anchor="t" lIns="25400" rIns="25400" tIns="12700" bIns="12700">
            <a:spAutoFit/>
          </a:bodyPr>
          <a:lstStyle/>
          <a:p>
            <a:pPr algn="l">
              <a:lnSpc>
                <a:spcPct val="136000"/>
              </a:lnSpc>
            </a:pPr>
            <a:r>
              <a:rPr sz="1089" b="0">
                <a:solidFill>
                  <a:srgbClr val="232323"/>
                </a:solidFill>
              </a:rPr>
              <a:t>□ Copilot StudioをMVPに含めているか</a:t>
            </a:r>
          </a:p>
          <a:p>
            <a:pPr algn="l">
              <a:lnSpc>
                <a:spcPct val="136000"/>
              </a:lnSpc>
            </a:pPr>
            <a:r>
              <a:rPr sz="1089" b="0">
                <a:solidFill>
                  <a:srgbClr val="232323"/>
                </a:solidFill>
              </a:rPr>
              <a:t>□ Forms／Power BI／Dataverse／Premium Connector／外部Web・APIを使っていないか</a:t>
            </a:r>
          </a:p>
          <a:p>
            <a:pPr algn="l">
              <a:lnSpc>
                <a:spcPct val="136000"/>
              </a:lnSpc>
            </a:pPr>
            <a:r>
              <a:rPr sz="1089" b="0">
                <a:solidFill>
                  <a:srgbClr val="232323"/>
                </a:solidFill>
              </a:rPr>
              <a:t>□ SharePoint／OneDrive格納になっているか（共有ファイルサーバ直接参照でないか）</a:t>
            </a:r>
          </a:p>
          <a:p>
            <a:pPr algn="l">
              <a:lnSpc>
                <a:spcPct val="136000"/>
              </a:lnSpc>
            </a:pPr>
            <a:r>
              <a:rPr sz="1089" b="0">
                <a:solidFill>
                  <a:srgbClr val="232323"/>
                </a:solidFill>
              </a:rPr>
              <a:t>□ Power Automateからエージェントフローを呼ぶ場合、When an agent calls the flow になっているか</a:t>
            </a:r>
          </a:p>
          <a:p>
            <a:pPr algn="l">
              <a:lnSpc>
                <a:spcPct val="136000"/>
              </a:lnSpc>
            </a:pPr>
            <a:r>
              <a:rPr sz="1089" b="0">
                <a:solidFill>
                  <a:srgbClr val="232323"/>
                </a:solidFill>
              </a:rPr>
              <a:t>□ ダミーデータに実名・実データ・個人情報が含まれていないか</a:t>
            </a:r>
          </a:p>
        </p:txBody>
      </p:sp>
      <p:sp>
        <p:nvSpPr>
          <p:cNvPr id="9" name="Rectangle 8"/>
          <p:cNvSpPr/>
          <p:nvPr/>
        </p:nvSpPr>
        <p:spPr>
          <a:xfrm>
            <a:off x="6163056" y="1188720"/>
            <a:ext cx="5294376" cy="237744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1188720"/>
            <a:ext cx="5294376" cy="29260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2784" y="1188720"/>
            <a:ext cx="5074920" cy="292608"/>
          </a:xfrm>
          <a:prstGeom prst="rect">
            <a:avLst/>
          </a:prstGeom>
          <a:noFill/>
        </p:spPr>
        <p:txBody>
          <a:bodyPr wrap="square" anchor="ctr" lIns="25400" rIns="25400" tIns="12700" bIns="12700">
            <a:spAutoFit/>
          </a:bodyPr>
          <a:lstStyle/>
          <a:p>
            <a:pPr algn="l">
              <a:lnSpc>
                <a:spcPct val="115000"/>
              </a:lnSpc>
            </a:pPr>
            <a:r>
              <a:rPr sz="900" b="1">
                <a:solidFill>
                  <a:srgbClr val="FFFFFF"/>
                </a:solidFill>
              </a:rPr>
              <a:t>試作後に確認する（MVPの成立）</a:t>
            </a:r>
          </a:p>
        </p:txBody>
      </p:sp>
      <p:sp>
        <p:nvSpPr>
          <p:cNvPr id="12" name="TextBox 11"/>
          <p:cNvSpPr txBox="1"/>
          <p:nvPr/>
        </p:nvSpPr>
        <p:spPr>
          <a:xfrm>
            <a:off x="6327648" y="1536192"/>
            <a:ext cx="4965192" cy="1920240"/>
          </a:xfrm>
          <a:prstGeom prst="rect">
            <a:avLst/>
          </a:prstGeom>
          <a:noFill/>
        </p:spPr>
        <p:txBody>
          <a:bodyPr wrap="square" anchor="t" lIns="25400" rIns="25400" tIns="12700" bIns="12700">
            <a:spAutoFit/>
          </a:bodyPr>
          <a:lstStyle/>
          <a:p>
            <a:pPr algn="l">
              <a:lnSpc>
                <a:spcPct val="140000"/>
              </a:lnSpc>
            </a:pPr>
            <a:r>
              <a:rPr sz="1089" b="0">
                <a:solidFill>
                  <a:srgbClr val="232323"/>
                </a:solidFill>
              </a:rPr>
              <a:t>□ MVPは1つの入力→処理→出力に絞れているか</a:t>
            </a:r>
          </a:p>
          <a:p>
            <a:pPr algn="l">
              <a:lnSpc>
                <a:spcPct val="140000"/>
              </a:lnSpc>
            </a:pPr>
            <a:r>
              <a:rPr sz="1089" b="0">
                <a:solidFill>
                  <a:srgbClr val="232323"/>
                </a:solidFill>
              </a:rPr>
              <a:t>□ Copilot Studioの価値が明確か</a:t>
            </a:r>
          </a:p>
          <a:p>
            <a:pPr algn="l">
              <a:lnSpc>
                <a:spcPct val="140000"/>
              </a:lnSpc>
            </a:pPr>
            <a:r>
              <a:rPr sz="1089" b="0">
                <a:solidFill>
                  <a:srgbClr val="232323"/>
                </a:solidFill>
              </a:rPr>
              <a:t>□ SharePoint格納場所が定義されているか</a:t>
            </a:r>
          </a:p>
          <a:p>
            <a:pPr algn="l">
              <a:lnSpc>
                <a:spcPct val="140000"/>
              </a:lnSpc>
            </a:pPr>
            <a:r>
              <a:rPr sz="1089" b="0">
                <a:solidFill>
                  <a:srgbClr val="232323"/>
                </a:solidFill>
              </a:rPr>
              <a:t>□ 人の確認ポイントがあるか</a:t>
            </a:r>
          </a:p>
          <a:p>
            <a:pPr algn="l">
              <a:lnSpc>
                <a:spcPct val="140000"/>
              </a:lnSpc>
            </a:pPr>
            <a:r>
              <a:rPr sz="1089" b="0">
                <a:solidFill>
                  <a:srgbClr val="232323"/>
                </a:solidFill>
              </a:rPr>
              <a:t>□ 個人情報・機密情報を使わないダミーデータで試せるか</a:t>
            </a:r>
          </a:p>
          <a:p>
            <a:pPr algn="l">
              <a:lnSpc>
                <a:spcPct val="140000"/>
              </a:lnSpc>
            </a:pPr>
            <a:r>
              <a:rPr sz="1089" b="0">
                <a:solidFill>
                  <a:srgbClr val="232323"/>
                </a:solidFill>
              </a:rPr>
              <a:t>□ Power Automateが過剰になっていないか</a:t>
            </a:r>
          </a:p>
          <a:p>
            <a:pPr algn="l">
              <a:lnSpc>
                <a:spcPct val="140000"/>
              </a:lnSpc>
            </a:pPr>
            <a:r>
              <a:rPr sz="1089" b="0">
                <a:solidFill>
                  <a:srgbClr val="232323"/>
                </a:solidFill>
              </a:rPr>
              <a:t>□ エラー時の人手対応が想定されているか</a:t>
            </a:r>
          </a:p>
          <a:p>
            <a:pPr algn="l">
              <a:lnSpc>
                <a:spcPct val="140000"/>
              </a:lnSpc>
            </a:pPr>
            <a:r>
              <a:rPr sz="1089" b="0">
                <a:solidFill>
                  <a:srgbClr val="232323"/>
                </a:solidFill>
              </a:rPr>
              <a:t>□ 8月中に一本通せる粒度か</a:t>
            </a:r>
          </a:p>
        </p:txBody>
      </p:sp>
      <p:sp>
        <p:nvSpPr>
          <p:cNvPr id="13" name="Rectangle 12"/>
          <p:cNvSpPr/>
          <p:nvPr/>
        </p:nvSpPr>
        <p:spPr>
          <a:xfrm>
            <a:off x="740664" y="3785615"/>
            <a:ext cx="10716768" cy="2523744"/>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0664" y="3785615"/>
            <a:ext cx="10716768"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785615"/>
            <a:ext cx="10497312" cy="310896"/>
          </a:xfrm>
          <a:prstGeom prst="rect">
            <a:avLst/>
          </a:prstGeom>
          <a:noFill/>
        </p:spPr>
        <p:txBody>
          <a:bodyPr wrap="square" anchor="ctr" lIns="25400" rIns="25400" tIns="12700" bIns="12700">
            <a:spAutoFit/>
          </a:bodyPr>
          <a:lstStyle/>
          <a:p>
            <a:pPr algn="l">
              <a:lnSpc>
                <a:spcPct val="115000"/>
              </a:lnSpc>
            </a:pPr>
            <a:r>
              <a:rPr sz="900" b="1">
                <a:solidFill>
                  <a:srgbClr val="FFFFFF"/>
                </a:solidFill>
              </a:rPr>
              <a:t>追加確認が望ましい点（V1 品質レビュー結果より）</a:t>
            </a:r>
          </a:p>
        </p:txBody>
      </p:sp>
      <p:sp>
        <p:nvSpPr>
          <p:cNvPr id="16" name="Rectangle 15"/>
          <p:cNvSpPr/>
          <p:nvPr/>
        </p:nvSpPr>
        <p:spPr>
          <a:xfrm>
            <a:off x="905256" y="4151375"/>
            <a:ext cx="10387584"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78408" y="4187951"/>
            <a:ext cx="137160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各チーム</a:t>
            </a:r>
          </a:p>
        </p:txBody>
      </p:sp>
      <p:sp>
        <p:nvSpPr>
          <p:cNvPr id="18" name="TextBox 17"/>
          <p:cNvSpPr txBox="1"/>
          <p:nvPr/>
        </p:nvSpPr>
        <p:spPr>
          <a:xfrm>
            <a:off x="2478024" y="4151375"/>
            <a:ext cx="8741664" cy="329184"/>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各チームの最新企画書との差分確認</a:t>
            </a:r>
          </a:p>
        </p:txBody>
      </p:sp>
      <p:sp>
        <p:nvSpPr>
          <p:cNvPr id="19" name="Rectangle 18"/>
          <p:cNvSpPr/>
          <p:nvPr/>
        </p:nvSpPr>
        <p:spPr>
          <a:xfrm>
            <a:off x="905256" y="4535423"/>
            <a:ext cx="10387584"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8408" y="4571999"/>
            <a:ext cx="137160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運営</a:t>
            </a:r>
          </a:p>
        </p:txBody>
      </p:sp>
      <p:sp>
        <p:nvSpPr>
          <p:cNvPr id="21" name="TextBox 20"/>
          <p:cNvSpPr txBox="1"/>
          <p:nvPr/>
        </p:nvSpPr>
        <p:spPr>
          <a:xfrm>
            <a:off x="2478024" y="4535423"/>
            <a:ext cx="8741664" cy="329184"/>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T07の事前相談②実施後の更新</a:t>
            </a:r>
          </a:p>
        </p:txBody>
      </p:sp>
      <p:sp>
        <p:nvSpPr>
          <p:cNvPr id="22" name="Rectangle 21"/>
          <p:cNvSpPr/>
          <p:nvPr/>
        </p:nvSpPr>
        <p:spPr>
          <a:xfrm>
            <a:off x="905256" y="4919471"/>
            <a:ext cx="10387584"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78408" y="4956047"/>
            <a:ext cx="137160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事務局</a:t>
            </a:r>
          </a:p>
        </p:txBody>
      </p:sp>
      <p:sp>
        <p:nvSpPr>
          <p:cNvPr id="24" name="TextBox 23"/>
          <p:cNvSpPr txBox="1"/>
          <p:nvPr/>
        </p:nvSpPr>
        <p:spPr>
          <a:xfrm>
            <a:off x="2478024" y="4919471"/>
            <a:ext cx="8741664" cy="329184"/>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T08の個人情報/予定表/会議室利用可否</a:t>
            </a:r>
          </a:p>
        </p:txBody>
      </p:sp>
      <p:sp>
        <p:nvSpPr>
          <p:cNvPr id="25" name="Rectangle 24"/>
          <p:cNvSpPr/>
          <p:nvPr/>
        </p:nvSpPr>
        <p:spPr>
          <a:xfrm>
            <a:off x="905256" y="5303519"/>
            <a:ext cx="10387584"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78408" y="5340095"/>
            <a:ext cx="137160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事務局</a:t>
            </a:r>
          </a:p>
        </p:txBody>
      </p:sp>
      <p:sp>
        <p:nvSpPr>
          <p:cNvPr id="27" name="TextBox 26"/>
          <p:cNvSpPr txBox="1"/>
          <p:nvPr/>
        </p:nvSpPr>
        <p:spPr>
          <a:xfrm>
            <a:off x="2478024" y="5303519"/>
            <a:ext cx="8741664" cy="329184"/>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T09のメール送信条件</a:t>
            </a:r>
          </a:p>
        </p:txBody>
      </p:sp>
      <p:sp>
        <p:nvSpPr>
          <p:cNvPr id="28" name="Rectangle 27"/>
          <p:cNvSpPr/>
          <p:nvPr/>
        </p:nvSpPr>
        <p:spPr>
          <a:xfrm>
            <a:off x="905256" y="5687567"/>
            <a:ext cx="10387584"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78408" y="5724143"/>
            <a:ext cx="1371600" cy="25603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760" b="1">
                <a:solidFill>
                  <a:srgbClr val="232323"/>
                </a:solidFill>
              </a:rPr>
              <a:t>運営 / 事務局</a:t>
            </a:r>
          </a:p>
        </p:txBody>
      </p:sp>
      <p:sp>
        <p:nvSpPr>
          <p:cNvPr id="30" name="TextBox 29"/>
          <p:cNvSpPr txBox="1"/>
          <p:nvPr/>
        </p:nvSpPr>
        <p:spPr>
          <a:xfrm>
            <a:off x="2478024" y="5687567"/>
            <a:ext cx="8741664" cy="329184"/>
          </a:xfrm>
          <a:prstGeom prst="rect">
            <a:avLst/>
          </a:prstGeom>
          <a:noFill/>
        </p:spPr>
        <p:txBody>
          <a:bodyPr wrap="square" anchor="ctr" lIns="25400" rIns="25400" tIns="12700" bIns="12700">
            <a:spAutoFit/>
          </a:bodyPr>
          <a:lstStyle/>
          <a:p>
            <a:pPr algn="l">
              <a:lnSpc>
                <a:spcPct val="115000"/>
              </a:lnSpc>
            </a:pPr>
            <a:r>
              <a:rPr sz="1089" b="0">
                <a:solidFill>
                  <a:srgbClr val="232323"/>
                </a:solidFill>
              </a:rPr>
              <a:t>Agent Flow間接起動案が従量課金回避になるかの最終確認</a:t>
            </a:r>
          </a:p>
        </p:txBody>
      </p:sp>
    </p:spTree>
  </p:cSld>
  <p:clrMapOvr>
    <a:masterClrMapping/>
  </p:clrMapOvr>
</p:sld>
</file>

<file path=ppt/theme/theme1.xml><?xml version="1.0" encoding="utf-8"?>
<a:theme xmlns:a="http://schemas.openxmlformats.org/drawingml/2006/main" name="1_Office テーマ">
  <a:themeElements>
    <a:clrScheme name="Lowcode風">
      <a:dk1>
        <a:srgbClr val="232323"/>
      </a:dk1>
      <a:lt1>
        <a:srgbClr val="F8FDFA"/>
      </a:lt1>
      <a:dk2>
        <a:srgbClr val="1B5C80"/>
      </a:dk2>
      <a:lt2>
        <a:srgbClr val="F7E2ED"/>
      </a:lt2>
      <a:accent1>
        <a:srgbClr val="EC856F"/>
      </a:accent1>
      <a:accent2>
        <a:srgbClr val="0FA4CC"/>
      </a:accent2>
      <a:accent3>
        <a:srgbClr val="A6E2F3"/>
      </a:accent3>
      <a:accent4>
        <a:srgbClr val="DBF1F7"/>
      </a:accent4>
      <a:accent5>
        <a:srgbClr val="E7E8F8"/>
      </a:accent5>
      <a:accent6>
        <a:srgbClr val="FAE5E3"/>
      </a:accent6>
      <a:hlink>
        <a:srgbClr val="0FA4CC"/>
      </a:hlink>
      <a:folHlink>
        <a:srgbClr val="D0D4D7"/>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d273834-d721-4430-a0ce-0f063538582a">
      <Terms xmlns="http://schemas.microsoft.com/office/infopath/2007/PartnerControls"/>
    </lcf76f155ced4ddcb4097134ff3c332f>
    <TaxCatchAll xmlns="05d0f595-ae3c-4a1a-bc85-add804576b0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6F6B4358CDFD745962B226452FC776B" ma:contentTypeVersion="11" ma:contentTypeDescription="新しいドキュメントを作成します。" ma:contentTypeScope="" ma:versionID="9bd21d57d2bc0587c3ce9f86e023fb60">
  <xsd:schema xmlns:xsd="http://www.w3.org/2001/XMLSchema" xmlns:xs="http://www.w3.org/2001/XMLSchema" xmlns:p="http://schemas.microsoft.com/office/2006/metadata/properties" xmlns:ns2="1d273834-d721-4430-a0ce-0f063538582a" xmlns:ns3="05d0f595-ae3c-4a1a-bc85-add804576b0f" targetNamespace="http://schemas.microsoft.com/office/2006/metadata/properties" ma:root="true" ma:fieldsID="ecd3235cfe8864a66741c8aa8f2f9e1a" ns2:_="" ns3:_="">
    <xsd:import namespace="1d273834-d721-4430-a0ce-0f063538582a"/>
    <xsd:import namespace="05d0f595-ae3c-4a1a-bc85-add804576b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273834-d721-4430-a0ce-0f06353858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136beab5-4bf6-4079-a770-168c569e1b3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5d0f595-ae3c-4a1a-bc85-add804576b0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ef50e22-d52d-48e5-b9a3-31b7c3424201}" ma:internalName="TaxCatchAll" ma:showField="CatchAllData" ma:web="05d0f595-ae3c-4a1a-bc85-add804576b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D94422-D3E2-4866-B515-6B7EEDDCD9C2}">
  <ds:schemaRefs>
    <ds:schemaRef ds:uri="http://schemas.microsoft.com/sharepoint/v3/contenttype/forms"/>
  </ds:schemaRefs>
</ds:datastoreItem>
</file>

<file path=customXml/itemProps2.xml><?xml version="1.0" encoding="utf-8"?>
<ds:datastoreItem xmlns:ds="http://schemas.openxmlformats.org/officeDocument/2006/customXml" ds:itemID="{B867A143-5C6E-43D3-A017-0F3504499C9C}">
  <ds:schemaRefs>
    <ds:schemaRef ds:uri="http://schemas.microsoft.com/office/2006/documentManagement/types"/>
    <ds:schemaRef ds:uri="http://purl.org/dc/terms/"/>
    <ds:schemaRef ds:uri="http://purl.org/dc/dcmitype/"/>
    <ds:schemaRef ds:uri="http://purl.org/dc/elements/1.1/"/>
    <ds:schemaRef ds:uri="http://www.w3.org/XML/1998/namespace"/>
    <ds:schemaRef ds:uri="http://schemas.microsoft.com/office/2006/metadata/properties"/>
    <ds:schemaRef ds:uri="b9db976c-ad42-4e1e-bd47-02c3eaed91aa"/>
    <ds:schemaRef ds:uri="http://schemas.microsoft.com/office/infopath/2007/PartnerControls"/>
    <ds:schemaRef ds:uri="http://schemas.openxmlformats.org/package/2006/metadata/core-properties"/>
    <ds:schemaRef ds:uri="24d54c13-2659-45b1-b3ee-c76f5ff48956"/>
    <ds:schemaRef ds:uri="1d273834-d721-4430-a0ce-0f063538582a"/>
    <ds:schemaRef ds:uri="05d0f595-ae3c-4a1a-bc85-add804576b0f"/>
  </ds:schemaRefs>
</ds:datastoreItem>
</file>

<file path=customXml/itemProps3.xml><?xml version="1.0" encoding="utf-8"?>
<ds:datastoreItem xmlns:ds="http://schemas.openxmlformats.org/officeDocument/2006/customXml" ds:itemID="{5C9777B7-2E16-4D96-9F0C-511D7C0CD5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273834-d721-4430-a0ce-0f063538582a"/>
    <ds:schemaRef ds:uri="05d0f595-ae3c-4a1a-bc85-add804576b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462</TotalTime>
  <Words>4928</Words>
  <Application>Microsoft Office PowerPoint</Application>
  <PresentationFormat>ワイド画面</PresentationFormat>
  <Paragraphs>886</Paragraphs>
  <Slides>69</Slides>
  <Notes>22</Notes>
  <HiddenSlides>0</HiddenSlides>
  <MMClips>0</MMClips>
  <ScaleCrop>false</ScaleCrop>
  <HeadingPairs>
    <vt:vector size="6" baseType="variant">
      <vt:variant>
        <vt:lpstr>使用されているフォント</vt:lpstr>
      </vt:variant>
      <vt:variant>
        <vt:i4>12</vt:i4>
      </vt:variant>
      <vt:variant>
        <vt:lpstr>テーマ</vt:lpstr>
      </vt:variant>
      <vt:variant>
        <vt:i4>2</vt:i4>
      </vt:variant>
      <vt:variant>
        <vt:lpstr>スライド タイトル</vt:lpstr>
      </vt:variant>
      <vt:variant>
        <vt:i4>69</vt:i4>
      </vt:variant>
    </vt:vector>
  </HeadingPairs>
  <TitlesOfParts>
    <vt:vector size="83" baseType="lpstr">
      <vt:lpstr>M PLUS 1</vt:lpstr>
      <vt:lpstr>Meiryo UI</vt:lpstr>
      <vt:lpstr>Mitsui and Co Sans</vt:lpstr>
      <vt:lpstr>Noto Sans JP</vt:lpstr>
      <vt:lpstr>UD デジタル 教科書体 NK-B</vt:lpstr>
      <vt:lpstr>Zen Kaku Gothic New</vt:lpstr>
      <vt:lpstr>游ゴシック</vt:lpstr>
      <vt:lpstr>Arial</vt:lpstr>
      <vt:lpstr>Calibri</vt:lpstr>
      <vt:lpstr>Segoe UI</vt:lpstr>
      <vt:lpstr>Segoe UI Emoji</vt:lpstr>
      <vt:lpstr>Times New Roman</vt:lpstr>
      <vt:lpstr>1_Office テーマ</vt:lpstr>
      <vt:lpstr>ホワイト</vt:lpstr>
      <vt:lpstr>資料作成ガイドライン＆ 汎用スライド・パーツ集</vt:lpstr>
      <vt:lpstr>基本のルール</vt:lpstr>
      <vt:lpstr>【参考】色</vt:lpstr>
      <vt:lpstr>ルールほど厳格ではないけどやってもらえると嬉しい</vt:lpstr>
      <vt:lpstr>スライド集・パーツ集の使い方</vt:lpstr>
      <vt:lpstr>スライド集</vt:lpstr>
      <vt:lpstr>PowerPoint プレゼンテーション</vt:lpstr>
      <vt:lpstr>この説明会の目的</vt:lpstr>
      <vt:lpstr>本日の研修について</vt:lpstr>
      <vt:lpstr>ハンズオンの特徴</vt:lpstr>
      <vt:lpstr>PowerPoint プレゼンテーション</vt:lpstr>
      <vt:lpstr>生成AI活用上の注意点</vt:lpstr>
      <vt:lpstr>『木こりのジレンマ』</vt:lpstr>
      <vt:lpstr>メンバー紹介</vt:lpstr>
      <vt:lpstr>個人ワーク①</vt:lpstr>
      <vt:lpstr>Power Automate で自動化フローを作るときの手順</vt:lpstr>
      <vt:lpstr>アプリ作成の流れ</vt:lpstr>
      <vt:lpstr>特定の業務を効率化するためのフロー</vt:lpstr>
      <vt:lpstr>アプリ作成手順</vt:lpstr>
      <vt:lpstr>重要な添付ファイルが受信フォルダに埋もれてしまう…</vt:lpstr>
      <vt:lpstr>[要件洗い出し]現状の業務フロー</vt:lpstr>
      <vt:lpstr>[設計]システムフロー</vt:lpstr>
      <vt:lpstr>完成イメージ（業務とシステムの流れ）</vt:lpstr>
      <vt:lpstr>例1</vt:lpstr>
      <vt:lpstr>例2</vt:lpstr>
      <vt:lpstr>説明会後の流れについて</vt:lpstr>
      <vt:lpstr>PowerAutomate/PowerApps ハンズオン研修</vt:lpstr>
      <vt:lpstr>今後の研修スケジュール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パーツ・挿絵集</vt:lpstr>
      <vt:lpstr>ハンズオン用</vt:lpstr>
      <vt:lpstr>見出し・バッジ</vt:lpstr>
      <vt:lpstr>アイコン類　2025/11/12更新</vt:lpstr>
      <vt:lpstr>アイコン類</vt:lpstr>
      <vt:lpstr>イラスト（カスタマイズしたもの）</vt:lpstr>
      <vt:lpstr>イラスト（カスタマイズしたもの）</vt:lpstr>
      <vt:lpstr>イラスト（カスタマイズしたもの）</vt:lpstr>
      <vt:lpstr>PowerPoint プレゼンテーション</vt:lpstr>
      <vt:lpstr>Scene 1：作る（目的を定義しないまま作ってしまう）</vt:lpstr>
      <vt:lpstr>Scene 2：能力と権限を定めずに作ってしまう</vt:lpstr>
      <vt:lpstr>Scene 3：使う（能力を理解せず頼む／そもそも頼まない）</vt:lpstr>
      <vt:lpstr>Scene 4：見守る（放置した3ヶ月後）</vt:lpstr>
      <vt:lpstr>会社ロゴ</vt:lpstr>
      <vt:lpstr>PowerPoint プレゼンテーション</vt:lpstr>
      <vt:lpstr>汎用レイアウト集</vt:lpstr>
      <vt:lpstr>3つのポイント</vt:lpstr>
      <vt:lpstr>アプリの例</vt:lpstr>
      <vt:lpstr>オーケストレーションモードを『使いたくなる』ポイント</vt:lpstr>
      <vt:lpstr>表</vt:lpstr>
      <vt:lpstr>表</vt:lpstr>
      <vt:lpstr>今後の事業戦略</vt:lpstr>
      <vt:lpstr>商社様の生成AI導入の例</vt:lpstr>
      <vt:lpstr>進化の5段階</vt:lpstr>
      <vt:lpstr>生成AIとは？</vt:lpstr>
      <vt:lpstr>生成AIの種類</vt:lpstr>
      <vt:lpstr>エグゼクティブサマリ</vt:lpstr>
      <vt:lpstr>2026年3月の目指すべき姿（To-Be）</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shibata mari</dc:creator>
  <cp:lastModifiedBy>nakamura takuya</cp:lastModifiedBy>
  <cp:revision>71</cp:revision>
  <dcterms:created xsi:type="dcterms:W3CDTF">2025-03-05T06:45:02Z</dcterms:created>
  <dcterms:modified xsi:type="dcterms:W3CDTF">2026-07-26T14:49:50Z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0x01010086F6B4358CDFD745962B226452FC776B</vt:lpwstr>
  </property>
  <property fmtid="{D5CDD505-2E9C-101B-9397-08002B2CF9AE}" pid="3" name="MediaServiceImageTags">
    <vt:lpwstr/>
  </property>
</Properties>
</file>